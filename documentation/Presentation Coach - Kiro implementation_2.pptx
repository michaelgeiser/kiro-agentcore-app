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62" r:id="rId3"/>
    <p:sldId id="263" r:id="rId4"/>
    <p:sldId id="264" r:id="rId5"/>
    <p:sldId id="265" r:id="rId6"/>
    <p:sldId id="266" r:id="rId7"/>
    <p:sldId id="268" r:id="rId8"/>
    <p:sldId id="2147482006" r:id="rId9"/>
    <p:sldId id="267" r:id="rId10"/>
    <p:sldId id="269" r:id="rId11"/>
    <p:sldId id="257" r:id="rId12"/>
    <p:sldId id="2147482002" r:id="rId13"/>
    <p:sldId id="2147482003" r:id="rId14"/>
    <p:sldId id="2147482004" r:id="rId15"/>
    <p:sldId id="2147482005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E"/>
    <a:srgbClr val="FCFC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CF327C-EC24-4AA1-954C-A019E52BB2A0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840CD0-598D-447F-B58B-41C1046D6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130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completed and will report is being created, the My Submissions page throws a 500 error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40CD0-598D-447F-B58B-41C1046D6E1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05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27345-D6AE-6AC4-CDD6-88A3860D4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75EE28-B413-06E2-7D24-9161B19EA2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4A49E-A9CE-BC72-998D-8CD7956229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EA0966-F43C-4C57-A8FE-BF7156766ADA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06525-54FF-8A42-E803-9A660A167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7BA3A-3883-2232-2F58-0410EA5E2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C6CF2F-657D-49C6-BC9A-22E3A8FC8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592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6E11C-E7ED-3374-2641-D6BDB0507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A1D7B-A794-AC62-903C-671EC2593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5CC02-682D-C193-5C89-185FF5F8AE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EA0966-F43C-4C57-A8FE-BF7156766ADA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EA5EC-4579-FDCF-6385-7520B9374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97BC3-0BC7-27DD-E9AE-C8D9F5127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C6CF2F-657D-49C6-BC9A-22E3A8FC8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384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A3FD-188D-9513-CF24-B64D6F271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0E9CA-D4F8-73F7-79E9-952BD6A67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A5E68-85BA-E651-CD41-15FB855FBE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EA0966-F43C-4C57-A8FE-BF7156766ADA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9CF9A-1697-DDE7-2FE3-14448B3B4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03286-764C-E1A6-E088-B7F141931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C6CF2F-657D-49C6-BC9A-22E3A8FC8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42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028CE-A394-AFDE-04EA-050BB1F81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28E0E-744C-EAE1-6455-45471F10FC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56CFEE-1241-E1FE-6CEF-12314A169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C8F289-C416-A64A-56B5-10051C74AF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EA0966-F43C-4C57-A8FE-BF7156766ADA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ABD02-29C5-69D7-7C51-63CD43737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1F83B-5A42-DF58-2E1F-3FFEFA346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C6CF2F-657D-49C6-BC9A-22E3A8FC8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100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E2C71-7057-42E9-7E70-D97592D44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AB523-E29E-F32E-ADCB-F774FB679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E592DB-AFC9-8425-3A02-C6A6BAB0E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ACA42B-3618-7BA3-1E1D-FB145F2617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45FBC8-3AEE-FD3D-0FE1-28789E5765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59D6F6-2ED8-7140-8949-6B0C7E5D68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EA0966-F43C-4C57-A8FE-BF7156766ADA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752F5E-4FA9-196D-5651-E30FE9943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85A9A0-8EBB-9D7C-4F36-0D81780B5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C6CF2F-657D-49C6-BC9A-22E3A8FC8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87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1C890-322B-0965-8224-7F41E2FF7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01C3F0-3AC8-0DED-98FF-1A58EDC4D1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EA0966-F43C-4C57-A8FE-BF7156766ADA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A4E23-4166-4FE4-C729-267983CFC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D1212A-AB06-37D0-5427-235532A1E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C6CF2F-657D-49C6-BC9A-22E3A8FC8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618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4AF13-45F5-0F9F-82FD-CEA8B87AD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C6CF2F-657D-49C6-BC9A-22E3A8FC8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23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ark_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4AF13-45F5-0F9F-82FD-CEA8B87AD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C6CF2F-657D-49C6-BC9A-22E3A8FC8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243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65A1E-7EEA-98F8-CA1A-7C6D49591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E5EEC-9B0F-1162-42ED-CBF2C4DD3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33576-75A7-A4E1-5343-985BB518D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491683-6CE5-0069-DEC3-815D184E85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EA0966-F43C-4C57-A8FE-BF7156766ADA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4A9E0-27E7-6927-57ED-9175FCB0A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36E1B7-B604-A283-06EF-953246F19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C6CF2F-657D-49C6-BC9A-22E3A8FC8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03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E4FE8-B6E6-0186-4C5A-6F96B08C8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5AC3CD-7C0A-58B7-4A71-3E1D8B6CEE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9A12EA-43E5-B661-59CE-24BE5E1999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493A8A-ECFA-0D17-CF72-4FA64B7EE2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EA0966-F43C-4C57-A8FE-BF7156766ADA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3BCAA-408E-671A-4F73-97B832CBF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173CBD-8B40-762C-94A7-2887B5861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C6CF2F-657D-49C6-BC9A-22E3A8FC8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473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66AA-2598-817D-9DBA-17B5B139E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6AC88A-FD47-EC41-C4F9-42F354BBA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0AC55-92DB-A1DF-5E87-5A2665E06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EA0966-F43C-4C57-A8FE-BF7156766ADA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476FD-6431-2B0B-1EF8-E9A2171FE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EB79B-B745-30EE-D17C-5DAB17DAD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C6CF2F-657D-49C6-BC9A-22E3A8FC8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211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D08465-DFE0-A2BE-4F2B-91F99BDA4F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E0CE00-8CA8-00C3-8CF7-65CE8E0493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C54BA-9270-035B-1BFE-504955F060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EA0966-F43C-4C57-A8FE-BF7156766ADA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760C9-6D39-D4CD-14FE-A2EC930F3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C3467-A5AA-728F-E41B-C413C1711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C6CF2F-657D-49C6-BC9A-22E3A8FC8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935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8B81D6-8C8C-DA28-A992-73E6E10FF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D653D-C4DA-A313-3E6A-33ECB46FF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9677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svg"/><Relationship Id="rId18" Type="http://schemas.openxmlformats.org/officeDocument/2006/relationships/image" Target="../media/image2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svg"/><Relationship Id="rId17" Type="http://schemas.openxmlformats.org/officeDocument/2006/relationships/image" Target="../media/image26.svg"/><Relationship Id="rId2" Type="http://schemas.openxmlformats.org/officeDocument/2006/relationships/image" Target="../media/image11.svg"/><Relationship Id="rId16" Type="http://schemas.openxmlformats.org/officeDocument/2006/relationships/image" Target="../media/image25.svg"/><Relationship Id="rId20" Type="http://schemas.openxmlformats.org/officeDocument/2006/relationships/image" Target="../media/image2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5" Type="http://schemas.openxmlformats.org/officeDocument/2006/relationships/image" Target="../media/image24.svg"/><Relationship Id="rId10" Type="http://schemas.openxmlformats.org/officeDocument/2006/relationships/image" Target="../media/image19.svg"/><Relationship Id="rId19" Type="http://schemas.openxmlformats.org/officeDocument/2006/relationships/image" Target="../media/image28.svg"/><Relationship Id="rId4" Type="http://schemas.openxmlformats.org/officeDocument/2006/relationships/image" Target="../media/image13.svg"/><Relationship Id="rId9" Type="http://schemas.openxmlformats.org/officeDocument/2006/relationships/image" Target="../media/image18.svg"/><Relationship Id="rId14" Type="http://schemas.openxmlformats.org/officeDocument/2006/relationships/image" Target="../media/image23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1F58-C03B-E9D7-93A3-C8D66205B6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B91B3C-21C6-FFB2-7D9B-EBB09EB7CF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81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0656814-2B20-654C-7276-96C4775C1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1490565"/>
            <a:ext cx="7701280" cy="408415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EEC9558-FD16-0954-ED7D-CDEB8329E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2269" y="1490566"/>
            <a:ext cx="2104431" cy="4084156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A6B889C-BD3B-8892-1110-CF8275978050}"/>
              </a:ext>
            </a:extLst>
          </p:cNvPr>
          <p:cNvSpPr/>
          <p:nvPr/>
        </p:nvSpPr>
        <p:spPr>
          <a:xfrm>
            <a:off x="9382864" y="1571275"/>
            <a:ext cx="921864" cy="123164"/>
          </a:xfrm>
          <a:prstGeom prst="roundRect">
            <a:avLst/>
          </a:prstGeom>
          <a:solidFill>
            <a:srgbClr val="CCCC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B2F014-3DFA-5C34-5A17-2CE2CECB885C}"/>
              </a:ext>
            </a:extLst>
          </p:cNvPr>
          <p:cNvSpPr txBox="1"/>
          <p:nvPr/>
        </p:nvSpPr>
        <p:spPr>
          <a:xfrm>
            <a:off x="4219575" y="5676900"/>
            <a:ext cx="635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Web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4F245E-0E4D-505C-6BFA-A08B1DE26C1E}"/>
              </a:ext>
            </a:extLst>
          </p:cNvPr>
          <p:cNvSpPr txBox="1"/>
          <p:nvPr/>
        </p:nvSpPr>
        <p:spPr>
          <a:xfrm>
            <a:off x="9594718" y="5676900"/>
            <a:ext cx="859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Mobile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49F14C-531E-CC44-DA07-CBE71432CBBE}"/>
              </a:ext>
            </a:extLst>
          </p:cNvPr>
          <p:cNvSpPr txBox="1"/>
          <p:nvPr/>
        </p:nvSpPr>
        <p:spPr>
          <a:xfrm>
            <a:off x="4377229" y="819029"/>
            <a:ext cx="3437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Responsive Web App</a:t>
            </a:r>
          </a:p>
        </p:txBody>
      </p:sp>
    </p:spTree>
    <p:extLst>
      <p:ext uri="{BB962C8B-B14F-4D97-AF65-F5344CB8AC3E}">
        <p14:creationId xmlns:p14="http://schemas.microsoft.com/office/powerpoint/2010/main" val="925947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B64B9E-9592-F947-DBFF-80D7E7A7E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40" y="1740322"/>
            <a:ext cx="5730240" cy="299112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C162CA-BC93-B142-A28F-0D2CF4BCBA68}"/>
              </a:ext>
            </a:extLst>
          </p:cNvPr>
          <p:cNvSpPr txBox="1"/>
          <p:nvPr/>
        </p:nvSpPr>
        <p:spPr>
          <a:xfrm>
            <a:off x="7497703" y="1740322"/>
            <a:ext cx="3386761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Groups: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Administrators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Other Cognito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User Signup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Password reset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Password recovery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MFA not implemented in MVP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D6B03F-587E-EF40-C9B5-2B52D93D2C19}"/>
              </a:ext>
            </a:extLst>
          </p:cNvPr>
          <p:cNvSpPr txBox="1"/>
          <p:nvPr/>
        </p:nvSpPr>
        <p:spPr>
          <a:xfrm>
            <a:off x="4139603" y="819029"/>
            <a:ext cx="39128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Cognito Based User IAM</a:t>
            </a:r>
          </a:p>
        </p:txBody>
      </p:sp>
    </p:spTree>
    <p:extLst>
      <p:ext uri="{BB962C8B-B14F-4D97-AF65-F5344CB8AC3E}">
        <p14:creationId xmlns:p14="http://schemas.microsoft.com/office/powerpoint/2010/main" val="3658720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610343-E483-20F0-B3C2-DDECDD744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52" y="1621806"/>
            <a:ext cx="7561006" cy="3897344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F7A8AA-2F41-9858-BB03-FE9602675323}"/>
              </a:ext>
            </a:extLst>
          </p:cNvPr>
          <p:cNvSpPr txBox="1"/>
          <p:nvPr/>
        </p:nvSpPr>
        <p:spPr>
          <a:xfrm>
            <a:off x="8612128" y="2209800"/>
            <a:ext cx="3435364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Features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File picker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Title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Video File upload on roadmap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FBDFE9-E09B-27CB-5694-B98E63A0B60A}"/>
              </a:ext>
            </a:extLst>
          </p:cNvPr>
          <p:cNvSpPr txBox="1"/>
          <p:nvPr/>
        </p:nvSpPr>
        <p:spPr>
          <a:xfrm>
            <a:off x="4606657" y="819029"/>
            <a:ext cx="29787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Audio File Upload</a:t>
            </a:r>
          </a:p>
        </p:txBody>
      </p:sp>
    </p:spTree>
    <p:extLst>
      <p:ext uri="{BB962C8B-B14F-4D97-AF65-F5344CB8AC3E}">
        <p14:creationId xmlns:p14="http://schemas.microsoft.com/office/powerpoint/2010/main" val="1258977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E3EA6E-81C0-7169-FD56-0BAEE7934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52" y="1609725"/>
            <a:ext cx="7561005" cy="3633725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EF3AD0-8F5E-CCD9-0D7E-C4CC1DC07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08" y="3000361"/>
            <a:ext cx="7561004" cy="3750514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36062F-DCEE-7AAF-E3BB-A42D6663F959}"/>
              </a:ext>
            </a:extLst>
          </p:cNvPr>
          <p:cNvSpPr txBox="1"/>
          <p:nvPr/>
        </p:nvSpPr>
        <p:spPr>
          <a:xfrm>
            <a:off x="8612128" y="2209800"/>
            <a:ext cx="187974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Features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Multiple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User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779B14-B4B0-CC7C-20BD-3346B3472580}"/>
              </a:ext>
            </a:extLst>
          </p:cNvPr>
          <p:cNvSpPr txBox="1"/>
          <p:nvPr/>
        </p:nvSpPr>
        <p:spPr>
          <a:xfrm>
            <a:off x="5152706" y="819029"/>
            <a:ext cx="18866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Processing</a:t>
            </a:r>
          </a:p>
        </p:txBody>
      </p:sp>
    </p:spTree>
    <p:extLst>
      <p:ext uri="{BB962C8B-B14F-4D97-AF65-F5344CB8AC3E}">
        <p14:creationId xmlns:p14="http://schemas.microsoft.com/office/powerpoint/2010/main" val="2512743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7A8BE8-A6CE-6FB8-8F66-DA52F3E4A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53" y="1609726"/>
            <a:ext cx="7561006" cy="37367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4925FD-87F5-6F40-7A5B-6EC9D8D857F8}"/>
              </a:ext>
            </a:extLst>
          </p:cNvPr>
          <p:cNvSpPr txBox="1"/>
          <p:nvPr/>
        </p:nvSpPr>
        <p:spPr>
          <a:xfrm>
            <a:off x="8612128" y="2209800"/>
            <a:ext cx="356892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Features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Current status of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Data entered by User displayed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Download report link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Delete link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516181-FFCF-9936-4553-711B90C29D0D}"/>
              </a:ext>
            </a:extLst>
          </p:cNvPr>
          <p:cNvSpPr txBox="1"/>
          <p:nvPr/>
        </p:nvSpPr>
        <p:spPr>
          <a:xfrm>
            <a:off x="4892860" y="819029"/>
            <a:ext cx="2406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Ready to Read</a:t>
            </a:r>
          </a:p>
        </p:txBody>
      </p:sp>
    </p:spTree>
    <p:extLst>
      <p:ext uri="{BB962C8B-B14F-4D97-AF65-F5344CB8AC3E}">
        <p14:creationId xmlns:p14="http://schemas.microsoft.com/office/powerpoint/2010/main" val="4046752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BB7C4B-E2D9-0C5C-979D-0CA676179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953" y="1609725"/>
            <a:ext cx="5076032" cy="49454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926B269-99B1-B2E4-1A32-5F45E6646871}"/>
              </a:ext>
            </a:extLst>
          </p:cNvPr>
          <p:cNvSpPr txBox="1"/>
          <p:nvPr/>
        </p:nvSpPr>
        <p:spPr>
          <a:xfrm>
            <a:off x="6602855" y="2209800"/>
            <a:ext cx="4514324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Features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Detailed feedback (10 – 13 Pages) across 7 dimensions: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Delivery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Executive presence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Technical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Audience engagement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Pacing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Persuasion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284F5D-A79B-BA77-B905-CBF01C9FD200}"/>
              </a:ext>
            </a:extLst>
          </p:cNvPr>
          <p:cNvSpPr txBox="1"/>
          <p:nvPr/>
        </p:nvSpPr>
        <p:spPr>
          <a:xfrm>
            <a:off x="5166111" y="819029"/>
            <a:ext cx="18598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The Report</a:t>
            </a:r>
          </a:p>
        </p:txBody>
      </p:sp>
    </p:spTree>
    <p:extLst>
      <p:ext uri="{BB962C8B-B14F-4D97-AF65-F5344CB8AC3E}">
        <p14:creationId xmlns:p14="http://schemas.microsoft.com/office/powerpoint/2010/main" val="1631378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B80552-7EAE-F319-FC08-D4AC7AF06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52" y="1609726"/>
            <a:ext cx="7561007" cy="3770496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500E97-BD4D-EDEB-966D-411DFB207F07}"/>
              </a:ext>
            </a:extLst>
          </p:cNvPr>
          <p:cNvSpPr txBox="1"/>
          <p:nvPr/>
        </p:nvSpPr>
        <p:spPr>
          <a:xfrm>
            <a:off x="8565005" y="2119074"/>
            <a:ext cx="325551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Features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Total costs of the development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AWS Account: $6.59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Kiro AI-DLC: 1355 Credits ($27.10)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991F5C-0A1B-1274-87E3-29ED0BD79F2E}"/>
              </a:ext>
            </a:extLst>
          </p:cNvPr>
          <p:cNvSpPr txBox="1"/>
          <p:nvPr/>
        </p:nvSpPr>
        <p:spPr>
          <a:xfrm>
            <a:off x="4470090" y="819029"/>
            <a:ext cx="32518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Development Costs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CB81813-D671-9E9E-2E2C-739C07EACF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001"/>
          <a:stretch>
            <a:fillRect/>
          </a:stretch>
        </p:blipFill>
        <p:spPr>
          <a:xfrm>
            <a:off x="8565005" y="4243467"/>
            <a:ext cx="3266816" cy="552527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747668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89D0786-B7E6-C2E8-346B-E9AAB8D0ADDD}"/>
              </a:ext>
            </a:extLst>
          </p:cNvPr>
          <p:cNvGrpSpPr/>
          <p:nvPr/>
        </p:nvGrpSpPr>
        <p:grpSpPr>
          <a:xfrm>
            <a:off x="-457200" y="819029"/>
            <a:ext cx="10010775" cy="5562721"/>
            <a:chOff x="-457200" y="819029"/>
            <a:chExt cx="10010775" cy="5562721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1288B2D-9FC8-FD48-2A43-176BE5C7A5B3}"/>
                </a:ext>
              </a:extLst>
            </p:cNvPr>
            <p:cNvCxnSpPr/>
            <p:nvPr/>
          </p:nvCxnSpPr>
          <p:spPr>
            <a:xfrm>
              <a:off x="-457200" y="1609725"/>
              <a:ext cx="1001077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B5FCA64-F87D-4151-F548-2C3FDB79F8A7}"/>
                </a:ext>
              </a:extLst>
            </p:cNvPr>
            <p:cNvCxnSpPr/>
            <p:nvPr/>
          </p:nvCxnSpPr>
          <p:spPr>
            <a:xfrm>
              <a:off x="747252" y="952500"/>
              <a:ext cx="0" cy="522922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06FF567-E3A7-85A4-6B53-46B59AE19071}"/>
                </a:ext>
              </a:extLst>
            </p:cNvPr>
            <p:cNvCxnSpPr/>
            <p:nvPr/>
          </p:nvCxnSpPr>
          <p:spPr>
            <a:xfrm>
              <a:off x="8308258" y="819029"/>
              <a:ext cx="0" cy="556272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92087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4816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ouping" descr="Example of AWS Cloud group, represented as a rectangle with AWS logo at the top left, and AWS Cloud as a title.">
            <a:extLst>
              <a:ext uri="{FF2B5EF4-FFF2-40B4-BE49-F238E27FC236}">
                <a16:creationId xmlns:a16="http://schemas.microsoft.com/office/drawing/2014/main" id="{61567C16-7274-4D13-AD53-504B84DFF26B}"/>
              </a:ext>
            </a:extLst>
          </p:cNvPr>
          <p:cNvGrpSpPr/>
          <p:nvPr/>
        </p:nvGrpSpPr>
        <p:grpSpPr>
          <a:xfrm>
            <a:off x="1873575" y="831451"/>
            <a:ext cx="6567106" cy="4504059"/>
            <a:chOff x="1126114" y="1236252"/>
            <a:chExt cx="1845487" cy="7181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67CA43-52DD-A7AF-C246-5EF7AD6E2BC1}"/>
                </a:ext>
              </a:extLst>
            </p:cNvPr>
            <p:cNvSpPr/>
            <p:nvPr/>
          </p:nvSpPr>
          <p:spPr>
            <a:xfrm>
              <a:off x="1126926" y="1236252"/>
              <a:ext cx="1844675" cy="718165"/>
            </a:xfrm>
            <a:prstGeom prst="rect">
              <a:avLst/>
            </a:prstGeom>
            <a:noFill/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016D9BF9-F262-2C96-A133-0A7278005E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126114" y="1237248"/>
              <a:ext cx="85898" cy="53777"/>
            </a:xfrm>
            <a:prstGeom prst="rect">
              <a:avLst/>
            </a:prstGeom>
          </p:spPr>
        </p:pic>
      </p:grpSp>
      <p:grpSp>
        <p:nvGrpSpPr>
          <p:cNvPr id="7" name="AZGroup" descr="Group for availability zone, inside the AWS Cloud grouping.">
            <a:extLst>
              <a:ext uri="{FF2B5EF4-FFF2-40B4-BE49-F238E27FC236}">
                <a16:creationId xmlns:a16="http://schemas.microsoft.com/office/drawing/2014/main" id="{DDDCD767-7EE5-2EF6-3C53-8177AD72E864}"/>
              </a:ext>
            </a:extLst>
          </p:cNvPr>
          <p:cNvGrpSpPr/>
          <p:nvPr/>
        </p:nvGrpSpPr>
        <p:grpSpPr>
          <a:xfrm>
            <a:off x="2749960" y="919952"/>
            <a:ext cx="5621460" cy="3635232"/>
            <a:chOff x="4188315" y="1576361"/>
            <a:chExt cx="5496603" cy="2349832"/>
          </a:xfrm>
        </p:grpSpPr>
        <p:sp>
          <p:nvSpPr>
            <p:cNvPr id="8" name="Rectangle 7" descr="AZ group border">
              <a:extLst>
                <a:ext uri="{FF2B5EF4-FFF2-40B4-BE49-F238E27FC236}">
                  <a16:creationId xmlns:a16="http://schemas.microsoft.com/office/drawing/2014/main" id="{587AE4C8-A897-101D-BD52-4FA421F8EE03}"/>
                </a:ext>
              </a:extLst>
            </p:cNvPr>
            <p:cNvSpPr/>
            <p:nvPr/>
          </p:nvSpPr>
          <p:spPr>
            <a:xfrm>
              <a:off x="4188315" y="1576361"/>
              <a:ext cx="5496603" cy="2349832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37">
              <a:extLst>
                <a:ext uri="{FF2B5EF4-FFF2-40B4-BE49-F238E27FC236}">
                  <a16:creationId xmlns:a16="http://schemas.microsoft.com/office/drawing/2014/main" id="{BA6F1E90-6FAF-A0AC-9B75-FAECF6B7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036" y="1576639"/>
              <a:ext cx="591223" cy="1564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A4A6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us-east-1 </a:t>
              </a:r>
            </a:p>
          </p:txBody>
        </p:sp>
      </p:grpSp>
      <p:pic>
        <p:nvPicPr>
          <p:cNvPr id="10" name="Graphic 9" descr="Region group icon.">
            <a:extLst>
              <a:ext uri="{FF2B5EF4-FFF2-40B4-BE49-F238E27FC236}">
                <a16:creationId xmlns:a16="http://schemas.microsoft.com/office/drawing/2014/main" id="{7AAD2918-F301-2660-3E7A-691B0AFAA2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759516" y="915579"/>
            <a:ext cx="181666" cy="18166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484AB68-6BB5-069A-D4B6-EF05D8719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445587" y="1020727"/>
            <a:ext cx="4751560" cy="3410142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 w="0"/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2" name="Graphic 11" descr="VPC group icon.">
            <a:extLst>
              <a:ext uri="{FF2B5EF4-FFF2-40B4-BE49-F238E27FC236}">
                <a16:creationId xmlns:a16="http://schemas.microsoft.com/office/drawing/2014/main" id="{34D4EEAC-ED93-68C5-B3D1-65ADEE3AFD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449672" y="1028241"/>
            <a:ext cx="159014" cy="159014"/>
          </a:xfrm>
          <a:prstGeom prst="rect">
            <a:avLst/>
          </a:prstGeom>
        </p:spPr>
      </p:pic>
      <p:sp>
        <p:nvSpPr>
          <p:cNvPr id="13" name="Rectangle 37">
            <a:extLst>
              <a:ext uri="{FF2B5EF4-FFF2-40B4-BE49-F238E27FC236}">
                <a16:creationId xmlns:a16="http://schemas.microsoft.com/office/drawing/2014/main" id="{98767A63-F76D-C4E4-5E95-F2599A2C4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8707" y="1008918"/>
            <a:ext cx="367409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8C4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VPC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57D1D52-085C-F883-2719-AD61FD633074}"/>
              </a:ext>
            </a:extLst>
          </p:cNvPr>
          <p:cNvCxnSpPr>
            <a:cxnSpLocks/>
            <a:stCxn id="29" idx="3"/>
            <a:endCxn id="26" idx="1"/>
          </p:cNvCxnSpPr>
          <p:nvPr/>
        </p:nvCxnSpPr>
        <p:spPr>
          <a:xfrm flipV="1">
            <a:off x="3202073" y="3899331"/>
            <a:ext cx="295531" cy="3124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C4027A9-9A7F-8957-5FEE-89C8A15F36C9}"/>
              </a:ext>
            </a:extLst>
          </p:cNvPr>
          <p:cNvCxnSpPr>
            <a:cxnSpLocks/>
            <a:stCxn id="26" idx="3"/>
            <a:endCxn id="68" idx="1"/>
          </p:cNvCxnSpPr>
          <p:nvPr/>
        </p:nvCxnSpPr>
        <p:spPr>
          <a:xfrm flipV="1">
            <a:off x="3771924" y="3891145"/>
            <a:ext cx="864209" cy="8186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79590DE-189C-3407-85E1-C942BA756FC3}"/>
              </a:ext>
            </a:extLst>
          </p:cNvPr>
          <p:cNvSpPr txBox="1"/>
          <p:nvPr/>
        </p:nvSpPr>
        <p:spPr>
          <a:xfrm>
            <a:off x="558538" y="3932828"/>
            <a:ext cx="729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HTTP API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Traffic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B0A0E34-D8ED-9A50-781E-B0F9FEA86059}"/>
              </a:ext>
            </a:extLst>
          </p:cNvPr>
          <p:cNvCxnSpPr>
            <a:cxnSpLocks/>
            <a:stCxn id="23" idx="3"/>
            <a:endCxn id="21" idx="1"/>
          </p:cNvCxnSpPr>
          <p:nvPr/>
        </p:nvCxnSpPr>
        <p:spPr>
          <a:xfrm flipV="1">
            <a:off x="1289427" y="4854173"/>
            <a:ext cx="865888" cy="137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D39C901-2B9C-C1EF-5645-E1526255320F}"/>
              </a:ext>
            </a:extLst>
          </p:cNvPr>
          <p:cNvGrpSpPr/>
          <p:nvPr/>
        </p:nvGrpSpPr>
        <p:grpSpPr>
          <a:xfrm>
            <a:off x="2114065" y="4404685"/>
            <a:ext cx="330849" cy="637914"/>
            <a:chOff x="2021255" y="5606297"/>
            <a:chExt cx="330849" cy="637914"/>
          </a:xfrm>
        </p:grpSpPr>
        <p:pic>
          <p:nvPicPr>
            <p:cNvPr id="20" name="Graphic 8" descr="AWS WAF service icon.">
              <a:extLst>
                <a:ext uri="{FF2B5EF4-FFF2-40B4-BE49-F238E27FC236}">
                  <a16:creationId xmlns:a16="http://schemas.microsoft.com/office/drawing/2014/main" id="{6A3CA96B-B516-820A-4324-4D3ECB9F90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 bwMode="auto">
            <a:xfrm>
              <a:off x="2061331" y="5633576"/>
              <a:ext cx="274320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Graphic 19" descr="Amazon CloudFront service icon.">
              <a:extLst>
                <a:ext uri="{FF2B5EF4-FFF2-40B4-BE49-F238E27FC236}">
                  <a16:creationId xmlns:a16="http://schemas.microsoft.com/office/drawing/2014/main" id="{F135F3F4-8FAD-FCC7-0E9D-ADAC7B9A7E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 bwMode="auto">
            <a:xfrm>
              <a:off x="2062505" y="5918625"/>
              <a:ext cx="274320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Rectangle 21" descr="Availability Zone group.">
              <a:extLst>
                <a:ext uri="{FF2B5EF4-FFF2-40B4-BE49-F238E27FC236}">
                  <a16:creationId xmlns:a16="http://schemas.microsoft.com/office/drawing/2014/main" id="{C2B92891-DF67-A296-3F47-1BD5D08D61FC}"/>
                </a:ext>
              </a:extLst>
            </p:cNvPr>
            <p:cNvSpPr/>
            <p:nvPr/>
          </p:nvSpPr>
          <p:spPr>
            <a:xfrm>
              <a:off x="2021255" y="5606297"/>
              <a:ext cx="330849" cy="637914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dash"/>
              <a:miter lim="800000"/>
            </a:ln>
            <a:effectLst/>
          </p:spPr>
          <p:txBody>
            <a:bodyPr tIns="9144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4E94B1A-468E-278E-192A-54E9A8086DFF}"/>
              </a:ext>
            </a:extLst>
          </p:cNvPr>
          <p:cNvSpPr txBox="1"/>
          <p:nvPr/>
        </p:nvSpPr>
        <p:spPr>
          <a:xfrm>
            <a:off x="553328" y="4667847"/>
            <a:ext cx="7360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SPA Web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Traffic</a:t>
            </a:r>
          </a:p>
        </p:txBody>
      </p:sp>
      <p:pic>
        <p:nvPicPr>
          <p:cNvPr id="24" name="Graphic 8" descr="Amazon Simple Storage Service (Amazon S3) service icon.">
            <a:extLst>
              <a:ext uri="{FF2B5EF4-FFF2-40B4-BE49-F238E27FC236}">
                <a16:creationId xmlns:a16="http://schemas.microsoft.com/office/drawing/2014/main" id="{F9155B1B-4C06-7A36-249B-C360BADAC32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3043974" y="4718104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27089E16-E5DB-5059-A819-D917934D8077}"/>
              </a:ext>
            </a:extLst>
          </p:cNvPr>
          <p:cNvCxnSpPr>
            <a:cxnSpLocks/>
            <a:stCxn id="21" idx="3"/>
            <a:endCxn id="24" idx="1"/>
          </p:cNvCxnSpPr>
          <p:nvPr/>
        </p:nvCxnSpPr>
        <p:spPr>
          <a:xfrm>
            <a:off x="2429635" y="4854173"/>
            <a:ext cx="614339" cy="1091"/>
          </a:xfrm>
          <a:prstGeom prst="bentConnector3">
            <a:avLst>
              <a:gd name="adj1" fmla="val 5000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6" name="Graphic 25" descr="Endpoints resource icon for the Amazon VPC service.&#10;">
            <a:extLst>
              <a:ext uri="{FF2B5EF4-FFF2-40B4-BE49-F238E27FC236}">
                <a16:creationId xmlns:a16="http://schemas.microsoft.com/office/drawing/2014/main" id="{7230F14D-4298-5253-1609-D619BB4D6E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97604" y="3762171"/>
            <a:ext cx="274320" cy="274320"/>
          </a:xfrm>
          <a:prstGeom prst="rect">
            <a:avLst/>
          </a:prstGeom>
        </p:spPr>
      </p:pic>
      <p:pic>
        <p:nvPicPr>
          <p:cNvPr id="27" name="Graphic 21" descr="Amazon Route 53 service icon.">
            <a:extLst>
              <a:ext uri="{FF2B5EF4-FFF2-40B4-BE49-F238E27FC236}">
                <a16:creationId xmlns:a16="http://schemas.microsoft.com/office/drawing/2014/main" id="{C49B01D7-DBE7-19D3-8E48-3D6D48980A2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2009336" y="1268423"/>
            <a:ext cx="365760" cy="35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7" descr="Amazon API Gateway service icon.">
            <a:extLst>
              <a:ext uri="{FF2B5EF4-FFF2-40B4-BE49-F238E27FC236}">
                <a16:creationId xmlns:a16="http://schemas.microsoft.com/office/drawing/2014/main" id="{4EC78354-9E12-4532-6178-709CDDB07FD9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>
            <a:off x="2927753" y="3765295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C580CB80-1A39-DD19-B382-66E645D59E0D}"/>
              </a:ext>
            </a:extLst>
          </p:cNvPr>
          <p:cNvCxnSpPr>
            <a:cxnSpLocks/>
            <a:stCxn id="17" idx="3"/>
            <a:endCxn id="29" idx="1"/>
          </p:cNvCxnSpPr>
          <p:nvPr/>
        </p:nvCxnSpPr>
        <p:spPr>
          <a:xfrm flipV="1">
            <a:off x="1288225" y="3902455"/>
            <a:ext cx="1639528" cy="230428"/>
          </a:xfrm>
          <a:prstGeom prst="bentConnector3">
            <a:avLst>
              <a:gd name="adj1" fmla="val 50000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CC65912-2510-78DF-9E7F-067E8EBFF46F}"/>
              </a:ext>
            </a:extLst>
          </p:cNvPr>
          <p:cNvGrpSpPr/>
          <p:nvPr/>
        </p:nvGrpSpPr>
        <p:grpSpPr>
          <a:xfrm>
            <a:off x="85060" y="5603361"/>
            <a:ext cx="3366258" cy="1193249"/>
            <a:chOff x="85060" y="5603361"/>
            <a:chExt cx="3366258" cy="1193249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8D9AA13-A0FE-4459-B429-7C0F266E3165}"/>
                </a:ext>
              </a:extLst>
            </p:cNvPr>
            <p:cNvSpPr/>
            <p:nvPr/>
          </p:nvSpPr>
          <p:spPr>
            <a:xfrm>
              <a:off x="85060" y="5603361"/>
              <a:ext cx="3153842" cy="119324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89683DB9-882E-CB65-70AE-D8C2C35DCF6F}"/>
                </a:ext>
              </a:extLst>
            </p:cNvPr>
            <p:cNvGrpSpPr/>
            <p:nvPr/>
          </p:nvGrpSpPr>
          <p:grpSpPr>
            <a:xfrm>
              <a:off x="273020" y="5729290"/>
              <a:ext cx="633188" cy="274320"/>
              <a:chOff x="273020" y="281518"/>
              <a:chExt cx="633188" cy="274320"/>
            </a:xfrm>
          </p:grpSpPr>
          <p:pic>
            <p:nvPicPr>
              <p:cNvPr id="60" name="Graphic 8" descr="AWS WAF service icon.">
                <a:extLst>
                  <a:ext uri="{FF2B5EF4-FFF2-40B4-BE49-F238E27FC236}">
                    <a16:creationId xmlns:a16="http://schemas.microsoft.com/office/drawing/2014/main" id="{4B59EF97-3F82-131F-5E3A-420558729B1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 bwMode="auto">
              <a:xfrm>
                <a:off x="273020" y="281518"/>
                <a:ext cx="274320" cy="274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BB96308-1E88-1B0D-371E-D73A5F5770B0}"/>
                  </a:ext>
                </a:extLst>
              </p:cNvPr>
              <p:cNvSpPr txBox="1"/>
              <p:nvPr/>
            </p:nvSpPr>
            <p:spPr>
              <a:xfrm>
                <a:off x="548418" y="314599"/>
                <a:ext cx="35779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WAF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4BDF4EF-5628-F1AE-B5B1-F1982338DD0B}"/>
                </a:ext>
              </a:extLst>
            </p:cNvPr>
            <p:cNvGrpSpPr/>
            <p:nvPr/>
          </p:nvGrpSpPr>
          <p:grpSpPr>
            <a:xfrm>
              <a:off x="273020" y="6056039"/>
              <a:ext cx="869270" cy="274320"/>
              <a:chOff x="273020" y="608267"/>
              <a:chExt cx="869270" cy="274320"/>
            </a:xfrm>
          </p:grpSpPr>
          <p:pic>
            <p:nvPicPr>
              <p:cNvPr id="58" name="Graphic 19" descr="Amazon CloudFront service icon.">
                <a:extLst>
                  <a:ext uri="{FF2B5EF4-FFF2-40B4-BE49-F238E27FC236}">
                    <a16:creationId xmlns:a16="http://schemas.microsoft.com/office/drawing/2014/main" id="{919FD594-64AF-75D8-B88C-1D7C89D3CB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 bwMode="auto">
              <a:xfrm>
                <a:off x="273020" y="608267"/>
                <a:ext cx="274320" cy="274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4DBC8B7-0553-05AE-9741-9A630FADA1A5}"/>
                  </a:ext>
                </a:extLst>
              </p:cNvPr>
              <p:cNvSpPr txBox="1"/>
              <p:nvPr/>
            </p:nvSpPr>
            <p:spPr>
              <a:xfrm>
                <a:off x="548858" y="650947"/>
                <a:ext cx="59343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CloudFront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AE48C6D-29C9-3E59-DD00-91A3FD8DADC7}"/>
                </a:ext>
              </a:extLst>
            </p:cNvPr>
            <p:cNvGrpSpPr/>
            <p:nvPr/>
          </p:nvGrpSpPr>
          <p:grpSpPr>
            <a:xfrm>
              <a:off x="273020" y="6382788"/>
              <a:ext cx="923774" cy="274320"/>
              <a:chOff x="273020" y="935016"/>
              <a:chExt cx="923774" cy="274320"/>
            </a:xfrm>
          </p:grpSpPr>
          <p:pic>
            <p:nvPicPr>
              <p:cNvPr id="56" name="Graphic 7" descr="Amazon API Gateway service icon.">
                <a:extLst>
                  <a:ext uri="{FF2B5EF4-FFF2-40B4-BE49-F238E27FC236}">
                    <a16:creationId xmlns:a16="http://schemas.microsoft.com/office/drawing/2014/main" id="{861C1E1D-374F-1155-3C3D-D91676D9FA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/>
              <a:stretch/>
            </p:blipFill>
            <p:spPr bwMode="auto">
              <a:xfrm>
                <a:off x="273020" y="935016"/>
                <a:ext cx="274320" cy="274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8B37DBE-9C50-A1F1-82A7-D4EC6F99D48E}"/>
                  </a:ext>
                </a:extLst>
              </p:cNvPr>
              <p:cNvSpPr txBox="1"/>
              <p:nvPr/>
            </p:nvSpPr>
            <p:spPr>
              <a:xfrm>
                <a:off x="548860" y="976184"/>
                <a:ext cx="64793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API Gateway</a:t>
                </a: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37952F6A-1C56-398E-2FCA-7181F143E9DD}"/>
                </a:ext>
              </a:extLst>
            </p:cNvPr>
            <p:cNvGrpSpPr/>
            <p:nvPr/>
          </p:nvGrpSpPr>
          <p:grpSpPr>
            <a:xfrm>
              <a:off x="1246336" y="5729290"/>
              <a:ext cx="610098" cy="290296"/>
              <a:chOff x="1246336" y="281518"/>
              <a:chExt cx="610098" cy="290296"/>
            </a:xfrm>
          </p:grpSpPr>
          <p:pic>
            <p:nvPicPr>
              <p:cNvPr id="54" name="Graphic 53" descr="Application Load Balancer resource icon for the Elastic Load Balancing service.">
                <a:extLst>
                  <a:ext uri="{FF2B5EF4-FFF2-40B4-BE49-F238E27FC236}">
                    <a16:creationId xmlns:a16="http://schemas.microsoft.com/office/drawing/2014/main" id="{4F2812D3-A092-91AC-8831-EFF8DF86ED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246336" y="281518"/>
                <a:ext cx="290296" cy="290296"/>
              </a:xfrm>
              <a:prstGeom prst="rect">
                <a:avLst/>
              </a:prstGeom>
            </p:spPr>
          </p:pic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6326771-BBE7-C995-2BDF-320555B0B9F3}"/>
                  </a:ext>
                </a:extLst>
              </p:cNvPr>
              <p:cNvSpPr txBox="1"/>
              <p:nvPr/>
            </p:nvSpPr>
            <p:spPr>
              <a:xfrm>
                <a:off x="1527497" y="335663"/>
                <a:ext cx="32893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NLB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FCE41E63-D059-4A51-90E3-024594F18B64}"/>
                </a:ext>
              </a:extLst>
            </p:cNvPr>
            <p:cNvGrpSpPr/>
            <p:nvPr/>
          </p:nvGrpSpPr>
          <p:grpSpPr>
            <a:xfrm>
              <a:off x="1254324" y="6072015"/>
              <a:ext cx="599343" cy="274320"/>
              <a:chOff x="1254324" y="624243"/>
              <a:chExt cx="599343" cy="274320"/>
            </a:xfrm>
          </p:grpSpPr>
          <p:pic>
            <p:nvPicPr>
              <p:cNvPr id="52" name="Graphic 51" descr="Network Load Balancer resource icon for the Elastic Load Balancing service.">
                <a:extLst>
                  <a:ext uri="{FF2B5EF4-FFF2-40B4-BE49-F238E27FC236}">
                    <a16:creationId xmlns:a16="http://schemas.microsoft.com/office/drawing/2014/main" id="{4D8A02D8-7325-BF66-08FF-3A1B898082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254324" y="624243"/>
                <a:ext cx="274320" cy="274320"/>
              </a:xfrm>
              <a:prstGeom prst="rect">
                <a:avLst/>
              </a:prstGeom>
            </p:spPr>
          </p:pic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19BA24A-2F35-A3A5-4521-11A70BFE5E18}"/>
                  </a:ext>
                </a:extLst>
              </p:cNvPr>
              <p:cNvSpPr txBox="1"/>
              <p:nvPr/>
            </p:nvSpPr>
            <p:spPr>
              <a:xfrm>
                <a:off x="1531143" y="672011"/>
                <a:ext cx="32252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ALB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CD68CCB-2B7C-45B4-DAC1-76DBD7F860B0}"/>
                </a:ext>
              </a:extLst>
            </p:cNvPr>
            <p:cNvGrpSpPr/>
            <p:nvPr/>
          </p:nvGrpSpPr>
          <p:grpSpPr>
            <a:xfrm>
              <a:off x="2216552" y="6082101"/>
              <a:ext cx="608222" cy="274320"/>
              <a:chOff x="1254324" y="950992"/>
              <a:chExt cx="608222" cy="274320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BDACDB94-2104-DAA2-3A3D-B4628A60948B}"/>
                  </a:ext>
                </a:extLst>
              </p:cNvPr>
              <p:cNvGrpSpPr/>
              <p:nvPr/>
            </p:nvGrpSpPr>
            <p:grpSpPr>
              <a:xfrm>
                <a:off x="1254324" y="950992"/>
                <a:ext cx="274320" cy="274320"/>
                <a:chOff x="2462281" y="2481979"/>
                <a:chExt cx="274320" cy="274320"/>
              </a:xfrm>
            </p:grpSpPr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E6379417-F506-75D0-DC69-AB53880CA0A2}"/>
                    </a:ext>
                  </a:extLst>
                </p:cNvPr>
                <p:cNvSpPr/>
                <p:nvPr/>
              </p:nvSpPr>
              <p:spPr>
                <a:xfrm>
                  <a:off x="2484453" y="2503228"/>
                  <a:ext cx="229527" cy="22952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pic>
              <p:nvPicPr>
                <p:cNvPr id="51" name="Graphic 50" descr="Internet gateway resource icon for the Amazon VPC service.&#10;">
                  <a:extLst>
                    <a:ext uri="{FF2B5EF4-FFF2-40B4-BE49-F238E27FC236}">
                      <a16:creationId xmlns:a16="http://schemas.microsoft.com/office/drawing/2014/main" id="{C17B3D03-2042-B476-B072-2E18E4BA67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62281" y="2481979"/>
                  <a:ext cx="274320" cy="274320"/>
                </a:xfrm>
                <a:prstGeom prst="rect">
                  <a:avLst/>
                </a:prstGeom>
              </p:spPr>
            </p:pic>
          </p:grp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967CE3D-E579-ACF4-1922-BDB36A05490B}"/>
                  </a:ext>
                </a:extLst>
              </p:cNvPr>
              <p:cNvSpPr txBox="1"/>
              <p:nvPr/>
            </p:nvSpPr>
            <p:spPr>
              <a:xfrm>
                <a:off x="1519182" y="999899"/>
                <a:ext cx="34336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IGW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D60AABF8-8500-8CC0-A632-25757C7BF29F}"/>
                </a:ext>
              </a:extLst>
            </p:cNvPr>
            <p:cNvGrpSpPr/>
            <p:nvPr/>
          </p:nvGrpSpPr>
          <p:grpSpPr>
            <a:xfrm>
              <a:off x="2216552" y="6414402"/>
              <a:ext cx="1022350" cy="307777"/>
              <a:chOff x="1254324" y="1269055"/>
              <a:chExt cx="1022350" cy="307777"/>
            </a:xfrm>
          </p:grpSpPr>
          <p:pic>
            <p:nvPicPr>
              <p:cNvPr id="46" name="Graphic 45" descr="Endpoints resource icon for the Amazon VPC service.&#10;">
                <a:extLst>
                  <a:ext uri="{FF2B5EF4-FFF2-40B4-BE49-F238E27FC236}">
                    <a16:creationId xmlns:a16="http://schemas.microsoft.com/office/drawing/2014/main" id="{44CE4FAB-1908-6A62-0A72-5C1A1F5672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254324" y="1277744"/>
                <a:ext cx="274320" cy="274320"/>
              </a:xfrm>
              <a:prstGeom prst="rect">
                <a:avLst/>
              </a:prstGeom>
            </p:spPr>
          </p:pic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83E0499-33B5-51CE-F9E0-B78CB4E3EEFB}"/>
                  </a:ext>
                </a:extLst>
              </p:cNvPr>
              <p:cNvSpPr txBox="1"/>
              <p:nvPr/>
            </p:nvSpPr>
            <p:spPr>
              <a:xfrm>
                <a:off x="1514927" y="1269055"/>
                <a:ext cx="76174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VPC Endpoint &amp;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VPC Links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C5F2BAA9-70B0-6C27-7DB4-26080E0B05F1}"/>
                </a:ext>
              </a:extLst>
            </p:cNvPr>
            <p:cNvGrpSpPr/>
            <p:nvPr/>
          </p:nvGrpSpPr>
          <p:grpSpPr>
            <a:xfrm>
              <a:off x="1254324" y="6385050"/>
              <a:ext cx="903788" cy="307777"/>
              <a:chOff x="278860" y="1219433"/>
              <a:chExt cx="903788" cy="307777"/>
            </a:xfrm>
          </p:grpSpPr>
          <p:pic>
            <p:nvPicPr>
              <p:cNvPr id="44" name="Graphic 43" descr="Session Manager resource icon for the AWS Systems Manager service.">
                <a:extLst>
                  <a:ext uri="{FF2B5EF4-FFF2-40B4-BE49-F238E27FC236}">
                    <a16:creationId xmlns:a16="http://schemas.microsoft.com/office/drawing/2014/main" id="{319E9E5E-042D-D372-98CA-E4005533F9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278860" y="1248785"/>
                <a:ext cx="274320" cy="274320"/>
              </a:xfrm>
              <a:prstGeom prst="rect">
                <a:avLst/>
              </a:prstGeom>
            </p:spPr>
          </p:pic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EDBF9F9-F7E3-DFC6-B38C-AD120825540F}"/>
                  </a:ext>
                </a:extLst>
              </p:cNvPr>
              <p:cNvSpPr txBox="1"/>
              <p:nvPr/>
            </p:nvSpPr>
            <p:spPr>
              <a:xfrm>
                <a:off x="523493" y="1219433"/>
                <a:ext cx="65915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SSM Session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Manager</a:t>
                </a: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A18F4FE-F9CC-0C56-8412-E033B06B41B2}"/>
                </a:ext>
              </a:extLst>
            </p:cNvPr>
            <p:cNvGrpSpPr/>
            <p:nvPr/>
          </p:nvGrpSpPr>
          <p:grpSpPr>
            <a:xfrm>
              <a:off x="2216552" y="5756362"/>
              <a:ext cx="1234766" cy="274320"/>
              <a:chOff x="2216552" y="308590"/>
              <a:chExt cx="1234766" cy="274320"/>
            </a:xfrm>
          </p:grpSpPr>
          <p:sp>
            <p:nvSpPr>
              <p:cNvPr id="42" name="TextBox 17">
                <a:extLst>
                  <a:ext uri="{FF2B5EF4-FFF2-40B4-BE49-F238E27FC236}">
                    <a16:creationId xmlns:a16="http://schemas.microsoft.com/office/drawing/2014/main" id="{EEC41D50-B9F2-43BA-F1E7-2AB4A2F502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16552" y="345722"/>
                <a:ext cx="1234766" cy="2000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NAT Gateway</a:t>
                </a:r>
              </a:p>
            </p:txBody>
          </p:sp>
          <p:pic>
            <p:nvPicPr>
              <p:cNvPr id="43" name="Graphic 35">
                <a:extLst>
                  <a:ext uri="{FF2B5EF4-FFF2-40B4-BE49-F238E27FC236}">
                    <a16:creationId xmlns:a16="http://schemas.microsoft.com/office/drawing/2014/main" id="{F9D46BAD-403B-8A04-D9EB-D62196307F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 bwMode="auto">
              <a:xfrm>
                <a:off x="2216552" y="308590"/>
                <a:ext cx="274320" cy="274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pic>
        <p:nvPicPr>
          <p:cNvPr id="64" name="Graphic 17" descr="Amazon Cognito service icon.">
            <a:extLst>
              <a:ext uri="{FF2B5EF4-FFF2-40B4-BE49-F238E27FC236}">
                <a16:creationId xmlns:a16="http://schemas.microsoft.com/office/drawing/2014/main" id="{58CD06B2-0B12-132F-AEAC-A551F50B5F97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 bwMode="auto">
          <a:xfrm>
            <a:off x="2043651" y="1900157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" name="TextBox 11">
            <a:extLst>
              <a:ext uri="{FF2B5EF4-FFF2-40B4-BE49-F238E27FC236}">
                <a16:creationId xmlns:a16="http://schemas.microsoft.com/office/drawing/2014/main" id="{BA0F96AD-5134-1424-DD2F-4C85F772D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336" y="2273926"/>
            <a:ext cx="8343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rgbClr val="FFFFFF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Cognito</a:t>
            </a:r>
          </a:p>
        </p:txBody>
      </p:sp>
      <p:pic>
        <p:nvPicPr>
          <p:cNvPr id="66" name="Graphic 8" descr="Amazon Simple Storage Service (Amazon S3) service icon.">
            <a:extLst>
              <a:ext uri="{FF2B5EF4-FFF2-40B4-BE49-F238E27FC236}">
                <a16:creationId xmlns:a16="http://schemas.microsoft.com/office/drawing/2014/main" id="{4CF1F16A-0BE4-1512-7307-6E9876F6ECAD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5134272" y="4758126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" name="Graphic 23" descr="Amazon DynamoDB service icon.">
            <a:extLst>
              <a:ext uri="{FF2B5EF4-FFF2-40B4-BE49-F238E27FC236}">
                <a16:creationId xmlns:a16="http://schemas.microsoft.com/office/drawing/2014/main" id="{10722A4A-241B-0E6F-5E8D-C6D9FFD85DA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4322005" y="4782414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" name="lambda" descr="Lambda service icon.">
            <a:extLst>
              <a:ext uri="{FF2B5EF4-FFF2-40B4-BE49-F238E27FC236}">
                <a16:creationId xmlns:a16="http://schemas.microsoft.com/office/drawing/2014/main" id="{2721E76C-373A-F8DC-FB82-E4C5CD6F3386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4636133" y="3753985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" name="Graphic 68" descr="Endpoints resource icon for the Amazon VPC service.&#10;">
            <a:extLst>
              <a:ext uri="{FF2B5EF4-FFF2-40B4-BE49-F238E27FC236}">
                <a16:creationId xmlns:a16="http://schemas.microsoft.com/office/drawing/2014/main" id="{212AC547-760E-A7D5-DDA7-1C75CD0460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91487" y="3753985"/>
            <a:ext cx="274320" cy="274320"/>
          </a:xfrm>
          <a:prstGeom prst="rect">
            <a:avLst/>
          </a:prstGeom>
        </p:spPr>
      </p:pic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ABC23582-23AB-E5A0-4286-88A40793360C}"/>
              </a:ext>
            </a:extLst>
          </p:cNvPr>
          <p:cNvCxnSpPr>
            <a:cxnSpLocks/>
            <a:stCxn id="69" idx="2"/>
            <a:endCxn id="67" idx="0"/>
          </p:cNvCxnSpPr>
          <p:nvPr/>
        </p:nvCxnSpPr>
        <p:spPr>
          <a:xfrm rot="5400000">
            <a:off x="4466852" y="4020618"/>
            <a:ext cx="754109" cy="769482"/>
          </a:xfrm>
          <a:prstGeom prst="bentConnector3">
            <a:avLst>
              <a:gd name="adj1" fmla="val 20949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7A14A33A-596C-BCE9-336D-ACE76742A452}"/>
              </a:ext>
            </a:extLst>
          </p:cNvPr>
          <p:cNvCxnSpPr>
            <a:cxnSpLocks/>
            <a:stCxn id="69" idx="2"/>
            <a:endCxn id="66" idx="0"/>
          </p:cNvCxnSpPr>
          <p:nvPr/>
        </p:nvCxnSpPr>
        <p:spPr>
          <a:xfrm rot="16200000" flipH="1">
            <a:off x="4885129" y="4371822"/>
            <a:ext cx="729821" cy="42785"/>
          </a:xfrm>
          <a:prstGeom prst="bentConnector3">
            <a:avLst>
              <a:gd name="adj1" fmla="val 21288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5FC13100-3E9F-753F-46A9-8EC01A8E9A11}"/>
              </a:ext>
            </a:extLst>
          </p:cNvPr>
          <p:cNvSpPr txBox="1"/>
          <p:nvPr/>
        </p:nvSpPr>
        <p:spPr>
          <a:xfrm>
            <a:off x="5292471" y="3706479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Interface VPC 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</a:rPr>
              <a:t>Endpoint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2D21BED-7590-58BA-56C2-4D00F6D2FC02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4910453" y="3891145"/>
            <a:ext cx="2238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235006C4-BA31-8940-6C4A-0126E1A42721}"/>
              </a:ext>
            </a:extLst>
          </p:cNvPr>
          <p:cNvSpPr/>
          <p:nvPr/>
        </p:nvSpPr>
        <p:spPr>
          <a:xfrm>
            <a:off x="8580381" y="0"/>
            <a:ext cx="361161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8890B99-FE6E-9F3D-F994-155FA151C595}"/>
              </a:ext>
            </a:extLst>
          </p:cNvPr>
          <p:cNvSpPr txBox="1"/>
          <p:nvPr/>
        </p:nvSpPr>
        <p:spPr>
          <a:xfrm>
            <a:off x="8838986" y="709241"/>
            <a:ext cx="2724363" cy="2846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Ask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Are VPC Endpoints  used between AOI Gateway and Lambdas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Are Interface VPC Endpoints used between Lambdas and DynamoDB and S3?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Are Lambdas full insolated from AZ failures?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Where is SQS?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Where is SNS?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pic>
        <p:nvPicPr>
          <p:cNvPr id="83" name="Graphic 26" descr="Amazon Simple Queue Service (Amazon SQS) service icon.">
            <a:extLst>
              <a:ext uri="{FF2B5EF4-FFF2-40B4-BE49-F238E27FC236}">
                <a16:creationId xmlns:a16="http://schemas.microsoft.com/office/drawing/2014/main" id="{2AECED97-2D90-3AE8-2870-E04E5CB8BB31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4415450" y="2897045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5" name="TextBox 11">
            <a:extLst>
              <a:ext uri="{FF2B5EF4-FFF2-40B4-BE49-F238E27FC236}">
                <a16:creationId xmlns:a16="http://schemas.microsoft.com/office/drawing/2014/main" id="{100AE9A6-3DD9-65C1-38BB-D75BA01D6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0459" y="2712093"/>
            <a:ext cx="74612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SQS</a:t>
            </a:r>
          </a:p>
        </p:txBody>
      </p:sp>
      <p:pic>
        <p:nvPicPr>
          <p:cNvPr id="91" name="Graphic 24" descr="Amazon Simple Notification Service (Amazon SNS) service icon.">
            <a:extLst>
              <a:ext uri="{FF2B5EF4-FFF2-40B4-BE49-F238E27FC236}">
                <a16:creationId xmlns:a16="http://schemas.microsoft.com/office/drawing/2014/main" id="{CC7A1776-C2D8-82ED-7083-AAABB5D9F0F9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 bwMode="auto">
          <a:xfrm>
            <a:off x="4973194" y="2902885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" name="TextBox 9">
            <a:extLst>
              <a:ext uri="{FF2B5EF4-FFF2-40B4-BE49-F238E27FC236}">
                <a16:creationId xmlns:a16="http://schemas.microsoft.com/office/drawing/2014/main" id="{1614AAAA-86B5-ACAF-A73A-469C0354A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2055" y="2712093"/>
            <a:ext cx="73183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SNS</a:t>
            </a:r>
          </a:p>
        </p:txBody>
      </p: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907BC3B3-20B5-8CB0-E48F-F3EDE5FEA521}"/>
              </a:ext>
            </a:extLst>
          </p:cNvPr>
          <p:cNvCxnSpPr>
            <a:cxnSpLocks/>
            <a:stCxn id="68" idx="0"/>
            <a:endCxn id="83" idx="2"/>
          </p:cNvCxnSpPr>
          <p:nvPr/>
        </p:nvCxnSpPr>
        <p:spPr>
          <a:xfrm rot="16200000" flipV="1">
            <a:off x="4371642" y="3352333"/>
            <a:ext cx="582620" cy="22068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4A5104B3-E95D-8AE9-FEE0-53F69D24B447}"/>
              </a:ext>
            </a:extLst>
          </p:cNvPr>
          <p:cNvCxnSpPr>
            <a:cxnSpLocks/>
            <a:stCxn id="68" idx="0"/>
            <a:endCxn id="91" idx="2"/>
          </p:cNvCxnSpPr>
          <p:nvPr/>
        </p:nvCxnSpPr>
        <p:spPr>
          <a:xfrm rot="5400000" flipH="1" flipV="1">
            <a:off x="4653433" y="3297065"/>
            <a:ext cx="576780" cy="33706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528EB2B3-3F18-DE75-38AE-B868F789CA46}"/>
              </a:ext>
            </a:extLst>
          </p:cNvPr>
          <p:cNvSpPr txBox="1"/>
          <p:nvPr/>
        </p:nvSpPr>
        <p:spPr>
          <a:xfrm>
            <a:off x="3168850" y="208364"/>
            <a:ext cx="2854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Web App SPA and Backend</a:t>
            </a: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044211F4-73AE-58BA-7D11-2F90F21A2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1747" y="5027538"/>
            <a:ext cx="93483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DynamoDB</a:t>
            </a:r>
          </a:p>
        </p:txBody>
      </p:sp>
      <p:sp>
        <p:nvSpPr>
          <p:cNvPr id="28" name="TextBox 9">
            <a:extLst>
              <a:ext uri="{FF2B5EF4-FFF2-40B4-BE49-F238E27FC236}">
                <a16:creationId xmlns:a16="http://schemas.microsoft.com/office/drawing/2014/main" id="{3E9980C8-CB30-BE6D-E80F-66DFBB37D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0453" y="5027537"/>
            <a:ext cx="73183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S3</a:t>
            </a:r>
          </a:p>
        </p:txBody>
      </p:sp>
      <p:sp>
        <p:nvSpPr>
          <p:cNvPr id="63" name="TextBox 9">
            <a:extLst>
              <a:ext uri="{FF2B5EF4-FFF2-40B4-BE49-F238E27FC236}">
                <a16:creationId xmlns:a16="http://schemas.microsoft.com/office/drawing/2014/main" id="{BC25DD1D-1449-9056-0BB5-A8879FF76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4680" y="4978595"/>
            <a:ext cx="93183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CloudFront</a:t>
            </a:r>
          </a:p>
        </p:txBody>
      </p:sp>
      <p:sp>
        <p:nvSpPr>
          <p:cNvPr id="75" name="TextBox 9">
            <a:extLst>
              <a:ext uri="{FF2B5EF4-FFF2-40B4-BE49-F238E27FC236}">
                <a16:creationId xmlns:a16="http://schemas.microsoft.com/office/drawing/2014/main" id="{C9DAAD46-DCB1-C652-7B1B-285040BD3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2189" y="4218053"/>
            <a:ext cx="93183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WAF</a:t>
            </a:r>
          </a:p>
        </p:txBody>
      </p:sp>
      <p:sp>
        <p:nvSpPr>
          <p:cNvPr id="77" name="TextBox 9">
            <a:extLst>
              <a:ext uri="{FF2B5EF4-FFF2-40B4-BE49-F238E27FC236}">
                <a16:creationId xmlns:a16="http://schemas.microsoft.com/office/drawing/2014/main" id="{36890E9E-79A3-3FD8-6D20-1BBD4CDB9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210" y="3362260"/>
            <a:ext cx="9318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API </a:t>
            </a:r>
          </a:p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Gateway</a:t>
            </a:r>
          </a:p>
        </p:txBody>
      </p:sp>
    </p:spTree>
    <p:extLst>
      <p:ext uri="{BB962C8B-B14F-4D97-AF65-F5344CB8AC3E}">
        <p14:creationId xmlns:p14="http://schemas.microsoft.com/office/powerpoint/2010/main" val="1002257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32F4CC8-D3D6-738E-7824-DE62B6BB84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137873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957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C1CA9C8-F26D-AC50-DFE1-764F86FC03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1789" y="0"/>
            <a:ext cx="108284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205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957F5EC3-C126-09B7-8657-447C304DE6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0"/>
            <a:ext cx="1104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185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25BF99C-49C9-29BD-EF7A-35B19BA097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1460" y="365598"/>
            <a:ext cx="85725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707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B443F74-4D50-BC18-55E6-FD095FF725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6529" y="0"/>
            <a:ext cx="116989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242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1206</TotalTime>
  <Words>209</Words>
  <Application>Microsoft Office PowerPoint</Application>
  <PresentationFormat>Widescreen</PresentationFormat>
  <Paragraphs>92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Geiser</dc:creator>
  <cp:lastModifiedBy>Michael Geiser</cp:lastModifiedBy>
  <cp:revision>2</cp:revision>
  <dcterms:created xsi:type="dcterms:W3CDTF">2026-06-20T01:44:39Z</dcterms:created>
  <dcterms:modified xsi:type="dcterms:W3CDTF">2026-06-20T22:27:06Z</dcterms:modified>
</cp:coreProperties>
</file>