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6"/>
  </p:notesMasterIdLst>
  <p:sldIdLst>
    <p:sldId id="256" r:id="rId2"/>
    <p:sldId id="257" r:id="rId3"/>
    <p:sldId id="258" r:id="rId4"/>
    <p:sldId id="2147482020" r:id="rId5"/>
    <p:sldId id="2147482021" r:id="rId6"/>
    <p:sldId id="2147482022" r:id="rId7"/>
    <p:sldId id="2147482023" r:id="rId8"/>
    <p:sldId id="2147482024" r:id="rId9"/>
    <p:sldId id="2147482025" r:id="rId10"/>
    <p:sldId id="2147482026" r:id="rId11"/>
    <p:sldId id="2147482027" r:id="rId12"/>
    <p:sldId id="2147482028" r:id="rId13"/>
    <p:sldId id="2147482029" r:id="rId14"/>
    <p:sldId id="2147482047" r:id="rId15"/>
    <p:sldId id="2147482048" r:id="rId16"/>
    <p:sldId id="2147482049" r:id="rId17"/>
    <p:sldId id="2147482030" r:id="rId18"/>
    <p:sldId id="2147482031" r:id="rId19"/>
    <p:sldId id="2147482032" r:id="rId20"/>
    <p:sldId id="2147482041" r:id="rId21"/>
    <p:sldId id="2147482043" r:id="rId22"/>
    <p:sldId id="2147482042" r:id="rId23"/>
    <p:sldId id="2147482044" r:id="rId24"/>
    <p:sldId id="259" r:id="rId25"/>
    <p:sldId id="260" r:id="rId26"/>
    <p:sldId id="261" r:id="rId27"/>
    <p:sldId id="262" r:id="rId28"/>
    <p:sldId id="263" r:id="rId29"/>
    <p:sldId id="264" r:id="rId30"/>
    <p:sldId id="265" r:id="rId31"/>
    <p:sldId id="266" r:id="rId32"/>
    <p:sldId id="267" r:id="rId33"/>
    <p:sldId id="268" r:id="rId34"/>
    <p:sldId id="269" r:id="rId35"/>
    <p:sldId id="270" r:id="rId36"/>
    <p:sldId id="2147482036" r:id="rId37"/>
    <p:sldId id="2147482002" r:id="rId38"/>
    <p:sldId id="2147482003" r:id="rId39"/>
    <p:sldId id="2147482004" r:id="rId40"/>
    <p:sldId id="2147482005" r:id="rId41"/>
    <p:sldId id="2147482009" r:id="rId42"/>
    <p:sldId id="2147482045" r:id="rId43"/>
    <p:sldId id="2147482046" r:id="rId44"/>
    <p:sldId id="2147482039" r:id="rId4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C2430"/>
    <a:srgbClr val="F6F6F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10"/>
  </p:normalViewPr>
  <p:slideViewPr>
    <p:cSldViewPr snapToGrid="0" snapToObjects="1">
      <p:cViewPr varScale="1">
        <p:scale>
          <a:sx n="78" d="100"/>
          <a:sy n="78" d="100"/>
        </p:scale>
        <p:origin x="762" y="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006647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9BB4C7-3B1F-79B4-7206-6002140CB1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02A048-F6F5-0E7B-E436-81004742D1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5AE836-805A-59B6-1808-54258F79F2EE}"/>
              </a:ext>
            </a:extLst>
          </p:cNvPr>
          <p:cNvSpPr>
            <a:spLocks noGrp="1"/>
          </p:cNvSpPr>
          <p:nvPr>
            <p:ph type="body" idx="1"/>
          </p:nvPr>
        </p:nvSpPr>
        <p:spPr/>
        <p:txBody>
          <a:bodyPr/>
          <a:lstStyle/>
          <a:p>
            <a:r>
              <a:rPr lang="en-US" dirty="0"/>
              <a:t>After completed and will report is being created, the My Submissions page throws a 500 error</a:t>
            </a:r>
          </a:p>
        </p:txBody>
      </p:sp>
      <p:sp>
        <p:nvSpPr>
          <p:cNvPr id="4" name="Slide Number Placeholder 3">
            <a:extLst>
              <a:ext uri="{FF2B5EF4-FFF2-40B4-BE49-F238E27FC236}">
                <a16:creationId xmlns:a16="http://schemas.microsoft.com/office/drawing/2014/main" id="{4B77AAE6-ECAF-BCE2-D9A1-37BEFE69451C}"/>
              </a:ext>
            </a:extLst>
          </p:cNvPr>
          <p:cNvSpPr>
            <a:spLocks noGrp="1"/>
          </p:cNvSpPr>
          <p:nvPr>
            <p:ph type="sldNum" sz="quarter" idx="5"/>
          </p:nvPr>
        </p:nvSpPr>
        <p:spPr/>
        <p:txBody>
          <a:bodyPr/>
          <a:lstStyle/>
          <a:p>
            <a:fld id="{2A840CD0-598D-447F-B58B-41C1046D6E11}" type="slidenum">
              <a:rPr lang="en-US" smtClean="0"/>
              <a:t>11</a:t>
            </a:fld>
            <a:endParaRPr lang="en-US"/>
          </a:p>
        </p:txBody>
      </p:sp>
    </p:spTree>
    <p:extLst>
      <p:ext uri="{BB962C8B-B14F-4D97-AF65-F5344CB8AC3E}">
        <p14:creationId xmlns:p14="http://schemas.microsoft.com/office/powerpoint/2010/main" val="275185582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411480" y="256032"/>
            <a:ext cx="11384280" cy="0"/>
          </a:xfrm>
          <a:prstGeom prst="line">
            <a:avLst/>
          </a:prstGeom>
          <a:noFill/>
          <a:ln w="12700">
            <a:solidFill>
              <a:srgbClr val="123B5E">
                <a:alpha val="78000"/>
              </a:srgbClr>
            </a:solidFill>
            <a:prstDash val="solid"/>
          </a:ln>
        </p:spPr>
        <p:txBody>
          <a:bodyPr/>
          <a:lstStyle/>
          <a:p>
            <a:endParaRPr lang="en-US"/>
          </a:p>
        </p:txBody>
      </p:sp>
      <p:sp>
        <p:nvSpPr>
          <p:cNvPr id="3" name="Text 1"/>
          <p:cNvSpPr/>
          <p:nvPr/>
        </p:nvSpPr>
        <p:spPr>
          <a:xfrm>
            <a:off x="9555480" y="128016"/>
            <a:ext cx="2148840" cy="228600"/>
          </a:xfrm>
          <a:prstGeom prst="rect">
            <a:avLst/>
          </a:prstGeom>
          <a:noFill/>
          <a:ln/>
        </p:spPr>
        <p:txBody>
          <a:bodyPr wrap="square" lIns="0" tIns="0" rIns="0" bIns="0" rtlCol="0" anchor="ctr"/>
          <a:lstStyle/>
          <a:p>
            <a:pPr marL="0" indent="0" algn="r">
              <a:buNone/>
            </a:pPr>
            <a:r>
              <a:rPr lang="en-US" sz="750" dirty="0">
                <a:solidFill>
                  <a:srgbClr val="6EA8FF"/>
                </a:solidFill>
                <a:latin typeface="Segoe UI" pitchFamily="34" charset="0"/>
                <a:ea typeface="Segoe UI" pitchFamily="34" charset="-122"/>
                <a:cs typeface="Segoe UI" pitchFamily="34" charset="-120"/>
              </a:rPr>
              <a:t>PresCoach CTO Review</a:t>
            </a:r>
            <a:endParaRPr lang="en-US" sz="7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cSld name="Dark_Blank">
    <p:bg>
      <p:bgPr>
        <a:solidFill>
          <a:schemeClr val="tx1"/>
        </a:solidFill>
        <a:effectLst/>
      </p:bgPr>
    </p:bg>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B944AF13-45F5-0F9F-82FD-CEA8B87ADA18}"/>
              </a:ext>
            </a:extLst>
          </p:cNvPr>
          <p:cNvSpPr>
            <a:spLocks noGrp="1"/>
          </p:cNvSpPr>
          <p:nvPr>
            <p:ph type="sldNum" sz="quarter" idx="12"/>
          </p:nvPr>
        </p:nvSpPr>
        <p:spPr>
          <a:xfrm>
            <a:off x="8610600" y="6356350"/>
            <a:ext cx="2743200" cy="365125"/>
          </a:xfrm>
          <a:prstGeom prst="rect">
            <a:avLst/>
          </a:prstGeom>
        </p:spPr>
        <p:txBody>
          <a:bodyPr/>
          <a:lstStyle/>
          <a:p>
            <a:fld id="{32C6CF2F-657D-49C6-BC9A-22E3A8FC8808}" type="slidenum">
              <a:rPr lang="en-US" smtClean="0"/>
              <a:t>‹#›</a:t>
            </a:fld>
            <a:endParaRPr lang="en-US"/>
          </a:p>
        </p:txBody>
      </p:sp>
    </p:spTree>
    <p:extLst>
      <p:ext uri="{BB962C8B-B14F-4D97-AF65-F5344CB8AC3E}">
        <p14:creationId xmlns:p14="http://schemas.microsoft.com/office/powerpoint/2010/main" val="87607877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3.xml"/><Relationship Id="rId5" Type="http://schemas.openxmlformats.org/officeDocument/2006/relationships/image" Target="../media/image13.pn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3.xml"/><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2.png"/><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3.xml"/><Relationship Id="rId5" Type="http://schemas.openxmlformats.org/officeDocument/2006/relationships/image" Target="../media/image22.png"/><Relationship Id="rId4" Type="http://schemas.openxmlformats.org/officeDocument/2006/relationships/image" Target="../media/image21.png"/></Relationships>
</file>

<file path=ppt/slides/_rels/slide1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3.xml"/><Relationship Id="rId4" Type="http://schemas.openxmlformats.org/officeDocument/2006/relationships/image" Target="../media/image25.png"/></Relationships>
</file>

<file path=ppt/slides/_rels/slide15.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8" Type="http://schemas.openxmlformats.org/officeDocument/2006/relationships/image" Target="../media/image36.svg"/><Relationship Id="rId13" Type="http://schemas.openxmlformats.org/officeDocument/2006/relationships/image" Target="../media/image41.svg"/><Relationship Id="rId18" Type="http://schemas.openxmlformats.org/officeDocument/2006/relationships/image" Target="../media/image46.svg"/><Relationship Id="rId3" Type="http://schemas.openxmlformats.org/officeDocument/2006/relationships/image" Target="../media/image31.svg"/><Relationship Id="rId7" Type="http://schemas.openxmlformats.org/officeDocument/2006/relationships/image" Target="../media/image35.svg"/><Relationship Id="rId12" Type="http://schemas.openxmlformats.org/officeDocument/2006/relationships/image" Target="../media/image40.svg"/><Relationship Id="rId17" Type="http://schemas.openxmlformats.org/officeDocument/2006/relationships/image" Target="../media/image45.svg"/><Relationship Id="rId2" Type="http://schemas.openxmlformats.org/officeDocument/2006/relationships/image" Target="../media/image30.svg"/><Relationship Id="rId16" Type="http://schemas.openxmlformats.org/officeDocument/2006/relationships/image" Target="../media/image44.svg"/><Relationship Id="rId1" Type="http://schemas.openxmlformats.org/officeDocument/2006/relationships/slideLayout" Target="../slideLayouts/slideLayout3.xml"/><Relationship Id="rId6" Type="http://schemas.openxmlformats.org/officeDocument/2006/relationships/image" Target="../media/image34.svg"/><Relationship Id="rId11" Type="http://schemas.openxmlformats.org/officeDocument/2006/relationships/image" Target="../media/image39.svg"/><Relationship Id="rId5" Type="http://schemas.openxmlformats.org/officeDocument/2006/relationships/image" Target="../media/image33.svg"/><Relationship Id="rId15" Type="http://schemas.openxmlformats.org/officeDocument/2006/relationships/image" Target="../media/image43.svg"/><Relationship Id="rId10" Type="http://schemas.openxmlformats.org/officeDocument/2006/relationships/image" Target="../media/image38.svg"/><Relationship Id="rId19" Type="http://schemas.openxmlformats.org/officeDocument/2006/relationships/image" Target="../media/image47.svg"/><Relationship Id="rId4" Type="http://schemas.openxmlformats.org/officeDocument/2006/relationships/image" Target="../media/image32.svg"/><Relationship Id="rId9" Type="http://schemas.openxmlformats.org/officeDocument/2006/relationships/image" Target="../media/image37.svg"/><Relationship Id="rId14" Type="http://schemas.openxmlformats.org/officeDocument/2006/relationships/image" Target="../media/image42.svg"/></Relationships>
</file>

<file path=ppt/slides/_rels/slide21.xml.rels><?xml version="1.0" encoding="UTF-8" standalone="yes"?>
<Relationships xmlns="http://schemas.openxmlformats.org/package/2006/relationships"><Relationship Id="rId8" Type="http://schemas.openxmlformats.org/officeDocument/2006/relationships/image" Target="../media/image37.svg"/><Relationship Id="rId13" Type="http://schemas.openxmlformats.org/officeDocument/2006/relationships/image" Target="../media/image42.svg"/><Relationship Id="rId18" Type="http://schemas.openxmlformats.org/officeDocument/2006/relationships/image" Target="../media/image46.svg"/><Relationship Id="rId3" Type="http://schemas.openxmlformats.org/officeDocument/2006/relationships/image" Target="../media/image31.svg"/><Relationship Id="rId7" Type="http://schemas.openxmlformats.org/officeDocument/2006/relationships/image" Target="../media/image36.svg"/><Relationship Id="rId12" Type="http://schemas.openxmlformats.org/officeDocument/2006/relationships/image" Target="../media/image41.svg"/><Relationship Id="rId17" Type="http://schemas.openxmlformats.org/officeDocument/2006/relationships/image" Target="../media/image45.svg"/><Relationship Id="rId2" Type="http://schemas.openxmlformats.org/officeDocument/2006/relationships/image" Target="../media/image30.svg"/><Relationship Id="rId16" Type="http://schemas.openxmlformats.org/officeDocument/2006/relationships/image" Target="../media/image48.svg"/><Relationship Id="rId20" Type="http://schemas.openxmlformats.org/officeDocument/2006/relationships/image" Target="../media/image44.svg"/><Relationship Id="rId1" Type="http://schemas.openxmlformats.org/officeDocument/2006/relationships/slideLayout" Target="../slideLayouts/slideLayout3.xml"/><Relationship Id="rId6" Type="http://schemas.openxmlformats.org/officeDocument/2006/relationships/image" Target="../media/image34.svg"/><Relationship Id="rId11" Type="http://schemas.openxmlformats.org/officeDocument/2006/relationships/image" Target="../media/image40.svg"/><Relationship Id="rId5" Type="http://schemas.openxmlformats.org/officeDocument/2006/relationships/image" Target="../media/image33.svg"/><Relationship Id="rId15" Type="http://schemas.openxmlformats.org/officeDocument/2006/relationships/image" Target="../media/image35.svg"/><Relationship Id="rId10" Type="http://schemas.openxmlformats.org/officeDocument/2006/relationships/image" Target="../media/image39.svg"/><Relationship Id="rId19" Type="http://schemas.openxmlformats.org/officeDocument/2006/relationships/image" Target="../media/image47.svg"/><Relationship Id="rId4" Type="http://schemas.openxmlformats.org/officeDocument/2006/relationships/image" Target="../media/image32.svg"/><Relationship Id="rId9" Type="http://schemas.openxmlformats.org/officeDocument/2006/relationships/image" Target="../media/image38.svg"/><Relationship Id="rId14" Type="http://schemas.openxmlformats.org/officeDocument/2006/relationships/image" Target="../media/image43.svg"/></Relationships>
</file>

<file path=ppt/slides/_rels/slide22.xml.rels><?xml version="1.0" encoding="UTF-8" standalone="yes"?>
<Relationships xmlns="http://schemas.openxmlformats.org/package/2006/relationships"><Relationship Id="rId8" Type="http://schemas.openxmlformats.org/officeDocument/2006/relationships/image" Target="../media/image37.svg"/><Relationship Id="rId13" Type="http://schemas.openxmlformats.org/officeDocument/2006/relationships/image" Target="../media/image42.svg"/><Relationship Id="rId18" Type="http://schemas.openxmlformats.org/officeDocument/2006/relationships/image" Target="../media/image46.svg"/><Relationship Id="rId3" Type="http://schemas.openxmlformats.org/officeDocument/2006/relationships/image" Target="../media/image31.svg"/><Relationship Id="rId21" Type="http://schemas.openxmlformats.org/officeDocument/2006/relationships/image" Target="../media/image50.svg"/><Relationship Id="rId7" Type="http://schemas.openxmlformats.org/officeDocument/2006/relationships/image" Target="../media/image36.svg"/><Relationship Id="rId12" Type="http://schemas.openxmlformats.org/officeDocument/2006/relationships/image" Target="../media/image41.svg"/><Relationship Id="rId17" Type="http://schemas.openxmlformats.org/officeDocument/2006/relationships/image" Target="../media/image45.svg"/><Relationship Id="rId2" Type="http://schemas.openxmlformats.org/officeDocument/2006/relationships/image" Target="../media/image30.svg"/><Relationship Id="rId16" Type="http://schemas.openxmlformats.org/officeDocument/2006/relationships/image" Target="../media/image48.svg"/><Relationship Id="rId20" Type="http://schemas.openxmlformats.org/officeDocument/2006/relationships/image" Target="../media/image49.svg"/><Relationship Id="rId1" Type="http://schemas.openxmlformats.org/officeDocument/2006/relationships/slideLayout" Target="../slideLayouts/slideLayout3.xml"/><Relationship Id="rId6" Type="http://schemas.openxmlformats.org/officeDocument/2006/relationships/image" Target="../media/image34.svg"/><Relationship Id="rId11" Type="http://schemas.openxmlformats.org/officeDocument/2006/relationships/image" Target="../media/image40.svg"/><Relationship Id="rId5" Type="http://schemas.openxmlformats.org/officeDocument/2006/relationships/image" Target="../media/image33.svg"/><Relationship Id="rId15" Type="http://schemas.openxmlformats.org/officeDocument/2006/relationships/image" Target="../media/image35.svg"/><Relationship Id="rId23" Type="http://schemas.openxmlformats.org/officeDocument/2006/relationships/image" Target="../media/image44.svg"/><Relationship Id="rId10" Type="http://schemas.openxmlformats.org/officeDocument/2006/relationships/image" Target="../media/image39.svg"/><Relationship Id="rId19" Type="http://schemas.openxmlformats.org/officeDocument/2006/relationships/image" Target="../media/image47.svg"/><Relationship Id="rId4" Type="http://schemas.openxmlformats.org/officeDocument/2006/relationships/image" Target="../media/image32.svg"/><Relationship Id="rId9" Type="http://schemas.openxmlformats.org/officeDocument/2006/relationships/image" Target="../media/image38.svg"/><Relationship Id="rId14" Type="http://schemas.openxmlformats.org/officeDocument/2006/relationships/image" Target="../media/image43.svg"/><Relationship Id="rId22" Type="http://schemas.openxmlformats.org/officeDocument/2006/relationships/image" Target="../media/image51.svg"/></Relationships>
</file>

<file path=ppt/slides/_rels/slide23.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53.svg"/><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2" Type="http://schemas.openxmlformats.org/officeDocument/2006/relationships/image" Target="../media/image54.svg"/><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image" Target="../media/image55.svg"/><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2" Type="http://schemas.openxmlformats.org/officeDocument/2006/relationships/image" Target="../media/image56.svg"/><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2" Type="http://schemas.openxmlformats.org/officeDocument/2006/relationships/image" Target="../media/image57.svg"/><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8" Type="http://schemas.openxmlformats.org/officeDocument/2006/relationships/image" Target="../media/image37.svg"/><Relationship Id="rId13" Type="http://schemas.openxmlformats.org/officeDocument/2006/relationships/image" Target="../media/image42.svg"/><Relationship Id="rId18" Type="http://schemas.openxmlformats.org/officeDocument/2006/relationships/image" Target="../media/image47.svg"/><Relationship Id="rId3" Type="http://schemas.openxmlformats.org/officeDocument/2006/relationships/image" Target="../media/image32.svg"/><Relationship Id="rId21" Type="http://schemas.openxmlformats.org/officeDocument/2006/relationships/image" Target="../media/image51.svg"/><Relationship Id="rId7" Type="http://schemas.openxmlformats.org/officeDocument/2006/relationships/image" Target="../media/image36.svg"/><Relationship Id="rId12" Type="http://schemas.openxmlformats.org/officeDocument/2006/relationships/image" Target="../media/image41.svg"/><Relationship Id="rId17" Type="http://schemas.openxmlformats.org/officeDocument/2006/relationships/image" Target="../media/image46.svg"/><Relationship Id="rId2" Type="http://schemas.openxmlformats.org/officeDocument/2006/relationships/image" Target="../media/image31.svg"/><Relationship Id="rId16" Type="http://schemas.openxmlformats.org/officeDocument/2006/relationships/image" Target="../media/image45.svg"/><Relationship Id="rId20" Type="http://schemas.openxmlformats.org/officeDocument/2006/relationships/image" Target="../media/image50.svg"/><Relationship Id="rId1" Type="http://schemas.openxmlformats.org/officeDocument/2006/relationships/slideLayout" Target="../slideLayouts/slideLayout3.xml"/><Relationship Id="rId6" Type="http://schemas.openxmlformats.org/officeDocument/2006/relationships/image" Target="../media/image35.svg"/><Relationship Id="rId11" Type="http://schemas.openxmlformats.org/officeDocument/2006/relationships/image" Target="../media/image40.svg"/><Relationship Id="rId5" Type="http://schemas.openxmlformats.org/officeDocument/2006/relationships/image" Target="../media/image34.svg"/><Relationship Id="rId15" Type="http://schemas.openxmlformats.org/officeDocument/2006/relationships/image" Target="../media/image48.svg"/><Relationship Id="rId10" Type="http://schemas.openxmlformats.org/officeDocument/2006/relationships/image" Target="../media/image39.svg"/><Relationship Id="rId19" Type="http://schemas.openxmlformats.org/officeDocument/2006/relationships/image" Target="../media/image49.svg"/><Relationship Id="rId4" Type="http://schemas.openxmlformats.org/officeDocument/2006/relationships/image" Target="../media/image33.svg"/><Relationship Id="rId9" Type="http://schemas.openxmlformats.org/officeDocument/2006/relationships/image" Target="../media/image38.svg"/><Relationship Id="rId14" Type="http://schemas.openxmlformats.org/officeDocument/2006/relationships/image" Target="../media/image43.svg"/><Relationship Id="rId22" Type="http://schemas.openxmlformats.org/officeDocument/2006/relationships/image" Target="../media/image44.svg"/></Relationships>
</file>

<file path=ppt/slides/_rels/slide43.xml.rels><?xml version="1.0" encoding="UTF-8" standalone="yes"?>
<Relationships xmlns="http://schemas.openxmlformats.org/package/2006/relationships"><Relationship Id="rId8" Type="http://schemas.openxmlformats.org/officeDocument/2006/relationships/image" Target="../media/image37.svg"/><Relationship Id="rId13" Type="http://schemas.openxmlformats.org/officeDocument/2006/relationships/image" Target="../media/image42.svg"/><Relationship Id="rId18" Type="http://schemas.openxmlformats.org/officeDocument/2006/relationships/image" Target="../media/image47.svg"/><Relationship Id="rId3" Type="http://schemas.openxmlformats.org/officeDocument/2006/relationships/image" Target="../media/image32.svg"/><Relationship Id="rId21" Type="http://schemas.openxmlformats.org/officeDocument/2006/relationships/image" Target="../media/image51.svg"/><Relationship Id="rId7" Type="http://schemas.openxmlformats.org/officeDocument/2006/relationships/image" Target="../media/image36.svg"/><Relationship Id="rId12" Type="http://schemas.openxmlformats.org/officeDocument/2006/relationships/image" Target="../media/image41.svg"/><Relationship Id="rId17" Type="http://schemas.openxmlformats.org/officeDocument/2006/relationships/image" Target="../media/image46.svg"/><Relationship Id="rId2" Type="http://schemas.openxmlformats.org/officeDocument/2006/relationships/image" Target="../media/image31.svg"/><Relationship Id="rId16" Type="http://schemas.openxmlformats.org/officeDocument/2006/relationships/image" Target="../media/image45.svg"/><Relationship Id="rId20" Type="http://schemas.openxmlformats.org/officeDocument/2006/relationships/image" Target="../media/image50.svg"/><Relationship Id="rId1" Type="http://schemas.openxmlformats.org/officeDocument/2006/relationships/slideLayout" Target="../slideLayouts/slideLayout3.xml"/><Relationship Id="rId6" Type="http://schemas.openxmlformats.org/officeDocument/2006/relationships/image" Target="../media/image35.svg"/><Relationship Id="rId11" Type="http://schemas.openxmlformats.org/officeDocument/2006/relationships/image" Target="../media/image40.svg"/><Relationship Id="rId5" Type="http://schemas.openxmlformats.org/officeDocument/2006/relationships/image" Target="../media/image34.svg"/><Relationship Id="rId15" Type="http://schemas.openxmlformats.org/officeDocument/2006/relationships/image" Target="../media/image48.svg"/><Relationship Id="rId10" Type="http://schemas.openxmlformats.org/officeDocument/2006/relationships/image" Target="../media/image39.svg"/><Relationship Id="rId19" Type="http://schemas.openxmlformats.org/officeDocument/2006/relationships/image" Target="../media/image49.svg"/><Relationship Id="rId4" Type="http://schemas.openxmlformats.org/officeDocument/2006/relationships/image" Target="../media/image33.svg"/><Relationship Id="rId9" Type="http://schemas.openxmlformats.org/officeDocument/2006/relationships/image" Target="../media/image38.svg"/><Relationship Id="rId14" Type="http://schemas.openxmlformats.org/officeDocument/2006/relationships/image" Target="../media/image43.svg"/></Relationships>
</file>

<file path=ppt/slides/_rels/slide44.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3.xml"/><Relationship Id="rId4" Type="http://schemas.openxmlformats.org/officeDocument/2006/relationships/image" Target="../media/image30.sv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566928" y="566928"/>
            <a:ext cx="7717536" cy="530352"/>
          </a:xfrm>
          <a:prstGeom prst="rect">
            <a:avLst/>
          </a:prstGeom>
          <a:noFill/>
          <a:ln/>
        </p:spPr>
        <p:txBody>
          <a:bodyPr wrap="square" lIns="0" tIns="0" rIns="0" bIns="0" rtlCol="0" anchor="ctr"/>
          <a:lstStyle/>
          <a:p>
            <a:pPr marL="0" indent="0">
              <a:buNone/>
            </a:pPr>
            <a:r>
              <a:rPr lang="en-US" sz="3800" b="1" dirty="0">
                <a:solidFill>
                  <a:srgbClr val="F5F7FA"/>
                </a:solidFill>
              </a:rPr>
              <a:t>AI Presentation Coach</a:t>
            </a:r>
            <a:endParaRPr lang="en-US" sz="3800" dirty="0"/>
          </a:p>
        </p:txBody>
      </p:sp>
      <p:sp>
        <p:nvSpPr>
          <p:cNvPr id="3" name="Text 1"/>
          <p:cNvSpPr/>
          <p:nvPr/>
        </p:nvSpPr>
        <p:spPr>
          <a:xfrm>
            <a:off x="603504" y="1115568"/>
            <a:ext cx="5303520" cy="384048"/>
          </a:xfrm>
          <a:prstGeom prst="rect">
            <a:avLst/>
          </a:prstGeom>
          <a:noFill/>
          <a:ln/>
        </p:spPr>
        <p:txBody>
          <a:bodyPr wrap="square" lIns="0" tIns="0" rIns="0" bIns="0" rtlCol="0" anchor="ctr"/>
          <a:lstStyle/>
          <a:p>
            <a:pPr marL="0" indent="0">
              <a:buNone/>
            </a:pPr>
            <a:r>
              <a:rPr lang="en-US" sz="1800" dirty="0">
                <a:solidFill>
                  <a:srgbClr val="59C4FF"/>
                </a:solidFill>
              </a:rPr>
              <a:t>Using AI to make you a better public speaker</a:t>
            </a:r>
            <a:endParaRPr lang="en-US" sz="1800" dirty="0"/>
          </a:p>
        </p:txBody>
      </p:sp>
      <p:sp>
        <p:nvSpPr>
          <p:cNvPr id="4" name="Text 2"/>
          <p:cNvSpPr/>
          <p:nvPr/>
        </p:nvSpPr>
        <p:spPr>
          <a:xfrm>
            <a:off x="603504" y="1755648"/>
            <a:ext cx="5303520" cy="960120"/>
          </a:xfrm>
          <a:prstGeom prst="rect">
            <a:avLst/>
          </a:prstGeom>
          <a:noFill/>
          <a:ln/>
        </p:spPr>
        <p:txBody>
          <a:bodyPr wrap="square" lIns="0" tIns="0" rIns="0" bIns="0" rtlCol="0" anchor="ctr">
            <a:normAutofit lnSpcReduction="10000"/>
          </a:bodyPr>
          <a:lstStyle/>
          <a:p>
            <a:pPr marL="0" indent="0">
              <a:buNone/>
            </a:pPr>
            <a:r>
              <a:rPr lang="en-US" sz="2300" b="1" dirty="0">
                <a:solidFill>
                  <a:srgbClr val="F5F7FA"/>
                </a:solidFill>
              </a:rPr>
              <a:t>An AWS-native event based agentic presentation coaching platform built with Kiro and AI-DLC practices.</a:t>
            </a:r>
            <a:endParaRPr lang="en-US" sz="2300" dirty="0"/>
          </a:p>
        </p:txBody>
      </p:sp>
      <p:sp>
        <p:nvSpPr>
          <p:cNvPr id="5" name="Text 3"/>
          <p:cNvSpPr/>
          <p:nvPr/>
        </p:nvSpPr>
        <p:spPr>
          <a:xfrm>
            <a:off x="621792" y="2907792"/>
            <a:ext cx="5212080" cy="2359152"/>
          </a:xfrm>
          <a:prstGeom prst="rect">
            <a:avLst/>
          </a:prstGeom>
          <a:noFill/>
          <a:ln/>
        </p:spPr>
        <p:txBody>
          <a:bodyPr wrap="square" lIns="254" tIns="254" rIns="254" bIns="254" rtlCol="0" anchor="t">
            <a:normAutofit/>
          </a:bodyPr>
          <a:lstStyle/>
          <a:p>
            <a:pPr marL="0" indent="0">
              <a:buNone/>
            </a:pPr>
            <a:r>
              <a:rPr lang="en-US" sz="1480" dirty="0">
                <a:solidFill>
                  <a:srgbClr val="B2BAC8"/>
                </a:solidFill>
              </a:rPr>
              <a:t>This is not just a demo, it is a useful pattern for taking agentic systems from idea </a:t>
            </a:r>
            <a:r>
              <a:rPr lang="en-US" sz="1600" dirty="0">
                <a:solidFill>
                  <a:srgbClr val="B2BAC8"/>
                </a:solidFill>
              </a:rPr>
              <a:t>to</a:t>
            </a:r>
            <a:r>
              <a:rPr lang="en-US" sz="1480" dirty="0">
                <a:solidFill>
                  <a:srgbClr val="B2BAC8"/>
                </a:solidFill>
              </a:rPr>
              <a:t> PoC to Production via governed software delivery.</a:t>
            </a:r>
            <a:br>
              <a:rPr lang="en-US" sz="1480" dirty="0">
                <a:solidFill>
                  <a:srgbClr val="B2BAC8"/>
                </a:solidFill>
              </a:rPr>
            </a:br>
            <a:endParaRPr lang="en-US" sz="1480" dirty="0">
              <a:solidFill>
                <a:srgbClr val="B2BAC8"/>
              </a:solidFill>
            </a:endParaRPr>
          </a:p>
          <a:p>
            <a:pPr marL="0" indent="0">
              <a:buNone/>
            </a:pPr>
            <a:endParaRPr lang="en-US" sz="1480" dirty="0">
              <a:solidFill>
                <a:srgbClr val="B2BAC8"/>
              </a:solidFill>
            </a:endParaRPr>
          </a:p>
          <a:p>
            <a:pPr marL="0" indent="0">
              <a:buNone/>
            </a:pPr>
            <a:endParaRPr lang="en-US" sz="1480" dirty="0">
              <a:solidFill>
                <a:srgbClr val="B2BAC8"/>
              </a:solidFill>
            </a:endParaRPr>
          </a:p>
          <a:p>
            <a:pPr marL="0" indent="0">
              <a:buNone/>
            </a:pPr>
            <a:endParaRPr lang="en-US" sz="1480" dirty="0">
              <a:solidFill>
                <a:srgbClr val="B2BAC8"/>
              </a:solidFill>
            </a:endParaRPr>
          </a:p>
          <a:p>
            <a:pPr marL="0" indent="0">
              <a:buNone/>
            </a:pPr>
            <a:r>
              <a:rPr lang="en-US" sz="1480" dirty="0">
                <a:solidFill>
                  <a:srgbClr val="B2BAC8"/>
                </a:solidFill>
              </a:rPr>
              <a:t>Created and developed by Michael Geiser</a:t>
            </a:r>
            <a:br>
              <a:rPr lang="en-US" sz="1480" dirty="0">
                <a:solidFill>
                  <a:srgbClr val="B2BAC8"/>
                </a:solidFill>
              </a:rPr>
            </a:br>
            <a:br>
              <a:rPr lang="en-US" sz="1480" dirty="0">
                <a:solidFill>
                  <a:srgbClr val="B2BAC8"/>
                </a:solidFill>
              </a:rPr>
            </a:br>
            <a:endParaRPr lang="en-US" sz="1480" dirty="0"/>
          </a:p>
        </p:txBody>
      </p:sp>
      <p:pic>
        <p:nvPicPr>
          <p:cNvPr id="6" name="Image 0" descr="/mnt/data/app_hero.png"/>
          <p:cNvPicPr>
            <a:picLocks noChangeAspect="1"/>
          </p:cNvPicPr>
          <p:nvPr/>
        </p:nvPicPr>
        <p:blipFill>
          <a:blip r:embed="rId3"/>
          <a:srcRect l="30" r="30"/>
          <a:stretch/>
        </p:blipFill>
        <p:spPr>
          <a:xfrm>
            <a:off x="6419088" y="749808"/>
            <a:ext cx="5102352" cy="3063240"/>
          </a:xfrm>
          <a:prstGeom prst="rect">
            <a:avLst/>
          </a:prstGeom>
        </p:spPr>
      </p:pic>
      <p:sp>
        <p:nvSpPr>
          <p:cNvPr id="8" name="Text 4"/>
          <p:cNvSpPr/>
          <p:nvPr/>
        </p:nvSpPr>
        <p:spPr>
          <a:xfrm>
            <a:off x="9930384" y="4087368"/>
            <a:ext cx="1499616" cy="822960"/>
          </a:xfrm>
          <a:prstGeom prst="roundRect">
            <a:avLst>
              <a:gd name="adj" fmla="val 8889"/>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250" b="1" dirty="0">
                <a:solidFill>
                  <a:srgbClr val="F5F7FA"/>
                </a:solidFill>
              </a:rPr>
              <a:t>AWS-native</a:t>
            </a:r>
            <a:endParaRPr lang="en-US" sz="1250" dirty="0"/>
          </a:p>
          <a:p>
            <a:pPr marL="0" indent="0" algn="ctr">
              <a:buNone/>
            </a:pPr>
            <a:r>
              <a:rPr lang="en-US" sz="1250" b="1" dirty="0">
                <a:solidFill>
                  <a:srgbClr val="F5F7FA"/>
                </a:solidFill>
              </a:rPr>
              <a:t>serverless + agentic</a:t>
            </a:r>
            <a:endParaRPr lang="en-US" sz="1250" dirty="0"/>
          </a:p>
        </p:txBody>
      </p:sp>
      <p:sp>
        <p:nvSpPr>
          <p:cNvPr id="9" name="Text 5"/>
          <p:cNvSpPr/>
          <p:nvPr/>
        </p:nvSpPr>
        <p:spPr>
          <a:xfrm>
            <a:off x="9930384" y="5102352"/>
            <a:ext cx="1499616" cy="786384"/>
          </a:xfrm>
          <a:prstGeom prst="roundRect">
            <a:avLst>
              <a:gd name="adj" fmla="val 9302"/>
            </a:avLst>
          </a:prstGeom>
          <a:solidFill>
            <a:srgbClr val="071A2D"/>
          </a:solidFill>
          <a:ln w="13970">
            <a:solidFill>
              <a:srgbClr val="59D08F"/>
            </a:solidFill>
          </a:ln>
        </p:spPr>
        <p:txBody>
          <a:bodyPr wrap="square" lIns="1016" tIns="1016" rIns="1016" bIns="1016" rtlCol="0" anchor="ctr">
            <a:normAutofit/>
          </a:bodyPr>
          <a:lstStyle/>
          <a:p>
            <a:pPr marL="0" indent="0" algn="ctr">
              <a:buNone/>
            </a:pPr>
            <a:r>
              <a:rPr lang="en-US" sz="1250" b="1" dirty="0">
                <a:solidFill>
                  <a:srgbClr val="F5F7FA"/>
                </a:solidFill>
              </a:rPr>
              <a:t>Built for</a:t>
            </a:r>
            <a:endParaRPr lang="en-US" sz="1250" dirty="0"/>
          </a:p>
          <a:p>
            <a:pPr marL="0" indent="0" algn="ctr">
              <a:buNone/>
            </a:pPr>
            <a:r>
              <a:rPr lang="en-US" sz="1250" b="1" dirty="0">
                <a:solidFill>
                  <a:srgbClr val="F5F7FA"/>
                </a:solidFill>
              </a:rPr>
              <a:t>zero idle cost</a:t>
            </a:r>
            <a:endParaRPr lang="en-US" sz="1250" dirty="0"/>
          </a:p>
        </p:txBody>
      </p:sp>
      <p:sp>
        <p:nvSpPr>
          <p:cNvPr id="10" name="Text 6"/>
          <p:cNvSpPr/>
          <p:nvPr/>
        </p:nvSpPr>
        <p:spPr>
          <a:xfrm>
            <a:off x="603504" y="6327648"/>
            <a:ext cx="5760720" cy="219456"/>
          </a:xfrm>
          <a:prstGeom prst="rect">
            <a:avLst/>
          </a:prstGeom>
          <a:noFill/>
          <a:ln/>
        </p:spPr>
        <p:txBody>
          <a:bodyPr wrap="square" lIns="0" tIns="0" rIns="0" bIns="0" rtlCol="0" anchor="ctr"/>
          <a:lstStyle/>
          <a:p>
            <a:pPr marL="0" indent="0">
              <a:buNone/>
            </a:pPr>
            <a:r>
              <a:rPr lang="en-US" sz="850" dirty="0">
                <a:solidFill>
                  <a:srgbClr val="7E8796"/>
                </a:solidFill>
              </a:rPr>
              <a:t>Dark theme retained from the working deck</a:t>
            </a:r>
            <a:endParaRPr lang="en-US" sz="850" dirty="0"/>
          </a:p>
        </p:txBody>
      </p:sp>
      <p:pic>
        <p:nvPicPr>
          <p:cNvPr id="12" name="Picture 11">
            <a:extLst>
              <a:ext uri="{FF2B5EF4-FFF2-40B4-BE49-F238E27FC236}">
                <a16:creationId xmlns:a16="http://schemas.microsoft.com/office/drawing/2014/main" id="{3A446344-8DD4-910A-F5F3-2EA5A28571E5}"/>
              </a:ext>
            </a:extLst>
          </p:cNvPr>
          <p:cNvPicPr>
            <a:picLocks noChangeAspect="1"/>
          </p:cNvPicPr>
          <p:nvPr/>
        </p:nvPicPr>
        <p:blipFill>
          <a:blip r:embed="rId4"/>
          <a:stretch>
            <a:fillRect/>
          </a:stretch>
        </p:blipFill>
        <p:spPr>
          <a:xfrm>
            <a:off x="7109293" y="3968496"/>
            <a:ext cx="2536896" cy="235915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EXECUTIVE LENS</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a:bodyPr>
          <a:lstStyle/>
          <a:p>
            <a:pPr marL="0" indent="0">
              <a:buNone/>
            </a:pPr>
            <a:r>
              <a:rPr lang="en-US" sz="2950" b="1" dirty="0">
                <a:solidFill>
                  <a:srgbClr val="F5F7FA"/>
                </a:solidFill>
              </a:rPr>
              <a:t>The CTO readout</a:t>
            </a:r>
            <a:endParaRPr lang="en-US" sz="2950" dirty="0"/>
          </a:p>
        </p:txBody>
      </p:sp>
      <p:sp>
        <p:nvSpPr>
          <p:cNvPr id="4" name="Text 2"/>
          <p:cNvSpPr/>
          <p:nvPr/>
        </p:nvSpPr>
        <p:spPr>
          <a:xfrm>
            <a:off x="621792" y="1426464"/>
            <a:ext cx="7680960" cy="1024128"/>
          </a:xfrm>
          <a:prstGeom prst="rect">
            <a:avLst/>
          </a:prstGeom>
          <a:noFill/>
          <a:ln/>
        </p:spPr>
        <p:txBody>
          <a:bodyPr wrap="square" lIns="254" tIns="254" rIns="254" bIns="254" rtlCol="0" anchor="t">
            <a:noAutofit/>
          </a:bodyPr>
          <a:lstStyle/>
          <a:p>
            <a:pPr marL="0" indent="0" algn="l">
              <a:buNone/>
            </a:pPr>
            <a:r>
              <a:rPr lang="en-US" sz="1600" dirty="0">
                <a:solidFill>
                  <a:srgbClr val="B2BAC8"/>
                </a:solidFill>
              </a:rPr>
              <a:t>The AI Presentation Coach (“</a:t>
            </a:r>
            <a:r>
              <a:rPr lang="en-US" sz="1600" dirty="0" err="1">
                <a:solidFill>
                  <a:srgbClr val="B2BAC8"/>
                </a:solidFill>
              </a:rPr>
              <a:t>PresCoach</a:t>
            </a:r>
            <a:r>
              <a:rPr lang="en-US" sz="1600" dirty="0">
                <a:solidFill>
                  <a:srgbClr val="B2BAC8"/>
                </a:solidFill>
              </a:rPr>
              <a:t>”) is a working AWS-native product pattern, not a lab experiment. It accepts audio, prepares it, then hands it to independent Agentic AI evaluators that produce a coaching report.</a:t>
            </a:r>
            <a:endParaRPr lang="en-US" sz="1600" dirty="0"/>
          </a:p>
        </p:txBody>
      </p:sp>
      <p:sp>
        <p:nvSpPr>
          <p:cNvPr id="5" name="Text 3"/>
          <p:cNvSpPr/>
          <p:nvPr/>
        </p:nvSpPr>
        <p:spPr>
          <a:xfrm>
            <a:off x="658368" y="2761488"/>
            <a:ext cx="1920240" cy="530352"/>
          </a:xfrm>
          <a:prstGeom prst="rect">
            <a:avLst/>
          </a:prstGeom>
          <a:noFill/>
          <a:ln/>
        </p:spPr>
        <p:txBody>
          <a:bodyPr wrap="square" lIns="0" tIns="0" rIns="0" bIns="0" rtlCol="0" anchor="ctr">
            <a:normAutofit/>
          </a:bodyPr>
          <a:lstStyle/>
          <a:p>
            <a:pPr marL="0" indent="0" algn="ctr">
              <a:buNone/>
            </a:pPr>
            <a:r>
              <a:rPr lang="en-US" sz="2600" b="1" dirty="0">
                <a:solidFill>
                  <a:srgbClr val="59C4FF"/>
                </a:solidFill>
              </a:rPr>
              <a:t>7</a:t>
            </a:r>
            <a:endParaRPr lang="en-US" sz="2600" dirty="0"/>
          </a:p>
        </p:txBody>
      </p:sp>
      <p:sp>
        <p:nvSpPr>
          <p:cNvPr id="6" name="Text 4"/>
          <p:cNvSpPr/>
          <p:nvPr/>
        </p:nvSpPr>
        <p:spPr>
          <a:xfrm>
            <a:off x="658368" y="3346704"/>
            <a:ext cx="1920240" cy="384048"/>
          </a:xfrm>
          <a:prstGeom prst="rect">
            <a:avLst/>
          </a:prstGeom>
          <a:noFill/>
          <a:ln/>
        </p:spPr>
        <p:txBody>
          <a:bodyPr wrap="square" lIns="254" tIns="254" rIns="254" bIns="254" rtlCol="0" anchor="t">
            <a:normAutofit/>
          </a:bodyPr>
          <a:lstStyle/>
          <a:p>
            <a:pPr marL="0" indent="0" algn="ctr">
              <a:buNone/>
            </a:pPr>
            <a:r>
              <a:rPr lang="en-US" sz="1050" dirty="0">
                <a:solidFill>
                  <a:srgbClr val="B2BAC8"/>
                </a:solidFill>
              </a:rPr>
              <a:t>AI coaching dimensions</a:t>
            </a:r>
            <a:endParaRPr lang="en-US" sz="1050" dirty="0"/>
          </a:p>
        </p:txBody>
      </p:sp>
      <p:sp>
        <p:nvSpPr>
          <p:cNvPr id="7" name="Text 5"/>
          <p:cNvSpPr/>
          <p:nvPr/>
        </p:nvSpPr>
        <p:spPr>
          <a:xfrm>
            <a:off x="2788920" y="2761488"/>
            <a:ext cx="1920240" cy="530352"/>
          </a:xfrm>
          <a:prstGeom prst="rect">
            <a:avLst/>
          </a:prstGeom>
          <a:noFill/>
          <a:ln/>
        </p:spPr>
        <p:txBody>
          <a:bodyPr wrap="square" lIns="0" tIns="0" rIns="0" bIns="0" rtlCol="0" anchor="ctr">
            <a:normAutofit/>
          </a:bodyPr>
          <a:lstStyle/>
          <a:p>
            <a:pPr marL="0" indent="0" algn="ctr">
              <a:buNone/>
            </a:pPr>
            <a:r>
              <a:rPr lang="en-US" sz="2600" b="1" dirty="0">
                <a:solidFill>
                  <a:srgbClr val="59D08F"/>
                </a:solidFill>
              </a:rPr>
              <a:t>20+</a:t>
            </a:r>
            <a:endParaRPr lang="en-US" sz="2600" dirty="0"/>
          </a:p>
        </p:txBody>
      </p:sp>
      <p:sp>
        <p:nvSpPr>
          <p:cNvPr id="8" name="Text 6"/>
          <p:cNvSpPr/>
          <p:nvPr/>
        </p:nvSpPr>
        <p:spPr>
          <a:xfrm>
            <a:off x="2788920" y="3346704"/>
            <a:ext cx="1920240" cy="384048"/>
          </a:xfrm>
          <a:prstGeom prst="rect">
            <a:avLst/>
          </a:prstGeom>
          <a:noFill/>
          <a:ln/>
        </p:spPr>
        <p:txBody>
          <a:bodyPr wrap="square" lIns="254" tIns="254" rIns="254" bIns="254" rtlCol="0" anchor="t">
            <a:normAutofit/>
          </a:bodyPr>
          <a:lstStyle/>
          <a:p>
            <a:pPr marL="0" indent="0" algn="ctr">
              <a:buNone/>
            </a:pPr>
            <a:r>
              <a:rPr lang="en-US" sz="1050" dirty="0">
                <a:solidFill>
                  <a:srgbClr val="B2BAC8"/>
                </a:solidFill>
              </a:rPr>
              <a:t>AWS native </a:t>
            </a:r>
          </a:p>
          <a:p>
            <a:pPr marL="0" indent="0" algn="ctr">
              <a:buNone/>
            </a:pPr>
            <a:r>
              <a:rPr lang="en-US" sz="1050" dirty="0">
                <a:solidFill>
                  <a:srgbClr val="B2BAC8"/>
                </a:solidFill>
              </a:rPr>
              <a:t>services used</a:t>
            </a:r>
            <a:endParaRPr lang="en-US" sz="1050" dirty="0"/>
          </a:p>
        </p:txBody>
      </p:sp>
      <p:sp>
        <p:nvSpPr>
          <p:cNvPr id="9" name="Text 7"/>
          <p:cNvSpPr/>
          <p:nvPr/>
        </p:nvSpPr>
        <p:spPr>
          <a:xfrm>
            <a:off x="4919472" y="2761488"/>
            <a:ext cx="2011680" cy="530352"/>
          </a:xfrm>
          <a:prstGeom prst="rect">
            <a:avLst/>
          </a:prstGeom>
          <a:noFill/>
          <a:ln/>
        </p:spPr>
        <p:txBody>
          <a:bodyPr wrap="square" lIns="0" tIns="0" rIns="0" bIns="0" rtlCol="0" anchor="ctr">
            <a:normAutofit/>
          </a:bodyPr>
          <a:lstStyle/>
          <a:p>
            <a:pPr marL="0" indent="0" algn="ctr">
              <a:buNone/>
            </a:pPr>
            <a:r>
              <a:rPr lang="en-US" sz="2600" b="1" dirty="0">
                <a:solidFill>
                  <a:srgbClr val="FFD65A"/>
                </a:solidFill>
              </a:rPr>
              <a:t>726</a:t>
            </a:r>
            <a:endParaRPr lang="en-US" sz="2600" dirty="0"/>
          </a:p>
        </p:txBody>
      </p:sp>
      <p:sp>
        <p:nvSpPr>
          <p:cNvPr id="10" name="Text 8"/>
          <p:cNvSpPr/>
          <p:nvPr/>
        </p:nvSpPr>
        <p:spPr>
          <a:xfrm>
            <a:off x="4919472" y="3346704"/>
            <a:ext cx="2011680" cy="384048"/>
          </a:xfrm>
          <a:prstGeom prst="rect">
            <a:avLst/>
          </a:prstGeom>
          <a:noFill/>
          <a:ln/>
        </p:spPr>
        <p:txBody>
          <a:bodyPr wrap="square" lIns="254" tIns="254" rIns="254" bIns="254" rtlCol="0" anchor="t">
            <a:normAutofit/>
          </a:bodyPr>
          <a:lstStyle/>
          <a:p>
            <a:pPr marL="0" indent="0" algn="ctr">
              <a:buNone/>
            </a:pPr>
            <a:r>
              <a:rPr lang="en-US" sz="1050" dirty="0">
                <a:solidFill>
                  <a:srgbClr val="B2BAC8"/>
                </a:solidFill>
              </a:rPr>
              <a:t>Tests through all workflows</a:t>
            </a:r>
            <a:endParaRPr lang="en-US" sz="1050" dirty="0"/>
          </a:p>
        </p:txBody>
      </p:sp>
      <p:sp>
        <p:nvSpPr>
          <p:cNvPr id="11" name="Text 9"/>
          <p:cNvSpPr/>
          <p:nvPr/>
        </p:nvSpPr>
        <p:spPr>
          <a:xfrm>
            <a:off x="7150608" y="2761488"/>
            <a:ext cx="2011680" cy="530352"/>
          </a:xfrm>
          <a:prstGeom prst="rect">
            <a:avLst/>
          </a:prstGeom>
          <a:noFill/>
          <a:ln/>
        </p:spPr>
        <p:txBody>
          <a:bodyPr wrap="square" lIns="0" tIns="0" rIns="0" bIns="0" rtlCol="0" anchor="ctr">
            <a:normAutofit/>
          </a:bodyPr>
          <a:lstStyle/>
          <a:p>
            <a:pPr marL="0" indent="0" algn="ctr">
              <a:buNone/>
            </a:pPr>
            <a:r>
              <a:rPr lang="en-US" sz="2600" b="1" dirty="0">
                <a:solidFill>
                  <a:srgbClr val="FF9B55"/>
                </a:solidFill>
              </a:rPr>
              <a:t>$33.69</a:t>
            </a:r>
            <a:endParaRPr lang="en-US" sz="2600" dirty="0"/>
          </a:p>
        </p:txBody>
      </p:sp>
      <p:sp>
        <p:nvSpPr>
          <p:cNvPr id="12" name="Text 10"/>
          <p:cNvSpPr/>
          <p:nvPr/>
        </p:nvSpPr>
        <p:spPr>
          <a:xfrm>
            <a:off x="7150608" y="3346704"/>
            <a:ext cx="2011680" cy="384048"/>
          </a:xfrm>
          <a:prstGeom prst="rect">
            <a:avLst/>
          </a:prstGeom>
          <a:noFill/>
          <a:ln/>
        </p:spPr>
        <p:txBody>
          <a:bodyPr wrap="square" lIns="254" tIns="254" rIns="254" bIns="254" rtlCol="0" anchor="t">
            <a:normAutofit/>
          </a:bodyPr>
          <a:lstStyle/>
          <a:p>
            <a:pPr marL="0" indent="0" algn="ctr">
              <a:buNone/>
            </a:pPr>
            <a:r>
              <a:rPr lang="en-US" sz="1050" dirty="0">
                <a:solidFill>
                  <a:srgbClr val="B2BAC8"/>
                </a:solidFill>
              </a:rPr>
              <a:t>Spend for environment </a:t>
            </a:r>
          </a:p>
          <a:p>
            <a:pPr marL="0" indent="0" algn="ctr">
              <a:buNone/>
            </a:pPr>
            <a:r>
              <a:rPr lang="en-US" sz="1050" dirty="0">
                <a:solidFill>
                  <a:srgbClr val="B2BAC8"/>
                </a:solidFill>
              </a:rPr>
              <a:t>and AI tools used</a:t>
            </a:r>
            <a:endParaRPr lang="en-US" sz="1050" dirty="0"/>
          </a:p>
        </p:txBody>
      </p:sp>
      <p:sp>
        <p:nvSpPr>
          <p:cNvPr id="13" name="Text 11"/>
          <p:cNvSpPr/>
          <p:nvPr/>
        </p:nvSpPr>
        <p:spPr>
          <a:xfrm>
            <a:off x="7150608" y="3813048"/>
            <a:ext cx="2011680" cy="219456"/>
          </a:xfrm>
          <a:prstGeom prst="rect">
            <a:avLst/>
          </a:prstGeom>
          <a:noFill/>
          <a:ln/>
        </p:spPr>
        <p:txBody>
          <a:bodyPr wrap="square" lIns="0" tIns="0" rIns="0" bIns="0" rtlCol="0" anchor="ctr">
            <a:normAutofit/>
          </a:bodyPr>
          <a:lstStyle/>
          <a:p>
            <a:pPr marL="0" indent="0" algn="ctr">
              <a:buNone/>
            </a:pPr>
            <a:r>
              <a:rPr lang="en-US" sz="830" dirty="0">
                <a:solidFill>
                  <a:srgbClr val="7E8796"/>
                </a:solidFill>
              </a:rPr>
              <a:t>($6.59 AWS + $27.10 Kiro)</a:t>
            </a:r>
            <a:endParaRPr lang="en-US" sz="830" dirty="0"/>
          </a:p>
        </p:txBody>
      </p:sp>
      <p:sp>
        <p:nvSpPr>
          <p:cNvPr id="14" name="Text 12"/>
          <p:cNvSpPr/>
          <p:nvPr/>
        </p:nvSpPr>
        <p:spPr>
          <a:xfrm>
            <a:off x="9528048" y="1536192"/>
            <a:ext cx="1783080" cy="749808"/>
          </a:xfrm>
          <a:prstGeom prst="roundRect">
            <a:avLst>
              <a:gd name="adj" fmla="val 9756"/>
            </a:avLst>
          </a:prstGeom>
          <a:solidFill>
            <a:srgbClr val="0B1828"/>
          </a:solidFill>
          <a:ln w="13970">
            <a:solidFill>
              <a:srgbClr val="2F9BFF"/>
            </a:solidFill>
          </a:ln>
        </p:spPr>
        <p:txBody>
          <a:bodyPr wrap="square" lIns="1016" tIns="1016" rIns="1016" bIns="1016" rtlCol="0" anchor="ctr">
            <a:normAutofit/>
          </a:bodyPr>
          <a:lstStyle/>
          <a:p>
            <a:pPr marL="0" indent="0" algn="ctr">
              <a:buNone/>
            </a:pPr>
            <a:r>
              <a:rPr lang="en-US" sz="1150" b="1" dirty="0">
                <a:solidFill>
                  <a:srgbClr val="F5F7FA"/>
                </a:solidFill>
              </a:rPr>
              <a:t>Architecture decision</a:t>
            </a:r>
            <a:endParaRPr lang="en-US" sz="1150" dirty="0"/>
          </a:p>
          <a:p>
            <a:pPr marL="0" indent="0" algn="ctr">
              <a:buNone/>
            </a:pPr>
            <a:r>
              <a:rPr lang="en-US" sz="1150" b="1" dirty="0">
                <a:solidFill>
                  <a:srgbClr val="F5F7FA"/>
                </a:solidFill>
              </a:rPr>
              <a:t>worth a CTO review</a:t>
            </a:r>
            <a:endParaRPr lang="en-US" sz="1150" dirty="0"/>
          </a:p>
        </p:txBody>
      </p:sp>
      <p:sp>
        <p:nvSpPr>
          <p:cNvPr id="15" name="Text 13"/>
          <p:cNvSpPr/>
          <p:nvPr/>
        </p:nvSpPr>
        <p:spPr>
          <a:xfrm>
            <a:off x="9528048" y="2633472"/>
            <a:ext cx="1783080" cy="749808"/>
          </a:xfrm>
          <a:prstGeom prst="roundRect">
            <a:avLst>
              <a:gd name="adj" fmla="val 9756"/>
            </a:avLst>
          </a:prstGeom>
          <a:solidFill>
            <a:srgbClr val="0B1828"/>
          </a:solidFill>
          <a:ln w="13970">
            <a:solidFill>
              <a:srgbClr val="FFD65A"/>
            </a:solidFill>
          </a:ln>
        </p:spPr>
        <p:txBody>
          <a:bodyPr wrap="square" lIns="1016" tIns="1016" rIns="1016" bIns="1016" rtlCol="0" anchor="ctr">
            <a:normAutofit/>
          </a:bodyPr>
          <a:lstStyle/>
          <a:p>
            <a:pPr marL="0" indent="0" algn="ctr">
              <a:buNone/>
            </a:pPr>
            <a:r>
              <a:rPr lang="en-US" sz="1150" b="1" dirty="0">
                <a:solidFill>
                  <a:srgbClr val="F5F7FA"/>
                </a:solidFill>
              </a:rPr>
              <a:t>Where to harden</a:t>
            </a:r>
            <a:endParaRPr lang="en-US" sz="1150" dirty="0"/>
          </a:p>
          <a:p>
            <a:pPr marL="0" indent="0" algn="ctr">
              <a:buNone/>
            </a:pPr>
            <a:r>
              <a:rPr lang="en-US" sz="1150" b="1" dirty="0">
                <a:solidFill>
                  <a:srgbClr val="F5F7FA"/>
                </a:solidFill>
              </a:rPr>
              <a:t>before real users</a:t>
            </a:r>
            <a:endParaRPr lang="en-US" sz="1150" dirty="0"/>
          </a:p>
        </p:txBody>
      </p:sp>
      <p:sp>
        <p:nvSpPr>
          <p:cNvPr id="16" name="Text 14"/>
          <p:cNvSpPr/>
          <p:nvPr/>
        </p:nvSpPr>
        <p:spPr>
          <a:xfrm>
            <a:off x="9528048" y="3730752"/>
            <a:ext cx="1783080" cy="749808"/>
          </a:xfrm>
          <a:prstGeom prst="roundRect">
            <a:avLst>
              <a:gd name="adj" fmla="val 9756"/>
            </a:avLst>
          </a:prstGeom>
          <a:solidFill>
            <a:srgbClr val="0B1828"/>
          </a:solidFill>
          <a:ln w="13970">
            <a:solidFill>
              <a:srgbClr val="59D08F"/>
            </a:solidFill>
          </a:ln>
        </p:spPr>
        <p:txBody>
          <a:bodyPr wrap="square" lIns="1016" tIns="1016" rIns="1016" bIns="1016" rtlCol="0" anchor="ctr">
            <a:normAutofit/>
          </a:bodyPr>
          <a:lstStyle/>
          <a:p>
            <a:pPr marL="0" indent="0" algn="ctr">
              <a:buNone/>
            </a:pPr>
            <a:r>
              <a:rPr lang="en-US" sz="1150" b="1" dirty="0">
                <a:solidFill>
                  <a:srgbClr val="F5F7FA"/>
                </a:solidFill>
              </a:rPr>
              <a:t>How to scale</a:t>
            </a:r>
            <a:endParaRPr lang="en-US" sz="1150" dirty="0"/>
          </a:p>
          <a:p>
            <a:pPr marL="0" indent="0" algn="ctr">
              <a:buNone/>
            </a:pPr>
            <a:r>
              <a:rPr lang="en-US" sz="1150" b="1" dirty="0">
                <a:solidFill>
                  <a:srgbClr val="F5F7FA"/>
                </a:solidFill>
              </a:rPr>
              <a:t>without cost traps</a:t>
            </a:r>
            <a:endParaRPr lang="en-US" sz="1150" dirty="0"/>
          </a:p>
        </p:txBody>
      </p:sp>
      <p:sp>
        <p:nvSpPr>
          <p:cNvPr id="17" name="Text 15"/>
          <p:cNvSpPr/>
          <p:nvPr/>
        </p:nvSpPr>
        <p:spPr>
          <a:xfrm>
            <a:off x="9528048" y="4828032"/>
            <a:ext cx="1783080" cy="749808"/>
          </a:xfrm>
          <a:prstGeom prst="roundRect">
            <a:avLst>
              <a:gd name="adj" fmla="val 9756"/>
            </a:avLst>
          </a:prstGeom>
          <a:solidFill>
            <a:srgbClr val="0B1828"/>
          </a:solidFill>
          <a:ln w="13970">
            <a:solidFill>
              <a:srgbClr val="B68CFF"/>
            </a:solidFill>
          </a:ln>
        </p:spPr>
        <p:txBody>
          <a:bodyPr wrap="square" lIns="1016" tIns="1016" rIns="1016" bIns="1016" rtlCol="0" anchor="ctr">
            <a:normAutofit/>
          </a:bodyPr>
          <a:lstStyle/>
          <a:p>
            <a:pPr marL="0" indent="0" algn="ctr">
              <a:buNone/>
            </a:pPr>
            <a:r>
              <a:rPr lang="en-US" sz="1150" b="1" dirty="0">
                <a:solidFill>
                  <a:srgbClr val="F5F7FA"/>
                </a:solidFill>
              </a:rPr>
              <a:t>What AI-DLC</a:t>
            </a:r>
            <a:endParaRPr lang="en-US" sz="1150" dirty="0"/>
          </a:p>
          <a:p>
            <a:pPr marL="0" indent="0" algn="ctr">
              <a:buNone/>
            </a:pPr>
            <a:r>
              <a:rPr lang="en-US" sz="1150" b="1" dirty="0">
                <a:solidFill>
                  <a:srgbClr val="F5F7FA"/>
                </a:solidFill>
              </a:rPr>
              <a:t>actually changed</a:t>
            </a:r>
            <a:endParaRPr lang="en-US" sz="1150" dirty="0"/>
          </a:p>
        </p:txBody>
      </p:sp>
      <p:sp>
        <p:nvSpPr>
          <p:cNvPr id="18" name="Text 16"/>
          <p:cNvSpPr/>
          <p:nvPr/>
        </p:nvSpPr>
        <p:spPr>
          <a:xfrm>
            <a:off x="566928" y="6327648"/>
            <a:ext cx="10378440" cy="219456"/>
          </a:xfrm>
          <a:prstGeom prst="rect">
            <a:avLst/>
          </a:prstGeom>
          <a:noFill/>
          <a:ln/>
        </p:spPr>
        <p:txBody>
          <a:bodyPr wrap="square" lIns="0" tIns="0" rIns="0" bIns="0" rtlCol="0" anchor="ctr">
            <a:normAutofit/>
          </a:bodyPr>
          <a:lstStyle/>
          <a:p>
            <a:pPr marL="0" indent="0">
              <a:buNone/>
            </a:pPr>
            <a:r>
              <a:rPr lang="en-US" sz="850" dirty="0">
                <a:solidFill>
                  <a:srgbClr val="7E8796"/>
                </a:solidFill>
              </a:rPr>
              <a:t>Source deck reported development cost; project overview and retrospective supplied architecture, services, test count, and operating model.</a:t>
            </a:r>
            <a:endParaRPr lang="en-US" sz="8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WHAT IT DOES</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a:bodyPr>
          <a:lstStyle/>
          <a:p>
            <a:pPr marL="0" indent="0">
              <a:buNone/>
            </a:pPr>
            <a:r>
              <a:rPr lang="en-US" sz="2950" b="1" dirty="0">
                <a:solidFill>
                  <a:srgbClr val="F5F7FA"/>
                </a:solidFill>
              </a:rPr>
              <a:t>Using the product is simple, the system behind it is not</a:t>
            </a:r>
            <a:endParaRPr lang="en-US" sz="2950" dirty="0"/>
          </a:p>
        </p:txBody>
      </p:sp>
      <p:sp>
        <p:nvSpPr>
          <p:cNvPr id="6" name="Text 2"/>
          <p:cNvSpPr/>
          <p:nvPr/>
        </p:nvSpPr>
        <p:spPr>
          <a:xfrm>
            <a:off x="749808" y="5742432"/>
            <a:ext cx="3474720" cy="274320"/>
          </a:xfrm>
          <a:prstGeom prst="rect">
            <a:avLst/>
          </a:prstGeom>
          <a:noFill/>
          <a:ln/>
        </p:spPr>
        <p:txBody>
          <a:bodyPr wrap="square" lIns="254" tIns="254" rIns="254" bIns="254" rtlCol="0" anchor="t">
            <a:normAutofit/>
          </a:bodyPr>
          <a:lstStyle/>
          <a:p>
            <a:pPr marL="0" indent="0" algn="ctr">
              <a:buNone/>
            </a:pPr>
            <a:r>
              <a:rPr lang="en-US" sz="1150" b="1" dirty="0">
                <a:solidFill>
                  <a:srgbClr val="59C4FF"/>
                </a:solidFill>
              </a:rPr>
              <a:t>User-facing flow</a:t>
            </a:r>
            <a:endParaRPr lang="en-US" sz="1150" dirty="0"/>
          </a:p>
        </p:txBody>
      </p:sp>
      <p:sp>
        <p:nvSpPr>
          <p:cNvPr id="7" name="Shape 3"/>
          <p:cNvSpPr/>
          <p:nvPr/>
        </p:nvSpPr>
        <p:spPr>
          <a:xfrm>
            <a:off x="4663440" y="2194560"/>
            <a:ext cx="7251192" cy="0"/>
          </a:xfrm>
          <a:prstGeom prst="line">
            <a:avLst/>
          </a:prstGeom>
          <a:noFill/>
          <a:ln w="22860">
            <a:solidFill>
              <a:srgbClr val="2F9BFF"/>
            </a:solidFill>
            <a:prstDash val="solid"/>
            <a:headEnd type="none"/>
            <a:tailEnd type="triangle"/>
          </a:ln>
        </p:spPr>
        <p:txBody>
          <a:bodyPr/>
          <a:lstStyle/>
          <a:p>
            <a:endParaRPr lang="en-US"/>
          </a:p>
        </p:txBody>
      </p:sp>
      <p:sp>
        <p:nvSpPr>
          <p:cNvPr id="8" name="Shape 4"/>
          <p:cNvSpPr/>
          <p:nvPr/>
        </p:nvSpPr>
        <p:spPr>
          <a:xfrm>
            <a:off x="6729984" y="2194560"/>
            <a:ext cx="859536" cy="0"/>
          </a:xfrm>
          <a:prstGeom prst="line">
            <a:avLst/>
          </a:prstGeom>
          <a:noFill/>
          <a:ln w="22860">
            <a:solidFill>
              <a:srgbClr val="2F9BFF"/>
            </a:solidFill>
            <a:prstDash val="solid"/>
            <a:headEnd type="none"/>
            <a:tailEnd type="triangle"/>
          </a:ln>
        </p:spPr>
        <p:txBody>
          <a:bodyPr/>
          <a:lstStyle/>
          <a:p>
            <a:endParaRPr lang="en-US"/>
          </a:p>
        </p:txBody>
      </p:sp>
      <p:sp>
        <p:nvSpPr>
          <p:cNvPr id="9" name="Shape 5"/>
          <p:cNvSpPr/>
          <p:nvPr/>
        </p:nvSpPr>
        <p:spPr>
          <a:xfrm>
            <a:off x="8759952" y="2194560"/>
            <a:ext cx="859536" cy="0"/>
          </a:xfrm>
          <a:prstGeom prst="line">
            <a:avLst/>
          </a:prstGeom>
          <a:noFill/>
          <a:ln w="22860">
            <a:solidFill>
              <a:srgbClr val="2F9BFF"/>
            </a:solidFill>
            <a:prstDash val="solid"/>
            <a:headEnd type="none"/>
            <a:tailEnd type="triangle"/>
          </a:ln>
        </p:spPr>
        <p:txBody>
          <a:bodyPr/>
          <a:lstStyle/>
          <a:p>
            <a:endParaRPr lang="en-US"/>
          </a:p>
        </p:txBody>
      </p:sp>
      <p:sp>
        <p:nvSpPr>
          <p:cNvPr id="10" name="Text 6"/>
          <p:cNvSpPr/>
          <p:nvPr/>
        </p:nvSpPr>
        <p:spPr>
          <a:xfrm>
            <a:off x="4828032" y="1664208"/>
            <a:ext cx="1554480" cy="1042416"/>
          </a:xfrm>
          <a:prstGeom prst="roundRect">
            <a:avLst>
              <a:gd name="adj" fmla="val 7018"/>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140" b="1" dirty="0">
                <a:solidFill>
                  <a:srgbClr val="F5F7FA"/>
                </a:solidFill>
              </a:rPr>
              <a:t>Upload</a:t>
            </a:r>
            <a:endParaRPr lang="en-US" sz="1140" dirty="0"/>
          </a:p>
          <a:p>
            <a:pPr marL="0" indent="0" algn="ctr">
              <a:buNone/>
            </a:pPr>
            <a:r>
              <a:rPr lang="en-US" sz="1140" b="1" dirty="0">
                <a:solidFill>
                  <a:srgbClr val="F5F7FA"/>
                </a:solidFill>
              </a:rPr>
              <a:t>mp3, wav, m4a, aac</a:t>
            </a:r>
            <a:endParaRPr lang="en-US" sz="1140" dirty="0"/>
          </a:p>
        </p:txBody>
      </p:sp>
      <p:sp>
        <p:nvSpPr>
          <p:cNvPr id="11" name="Text 7"/>
          <p:cNvSpPr/>
          <p:nvPr/>
        </p:nvSpPr>
        <p:spPr>
          <a:xfrm>
            <a:off x="6510528" y="1664208"/>
            <a:ext cx="1783080" cy="1042416"/>
          </a:xfrm>
          <a:prstGeom prst="roundRect">
            <a:avLst>
              <a:gd name="adj" fmla="val 7018"/>
            </a:avLst>
          </a:prstGeom>
          <a:solidFill>
            <a:srgbClr val="071A2D"/>
          </a:solidFill>
          <a:ln w="13970">
            <a:solidFill>
              <a:srgbClr val="FFD65A"/>
            </a:solidFill>
          </a:ln>
        </p:spPr>
        <p:txBody>
          <a:bodyPr wrap="square" lIns="1016" tIns="1016" rIns="1016" bIns="1016" rtlCol="0" anchor="ctr">
            <a:normAutofit/>
          </a:bodyPr>
          <a:lstStyle/>
          <a:p>
            <a:pPr marL="0" indent="0" algn="ctr">
              <a:buNone/>
            </a:pPr>
            <a:r>
              <a:rPr lang="en-US" sz="1140" b="1" dirty="0">
                <a:solidFill>
                  <a:srgbClr val="F5F7FA"/>
                </a:solidFill>
              </a:rPr>
              <a:t>Prepare</a:t>
            </a:r>
            <a:endParaRPr lang="en-US" sz="1140" dirty="0"/>
          </a:p>
          <a:p>
            <a:pPr marL="0" indent="0" algn="ctr">
              <a:buNone/>
            </a:pPr>
            <a:r>
              <a:rPr lang="en-US" sz="1140" b="1" dirty="0">
                <a:solidFill>
                  <a:srgbClr val="F5F7FA"/>
                </a:solidFill>
              </a:rPr>
              <a:t>transcribe + chunk + embed</a:t>
            </a:r>
            <a:endParaRPr lang="en-US" sz="1140" dirty="0"/>
          </a:p>
        </p:txBody>
      </p:sp>
      <p:sp>
        <p:nvSpPr>
          <p:cNvPr id="12" name="Text 8"/>
          <p:cNvSpPr/>
          <p:nvPr/>
        </p:nvSpPr>
        <p:spPr>
          <a:xfrm>
            <a:off x="8467344" y="1664208"/>
            <a:ext cx="1600200" cy="1042416"/>
          </a:xfrm>
          <a:prstGeom prst="roundRect">
            <a:avLst>
              <a:gd name="adj" fmla="val 7018"/>
            </a:avLst>
          </a:prstGeom>
          <a:solidFill>
            <a:srgbClr val="071A2D"/>
          </a:solidFill>
          <a:ln w="13970">
            <a:solidFill>
              <a:srgbClr val="B68CFF"/>
            </a:solidFill>
          </a:ln>
        </p:spPr>
        <p:txBody>
          <a:bodyPr wrap="square" lIns="1016" tIns="1016" rIns="1016" bIns="1016" rtlCol="0" anchor="ctr">
            <a:normAutofit/>
          </a:bodyPr>
          <a:lstStyle/>
          <a:p>
            <a:pPr marL="0" indent="0" algn="ctr">
              <a:buNone/>
            </a:pPr>
            <a:r>
              <a:rPr lang="en-US" sz="1140" b="1" dirty="0">
                <a:solidFill>
                  <a:srgbClr val="F5F7FA"/>
                </a:solidFill>
              </a:rPr>
              <a:t>Evaluate with</a:t>
            </a:r>
            <a:endParaRPr lang="en-US" sz="1140" dirty="0"/>
          </a:p>
          <a:p>
            <a:pPr marL="0" indent="0" algn="ctr">
              <a:buNone/>
            </a:pPr>
            <a:r>
              <a:rPr lang="en-US" sz="1140" b="1" dirty="0">
                <a:solidFill>
                  <a:srgbClr val="F5F7FA"/>
                </a:solidFill>
              </a:rPr>
              <a:t>seven agent lenses</a:t>
            </a:r>
            <a:endParaRPr lang="en-US" sz="1140" dirty="0"/>
          </a:p>
        </p:txBody>
      </p:sp>
      <p:sp>
        <p:nvSpPr>
          <p:cNvPr id="13" name="Text 9"/>
          <p:cNvSpPr/>
          <p:nvPr/>
        </p:nvSpPr>
        <p:spPr>
          <a:xfrm>
            <a:off x="10241280" y="1664208"/>
            <a:ext cx="1417320" cy="1042416"/>
          </a:xfrm>
          <a:prstGeom prst="roundRect">
            <a:avLst>
              <a:gd name="adj" fmla="val 7018"/>
            </a:avLst>
          </a:prstGeom>
          <a:solidFill>
            <a:srgbClr val="071A2D"/>
          </a:solidFill>
          <a:ln w="13970">
            <a:solidFill>
              <a:srgbClr val="59D08F"/>
            </a:solidFill>
          </a:ln>
        </p:spPr>
        <p:txBody>
          <a:bodyPr wrap="square" lIns="1016" tIns="1016" rIns="1016" bIns="1016" rtlCol="0" anchor="ctr">
            <a:normAutofit/>
          </a:bodyPr>
          <a:lstStyle/>
          <a:p>
            <a:pPr marL="0" indent="0" algn="ctr">
              <a:buNone/>
            </a:pPr>
            <a:r>
              <a:rPr lang="en-US" sz="1140" b="1" dirty="0">
                <a:solidFill>
                  <a:srgbClr val="F5F7FA"/>
                </a:solidFill>
              </a:rPr>
              <a:t>Report</a:t>
            </a:r>
            <a:endParaRPr lang="en-US" sz="1140" dirty="0"/>
          </a:p>
          <a:p>
            <a:pPr marL="0" indent="0" algn="ctr">
              <a:buNone/>
            </a:pPr>
            <a:r>
              <a:rPr lang="en-US" sz="1140" b="1" dirty="0">
                <a:solidFill>
                  <a:srgbClr val="F5F7FA"/>
                </a:solidFill>
              </a:rPr>
              <a:t>PDF coaching output</a:t>
            </a:r>
            <a:endParaRPr lang="en-US" sz="1140" dirty="0"/>
          </a:p>
        </p:txBody>
      </p:sp>
      <p:sp>
        <p:nvSpPr>
          <p:cNvPr id="14" name="Text 10"/>
          <p:cNvSpPr/>
          <p:nvPr/>
        </p:nvSpPr>
        <p:spPr>
          <a:xfrm>
            <a:off x="4882896" y="2935224"/>
            <a:ext cx="6537960" cy="1005840"/>
          </a:xfrm>
          <a:prstGeom prst="rect">
            <a:avLst/>
          </a:prstGeom>
          <a:noFill/>
          <a:ln/>
        </p:spPr>
        <p:txBody>
          <a:bodyPr wrap="square" lIns="254" tIns="254" rIns="254" bIns="254" rtlCol="0" anchor="t">
            <a:normAutofit/>
          </a:bodyPr>
          <a:lstStyle/>
          <a:p>
            <a:pPr marL="0" indent="0" algn="l">
              <a:buNone/>
            </a:pPr>
            <a:r>
              <a:rPr lang="en-US" sz="1620" dirty="0">
                <a:solidFill>
                  <a:srgbClr val="B2BAC8"/>
                </a:solidFill>
              </a:rPr>
              <a:t>The deliberate split: deterministic processing does the mechanical work, while the probabilistic agentic layer handles judgment. That separation is what makes the design easier to govern.</a:t>
            </a:r>
            <a:endParaRPr lang="en-US" sz="1620" dirty="0"/>
          </a:p>
        </p:txBody>
      </p:sp>
      <p:sp>
        <p:nvSpPr>
          <p:cNvPr id="15" name="Text 11"/>
          <p:cNvSpPr/>
          <p:nvPr/>
        </p:nvSpPr>
        <p:spPr>
          <a:xfrm>
            <a:off x="5439604" y="4502287"/>
            <a:ext cx="5757314" cy="1202434"/>
          </a:xfrm>
          <a:prstGeom prst="roundRect">
            <a:avLst>
              <a:gd name="adj" fmla="val 13514"/>
            </a:avLst>
          </a:prstGeom>
          <a:solidFill>
            <a:srgbClr val="1C2430"/>
          </a:solidFill>
          <a:ln>
            <a:solidFill>
              <a:srgbClr val="1C2430">
                <a:alpha val="0"/>
              </a:srgbClr>
            </a:solidFill>
          </a:ln>
        </p:spPr>
        <p:txBody>
          <a:bodyPr wrap="square" lIns="635" tIns="635" rIns="635" bIns="635" rtlCol="0" anchor="ctr">
            <a:normAutofit/>
          </a:bodyPr>
          <a:lstStyle/>
          <a:p>
            <a:pPr marL="0" indent="0" algn="ctr">
              <a:buNone/>
            </a:pPr>
            <a:r>
              <a:rPr lang="en-US" sz="1600" b="1" dirty="0">
                <a:solidFill>
                  <a:schemeClr val="accent4"/>
                </a:solidFill>
              </a:rPr>
              <a:t>Let’s Deep Dive into the App UI Frontend &amp; Backend, processing, and Agentic layers and then review the AI-DLC behind it.</a:t>
            </a:r>
            <a:endParaRPr lang="en-US" sz="1600" dirty="0">
              <a:solidFill>
                <a:schemeClr val="accent4"/>
              </a:solidFill>
            </a:endParaRPr>
          </a:p>
        </p:txBody>
      </p:sp>
      <p:sp>
        <p:nvSpPr>
          <p:cNvPr id="16" name="Text 12"/>
          <p:cNvSpPr/>
          <p:nvPr/>
        </p:nvSpPr>
        <p:spPr>
          <a:xfrm>
            <a:off x="566928" y="6327648"/>
            <a:ext cx="10378440" cy="219456"/>
          </a:xfrm>
          <a:prstGeom prst="rect">
            <a:avLst/>
          </a:prstGeom>
          <a:noFill/>
          <a:ln/>
        </p:spPr>
        <p:txBody>
          <a:bodyPr wrap="square" lIns="0" tIns="0" rIns="0" bIns="0" rtlCol="0" anchor="ctr">
            <a:normAutofit/>
          </a:bodyPr>
          <a:lstStyle/>
          <a:p>
            <a:pPr marL="0" indent="0">
              <a:buNone/>
            </a:pPr>
            <a:r>
              <a:rPr lang="en-US" sz="850" dirty="0">
                <a:solidFill>
                  <a:srgbClr val="7E8796"/>
                </a:solidFill>
              </a:rPr>
              <a:t>Accepted audio formats and video flag behavior come from the end-to-end processing flow.</a:t>
            </a:r>
            <a:endParaRPr lang="en-US" sz="8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3</a:t>
            </a:fld>
            <a:endParaRPr lang="en-US"/>
          </a:p>
        </p:txBody>
      </p:sp>
      <p:pic>
        <p:nvPicPr>
          <p:cNvPr id="18" name="Picture 17">
            <a:extLst>
              <a:ext uri="{FF2B5EF4-FFF2-40B4-BE49-F238E27FC236}">
                <a16:creationId xmlns:a16="http://schemas.microsoft.com/office/drawing/2014/main" id="{A1977909-AC09-97E8-F183-63634F250948}"/>
              </a:ext>
            </a:extLst>
          </p:cNvPr>
          <p:cNvPicPr>
            <a:picLocks noChangeAspect="1"/>
          </p:cNvPicPr>
          <p:nvPr/>
        </p:nvPicPr>
        <p:blipFill>
          <a:blip r:embed="rId3"/>
          <a:srcRect l="1341" t="1267" r="1403" b="1483"/>
          <a:stretch>
            <a:fillRect/>
          </a:stretch>
        </p:blipFill>
        <p:spPr>
          <a:xfrm>
            <a:off x="689610" y="1341123"/>
            <a:ext cx="3592830" cy="2049776"/>
          </a:xfrm>
          <a:prstGeom prst="rect">
            <a:avLst/>
          </a:prstGeom>
          <a:ln>
            <a:solidFill>
              <a:schemeClr val="bg1"/>
            </a:solidFill>
          </a:ln>
        </p:spPr>
      </p:pic>
      <p:pic>
        <p:nvPicPr>
          <p:cNvPr id="20" name="Picture 19">
            <a:extLst>
              <a:ext uri="{FF2B5EF4-FFF2-40B4-BE49-F238E27FC236}">
                <a16:creationId xmlns:a16="http://schemas.microsoft.com/office/drawing/2014/main" id="{59462155-21A3-1518-3348-F18F75FE85B5}"/>
              </a:ext>
            </a:extLst>
          </p:cNvPr>
          <p:cNvPicPr>
            <a:picLocks noChangeAspect="1"/>
          </p:cNvPicPr>
          <p:nvPr/>
        </p:nvPicPr>
        <p:blipFill>
          <a:blip r:embed="rId4"/>
          <a:stretch>
            <a:fillRect/>
          </a:stretch>
        </p:blipFill>
        <p:spPr>
          <a:xfrm>
            <a:off x="689610" y="3701795"/>
            <a:ext cx="3592830" cy="2031057"/>
          </a:xfrm>
          <a:prstGeom prst="rect">
            <a:avLst/>
          </a:prstGeom>
          <a:ln>
            <a:solidFill>
              <a:schemeClr val="bg1"/>
            </a:solid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DEFCB6-6A21-32F3-F0FC-8A922BCFDE3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DA1A8FB-F794-2572-55E1-0AF0A13238AF}"/>
              </a:ext>
            </a:extLst>
          </p:cNvPr>
          <p:cNvSpPr txBox="1"/>
          <p:nvPr/>
        </p:nvSpPr>
        <p:spPr>
          <a:xfrm>
            <a:off x="4311250" y="2563905"/>
            <a:ext cx="3569503" cy="769441"/>
          </a:xfrm>
          <a:prstGeom prst="rect">
            <a:avLst/>
          </a:prstGeom>
          <a:noFill/>
        </p:spPr>
        <p:txBody>
          <a:bodyPr wrap="none" rtlCol="0">
            <a:spAutoFit/>
          </a:bodyPr>
          <a:lstStyle/>
          <a:p>
            <a:pPr algn="ctr"/>
            <a:r>
              <a:rPr lang="en-US" sz="4400" dirty="0">
                <a:solidFill>
                  <a:schemeClr val="bg1"/>
                </a:solidFill>
              </a:rPr>
              <a:t>The Web App</a:t>
            </a:r>
          </a:p>
        </p:txBody>
      </p:sp>
    </p:spTree>
    <p:extLst>
      <p:ext uri="{BB962C8B-B14F-4D97-AF65-F5344CB8AC3E}">
        <p14:creationId xmlns:p14="http://schemas.microsoft.com/office/powerpoint/2010/main" val="1695430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A741CF-ECF7-7B68-B3C9-04A9D64F720E}"/>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511E6903-61C0-1C63-7C9F-1C6E92105578}"/>
              </a:ext>
            </a:extLst>
          </p:cNvPr>
          <p:cNvPicPr>
            <a:picLocks noChangeAspect="1"/>
          </p:cNvPicPr>
          <p:nvPr/>
        </p:nvPicPr>
        <p:blipFill>
          <a:blip r:embed="rId2"/>
          <a:stretch>
            <a:fillRect/>
          </a:stretch>
        </p:blipFill>
        <p:spPr>
          <a:xfrm>
            <a:off x="792480" y="1490565"/>
            <a:ext cx="7701280" cy="4084156"/>
          </a:xfrm>
          <a:prstGeom prst="rect">
            <a:avLst/>
          </a:prstGeom>
          <a:ln>
            <a:solidFill>
              <a:schemeClr val="bg1"/>
            </a:solidFill>
          </a:ln>
        </p:spPr>
      </p:pic>
      <p:pic>
        <p:nvPicPr>
          <p:cNvPr id="13" name="Picture 12">
            <a:extLst>
              <a:ext uri="{FF2B5EF4-FFF2-40B4-BE49-F238E27FC236}">
                <a16:creationId xmlns:a16="http://schemas.microsoft.com/office/drawing/2014/main" id="{A46EDEF7-C837-86C0-EBB4-23300BAE36F6}"/>
              </a:ext>
            </a:extLst>
          </p:cNvPr>
          <p:cNvPicPr>
            <a:picLocks noChangeAspect="1"/>
          </p:cNvPicPr>
          <p:nvPr/>
        </p:nvPicPr>
        <p:blipFill>
          <a:blip r:embed="rId3"/>
          <a:stretch>
            <a:fillRect/>
          </a:stretch>
        </p:blipFill>
        <p:spPr>
          <a:xfrm>
            <a:off x="8972269" y="1490566"/>
            <a:ext cx="2104431" cy="4084156"/>
          </a:xfrm>
          <a:prstGeom prst="rect">
            <a:avLst/>
          </a:prstGeom>
          <a:ln>
            <a:solidFill>
              <a:schemeClr val="bg1"/>
            </a:solidFill>
          </a:ln>
        </p:spPr>
      </p:pic>
      <p:sp>
        <p:nvSpPr>
          <p:cNvPr id="14" name="Rectangle: Rounded Corners 13">
            <a:extLst>
              <a:ext uri="{FF2B5EF4-FFF2-40B4-BE49-F238E27FC236}">
                <a16:creationId xmlns:a16="http://schemas.microsoft.com/office/drawing/2014/main" id="{4CCC3DB1-C8B4-956D-D9C6-4E5BE028C619}"/>
              </a:ext>
            </a:extLst>
          </p:cNvPr>
          <p:cNvSpPr/>
          <p:nvPr/>
        </p:nvSpPr>
        <p:spPr>
          <a:xfrm>
            <a:off x="9382864" y="1571275"/>
            <a:ext cx="921864" cy="123164"/>
          </a:xfrm>
          <a:prstGeom prst="roundRect">
            <a:avLst/>
          </a:prstGeom>
          <a:solidFill>
            <a:srgbClr val="CCCCC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2347131D-5044-AF7A-13A1-0C58D542E06D}"/>
              </a:ext>
            </a:extLst>
          </p:cNvPr>
          <p:cNvSpPr txBox="1"/>
          <p:nvPr/>
        </p:nvSpPr>
        <p:spPr>
          <a:xfrm>
            <a:off x="4219575" y="5676900"/>
            <a:ext cx="635751" cy="369332"/>
          </a:xfrm>
          <a:prstGeom prst="rect">
            <a:avLst/>
          </a:prstGeom>
          <a:noFill/>
        </p:spPr>
        <p:txBody>
          <a:bodyPr wrap="none" rtlCol="0">
            <a:spAutoFit/>
          </a:bodyPr>
          <a:lstStyle/>
          <a:p>
            <a:pPr algn="ctr"/>
            <a:r>
              <a:rPr lang="en-US" dirty="0">
                <a:solidFill>
                  <a:schemeClr val="bg1"/>
                </a:solidFill>
              </a:rPr>
              <a:t>Web</a:t>
            </a:r>
          </a:p>
        </p:txBody>
      </p:sp>
      <p:sp>
        <p:nvSpPr>
          <p:cNvPr id="17" name="TextBox 16">
            <a:extLst>
              <a:ext uri="{FF2B5EF4-FFF2-40B4-BE49-F238E27FC236}">
                <a16:creationId xmlns:a16="http://schemas.microsoft.com/office/drawing/2014/main" id="{0E6317E6-21D1-4F5E-7C80-C4EA5A686F71}"/>
              </a:ext>
            </a:extLst>
          </p:cNvPr>
          <p:cNvSpPr txBox="1"/>
          <p:nvPr/>
        </p:nvSpPr>
        <p:spPr>
          <a:xfrm>
            <a:off x="9594718" y="5676900"/>
            <a:ext cx="859530" cy="369332"/>
          </a:xfrm>
          <a:prstGeom prst="rect">
            <a:avLst/>
          </a:prstGeom>
          <a:noFill/>
        </p:spPr>
        <p:txBody>
          <a:bodyPr wrap="none" rtlCol="0">
            <a:spAutoFit/>
          </a:bodyPr>
          <a:lstStyle/>
          <a:p>
            <a:pPr algn="ctr"/>
            <a:r>
              <a:rPr lang="en-US" dirty="0">
                <a:solidFill>
                  <a:schemeClr val="bg1"/>
                </a:solidFill>
              </a:rPr>
              <a:t>Mobile</a:t>
            </a:r>
          </a:p>
        </p:txBody>
      </p:sp>
      <p:sp>
        <p:nvSpPr>
          <p:cNvPr id="18" name="TextBox 17">
            <a:extLst>
              <a:ext uri="{FF2B5EF4-FFF2-40B4-BE49-F238E27FC236}">
                <a16:creationId xmlns:a16="http://schemas.microsoft.com/office/drawing/2014/main" id="{4953DF0B-0F67-E87C-D69F-93932F75A1B2}"/>
              </a:ext>
            </a:extLst>
          </p:cNvPr>
          <p:cNvSpPr txBox="1"/>
          <p:nvPr/>
        </p:nvSpPr>
        <p:spPr>
          <a:xfrm>
            <a:off x="4377229" y="819029"/>
            <a:ext cx="3437544" cy="523220"/>
          </a:xfrm>
          <a:prstGeom prst="rect">
            <a:avLst/>
          </a:prstGeom>
          <a:noFill/>
        </p:spPr>
        <p:txBody>
          <a:bodyPr wrap="none" rtlCol="0">
            <a:spAutoFit/>
          </a:bodyPr>
          <a:lstStyle/>
          <a:p>
            <a:pPr algn="ctr"/>
            <a:r>
              <a:rPr lang="en-US" sz="2800" dirty="0">
                <a:solidFill>
                  <a:schemeClr val="bg1"/>
                </a:solidFill>
              </a:rPr>
              <a:t>Responsive Web App</a:t>
            </a:r>
          </a:p>
        </p:txBody>
      </p:sp>
    </p:spTree>
    <p:extLst>
      <p:ext uri="{BB962C8B-B14F-4D97-AF65-F5344CB8AC3E}">
        <p14:creationId xmlns:p14="http://schemas.microsoft.com/office/powerpoint/2010/main" val="31976335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0D270F-522F-1CFD-4DB3-C900DCD1285C}"/>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0AA35386-0825-2265-9EEF-D3E3F7296974}"/>
              </a:ext>
            </a:extLst>
          </p:cNvPr>
          <p:cNvPicPr>
            <a:picLocks noChangeAspect="1"/>
          </p:cNvPicPr>
          <p:nvPr/>
        </p:nvPicPr>
        <p:blipFill>
          <a:blip r:embed="rId2"/>
          <a:stretch>
            <a:fillRect/>
          </a:stretch>
        </p:blipFill>
        <p:spPr>
          <a:xfrm>
            <a:off x="1259840" y="1740322"/>
            <a:ext cx="5730240" cy="2991125"/>
          </a:xfrm>
          <a:prstGeom prst="rect">
            <a:avLst/>
          </a:prstGeom>
          <a:ln>
            <a:solidFill>
              <a:schemeClr val="bg1"/>
            </a:solidFill>
          </a:ln>
        </p:spPr>
      </p:pic>
      <p:sp>
        <p:nvSpPr>
          <p:cNvPr id="5" name="TextBox 4">
            <a:extLst>
              <a:ext uri="{FF2B5EF4-FFF2-40B4-BE49-F238E27FC236}">
                <a16:creationId xmlns:a16="http://schemas.microsoft.com/office/drawing/2014/main" id="{7B2E4FD0-9720-7E6A-179D-7584AD0415AC}"/>
              </a:ext>
            </a:extLst>
          </p:cNvPr>
          <p:cNvSpPr txBox="1"/>
          <p:nvPr/>
        </p:nvSpPr>
        <p:spPr>
          <a:xfrm>
            <a:off x="7497703" y="1740322"/>
            <a:ext cx="4092402" cy="3231654"/>
          </a:xfrm>
          <a:prstGeom prst="rect">
            <a:avLst/>
          </a:prstGeom>
          <a:noFill/>
        </p:spPr>
        <p:txBody>
          <a:bodyPr wrap="none" rtlCol="0">
            <a:spAutoFit/>
          </a:bodyPr>
          <a:lstStyle/>
          <a:p>
            <a:r>
              <a:rPr lang="en-US" sz="2400" b="1" dirty="0">
                <a:solidFill>
                  <a:schemeClr val="bg1"/>
                </a:solidFill>
              </a:rPr>
              <a:t>Groups:</a:t>
            </a:r>
          </a:p>
          <a:p>
            <a:endParaRPr lang="en-US" dirty="0">
              <a:solidFill>
                <a:schemeClr val="bg1"/>
              </a:solidFill>
            </a:endParaRPr>
          </a:p>
          <a:p>
            <a:pPr marL="285750" indent="-285750">
              <a:buFont typeface="Arial" panose="020B0604020202020204" pitchFamily="34" charset="0"/>
              <a:buChar char="•"/>
            </a:pPr>
            <a:r>
              <a:rPr lang="en-US" dirty="0">
                <a:solidFill>
                  <a:schemeClr val="bg1"/>
                </a:solidFill>
              </a:rPr>
              <a:t>Users</a:t>
            </a:r>
          </a:p>
          <a:p>
            <a:pPr marL="285750" indent="-285750">
              <a:buFont typeface="Arial" panose="020B0604020202020204" pitchFamily="34" charset="0"/>
              <a:buChar char="•"/>
            </a:pPr>
            <a:r>
              <a:rPr lang="en-US" dirty="0">
                <a:solidFill>
                  <a:schemeClr val="bg1"/>
                </a:solidFill>
              </a:rPr>
              <a:t>Administrators</a:t>
            </a:r>
          </a:p>
          <a:p>
            <a:pPr marL="285750" indent="-285750">
              <a:buFont typeface="Arial" panose="020B0604020202020204" pitchFamily="34" charset="0"/>
              <a:buChar char="•"/>
            </a:pPr>
            <a:endParaRPr lang="en-US" dirty="0">
              <a:solidFill>
                <a:schemeClr val="bg1"/>
              </a:solidFill>
            </a:endParaRPr>
          </a:p>
          <a:p>
            <a:r>
              <a:rPr lang="en-US" dirty="0">
                <a:solidFill>
                  <a:schemeClr val="bg1"/>
                </a:solidFill>
              </a:rPr>
              <a:t>Other Cognito Functions implemented</a:t>
            </a:r>
          </a:p>
          <a:p>
            <a:pPr marL="285750" indent="-285750">
              <a:buFont typeface="Arial" panose="020B0604020202020204" pitchFamily="34" charset="0"/>
              <a:buChar char="•"/>
            </a:pPr>
            <a:r>
              <a:rPr lang="en-US" dirty="0">
                <a:solidFill>
                  <a:schemeClr val="bg1"/>
                </a:solidFill>
              </a:rPr>
              <a:t>User self signup</a:t>
            </a:r>
          </a:p>
          <a:p>
            <a:pPr marL="285750" indent="-285750">
              <a:buFont typeface="Arial" panose="020B0604020202020204" pitchFamily="34" charset="0"/>
              <a:buChar char="•"/>
            </a:pPr>
            <a:r>
              <a:rPr lang="en-US" dirty="0">
                <a:solidFill>
                  <a:schemeClr val="bg1"/>
                </a:solidFill>
              </a:rPr>
              <a:t>Password reset</a:t>
            </a:r>
          </a:p>
          <a:p>
            <a:pPr marL="285750" indent="-285750">
              <a:buFont typeface="Arial" panose="020B0604020202020204" pitchFamily="34" charset="0"/>
              <a:buChar char="•"/>
            </a:pPr>
            <a:r>
              <a:rPr lang="en-US" dirty="0">
                <a:solidFill>
                  <a:schemeClr val="bg1"/>
                </a:solidFill>
              </a:rPr>
              <a:t>Password recovery</a:t>
            </a:r>
          </a:p>
          <a:p>
            <a:pPr marL="285750" indent="-285750">
              <a:buFont typeface="Arial" panose="020B0604020202020204" pitchFamily="34" charset="0"/>
              <a:buChar char="•"/>
            </a:pPr>
            <a:r>
              <a:rPr lang="en-US" dirty="0">
                <a:solidFill>
                  <a:schemeClr val="bg1"/>
                </a:solidFill>
              </a:rPr>
              <a:t>MFA not implemented in MVP</a:t>
            </a:r>
          </a:p>
          <a:p>
            <a:endParaRPr lang="en-US" dirty="0">
              <a:solidFill>
                <a:schemeClr val="bg1"/>
              </a:solidFill>
            </a:endParaRPr>
          </a:p>
        </p:txBody>
      </p:sp>
      <p:sp>
        <p:nvSpPr>
          <p:cNvPr id="7" name="TextBox 6">
            <a:extLst>
              <a:ext uri="{FF2B5EF4-FFF2-40B4-BE49-F238E27FC236}">
                <a16:creationId xmlns:a16="http://schemas.microsoft.com/office/drawing/2014/main" id="{989868A7-B8D1-489F-531D-0A583DB981AC}"/>
              </a:ext>
            </a:extLst>
          </p:cNvPr>
          <p:cNvSpPr txBox="1"/>
          <p:nvPr/>
        </p:nvSpPr>
        <p:spPr>
          <a:xfrm>
            <a:off x="4139603" y="819029"/>
            <a:ext cx="3912802" cy="523220"/>
          </a:xfrm>
          <a:prstGeom prst="rect">
            <a:avLst/>
          </a:prstGeom>
          <a:noFill/>
        </p:spPr>
        <p:txBody>
          <a:bodyPr wrap="none" rtlCol="0">
            <a:spAutoFit/>
          </a:bodyPr>
          <a:lstStyle/>
          <a:p>
            <a:pPr algn="ctr"/>
            <a:r>
              <a:rPr lang="en-US" sz="2800" dirty="0">
                <a:solidFill>
                  <a:schemeClr val="bg1"/>
                </a:solidFill>
              </a:rPr>
              <a:t>Cognito Based User IAM</a:t>
            </a:r>
          </a:p>
        </p:txBody>
      </p:sp>
    </p:spTree>
    <p:extLst>
      <p:ext uri="{BB962C8B-B14F-4D97-AF65-F5344CB8AC3E}">
        <p14:creationId xmlns:p14="http://schemas.microsoft.com/office/powerpoint/2010/main" val="27229925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049A54-44A6-667B-6B27-AD8A528B5702}"/>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311BF9A-164C-3B91-E56B-5379057928F9}"/>
              </a:ext>
            </a:extLst>
          </p:cNvPr>
          <p:cNvPicPr>
            <a:picLocks noChangeAspect="1"/>
          </p:cNvPicPr>
          <p:nvPr/>
        </p:nvPicPr>
        <p:blipFill>
          <a:blip r:embed="rId2"/>
          <a:stretch>
            <a:fillRect/>
          </a:stretch>
        </p:blipFill>
        <p:spPr>
          <a:xfrm>
            <a:off x="747252" y="1621806"/>
            <a:ext cx="7561006" cy="3897344"/>
          </a:xfrm>
          <a:prstGeom prst="rect">
            <a:avLst/>
          </a:prstGeom>
          <a:ln>
            <a:solidFill>
              <a:schemeClr val="bg1"/>
            </a:solidFill>
          </a:ln>
        </p:spPr>
      </p:pic>
      <p:sp>
        <p:nvSpPr>
          <p:cNvPr id="5" name="TextBox 4">
            <a:extLst>
              <a:ext uri="{FF2B5EF4-FFF2-40B4-BE49-F238E27FC236}">
                <a16:creationId xmlns:a16="http://schemas.microsoft.com/office/drawing/2014/main" id="{6604164B-2F4A-A760-0826-7CE778877B3C}"/>
              </a:ext>
            </a:extLst>
          </p:cNvPr>
          <p:cNvSpPr txBox="1"/>
          <p:nvPr/>
        </p:nvSpPr>
        <p:spPr>
          <a:xfrm>
            <a:off x="8612128" y="2209800"/>
            <a:ext cx="3435364" cy="2123658"/>
          </a:xfrm>
          <a:prstGeom prst="rect">
            <a:avLst/>
          </a:prstGeom>
          <a:noFill/>
        </p:spPr>
        <p:txBody>
          <a:bodyPr wrap="none" rtlCol="0">
            <a:spAutoFit/>
          </a:bodyPr>
          <a:lstStyle/>
          <a:p>
            <a:r>
              <a:rPr lang="en-US" sz="2400" b="1" dirty="0">
                <a:solidFill>
                  <a:schemeClr val="bg1"/>
                </a:solidFill>
              </a:rPr>
              <a:t>Features</a:t>
            </a:r>
          </a:p>
          <a:p>
            <a:endParaRPr lang="en-US" dirty="0">
              <a:solidFill>
                <a:schemeClr val="bg1"/>
              </a:solidFill>
            </a:endParaRPr>
          </a:p>
          <a:p>
            <a:pPr marL="285750" indent="-285750">
              <a:buFont typeface="Arial" panose="020B0604020202020204" pitchFamily="34" charset="0"/>
              <a:buChar char="•"/>
            </a:pPr>
            <a:r>
              <a:rPr lang="en-US" dirty="0">
                <a:solidFill>
                  <a:schemeClr val="bg1"/>
                </a:solidFill>
              </a:rPr>
              <a:t>File picker</a:t>
            </a:r>
          </a:p>
          <a:p>
            <a:pPr marL="285750" indent="-285750">
              <a:buFont typeface="Arial" panose="020B0604020202020204" pitchFamily="34" charset="0"/>
              <a:buChar char="•"/>
            </a:pPr>
            <a:r>
              <a:rPr lang="en-US" dirty="0">
                <a:solidFill>
                  <a:schemeClr val="bg1"/>
                </a:solidFill>
              </a:rPr>
              <a:t>Title </a:t>
            </a:r>
          </a:p>
          <a:p>
            <a:pPr marL="285750" indent="-285750">
              <a:buFont typeface="Arial" panose="020B0604020202020204" pitchFamily="34" charset="0"/>
              <a:buChar char="•"/>
            </a:pPr>
            <a:r>
              <a:rPr lang="en-US" dirty="0">
                <a:solidFill>
                  <a:schemeClr val="bg1"/>
                </a:solidFill>
              </a:rPr>
              <a:t>Description</a:t>
            </a:r>
          </a:p>
          <a:p>
            <a:pPr marL="285750" indent="-285750">
              <a:buFont typeface="Arial" panose="020B0604020202020204" pitchFamily="34" charset="0"/>
              <a:buChar char="•"/>
            </a:pPr>
            <a:endParaRPr lang="en-US" dirty="0">
              <a:solidFill>
                <a:schemeClr val="bg1"/>
              </a:solidFill>
            </a:endParaRPr>
          </a:p>
          <a:p>
            <a:pPr marL="285750" indent="-285750">
              <a:buFont typeface="Arial" panose="020B0604020202020204" pitchFamily="34" charset="0"/>
              <a:buChar char="•"/>
            </a:pPr>
            <a:r>
              <a:rPr lang="en-US" dirty="0">
                <a:solidFill>
                  <a:schemeClr val="bg1"/>
                </a:solidFill>
              </a:rPr>
              <a:t>Video File upload on roadmap</a:t>
            </a:r>
          </a:p>
        </p:txBody>
      </p:sp>
      <p:sp>
        <p:nvSpPr>
          <p:cNvPr id="7" name="TextBox 6">
            <a:extLst>
              <a:ext uri="{FF2B5EF4-FFF2-40B4-BE49-F238E27FC236}">
                <a16:creationId xmlns:a16="http://schemas.microsoft.com/office/drawing/2014/main" id="{EC6FA6FB-7415-76B7-2329-DD6894AE8AE8}"/>
              </a:ext>
            </a:extLst>
          </p:cNvPr>
          <p:cNvSpPr txBox="1"/>
          <p:nvPr/>
        </p:nvSpPr>
        <p:spPr>
          <a:xfrm>
            <a:off x="4606657" y="819029"/>
            <a:ext cx="2978701" cy="523220"/>
          </a:xfrm>
          <a:prstGeom prst="rect">
            <a:avLst/>
          </a:prstGeom>
          <a:noFill/>
        </p:spPr>
        <p:txBody>
          <a:bodyPr wrap="none" rtlCol="0">
            <a:spAutoFit/>
          </a:bodyPr>
          <a:lstStyle/>
          <a:p>
            <a:pPr algn="ctr"/>
            <a:r>
              <a:rPr lang="en-US" sz="2800" dirty="0">
                <a:solidFill>
                  <a:schemeClr val="bg1"/>
                </a:solidFill>
              </a:rPr>
              <a:t>Audio File Upload</a:t>
            </a:r>
          </a:p>
        </p:txBody>
      </p:sp>
    </p:spTree>
    <p:extLst>
      <p:ext uri="{BB962C8B-B14F-4D97-AF65-F5344CB8AC3E}">
        <p14:creationId xmlns:p14="http://schemas.microsoft.com/office/powerpoint/2010/main" val="39866838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3B4F4A-AE2F-7DC1-A3FA-942B76486352}"/>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3656E90-E203-ADD6-121A-B9BA40406777}"/>
              </a:ext>
            </a:extLst>
          </p:cNvPr>
          <p:cNvPicPr>
            <a:picLocks noChangeAspect="1"/>
          </p:cNvPicPr>
          <p:nvPr/>
        </p:nvPicPr>
        <p:blipFill>
          <a:blip r:embed="rId2"/>
          <a:stretch>
            <a:fillRect/>
          </a:stretch>
        </p:blipFill>
        <p:spPr>
          <a:xfrm>
            <a:off x="747252" y="1609725"/>
            <a:ext cx="7561005" cy="3633725"/>
          </a:xfrm>
          <a:prstGeom prst="rect">
            <a:avLst/>
          </a:prstGeom>
          <a:ln>
            <a:solidFill>
              <a:schemeClr val="bg1"/>
            </a:solidFill>
          </a:ln>
        </p:spPr>
      </p:pic>
      <p:sp>
        <p:nvSpPr>
          <p:cNvPr id="10" name="TextBox 9">
            <a:extLst>
              <a:ext uri="{FF2B5EF4-FFF2-40B4-BE49-F238E27FC236}">
                <a16:creationId xmlns:a16="http://schemas.microsoft.com/office/drawing/2014/main" id="{B8D906B5-C50E-B344-566B-9DD095E11EB7}"/>
              </a:ext>
            </a:extLst>
          </p:cNvPr>
          <p:cNvSpPr txBox="1"/>
          <p:nvPr/>
        </p:nvSpPr>
        <p:spPr>
          <a:xfrm>
            <a:off x="8612128" y="2209800"/>
            <a:ext cx="3409716" cy="1846659"/>
          </a:xfrm>
          <a:prstGeom prst="rect">
            <a:avLst/>
          </a:prstGeom>
          <a:noFill/>
        </p:spPr>
        <p:txBody>
          <a:bodyPr wrap="none" rtlCol="0">
            <a:spAutoFit/>
          </a:bodyPr>
          <a:lstStyle/>
          <a:p>
            <a:r>
              <a:rPr lang="en-US" sz="2400" b="1" dirty="0">
                <a:solidFill>
                  <a:schemeClr val="bg1"/>
                </a:solidFill>
              </a:rPr>
              <a:t>Features</a:t>
            </a:r>
          </a:p>
          <a:p>
            <a:endParaRPr lang="en-US" dirty="0">
              <a:solidFill>
                <a:schemeClr val="bg1"/>
              </a:solidFill>
            </a:endParaRPr>
          </a:p>
          <a:p>
            <a:pPr marL="285750" indent="-285750">
              <a:buFont typeface="Arial" panose="020B0604020202020204" pitchFamily="34" charset="0"/>
              <a:buChar char="•"/>
            </a:pPr>
            <a:r>
              <a:rPr lang="en-US" dirty="0">
                <a:solidFill>
                  <a:schemeClr val="bg1"/>
                </a:solidFill>
              </a:rPr>
              <a:t>Multiple steps</a:t>
            </a:r>
          </a:p>
          <a:p>
            <a:pPr marL="285750" indent="-285750">
              <a:buFont typeface="Arial" panose="020B0604020202020204" pitchFamily="34" charset="0"/>
              <a:buChar char="•"/>
            </a:pPr>
            <a:r>
              <a:rPr lang="en-US" dirty="0">
                <a:solidFill>
                  <a:schemeClr val="bg1"/>
                </a:solidFill>
              </a:rPr>
              <a:t>Realtime User status updates</a:t>
            </a:r>
          </a:p>
          <a:p>
            <a:endParaRPr lang="en-US" dirty="0">
              <a:solidFill>
                <a:schemeClr val="bg1"/>
              </a:solidFill>
            </a:endParaRPr>
          </a:p>
          <a:p>
            <a:pPr marL="285750" indent="-285750">
              <a:buFont typeface="Arial" panose="020B0604020202020204" pitchFamily="34" charset="0"/>
              <a:buChar char="•"/>
            </a:pPr>
            <a:endParaRPr lang="en-US" dirty="0">
              <a:solidFill>
                <a:schemeClr val="bg1"/>
              </a:solidFill>
            </a:endParaRPr>
          </a:p>
        </p:txBody>
      </p:sp>
      <p:sp>
        <p:nvSpPr>
          <p:cNvPr id="15" name="TextBox 14">
            <a:extLst>
              <a:ext uri="{FF2B5EF4-FFF2-40B4-BE49-F238E27FC236}">
                <a16:creationId xmlns:a16="http://schemas.microsoft.com/office/drawing/2014/main" id="{20FDE4A1-1E9F-FC56-E4DE-16662A5B241E}"/>
              </a:ext>
            </a:extLst>
          </p:cNvPr>
          <p:cNvSpPr txBox="1"/>
          <p:nvPr/>
        </p:nvSpPr>
        <p:spPr>
          <a:xfrm>
            <a:off x="5152706" y="819029"/>
            <a:ext cx="1886607" cy="523220"/>
          </a:xfrm>
          <a:prstGeom prst="rect">
            <a:avLst/>
          </a:prstGeom>
          <a:noFill/>
        </p:spPr>
        <p:txBody>
          <a:bodyPr wrap="none" rtlCol="0">
            <a:spAutoFit/>
          </a:bodyPr>
          <a:lstStyle/>
          <a:p>
            <a:pPr algn="ctr"/>
            <a:r>
              <a:rPr lang="en-US" sz="2800" dirty="0">
                <a:solidFill>
                  <a:schemeClr val="bg1"/>
                </a:solidFill>
              </a:rPr>
              <a:t>Processing</a:t>
            </a:r>
          </a:p>
        </p:txBody>
      </p:sp>
    </p:spTree>
    <p:extLst>
      <p:ext uri="{BB962C8B-B14F-4D97-AF65-F5344CB8AC3E}">
        <p14:creationId xmlns:p14="http://schemas.microsoft.com/office/powerpoint/2010/main" val="160493138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174083-5A87-F4AE-172C-0CD7DCB2AAAA}"/>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C422EC60-C1D9-4453-CE98-949997BC42C0}"/>
              </a:ext>
            </a:extLst>
          </p:cNvPr>
          <p:cNvPicPr>
            <a:picLocks noChangeAspect="1"/>
          </p:cNvPicPr>
          <p:nvPr/>
        </p:nvPicPr>
        <p:blipFill>
          <a:blip r:embed="rId2"/>
          <a:srcRect l="1664" t="25120"/>
          <a:stretch>
            <a:fillRect/>
          </a:stretch>
        </p:blipFill>
        <p:spPr>
          <a:xfrm>
            <a:off x="120272" y="1972340"/>
            <a:ext cx="9145181" cy="1163467"/>
          </a:xfrm>
          <a:prstGeom prst="rect">
            <a:avLst/>
          </a:prstGeom>
        </p:spPr>
      </p:pic>
      <p:pic>
        <p:nvPicPr>
          <p:cNvPr id="3" name="Picture 2">
            <a:extLst>
              <a:ext uri="{FF2B5EF4-FFF2-40B4-BE49-F238E27FC236}">
                <a16:creationId xmlns:a16="http://schemas.microsoft.com/office/drawing/2014/main" id="{DF46E77A-9441-3E10-7899-CD3C6F29125A}"/>
              </a:ext>
            </a:extLst>
          </p:cNvPr>
          <p:cNvPicPr>
            <a:picLocks noChangeAspect="1"/>
          </p:cNvPicPr>
          <p:nvPr/>
        </p:nvPicPr>
        <p:blipFill>
          <a:blip r:embed="rId3"/>
          <a:srcRect t="1727" b="7548"/>
          <a:stretch>
            <a:fillRect/>
          </a:stretch>
        </p:blipFill>
        <p:spPr>
          <a:xfrm>
            <a:off x="61796" y="3147236"/>
            <a:ext cx="9141711" cy="1142205"/>
          </a:xfrm>
          <a:prstGeom prst="rect">
            <a:avLst/>
          </a:prstGeom>
        </p:spPr>
      </p:pic>
      <p:pic>
        <p:nvPicPr>
          <p:cNvPr id="4" name="Picture 3">
            <a:extLst>
              <a:ext uri="{FF2B5EF4-FFF2-40B4-BE49-F238E27FC236}">
                <a16:creationId xmlns:a16="http://schemas.microsoft.com/office/drawing/2014/main" id="{28FAA736-D6F3-5DA2-8E4E-E4F45A5516E6}"/>
              </a:ext>
            </a:extLst>
          </p:cNvPr>
          <p:cNvPicPr>
            <a:picLocks noChangeAspect="1"/>
          </p:cNvPicPr>
          <p:nvPr/>
        </p:nvPicPr>
        <p:blipFill>
          <a:blip r:embed="rId4"/>
          <a:srcRect t="7155"/>
          <a:stretch>
            <a:fillRect/>
          </a:stretch>
        </p:blipFill>
        <p:spPr>
          <a:xfrm>
            <a:off x="61796" y="4300870"/>
            <a:ext cx="9226684" cy="1154508"/>
          </a:xfrm>
          <a:prstGeom prst="rect">
            <a:avLst/>
          </a:prstGeom>
        </p:spPr>
      </p:pic>
      <p:pic>
        <p:nvPicPr>
          <p:cNvPr id="5" name="Picture 4">
            <a:extLst>
              <a:ext uri="{FF2B5EF4-FFF2-40B4-BE49-F238E27FC236}">
                <a16:creationId xmlns:a16="http://schemas.microsoft.com/office/drawing/2014/main" id="{9FB70D82-881F-4DA4-9C90-7ED47F258968}"/>
              </a:ext>
            </a:extLst>
          </p:cNvPr>
          <p:cNvPicPr>
            <a:picLocks noChangeAspect="1"/>
          </p:cNvPicPr>
          <p:nvPr/>
        </p:nvPicPr>
        <p:blipFill>
          <a:blip r:embed="rId5"/>
          <a:srcRect t="2999"/>
          <a:stretch>
            <a:fillRect/>
          </a:stretch>
        </p:blipFill>
        <p:spPr>
          <a:xfrm>
            <a:off x="120272" y="5466806"/>
            <a:ext cx="9141714" cy="1211720"/>
          </a:xfrm>
          <a:prstGeom prst="rect">
            <a:avLst/>
          </a:prstGeom>
        </p:spPr>
      </p:pic>
      <p:sp>
        <p:nvSpPr>
          <p:cNvPr id="9" name="TextBox 8">
            <a:extLst>
              <a:ext uri="{FF2B5EF4-FFF2-40B4-BE49-F238E27FC236}">
                <a16:creationId xmlns:a16="http://schemas.microsoft.com/office/drawing/2014/main" id="{D45241CF-B1CD-8CD5-5D2C-FD16E82B496D}"/>
              </a:ext>
            </a:extLst>
          </p:cNvPr>
          <p:cNvSpPr txBox="1"/>
          <p:nvPr/>
        </p:nvSpPr>
        <p:spPr>
          <a:xfrm>
            <a:off x="9307916" y="2322280"/>
            <a:ext cx="2516532" cy="923330"/>
          </a:xfrm>
          <a:prstGeom prst="rect">
            <a:avLst/>
          </a:prstGeom>
          <a:noFill/>
        </p:spPr>
        <p:txBody>
          <a:bodyPr wrap="square" rtlCol="0">
            <a:spAutoFit/>
          </a:bodyPr>
          <a:lstStyle/>
          <a:p>
            <a:r>
              <a:rPr lang="en-US" b="1" dirty="0">
                <a:solidFill>
                  <a:srgbClr val="FFC000"/>
                </a:solidFill>
              </a:rPr>
              <a:t>Pending: </a:t>
            </a:r>
            <a:r>
              <a:rPr lang="en-US" dirty="0">
                <a:solidFill>
                  <a:schemeClr val="bg1"/>
                </a:solidFill>
              </a:rPr>
              <a:t>User</a:t>
            </a:r>
            <a:r>
              <a:rPr lang="en-US" b="1" dirty="0">
                <a:solidFill>
                  <a:srgbClr val="FFC000"/>
                </a:solidFill>
              </a:rPr>
              <a:t> </a:t>
            </a:r>
            <a:r>
              <a:rPr lang="en-US" dirty="0">
                <a:solidFill>
                  <a:schemeClr val="bg1"/>
                </a:solidFill>
              </a:rPr>
              <a:t>uploaded unprocessed audio file</a:t>
            </a:r>
          </a:p>
        </p:txBody>
      </p:sp>
      <p:sp>
        <p:nvSpPr>
          <p:cNvPr id="11" name="TextBox 10">
            <a:extLst>
              <a:ext uri="{FF2B5EF4-FFF2-40B4-BE49-F238E27FC236}">
                <a16:creationId xmlns:a16="http://schemas.microsoft.com/office/drawing/2014/main" id="{2D60A16F-2658-BE82-1003-611C7B109448}"/>
              </a:ext>
            </a:extLst>
          </p:cNvPr>
          <p:cNvSpPr txBox="1"/>
          <p:nvPr/>
        </p:nvSpPr>
        <p:spPr>
          <a:xfrm>
            <a:off x="5353019" y="819029"/>
            <a:ext cx="1485984" cy="523220"/>
          </a:xfrm>
          <a:prstGeom prst="rect">
            <a:avLst/>
          </a:prstGeom>
          <a:noFill/>
        </p:spPr>
        <p:txBody>
          <a:bodyPr wrap="none" rtlCol="0">
            <a:spAutoFit/>
          </a:bodyPr>
          <a:lstStyle/>
          <a:p>
            <a:pPr algn="ctr"/>
            <a:r>
              <a:rPr lang="en-US" sz="2800" dirty="0">
                <a:solidFill>
                  <a:schemeClr val="bg1"/>
                </a:solidFill>
              </a:rPr>
              <a:t>Statuses</a:t>
            </a:r>
          </a:p>
        </p:txBody>
      </p:sp>
      <p:sp>
        <p:nvSpPr>
          <p:cNvPr id="13" name="TextBox 12">
            <a:extLst>
              <a:ext uri="{FF2B5EF4-FFF2-40B4-BE49-F238E27FC236}">
                <a16:creationId xmlns:a16="http://schemas.microsoft.com/office/drawing/2014/main" id="{DC1D84D4-C9A7-EC8C-C546-E25C49D1770E}"/>
              </a:ext>
            </a:extLst>
          </p:cNvPr>
          <p:cNvSpPr txBox="1"/>
          <p:nvPr/>
        </p:nvSpPr>
        <p:spPr>
          <a:xfrm>
            <a:off x="9307915" y="3527002"/>
            <a:ext cx="2516532" cy="646331"/>
          </a:xfrm>
          <a:prstGeom prst="rect">
            <a:avLst/>
          </a:prstGeom>
          <a:noFill/>
        </p:spPr>
        <p:txBody>
          <a:bodyPr wrap="square" rtlCol="0">
            <a:spAutoFit/>
          </a:bodyPr>
          <a:lstStyle/>
          <a:p>
            <a:r>
              <a:rPr lang="en-US" b="1" dirty="0">
                <a:solidFill>
                  <a:srgbClr val="FFC000"/>
                </a:solidFill>
              </a:rPr>
              <a:t>Processing: </a:t>
            </a:r>
            <a:r>
              <a:rPr lang="en-US" dirty="0">
                <a:solidFill>
                  <a:schemeClr val="bg1"/>
                </a:solidFill>
              </a:rPr>
              <a:t>Transcription and prep</a:t>
            </a:r>
          </a:p>
        </p:txBody>
      </p:sp>
      <p:sp>
        <p:nvSpPr>
          <p:cNvPr id="15" name="TextBox 14">
            <a:extLst>
              <a:ext uri="{FF2B5EF4-FFF2-40B4-BE49-F238E27FC236}">
                <a16:creationId xmlns:a16="http://schemas.microsoft.com/office/drawing/2014/main" id="{31A041A7-21B5-5DC8-09E5-A810E83834B5}"/>
              </a:ext>
            </a:extLst>
          </p:cNvPr>
          <p:cNvSpPr txBox="1"/>
          <p:nvPr/>
        </p:nvSpPr>
        <p:spPr>
          <a:xfrm>
            <a:off x="9316880" y="4706892"/>
            <a:ext cx="2516532" cy="646331"/>
          </a:xfrm>
          <a:prstGeom prst="rect">
            <a:avLst/>
          </a:prstGeom>
          <a:noFill/>
        </p:spPr>
        <p:txBody>
          <a:bodyPr wrap="square" rtlCol="0">
            <a:spAutoFit/>
          </a:bodyPr>
          <a:lstStyle/>
          <a:p>
            <a:r>
              <a:rPr lang="en-US" b="1" dirty="0">
                <a:solidFill>
                  <a:srgbClr val="FFC000"/>
                </a:solidFill>
              </a:rPr>
              <a:t>Waiting: </a:t>
            </a:r>
            <a:r>
              <a:rPr lang="en-US" dirty="0">
                <a:solidFill>
                  <a:schemeClr val="bg1"/>
                </a:solidFill>
              </a:rPr>
              <a:t>Queued for Agentic Evaluation </a:t>
            </a:r>
          </a:p>
        </p:txBody>
      </p:sp>
      <p:sp>
        <p:nvSpPr>
          <p:cNvPr id="17" name="TextBox 16">
            <a:extLst>
              <a:ext uri="{FF2B5EF4-FFF2-40B4-BE49-F238E27FC236}">
                <a16:creationId xmlns:a16="http://schemas.microsoft.com/office/drawing/2014/main" id="{D75E8002-2833-25B6-2B62-7EF2F26CD749}"/>
              </a:ext>
            </a:extLst>
          </p:cNvPr>
          <p:cNvSpPr txBox="1"/>
          <p:nvPr/>
        </p:nvSpPr>
        <p:spPr>
          <a:xfrm>
            <a:off x="9307915" y="5827478"/>
            <a:ext cx="2516532" cy="646331"/>
          </a:xfrm>
          <a:prstGeom prst="rect">
            <a:avLst/>
          </a:prstGeom>
          <a:noFill/>
        </p:spPr>
        <p:txBody>
          <a:bodyPr wrap="square" rtlCol="0">
            <a:spAutoFit/>
          </a:bodyPr>
          <a:lstStyle/>
          <a:p>
            <a:r>
              <a:rPr lang="en-US" b="1" dirty="0">
                <a:solidFill>
                  <a:srgbClr val="FFC000"/>
                </a:solidFill>
              </a:rPr>
              <a:t>Evaluation: </a:t>
            </a:r>
            <a:r>
              <a:rPr lang="en-US" dirty="0">
                <a:solidFill>
                  <a:schemeClr val="bg1"/>
                </a:solidFill>
              </a:rPr>
              <a:t>Agentic analysis in progress</a:t>
            </a:r>
          </a:p>
        </p:txBody>
      </p:sp>
      <p:sp>
        <p:nvSpPr>
          <p:cNvPr id="21" name="TextBox 20">
            <a:extLst>
              <a:ext uri="{FF2B5EF4-FFF2-40B4-BE49-F238E27FC236}">
                <a16:creationId xmlns:a16="http://schemas.microsoft.com/office/drawing/2014/main" id="{661D0DFE-810D-98CA-630F-70A74467C502}"/>
              </a:ext>
            </a:extLst>
          </p:cNvPr>
          <p:cNvSpPr txBox="1"/>
          <p:nvPr/>
        </p:nvSpPr>
        <p:spPr>
          <a:xfrm>
            <a:off x="1662126" y="1603008"/>
            <a:ext cx="5941049" cy="369332"/>
          </a:xfrm>
          <a:prstGeom prst="rect">
            <a:avLst/>
          </a:prstGeom>
          <a:noFill/>
        </p:spPr>
        <p:txBody>
          <a:bodyPr wrap="square" rtlCol="0">
            <a:spAutoFit/>
          </a:bodyPr>
          <a:lstStyle/>
          <a:p>
            <a:pPr algn="ctr"/>
            <a:r>
              <a:rPr lang="en-US" b="1" dirty="0">
                <a:solidFill>
                  <a:srgbClr val="FFC000"/>
                </a:solidFill>
              </a:rPr>
              <a:t>Start of Presentation Coach Process</a:t>
            </a:r>
            <a:endParaRPr lang="en-US" dirty="0">
              <a:solidFill>
                <a:schemeClr val="bg1"/>
              </a:solidFill>
            </a:endParaRPr>
          </a:p>
        </p:txBody>
      </p:sp>
    </p:spTree>
    <p:extLst>
      <p:ext uri="{BB962C8B-B14F-4D97-AF65-F5344CB8AC3E}">
        <p14:creationId xmlns:p14="http://schemas.microsoft.com/office/powerpoint/2010/main" val="32933784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3F36A2-A0F3-C823-5C5D-D55F9884C558}"/>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AC7A073B-9531-8155-9070-6C910D7BFE9A}"/>
              </a:ext>
            </a:extLst>
          </p:cNvPr>
          <p:cNvPicPr>
            <a:picLocks noChangeAspect="1"/>
          </p:cNvPicPr>
          <p:nvPr/>
        </p:nvPicPr>
        <p:blipFill>
          <a:blip r:embed="rId2"/>
          <a:srcRect t="76550" b="3302"/>
          <a:stretch>
            <a:fillRect/>
          </a:stretch>
        </p:blipFill>
        <p:spPr>
          <a:xfrm>
            <a:off x="76199" y="5512028"/>
            <a:ext cx="9083631" cy="907822"/>
          </a:xfrm>
          <a:prstGeom prst="rect">
            <a:avLst/>
          </a:prstGeom>
          <a:ln>
            <a:noFill/>
          </a:ln>
        </p:spPr>
      </p:pic>
      <p:sp>
        <p:nvSpPr>
          <p:cNvPr id="15" name="TextBox 14">
            <a:extLst>
              <a:ext uri="{FF2B5EF4-FFF2-40B4-BE49-F238E27FC236}">
                <a16:creationId xmlns:a16="http://schemas.microsoft.com/office/drawing/2014/main" id="{3C79C44E-4EC3-37E9-0205-F0D18C760B0A}"/>
              </a:ext>
            </a:extLst>
          </p:cNvPr>
          <p:cNvSpPr txBox="1"/>
          <p:nvPr/>
        </p:nvSpPr>
        <p:spPr>
          <a:xfrm>
            <a:off x="5353019" y="819029"/>
            <a:ext cx="1485984" cy="523220"/>
          </a:xfrm>
          <a:prstGeom prst="rect">
            <a:avLst/>
          </a:prstGeom>
          <a:noFill/>
        </p:spPr>
        <p:txBody>
          <a:bodyPr wrap="none" rtlCol="0">
            <a:spAutoFit/>
          </a:bodyPr>
          <a:lstStyle/>
          <a:p>
            <a:pPr algn="ctr"/>
            <a:r>
              <a:rPr lang="en-US" sz="2800" dirty="0">
                <a:solidFill>
                  <a:schemeClr val="bg1"/>
                </a:solidFill>
              </a:rPr>
              <a:t>Statuses</a:t>
            </a:r>
          </a:p>
        </p:txBody>
      </p:sp>
      <p:pic>
        <p:nvPicPr>
          <p:cNvPr id="3" name="Picture 2">
            <a:extLst>
              <a:ext uri="{FF2B5EF4-FFF2-40B4-BE49-F238E27FC236}">
                <a16:creationId xmlns:a16="http://schemas.microsoft.com/office/drawing/2014/main" id="{A5C5E147-4065-1995-FDEE-308D0CDC8057}"/>
              </a:ext>
            </a:extLst>
          </p:cNvPr>
          <p:cNvPicPr>
            <a:picLocks noChangeAspect="1"/>
          </p:cNvPicPr>
          <p:nvPr/>
        </p:nvPicPr>
        <p:blipFill>
          <a:blip r:embed="rId3"/>
          <a:srcRect l="-208" t="2131" r="208" b="-592"/>
          <a:stretch>
            <a:fillRect/>
          </a:stretch>
        </p:blipFill>
        <p:spPr>
          <a:xfrm>
            <a:off x="95250" y="2509449"/>
            <a:ext cx="9080500" cy="1165706"/>
          </a:xfrm>
          <a:prstGeom prst="rect">
            <a:avLst/>
          </a:prstGeom>
        </p:spPr>
      </p:pic>
      <p:pic>
        <p:nvPicPr>
          <p:cNvPr id="6" name="Picture 5">
            <a:extLst>
              <a:ext uri="{FF2B5EF4-FFF2-40B4-BE49-F238E27FC236}">
                <a16:creationId xmlns:a16="http://schemas.microsoft.com/office/drawing/2014/main" id="{63817FD1-0DF4-8DC8-F97A-35BDB974EA99}"/>
              </a:ext>
            </a:extLst>
          </p:cNvPr>
          <p:cNvPicPr>
            <a:picLocks noChangeAspect="1"/>
          </p:cNvPicPr>
          <p:nvPr/>
        </p:nvPicPr>
        <p:blipFill>
          <a:blip r:embed="rId4"/>
          <a:srcRect t="2746"/>
          <a:stretch>
            <a:fillRect/>
          </a:stretch>
        </p:blipFill>
        <p:spPr>
          <a:xfrm>
            <a:off x="181146" y="3685292"/>
            <a:ext cx="9032703" cy="1180104"/>
          </a:xfrm>
          <a:prstGeom prst="rect">
            <a:avLst/>
          </a:prstGeom>
        </p:spPr>
      </p:pic>
      <p:sp>
        <p:nvSpPr>
          <p:cNvPr id="11" name="TextBox 10">
            <a:extLst>
              <a:ext uri="{FF2B5EF4-FFF2-40B4-BE49-F238E27FC236}">
                <a16:creationId xmlns:a16="http://schemas.microsoft.com/office/drawing/2014/main" id="{9523CFD9-C324-E85F-E0B2-2FBEE43BBAA9}"/>
              </a:ext>
            </a:extLst>
          </p:cNvPr>
          <p:cNvSpPr txBox="1"/>
          <p:nvPr/>
        </p:nvSpPr>
        <p:spPr>
          <a:xfrm>
            <a:off x="9307915" y="2890507"/>
            <a:ext cx="2516532" cy="923330"/>
          </a:xfrm>
          <a:prstGeom prst="rect">
            <a:avLst/>
          </a:prstGeom>
          <a:noFill/>
        </p:spPr>
        <p:txBody>
          <a:bodyPr wrap="square" rtlCol="0">
            <a:spAutoFit/>
          </a:bodyPr>
          <a:lstStyle/>
          <a:p>
            <a:r>
              <a:rPr lang="en-US" b="1" dirty="0">
                <a:solidFill>
                  <a:srgbClr val="FFC000"/>
                </a:solidFill>
              </a:rPr>
              <a:t>Generating Report: </a:t>
            </a:r>
            <a:r>
              <a:rPr lang="en-US" dirty="0">
                <a:solidFill>
                  <a:schemeClr val="bg1"/>
                </a:solidFill>
              </a:rPr>
              <a:t>Final report is being created</a:t>
            </a:r>
          </a:p>
        </p:txBody>
      </p:sp>
      <p:sp>
        <p:nvSpPr>
          <p:cNvPr id="12" name="TextBox 11">
            <a:extLst>
              <a:ext uri="{FF2B5EF4-FFF2-40B4-BE49-F238E27FC236}">
                <a16:creationId xmlns:a16="http://schemas.microsoft.com/office/drawing/2014/main" id="{61869B0F-B6B7-FCF9-ABB6-EEC50442F523}"/>
              </a:ext>
            </a:extLst>
          </p:cNvPr>
          <p:cNvSpPr txBox="1"/>
          <p:nvPr/>
        </p:nvSpPr>
        <p:spPr>
          <a:xfrm>
            <a:off x="9316880" y="4070397"/>
            <a:ext cx="2516532" cy="646331"/>
          </a:xfrm>
          <a:prstGeom prst="rect">
            <a:avLst/>
          </a:prstGeom>
          <a:noFill/>
        </p:spPr>
        <p:txBody>
          <a:bodyPr wrap="square" rtlCol="0">
            <a:spAutoFit/>
          </a:bodyPr>
          <a:lstStyle/>
          <a:p>
            <a:r>
              <a:rPr lang="en-US" b="1" dirty="0">
                <a:solidFill>
                  <a:srgbClr val="FFC000"/>
                </a:solidFill>
              </a:rPr>
              <a:t>Completed: </a:t>
            </a:r>
            <a:r>
              <a:rPr lang="en-US" dirty="0">
                <a:solidFill>
                  <a:schemeClr val="bg1"/>
                </a:solidFill>
              </a:rPr>
              <a:t>Report is ready for download</a:t>
            </a:r>
          </a:p>
        </p:txBody>
      </p:sp>
      <p:sp>
        <p:nvSpPr>
          <p:cNvPr id="13" name="TextBox 12">
            <a:extLst>
              <a:ext uri="{FF2B5EF4-FFF2-40B4-BE49-F238E27FC236}">
                <a16:creationId xmlns:a16="http://schemas.microsoft.com/office/drawing/2014/main" id="{C3BFBDDC-225E-837B-3913-A2C325E0EECD}"/>
              </a:ext>
            </a:extLst>
          </p:cNvPr>
          <p:cNvSpPr txBox="1"/>
          <p:nvPr/>
        </p:nvSpPr>
        <p:spPr>
          <a:xfrm>
            <a:off x="9307915" y="5827478"/>
            <a:ext cx="2516532" cy="646331"/>
          </a:xfrm>
          <a:prstGeom prst="rect">
            <a:avLst/>
          </a:prstGeom>
          <a:noFill/>
        </p:spPr>
        <p:txBody>
          <a:bodyPr wrap="square" rtlCol="0">
            <a:spAutoFit/>
          </a:bodyPr>
          <a:lstStyle/>
          <a:p>
            <a:r>
              <a:rPr lang="en-US" b="1" dirty="0">
                <a:solidFill>
                  <a:srgbClr val="FFC000"/>
                </a:solidFill>
              </a:rPr>
              <a:t>Failed: </a:t>
            </a:r>
            <a:r>
              <a:rPr lang="en-US" dirty="0">
                <a:solidFill>
                  <a:schemeClr val="bg1"/>
                </a:solidFill>
              </a:rPr>
              <a:t>An error has halted processing</a:t>
            </a:r>
          </a:p>
        </p:txBody>
      </p:sp>
      <p:sp>
        <p:nvSpPr>
          <p:cNvPr id="17" name="TextBox 16">
            <a:extLst>
              <a:ext uri="{FF2B5EF4-FFF2-40B4-BE49-F238E27FC236}">
                <a16:creationId xmlns:a16="http://schemas.microsoft.com/office/drawing/2014/main" id="{85644FB4-7FD4-3D3F-FCAC-91721B86B54F}"/>
              </a:ext>
            </a:extLst>
          </p:cNvPr>
          <p:cNvSpPr txBox="1"/>
          <p:nvPr/>
        </p:nvSpPr>
        <p:spPr>
          <a:xfrm>
            <a:off x="1831348" y="4852752"/>
            <a:ext cx="5941049" cy="369332"/>
          </a:xfrm>
          <a:prstGeom prst="rect">
            <a:avLst/>
          </a:prstGeom>
          <a:noFill/>
        </p:spPr>
        <p:txBody>
          <a:bodyPr wrap="square" rtlCol="0">
            <a:spAutoFit/>
          </a:bodyPr>
          <a:lstStyle/>
          <a:p>
            <a:pPr algn="ctr"/>
            <a:r>
              <a:rPr lang="en-US" b="1" dirty="0">
                <a:solidFill>
                  <a:srgbClr val="FFC000"/>
                </a:solidFill>
              </a:rPr>
              <a:t>End of “Happy Path” Presentation Coach Process</a:t>
            </a:r>
            <a:endParaRPr lang="en-US" dirty="0">
              <a:solidFill>
                <a:schemeClr val="bg1"/>
              </a:solidFill>
            </a:endParaRPr>
          </a:p>
        </p:txBody>
      </p:sp>
    </p:spTree>
    <p:extLst>
      <p:ext uri="{BB962C8B-B14F-4D97-AF65-F5344CB8AC3E}">
        <p14:creationId xmlns:p14="http://schemas.microsoft.com/office/powerpoint/2010/main" val="274694939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A9A1AA-E05F-D4B6-8370-3F7BB4A2C535}"/>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CD3AD738-01AE-69F3-3075-9D04AD2E7138}"/>
              </a:ext>
            </a:extLst>
          </p:cNvPr>
          <p:cNvPicPr>
            <a:picLocks noChangeAspect="1"/>
          </p:cNvPicPr>
          <p:nvPr/>
        </p:nvPicPr>
        <p:blipFill>
          <a:blip r:embed="rId3"/>
          <a:stretch>
            <a:fillRect/>
          </a:stretch>
        </p:blipFill>
        <p:spPr>
          <a:xfrm>
            <a:off x="747253" y="1609726"/>
            <a:ext cx="7561006" cy="3736728"/>
          </a:xfrm>
          <a:prstGeom prst="rect">
            <a:avLst/>
          </a:prstGeom>
        </p:spPr>
      </p:pic>
      <p:sp>
        <p:nvSpPr>
          <p:cNvPr id="7" name="TextBox 6">
            <a:extLst>
              <a:ext uri="{FF2B5EF4-FFF2-40B4-BE49-F238E27FC236}">
                <a16:creationId xmlns:a16="http://schemas.microsoft.com/office/drawing/2014/main" id="{DE0632AC-DD57-B6BA-4107-A8F04DCBBEC1}"/>
              </a:ext>
            </a:extLst>
          </p:cNvPr>
          <p:cNvSpPr txBox="1"/>
          <p:nvPr/>
        </p:nvSpPr>
        <p:spPr>
          <a:xfrm>
            <a:off x="8612128" y="2209800"/>
            <a:ext cx="3568926" cy="2123658"/>
          </a:xfrm>
          <a:prstGeom prst="rect">
            <a:avLst/>
          </a:prstGeom>
          <a:noFill/>
        </p:spPr>
        <p:txBody>
          <a:bodyPr wrap="none" rtlCol="0">
            <a:spAutoFit/>
          </a:bodyPr>
          <a:lstStyle/>
          <a:p>
            <a:r>
              <a:rPr lang="en-US" sz="2400" b="1" dirty="0">
                <a:solidFill>
                  <a:schemeClr val="bg1"/>
                </a:solidFill>
              </a:rPr>
              <a:t>Features</a:t>
            </a:r>
          </a:p>
          <a:p>
            <a:endParaRPr lang="en-US" dirty="0">
              <a:solidFill>
                <a:schemeClr val="bg1"/>
              </a:solidFill>
            </a:endParaRPr>
          </a:p>
          <a:p>
            <a:pPr marL="285750" indent="-285750">
              <a:buFont typeface="Arial" panose="020B0604020202020204" pitchFamily="34" charset="0"/>
              <a:buChar char="•"/>
            </a:pPr>
            <a:r>
              <a:rPr lang="en-US" dirty="0">
                <a:solidFill>
                  <a:schemeClr val="bg1"/>
                </a:solidFill>
              </a:rPr>
              <a:t>Current status of analysis</a:t>
            </a:r>
          </a:p>
          <a:p>
            <a:pPr marL="285750" indent="-285750">
              <a:buFont typeface="Arial" panose="020B0604020202020204" pitchFamily="34" charset="0"/>
              <a:buChar char="•"/>
            </a:pPr>
            <a:r>
              <a:rPr lang="en-US" dirty="0">
                <a:solidFill>
                  <a:schemeClr val="bg1"/>
                </a:solidFill>
              </a:rPr>
              <a:t>Data entered by User displayed</a:t>
            </a:r>
          </a:p>
          <a:p>
            <a:pPr marL="285750" indent="-285750">
              <a:buFont typeface="Arial" panose="020B0604020202020204" pitchFamily="34" charset="0"/>
              <a:buChar char="•"/>
            </a:pPr>
            <a:r>
              <a:rPr lang="en-US" dirty="0">
                <a:solidFill>
                  <a:schemeClr val="bg1"/>
                </a:solidFill>
              </a:rPr>
              <a:t>Download report link</a:t>
            </a:r>
          </a:p>
          <a:p>
            <a:pPr marL="285750" indent="-285750">
              <a:buFont typeface="Arial" panose="020B0604020202020204" pitchFamily="34" charset="0"/>
              <a:buChar char="•"/>
            </a:pPr>
            <a:r>
              <a:rPr lang="en-US" dirty="0">
                <a:solidFill>
                  <a:schemeClr val="bg1"/>
                </a:solidFill>
              </a:rPr>
              <a:t>Delete link</a:t>
            </a:r>
          </a:p>
          <a:p>
            <a:pPr marL="285750" indent="-285750">
              <a:buFont typeface="Arial" panose="020B0604020202020204" pitchFamily="34" charset="0"/>
              <a:buChar char="•"/>
            </a:pPr>
            <a:endParaRPr lang="en-US" dirty="0">
              <a:solidFill>
                <a:schemeClr val="bg1"/>
              </a:solidFill>
            </a:endParaRPr>
          </a:p>
        </p:txBody>
      </p:sp>
      <p:sp>
        <p:nvSpPr>
          <p:cNvPr id="10" name="TextBox 9">
            <a:extLst>
              <a:ext uri="{FF2B5EF4-FFF2-40B4-BE49-F238E27FC236}">
                <a16:creationId xmlns:a16="http://schemas.microsoft.com/office/drawing/2014/main" id="{13F48FF0-0855-2B41-D399-A6D8B1530D23}"/>
              </a:ext>
            </a:extLst>
          </p:cNvPr>
          <p:cNvSpPr txBox="1"/>
          <p:nvPr/>
        </p:nvSpPr>
        <p:spPr>
          <a:xfrm>
            <a:off x="4115374" y="819029"/>
            <a:ext cx="3961277" cy="523220"/>
          </a:xfrm>
          <a:prstGeom prst="rect">
            <a:avLst/>
          </a:prstGeom>
          <a:noFill/>
        </p:spPr>
        <p:txBody>
          <a:bodyPr wrap="none" rtlCol="0">
            <a:spAutoFit/>
          </a:bodyPr>
          <a:lstStyle/>
          <a:p>
            <a:pPr algn="ctr"/>
            <a:r>
              <a:rPr lang="en-US" sz="2800" dirty="0">
                <a:solidFill>
                  <a:schemeClr val="bg1"/>
                </a:solidFill>
              </a:rPr>
              <a:t>Report is Ready to Read</a:t>
            </a:r>
          </a:p>
        </p:txBody>
      </p:sp>
    </p:spTree>
    <p:extLst>
      <p:ext uri="{BB962C8B-B14F-4D97-AF65-F5344CB8AC3E}">
        <p14:creationId xmlns:p14="http://schemas.microsoft.com/office/powerpoint/2010/main" val="83899516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81885F-3D4C-C2B3-BFCA-D2B056E2DC78}"/>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79EB30CE-7F41-ABE3-1157-980FD0B53C37}"/>
              </a:ext>
            </a:extLst>
          </p:cNvPr>
          <p:cNvSpPr txBox="1"/>
          <p:nvPr/>
        </p:nvSpPr>
        <p:spPr>
          <a:xfrm>
            <a:off x="7599551" y="2209800"/>
            <a:ext cx="4514324" cy="3785652"/>
          </a:xfrm>
          <a:prstGeom prst="rect">
            <a:avLst/>
          </a:prstGeom>
          <a:noFill/>
        </p:spPr>
        <p:txBody>
          <a:bodyPr wrap="square" rtlCol="0">
            <a:spAutoFit/>
          </a:bodyPr>
          <a:lstStyle/>
          <a:p>
            <a:r>
              <a:rPr lang="en-US" sz="2400" b="1" dirty="0">
                <a:solidFill>
                  <a:schemeClr val="bg1"/>
                </a:solidFill>
              </a:rPr>
              <a:t>Features</a:t>
            </a:r>
          </a:p>
          <a:p>
            <a:endParaRPr lang="en-US" dirty="0">
              <a:solidFill>
                <a:schemeClr val="bg1"/>
              </a:solidFill>
            </a:endParaRPr>
          </a:p>
          <a:p>
            <a:r>
              <a:rPr lang="en-US" dirty="0">
                <a:solidFill>
                  <a:schemeClr val="bg1"/>
                </a:solidFill>
              </a:rPr>
              <a:t>Detailed feedback across 7 dimensions: </a:t>
            </a:r>
          </a:p>
          <a:p>
            <a:pPr marL="285750" indent="-285750">
              <a:buFont typeface="Arial" panose="020B0604020202020204" pitchFamily="34" charset="0"/>
              <a:buChar char="•"/>
            </a:pPr>
            <a:r>
              <a:rPr lang="en-US" dirty="0">
                <a:solidFill>
                  <a:schemeClr val="bg1"/>
                </a:solidFill>
              </a:rPr>
              <a:t>Delivery</a:t>
            </a:r>
          </a:p>
          <a:p>
            <a:pPr marL="285750" indent="-285750">
              <a:buFont typeface="Arial" panose="020B0604020202020204" pitchFamily="34" charset="0"/>
              <a:buChar char="•"/>
            </a:pPr>
            <a:r>
              <a:rPr lang="en-US" dirty="0">
                <a:solidFill>
                  <a:schemeClr val="bg1"/>
                </a:solidFill>
              </a:rPr>
              <a:t>Structure</a:t>
            </a:r>
          </a:p>
          <a:p>
            <a:pPr marL="285750" indent="-285750">
              <a:buFont typeface="Arial" panose="020B0604020202020204" pitchFamily="34" charset="0"/>
              <a:buChar char="•"/>
            </a:pPr>
            <a:r>
              <a:rPr lang="en-US" dirty="0">
                <a:solidFill>
                  <a:schemeClr val="bg1"/>
                </a:solidFill>
              </a:rPr>
              <a:t>Executive presence</a:t>
            </a:r>
          </a:p>
          <a:p>
            <a:pPr marL="285750" indent="-285750">
              <a:buFont typeface="Arial" panose="020B0604020202020204" pitchFamily="34" charset="0"/>
              <a:buChar char="•"/>
            </a:pPr>
            <a:r>
              <a:rPr lang="en-US" dirty="0">
                <a:solidFill>
                  <a:schemeClr val="bg1"/>
                </a:solidFill>
              </a:rPr>
              <a:t>Technical communication</a:t>
            </a:r>
          </a:p>
          <a:p>
            <a:pPr marL="285750" indent="-285750">
              <a:buFont typeface="Arial" panose="020B0604020202020204" pitchFamily="34" charset="0"/>
              <a:buChar char="•"/>
            </a:pPr>
            <a:r>
              <a:rPr lang="en-US" dirty="0">
                <a:solidFill>
                  <a:schemeClr val="bg1"/>
                </a:solidFill>
              </a:rPr>
              <a:t>Audience engagement</a:t>
            </a:r>
          </a:p>
          <a:p>
            <a:pPr marL="285750" indent="-285750">
              <a:buFont typeface="Arial" panose="020B0604020202020204" pitchFamily="34" charset="0"/>
              <a:buChar char="•"/>
            </a:pPr>
            <a:r>
              <a:rPr lang="en-US" dirty="0">
                <a:solidFill>
                  <a:schemeClr val="bg1"/>
                </a:solidFill>
              </a:rPr>
              <a:t>Pacing</a:t>
            </a:r>
          </a:p>
          <a:p>
            <a:pPr marL="285750" indent="-285750">
              <a:buFont typeface="Arial" panose="020B0604020202020204" pitchFamily="34" charset="0"/>
              <a:buChar char="•"/>
            </a:pPr>
            <a:r>
              <a:rPr lang="en-US" dirty="0">
                <a:solidFill>
                  <a:schemeClr val="bg1"/>
                </a:solidFill>
              </a:rPr>
              <a:t>Persuasion</a:t>
            </a:r>
          </a:p>
          <a:p>
            <a:pPr marL="285750" indent="-285750">
              <a:buFont typeface="Arial" panose="020B0604020202020204" pitchFamily="34" charset="0"/>
              <a:buChar char="•"/>
            </a:pPr>
            <a:endParaRPr lang="en-US" dirty="0">
              <a:solidFill>
                <a:schemeClr val="bg1"/>
              </a:solidFill>
            </a:endParaRPr>
          </a:p>
          <a:p>
            <a:pPr marL="285750" indent="-285750">
              <a:buFont typeface="Arial" panose="020B0604020202020204" pitchFamily="34" charset="0"/>
              <a:buChar char="•"/>
            </a:pPr>
            <a:endParaRPr lang="en-US" dirty="0">
              <a:solidFill>
                <a:schemeClr val="bg1"/>
              </a:solidFill>
            </a:endParaRPr>
          </a:p>
          <a:p>
            <a:pPr marL="285750" indent="-285750">
              <a:buFont typeface="Arial" panose="020B0604020202020204" pitchFamily="34" charset="0"/>
              <a:buChar char="•"/>
            </a:pPr>
            <a:endParaRPr lang="en-US" dirty="0">
              <a:solidFill>
                <a:schemeClr val="bg1"/>
              </a:solidFill>
            </a:endParaRPr>
          </a:p>
        </p:txBody>
      </p:sp>
      <p:sp>
        <p:nvSpPr>
          <p:cNvPr id="13" name="TextBox 12">
            <a:extLst>
              <a:ext uri="{FF2B5EF4-FFF2-40B4-BE49-F238E27FC236}">
                <a16:creationId xmlns:a16="http://schemas.microsoft.com/office/drawing/2014/main" id="{641B4D34-A6C9-DA2D-4327-21978857476F}"/>
              </a:ext>
            </a:extLst>
          </p:cNvPr>
          <p:cNvSpPr txBox="1"/>
          <p:nvPr/>
        </p:nvSpPr>
        <p:spPr>
          <a:xfrm>
            <a:off x="3302401" y="819029"/>
            <a:ext cx="5587235" cy="523220"/>
          </a:xfrm>
          <a:prstGeom prst="rect">
            <a:avLst/>
          </a:prstGeom>
          <a:noFill/>
        </p:spPr>
        <p:txBody>
          <a:bodyPr wrap="none" rtlCol="0">
            <a:spAutoFit/>
          </a:bodyPr>
          <a:lstStyle/>
          <a:p>
            <a:pPr algn="ctr"/>
            <a:r>
              <a:rPr lang="en-US" sz="2800" dirty="0">
                <a:solidFill>
                  <a:schemeClr val="bg1"/>
                </a:solidFill>
              </a:rPr>
              <a:t>The Presentation Coaching Report</a:t>
            </a:r>
          </a:p>
        </p:txBody>
      </p:sp>
      <p:pic>
        <p:nvPicPr>
          <p:cNvPr id="3" name="Picture 2">
            <a:extLst>
              <a:ext uri="{FF2B5EF4-FFF2-40B4-BE49-F238E27FC236}">
                <a16:creationId xmlns:a16="http://schemas.microsoft.com/office/drawing/2014/main" id="{26641871-BA54-3112-5862-CF7EE9D8CFF7}"/>
              </a:ext>
            </a:extLst>
          </p:cNvPr>
          <p:cNvPicPr>
            <a:picLocks noChangeAspect="1"/>
          </p:cNvPicPr>
          <p:nvPr/>
        </p:nvPicPr>
        <p:blipFill>
          <a:blip r:embed="rId2"/>
          <a:stretch>
            <a:fillRect/>
          </a:stretch>
        </p:blipFill>
        <p:spPr>
          <a:xfrm>
            <a:off x="78125" y="1677617"/>
            <a:ext cx="3766673" cy="3502766"/>
          </a:xfrm>
          <a:prstGeom prst="rect">
            <a:avLst/>
          </a:prstGeom>
        </p:spPr>
      </p:pic>
      <p:pic>
        <p:nvPicPr>
          <p:cNvPr id="6" name="Picture 5">
            <a:extLst>
              <a:ext uri="{FF2B5EF4-FFF2-40B4-BE49-F238E27FC236}">
                <a16:creationId xmlns:a16="http://schemas.microsoft.com/office/drawing/2014/main" id="{A3EC6BC2-A1A6-D914-F442-1DDC64F9F142}"/>
              </a:ext>
            </a:extLst>
          </p:cNvPr>
          <p:cNvPicPr>
            <a:picLocks noChangeAspect="1"/>
          </p:cNvPicPr>
          <p:nvPr/>
        </p:nvPicPr>
        <p:blipFill>
          <a:blip r:embed="rId3"/>
          <a:stretch>
            <a:fillRect/>
          </a:stretch>
        </p:blipFill>
        <p:spPr>
          <a:xfrm>
            <a:off x="3456433" y="3429000"/>
            <a:ext cx="3898510" cy="3212967"/>
          </a:xfrm>
          <a:prstGeom prst="rect">
            <a:avLst/>
          </a:prstGeom>
        </p:spPr>
      </p:pic>
    </p:spTree>
    <p:extLst>
      <p:ext uri="{BB962C8B-B14F-4D97-AF65-F5344CB8AC3E}">
        <p14:creationId xmlns:p14="http://schemas.microsoft.com/office/powerpoint/2010/main" val="38706847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C7690-BC16-B447-11D4-F0731AE48F2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A53DDE3-B8E9-1785-25E3-6780F347F09B}"/>
              </a:ext>
            </a:extLst>
          </p:cNvPr>
          <p:cNvSpPr txBox="1"/>
          <p:nvPr/>
        </p:nvSpPr>
        <p:spPr>
          <a:xfrm>
            <a:off x="8565005" y="2356818"/>
            <a:ext cx="3255518" cy="1477328"/>
          </a:xfrm>
          <a:prstGeom prst="rect">
            <a:avLst/>
          </a:prstGeom>
          <a:noFill/>
        </p:spPr>
        <p:txBody>
          <a:bodyPr wrap="square" rtlCol="0">
            <a:spAutoFit/>
          </a:bodyPr>
          <a:lstStyle/>
          <a:p>
            <a:r>
              <a:rPr lang="en-US" dirty="0">
                <a:solidFill>
                  <a:schemeClr val="bg1"/>
                </a:solidFill>
              </a:rPr>
              <a:t>CICD Pipelines allow deploys at logical unit level:</a:t>
            </a:r>
          </a:p>
          <a:p>
            <a:pPr marL="285750" indent="-285750">
              <a:buFont typeface="Arial" panose="020B0604020202020204" pitchFamily="34" charset="0"/>
              <a:buChar char="•"/>
            </a:pPr>
            <a:r>
              <a:rPr lang="en-US" dirty="0">
                <a:solidFill>
                  <a:schemeClr val="bg1"/>
                </a:solidFill>
              </a:rPr>
              <a:t>Frontend/Backend</a:t>
            </a:r>
          </a:p>
          <a:p>
            <a:pPr marL="285750" indent="-285750">
              <a:buFont typeface="Arial" panose="020B0604020202020204" pitchFamily="34" charset="0"/>
              <a:buChar char="•"/>
            </a:pPr>
            <a:r>
              <a:rPr lang="en-US" dirty="0">
                <a:solidFill>
                  <a:schemeClr val="bg1"/>
                </a:solidFill>
              </a:rPr>
              <a:t>Audio/Video Processing</a:t>
            </a:r>
          </a:p>
          <a:p>
            <a:pPr marL="285750" indent="-285750">
              <a:buFont typeface="Arial" panose="020B0604020202020204" pitchFamily="34" charset="0"/>
              <a:buChar char="•"/>
            </a:pPr>
            <a:r>
              <a:rPr lang="en-US" dirty="0">
                <a:solidFill>
                  <a:schemeClr val="bg1"/>
                </a:solidFill>
              </a:rPr>
              <a:t>Agentic AI Evaluation</a:t>
            </a:r>
          </a:p>
        </p:txBody>
      </p:sp>
      <p:sp>
        <p:nvSpPr>
          <p:cNvPr id="5" name="TextBox 4">
            <a:extLst>
              <a:ext uri="{FF2B5EF4-FFF2-40B4-BE49-F238E27FC236}">
                <a16:creationId xmlns:a16="http://schemas.microsoft.com/office/drawing/2014/main" id="{21645E9E-F15D-FA7C-4D7B-2564ACDC81F9}"/>
              </a:ext>
            </a:extLst>
          </p:cNvPr>
          <p:cNvSpPr txBox="1"/>
          <p:nvPr/>
        </p:nvSpPr>
        <p:spPr>
          <a:xfrm>
            <a:off x="4787007" y="819029"/>
            <a:ext cx="2618024" cy="523220"/>
          </a:xfrm>
          <a:prstGeom prst="rect">
            <a:avLst/>
          </a:prstGeom>
          <a:noFill/>
        </p:spPr>
        <p:txBody>
          <a:bodyPr wrap="none" rtlCol="0">
            <a:spAutoFit/>
          </a:bodyPr>
          <a:lstStyle/>
          <a:p>
            <a:pPr algn="ctr"/>
            <a:r>
              <a:rPr lang="en-US" sz="2800" dirty="0">
                <a:solidFill>
                  <a:schemeClr val="bg1"/>
                </a:solidFill>
              </a:rPr>
              <a:t>CI/CD Pipelines</a:t>
            </a:r>
          </a:p>
        </p:txBody>
      </p:sp>
      <p:pic>
        <p:nvPicPr>
          <p:cNvPr id="7" name="Picture 6">
            <a:extLst>
              <a:ext uri="{FF2B5EF4-FFF2-40B4-BE49-F238E27FC236}">
                <a16:creationId xmlns:a16="http://schemas.microsoft.com/office/drawing/2014/main" id="{88062417-6D15-FD9C-CDC5-2CFFBFAEF342}"/>
              </a:ext>
            </a:extLst>
          </p:cNvPr>
          <p:cNvPicPr>
            <a:picLocks noChangeAspect="1"/>
          </p:cNvPicPr>
          <p:nvPr/>
        </p:nvPicPr>
        <p:blipFill>
          <a:blip r:embed="rId2"/>
          <a:stretch>
            <a:fillRect/>
          </a:stretch>
        </p:blipFill>
        <p:spPr>
          <a:xfrm>
            <a:off x="228600" y="1429328"/>
            <a:ext cx="8147304" cy="3234271"/>
          </a:xfrm>
          <a:prstGeom prst="rect">
            <a:avLst/>
          </a:prstGeom>
        </p:spPr>
      </p:pic>
      <p:grpSp>
        <p:nvGrpSpPr>
          <p:cNvPr id="29" name="Group 28">
            <a:extLst>
              <a:ext uri="{FF2B5EF4-FFF2-40B4-BE49-F238E27FC236}">
                <a16:creationId xmlns:a16="http://schemas.microsoft.com/office/drawing/2014/main" id="{BC4D3475-14C7-602F-AC41-9FD231181D84}"/>
              </a:ext>
            </a:extLst>
          </p:cNvPr>
          <p:cNvGrpSpPr/>
          <p:nvPr/>
        </p:nvGrpSpPr>
        <p:grpSpPr>
          <a:xfrm>
            <a:off x="228600" y="4764825"/>
            <a:ext cx="8147304" cy="2001735"/>
            <a:chOff x="228600" y="4764825"/>
            <a:chExt cx="8147304" cy="2001735"/>
          </a:xfrm>
        </p:grpSpPr>
        <p:sp>
          <p:nvSpPr>
            <p:cNvPr id="26" name="Rectangle 25">
              <a:extLst>
                <a:ext uri="{FF2B5EF4-FFF2-40B4-BE49-F238E27FC236}">
                  <a16:creationId xmlns:a16="http://schemas.microsoft.com/office/drawing/2014/main" id="{937B52A5-DF38-658C-620F-100DD0629025}"/>
                </a:ext>
              </a:extLst>
            </p:cNvPr>
            <p:cNvSpPr/>
            <p:nvPr/>
          </p:nvSpPr>
          <p:spPr>
            <a:xfrm>
              <a:off x="228600" y="4764825"/>
              <a:ext cx="8147304" cy="2001735"/>
            </a:xfrm>
            <a:prstGeom prst="rect">
              <a:avLst/>
            </a:prstGeom>
            <a:solidFill>
              <a:srgbClr val="F6F6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E9402437-626F-3CCD-72CC-FA2AD5EA755B}"/>
                </a:ext>
              </a:extLst>
            </p:cNvPr>
            <p:cNvPicPr>
              <a:picLocks noChangeAspect="1"/>
            </p:cNvPicPr>
            <p:nvPr/>
          </p:nvPicPr>
          <p:blipFill>
            <a:blip r:embed="rId3"/>
            <a:stretch>
              <a:fillRect/>
            </a:stretch>
          </p:blipFill>
          <p:spPr>
            <a:xfrm>
              <a:off x="5945673" y="4833763"/>
              <a:ext cx="2396088" cy="1856018"/>
            </a:xfrm>
            <a:prstGeom prst="rect">
              <a:avLst/>
            </a:prstGeom>
          </p:spPr>
        </p:pic>
        <p:pic>
          <p:nvPicPr>
            <p:cNvPr id="11" name="Picture 10">
              <a:extLst>
                <a:ext uri="{FF2B5EF4-FFF2-40B4-BE49-F238E27FC236}">
                  <a16:creationId xmlns:a16="http://schemas.microsoft.com/office/drawing/2014/main" id="{DD90E53B-88B5-224E-5262-61190D68448E}"/>
                </a:ext>
              </a:extLst>
            </p:cNvPr>
            <p:cNvPicPr>
              <a:picLocks noChangeAspect="1"/>
            </p:cNvPicPr>
            <p:nvPr/>
          </p:nvPicPr>
          <p:blipFill>
            <a:blip r:embed="rId4"/>
            <a:srcRect l="7383" t="9571" r="15096" b="32495"/>
            <a:stretch>
              <a:fillRect/>
            </a:stretch>
          </p:blipFill>
          <p:spPr>
            <a:xfrm>
              <a:off x="371477" y="4834239"/>
              <a:ext cx="2396089" cy="1329810"/>
            </a:xfrm>
            <a:prstGeom prst="rect">
              <a:avLst/>
            </a:prstGeom>
          </p:spPr>
        </p:pic>
        <p:pic>
          <p:nvPicPr>
            <p:cNvPr id="18" name="Picture 17">
              <a:extLst>
                <a:ext uri="{FF2B5EF4-FFF2-40B4-BE49-F238E27FC236}">
                  <a16:creationId xmlns:a16="http://schemas.microsoft.com/office/drawing/2014/main" id="{78655C27-F900-CB50-F0E8-B7F5A539F53E}"/>
                </a:ext>
              </a:extLst>
            </p:cNvPr>
            <p:cNvPicPr>
              <a:picLocks noChangeAspect="1"/>
            </p:cNvPicPr>
            <p:nvPr/>
          </p:nvPicPr>
          <p:blipFill>
            <a:blip r:embed="rId5"/>
            <a:srcRect l="1487" r="3393"/>
            <a:stretch>
              <a:fillRect/>
            </a:stretch>
          </p:blipFill>
          <p:spPr>
            <a:xfrm>
              <a:off x="3158575" y="4764825"/>
              <a:ext cx="2396089" cy="1329810"/>
            </a:xfrm>
            <a:prstGeom prst="rect">
              <a:avLst/>
            </a:prstGeom>
          </p:spPr>
        </p:pic>
      </p:grpSp>
      <p:sp>
        <p:nvSpPr>
          <p:cNvPr id="28" name="TextBox 27">
            <a:extLst>
              <a:ext uri="{FF2B5EF4-FFF2-40B4-BE49-F238E27FC236}">
                <a16:creationId xmlns:a16="http://schemas.microsoft.com/office/drawing/2014/main" id="{4BD337C2-490F-63DC-1F3F-77AFA0B71C2F}"/>
              </a:ext>
            </a:extLst>
          </p:cNvPr>
          <p:cNvSpPr txBox="1"/>
          <p:nvPr/>
        </p:nvSpPr>
        <p:spPr>
          <a:xfrm>
            <a:off x="8565005" y="5133546"/>
            <a:ext cx="3255518" cy="1200329"/>
          </a:xfrm>
          <a:prstGeom prst="rect">
            <a:avLst/>
          </a:prstGeom>
          <a:noFill/>
        </p:spPr>
        <p:txBody>
          <a:bodyPr wrap="square" rtlCol="0">
            <a:spAutoFit/>
          </a:bodyPr>
          <a:lstStyle/>
          <a:p>
            <a:r>
              <a:rPr lang="en-US" dirty="0">
                <a:solidFill>
                  <a:schemeClr val="bg1"/>
                </a:solidFill>
              </a:rPr>
              <a:t>Each Pipeline can deploy</a:t>
            </a:r>
          </a:p>
          <a:p>
            <a:pPr marL="285750" indent="-285750">
              <a:buFont typeface="Arial" panose="020B0604020202020204" pitchFamily="34" charset="0"/>
              <a:buChar char="•"/>
            </a:pPr>
            <a:r>
              <a:rPr lang="en-US" dirty="0">
                <a:solidFill>
                  <a:schemeClr val="bg1"/>
                </a:solidFill>
              </a:rPr>
              <a:t>Tests only (“test”)</a:t>
            </a:r>
          </a:p>
          <a:p>
            <a:pPr marL="285750" indent="-285750">
              <a:buFont typeface="Arial" panose="020B0604020202020204" pitchFamily="34" charset="0"/>
              <a:buChar char="•"/>
            </a:pPr>
            <a:r>
              <a:rPr lang="en-US" dirty="0">
                <a:solidFill>
                  <a:schemeClr val="bg1"/>
                </a:solidFill>
              </a:rPr>
              <a:t>Code only (“deploy”)</a:t>
            </a:r>
          </a:p>
          <a:p>
            <a:pPr marL="285750" indent="-285750">
              <a:buFont typeface="Arial" panose="020B0604020202020204" pitchFamily="34" charset="0"/>
              <a:buChar char="•"/>
            </a:pPr>
            <a:r>
              <a:rPr lang="en-US" dirty="0">
                <a:solidFill>
                  <a:schemeClr val="bg1"/>
                </a:solidFill>
              </a:rPr>
              <a:t>Tests &amp; code (“full-deploy”)</a:t>
            </a:r>
          </a:p>
        </p:txBody>
      </p:sp>
    </p:spTree>
    <p:extLst>
      <p:ext uri="{BB962C8B-B14F-4D97-AF65-F5344CB8AC3E}">
        <p14:creationId xmlns:p14="http://schemas.microsoft.com/office/powerpoint/2010/main" val="249595134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AA71B5E-4FBA-2FD7-5BCC-BA527F2FDB0B}"/>
              </a:ext>
            </a:extLst>
          </p:cNvPr>
          <p:cNvSpPr txBox="1"/>
          <p:nvPr/>
        </p:nvSpPr>
        <p:spPr>
          <a:xfrm>
            <a:off x="2895504" y="819029"/>
            <a:ext cx="6401048" cy="523220"/>
          </a:xfrm>
          <a:prstGeom prst="rect">
            <a:avLst/>
          </a:prstGeom>
          <a:noFill/>
        </p:spPr>
        <p:txBody>
          <a:bodyPr wrap="none" rtlCol="0">
            <a:spAutoFit/>
          </a:bodyPr>
          <a:lstStyle/>
          <a:p>
            <a:pPr algn="ctr"/>
            <a:r>
              <a:rPr lang="en-US" sz="2800" dirty="0">
                <a:solidFill>
                  <a:schemeClr val="bg1"/>
                </a:solidFill>
              </a:rPr>
              <a:t>Administration – Environment Variables</a:t>
            </a:r>
          </a:p>
        </p:txBody>
      </p:sp>
      <p:pic>
        <p:nvPicPr>
          <p:cNvPr id="5" name="Picture 4">
            <a:extLst>
              <a:ext uri="{FF2B5EF4-FFF2-40B4-BE49-F238E27FC236}">
                <a16:creationId xmlns:a16="http://schemas.microsoft.com/office/drawing/2014/main" id="{46887F1D-F6B1-18FC-696A-59EF17D649B6}"/>
              </a:ext>
            </a:extLst>
          </p:cNvPr>
          <p:cNvPicPr>
            <a:picLocks noChangeAspect="1"/>
          </p:cNvPicPr>
          <p:nvPr/>
        </p:nvPicPr>
        <p:blipFill>
          <a:blip r:embed="rId2"/>
          <a:stretch>
            <a:fillRect/>
          </a:stretch>
        </p:blipFill>
        <p:spPr>
          <a:xfrm>
            <a:off x="205249" y="2689698"/>
            <a:ext cx="3375533" cy="3776406"/>
          </a:xfrm>
          <a:prstGeom prst="rect">
            <a:avLst/>
          </a:prstGeom>
        </p:spPr>
      </p:pic>
      <p:pic>
        <p:nvPicPr>
          <p:cNvPr id="7" name="Picture 6">
            <a:extLst>
              <a:ext uri="{FF2B5EF4-FFF2-40B4-BE49-F238E27FC236}">
                <a16:creationId xmlns:a16="http://schemas.microsoft.com/office/drawing/2014/main" id="{7B8FAD30-1005-C735-52D6-3E06015D571E}"/>
              </a:ext>
            </a:extLst>
          </p:cNvPr>
          <p:cNvPicPr>
            <a:picLocks noChangeAspect="1"/>
          </p:cNvPicPr>
          <p:nvPr/>
        </p:nvPicPr>
        <p:blipFill>
          <a:blip r:embed="rId3"/>
          <a:srcRect l="60329" t="1995" b="71567"/>
          <a:stretch>
            <a:fillRect/>
          </a:stretch>
        </p:blipFill>
        <p:spPr>
          <a:xfrm>
            <a:off x="277906" y="1507787"/>
            <a:ext cx="3631346" cy="904674"/>
          </a:xfrm>
          <a:prstGeom prst="rect">
            <a:avLst/>
          </a:prstGeom>
          <a:ln>
            <a:solidFill>
              <a:schemeClr val="bg1"/>
            </a:solidFill>
          </a:ln>
        </p:spPr>
      </p:pic>
      <p:pic>
        <p:nvPicPr>
          <p:cNvPr id="9" name="Picture 8">
            <a:extLst>
              <a:ext uri="{FF2B5EF4-FFF2-40B4-BE49-F238E27FC236}">
                <a16:creationId xmlns:a16="http://schemas.microsoft.com/office/drawing/2014/main" id="{07152D66-9CE1-E1C4-261C-A43507A6884C}"/>
              </a:ext>
            </a:extLst>
          </p:cNvPr>
          <p:cNvPicPr>
            <a:picLocks noChangeAspect="1"/>
          </p:cNvPicPr>
          <p:nvPr/>
        </p:nvPicPr>
        <p:blipFill>
          <a:blip r:embed="rId4"/>
          <a:stretch>
            <a:fillRect/>
          </a:stretch>
        </p:blipFill>
        <p:spPr>
          <a:xfrm>
            <a:off x="3580782" y="2689698"/>
            <a:ext cx="3471771" cy="3785732"/>
          </a:xfrm>
          <a:prstGeom prst="rect">
            <a:avLst/>
          </a:prstGeom>
        </p:spPr>
      </p:pic>
      <p:sp>
        <p:nvSpPr>
          <p:cNvPr id="11" name="TextBox 10">
            <a:extLst>
              <a:ext uri="{FF2B5EF4-FFF2-40B4-BE49-F238E27FC236}">
                <a16:creationId xmlns:a16="http://schemas.microsoft.com/office/drawing/2014/main" id="{F97C3943-88E3-D6A2-9792-358BBD1A1E31}"/>
              </a:ext>
            </a:extLst>
          </p:cNvPr>
          <p:cNvSpPr txBox="1"/>
          <p:nvPr/>
        </p:nvSpPr>
        <p:spPr>
          <a:xfrm>
            <a:off x="7599551" y="2675966"/>
            <a:ext cx="4081461" cy="4062651"/>
          </a:xfrm>
          <a:prstGeom prst="rect">
            <a:avLst/>
          </a:prstGeom>
          <a:noFill/>
        </p:spPr>
        <p:txBody>
          <a:bodyPr wrap="square" rtlCol="0">
            <a:spAutoFit/>
          </a:bodyPr>
          <a:lstStyle/>
          <a:p>
            <a:r>
              <a:rPr lang="en-US" sz="2400" b="1" dirty="0">
                <a:solidFill>
                  <a:schemeClr val="bg1"/>
                </a:solidFill>
              </a:rPr>
              <a:t>Features</a:t>
            </a:r>
          </a:p>
          <a:p>
            <a:endParaRPr lang="en-US" dirty="0">
              <a:solidFill>
                <a:schemeClr val="bg1"/>
              </a:solidFill>
            </a:endParaRPr>
          </a:p>
          <a:p>
            <a:r>
              <a:rPr lang="en-US" dirty="0">
                <a:solidFill>
                  <a:schemeClr val="bg1"/>
                </a:solidFill>
              </a:rPr>
              <a:t>Full control over all environment variables</a:t>
            </a:r>
          </a:p>
          <a:p>
            <a:pPr marL="285750" indent="-285750">
              <a:buFont typeface="Arial" panose="020B0604020202020204" pitchFamily="34" charset="0"/>
              <a:buChar char="•"/>
            </a:pPr>
            <a:r>
              <a:rPr lang="en-US" dirty="0">
                <a:solidFill>
                  <a:schemeClr val="bg1"/>
                </a:solidFill>
              </a:rPr>
              <a:t>Models used</a:t>
            </a:r>
          </a:p>
          <a:p>
            <a:pPr marL="285750" indent="-285750">
              <a:buFont typeface="Arial" panose="020B0604020202020204" pitchFamily="34" charset="0"/>
              <a:buChar char="•"/>
            </a:pPr>
            <a:r>
              <a:rPr lang="en-US" dirty="0">
                <a:solidFill>
                  <a:schemeClr val="bg1"/>
                </a:solidFill>
              </a:rPr>
              <a:t>Idle timeout for ECS tasks</a:t>
            </a:r>
          </a:p>
          <a:p>
            <a:pPr marL="285750" indent="-285750">
              <a:buFont typeface="Arial" panose="020B0604020202020204" pitchFamily="34" charset="0"/>
              <a:buChar char="•"/>
            </a:pPr>
            <a:r>
              <a:rPr lang="en-US" dirty="0">
                <a:solidFill>
                  <a:schemeClr val="bg1"/>
                </a:solidFill>
              </a:rPr>
              <a:t>AI Concurrency limits</a:t>
            </a:r>
          </a:p>
          <a:p>
            <a:pPr marL="285750" indent="-285750">
              <a:buFont typeface="Arial" panose="020B0604020202020204" pitchFamily="34" charset="0"/>
              <a:buChar char="•"/>
            </a:pPr>
            <a:r>
              <a:rPr lang="en-US" dirty="0">
                <a:solidFill>
                  <a:schemeClr val="bg1"/>
                </a:solidFill>
              </a:rPr>
              <a:t>IAM settings</a:t>
            </a:r>
          </a:p>
          <a:p>
            <a:pPr marL="285750" indent="-285750">
              <a:buFont typeface="Arial" panose="020B0604020202020204" pitchFamily="34" charset="0"/>
              <a:buChar char="•"/>
            </a:pPr>
            <a:endParaRPr lang="en-US" dirty="0">
              <a:solidFill>
                <a:schemeClr val="bg1"/>
              </a:solidFill>
            </a:endParaRPr>
          </a:p>
          <a:p>
            <a:r>
              <a:rPr lang="en-US">
                <a:solidFill>
                  <a:schemeClr val="bg1"/>
                </a:solidFill>
              </a:rPr>
              <a:t>App designed </a:t>
            </a:r>
            <a:r>
              <a:rPr lang="en-US" dirty="0">
                <a:solidFill>
                  <a:schemeClr val="bg1"/>
                </a:solidFill>
              </a:rPr>
              <a:t>as single tenant but multi-tenant was considered in design</a:t>
            </a:r>
          </a:p>
          <a:p>
            <a:endParaRPr lang="en-US" dirty="0">
              <a:solidFill>
                <a:schemeClr val="bg1"/>
              </a:solidFill>
            </a:endParaRPr>
          </a:p>
          <a:p>
            <a:r>
              <a:rPr lang="en-US" dirty="0">
                <a:solidFill>
                  <a:schemeClr val="bg1"/>
                </a:solidFill>
              </a:rPr>
              <a:t>Tested and approved models only are allowed to be selected for the app.</a:t>
            </a:r>
          </a:p>
        </p:txBody>
      </p:sp>
      <p:sp>
        <p:nvSpPr>
          <p:cNvPr id="13" name="TextBox 12">
            <a:extLst>
              <a:ext uri="{FF2B5EF4-FFF2-40B4-BE49-F238E27FC236}">
                <a16:creationId xmlns:a16="http://schemas.microsoft.com/office/drawing/2014/main" id="{4FF8D178-71C9-D2A1-A393-5C2160915CDC}"/>
              </a:ext>
            </a:extLst>
          </p:cNvPr>
          <p:cNvSpPr txBox="1"/>
          <p:nvPr/>
        </p:nvSpPr>
        <p:spPr>
          <a:xfrm>
            <a:off x="4201289" y="1619486"/>
            <a:ext cx="6529464" cy="646331"/>
          </a:xfrm>
          <a:prstGeom prst="rect">
            <a:avLst/>
          </a:prstGeom>
          <a:noFill/>
        </p:spPr>
        <p:txBody>
          <a:bodyPr wrap="square" rtlCol="0">
            <a:spAutoFit/>
          </a:bodyPr>
          <a:lstStyle/>
          <a:p>
            <a:r>
              <a:rPr lang="en-US" dirty="0">
                <a:solidFill>
                  <a:schemeClr val="bg1"/>
                </a:solidFill>
              </a:rPr>
              <a:t>“</a:t>
            </a:r>
            <a:r>
              <a:rPr lang="en-US" dirty="0" err="1">
                <a:solidFill>
                  <a:schemeClr val="bg1"/>
                </a:solidFill>
              </a:rPr>
              <a:t>Adminitration</a:t>
            </a:r>
            <a:r>
              <a:rPr lang="en-US" dirty="0">
                <a:solidFill>
                  <a:schemeClr val="bg1"/>
                </a:solidFill>
              </a:rPr>
              <a:t>” menu only available to users with Administrator role in Amazon Cognito.</a:t>
            </a:r>
          </a:p>
        </p:txBody>
      </p:sp>
    </p:spTree>
    <p:extLst>
      <p:ext uri="{BB962C8B-B14F-4D97-AF65-F5344CB8AC3E}">
        <p14:creationId xmlns:p14="http://schemas.microsoft.com/office/powerpoint/2010/main" val="263038596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B7DFE1-BB26-CD1F-23C5-1F9086FF6E8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3569224-AAE3-D4B1-456A-15345E1E862A}"/>
              </a:ext>
            </a:extLst>
          </p:cNvPr>
          <p:cNvSpPr txBox="1"/>
          <p:nvPr/>
        </p:nvSpPr>
        <p:spPr>
          <a:xfrm>
            <a:off x="3607977" y="819029"/>
            <a:ext cx="4976107" cy="523220"/>
          </a:xfrm>
          <a:prstGeom prst="rect">
            <a:avLst/>
          </a:prstGeom>
          <a:noFill/>
        </p:spPr>
        <p:txBody>
          <a:bodyPr wrap="none" rtlCol="0">
            <a:spAutoFit/>
          </a:bodyPr>
          <a:lstStyle/>
          <a:p>
            <a:pPr algn="ctr"/>
            <a:r>
              <a:rPr lang="en-US" sz="2800" dirty="0">
                <a:solidFill>
                  <a:schemeClr val="bg1"/>
                </a:solidFill>
              </a:rPr>
              <a:t>Administration – Feature Flags</a:t>
            </a:r>
          </a:p>
        </p:txBody>
      </p:sp>
      <p:pic>
        <p:nvPicPr>
          <p:cNvPr id="4" name="Picture 3">
            <a:extLst>
              <a:ext uri="{FF2B5EF4-FFF2-40B4-BE49-F238E27FC236}">
                <a16:creationId xmlns:a16="http://schemas.microsoft.com/office/drawing/2014/main" id="{7CD5424F-CA4F-1F02-1F9D-219312ED3704}"/>
              </a:ext>
            </a:extLst>
          </p:cNvPr>
          <p:cNvPicPr>
            <a:picLocks noChangeAspect="1"/>
          </p:cNvPicPr>
          <p:nvPr/>
        </p:nvPicPr>
        <p:blipFill>
          <a:blip r:embed="rId2"/>
          <a:srcRect l="1602" t="1505" b="2933"/>
          <a:stretch>
            <a:fillRect/>
          </a:stretch>
        </p:blipFill>
        <p:spPr>
          <a:xfrm>
            <a:off x="860611" y="1631576"/>
            <a:ext cx="5960309" cy="4276165"/>
          </a:xfrm>
          <a:prstGeom prst="rect">
            <a:avLst/>
          </a:prstGeom>
          <a:ln>
            <a:solidFill>
              <a:schemeClr val="bg1"/>
            </a:solidFill>
          </a:ln>
        </p:spPr>
      </p:pic>
      <p:sp>
        <p:nvSpPr>
          <p:cNvPr id="6" name="TextBox 5">
            <a:extLst>
              <a:ext uri="{FF2B5EF4-FFF2-40B4-BE49-F238E27FC236}">
                <a16:creationId xmlns:a16="http://schemas.microsoft.com/office/drawing/2014/main" id="{596FF22E-7BEC-BE63-5050-33B7E7F4AAEC}"/>
              </a:ext>
            </a:extLst>
          </p:cNvPr>
          <p:cNvSpPr txBox="1"/>
          <p:nvPr/>
        </p:nvSpPr>
        <p:spPr>
          <a:xfrm>
            <a:off x="7347004" y="1564248"/>
            <a:ext cx="4486408" cy="5170646"/>
          </a:xfrm>
          <a:prstGeom prst="rect">
            <a:avLst/>
          </a:prstGeom>
          <a:noFill/>
        </p:spPr>
        <p:txBody>
          <a:bodyPr wrap="square" rtlCol="0">
            <a:spAutoFit/>
          </a:bodyPr>
          <a:lstStyle/>
          <a:p>
            <a:r>
              <a:rPr lang="en-US" sz="2400" b="1" dirty="0">
                <a:solidFill>
                  <a:schemeClr val="bg1"/>
                </a:solidFill>
              </a:rPr>
              <a:t>Features</a:t>
            </a:r>
          </a:p>
          <a:p>
            <a:endParaRPr lang="en-US" dirty="0">
              <a:solidFill>
                <a:schemeClr val="bg1"/>
              </a:solidFill>
            </a:endParaRPr>
          </a:p>
          <a:p>
            <a:r>
              <a:rPr lang="en-US" dirty="0">
                <a:solidFill>
                  <a:schemeClr val="bg1"/>
                </a:solidFill>
              </a:rPr>
              <a:t>Full control over Feature Flagged scope:</a:t>
            </a:r>
          </a:p>
          <a:p>
            <a:pPr marL="285750" indent="-285750">
              <a:buFont typeface="Arial" panose="020B0604020202020204" pitchFamily="34" charset="0"/>
              <a:buChar char="•"/>
            </a:pPr>
            <a:r>
              <a:rPr lang="en-US" dirty="0">
                <a:solidFill>
                  <a:schemeClr val="bg1"/>
                </a:solidFill>
              </a:rPr>
              <a:t>Video Processing: User could upload video files to be processed in addition to audio files</a:t>
            </a:r>
          </a:p>
          <a:p>
            <a:pPr marL="285750" indent="-285750">
              <a:buFont typeface="Arial" panose="020B0604020202020204" pitchFamily="34" charset="0"/>
              <a:buChar char="•"/>
            </a:pPr>
            <a:endParaRPr lang="en-US" dirty="0">
              <a:solidFill>
                <a:schemeClr val="bg1"/>
              </a:solidFill>
            </a:endParaRPr>
          </a:p>
          <a:p>
            <a:pPr marL="285750" indent="-285750">
              <a:buFont typeface="Arial" panose="020B0604020202020204" pitchFamily="34" charset="0"/>
              <a:buChar char="•"/>
            </a:pPr>
            <a:r>
              <a:rPr lang="en-US" dirty="0">
                <a:solidFill>
                  <a:schemeClr val="bg1"/>
                </a:solidFill>
              </a:rPr>
              <a:t>Batch Processing: Batch processing allows for lower cost asynchronous processing of presentations for vector stores.</a:t>
            </a:r>
          </a:p>
          <a:p>
            <a:pPr marL="285750" indent="-285750">
              <a:buFont typeface="Arial" panose="020B0604020202020204" pitchFamily="34" charset="0"/>
              <a:buChar char="•"/>
            </a:pPr>
            <a:endParaRPr lang="en-US" dirty="0">
              <a:solidFill>
                <a:schemeClr val="bg1"/>
              </a:solidFill>
            </a:endParaRPr>
          </a:p>
          <a:p>
            <a:pPr marL="285750" indent="-285750">
              <a:buFont typeface="Arial" panose="020B0604020202020204" pitchFamily="34" charset="0"/>
              <a:buChar char="•"/>
            </a:pPr>
            <a:r>
              <a:rPr lang="en-US" dirty="0">
                <a:solidFill>
                  <a:schemeClr val="bg1"/>
                </a:solidFill>
              </a:rPr>
              <a:t>Embeddings: turns on and off vectorization of presentations. </a:t>
            </a:r>
          </a:p>
          <a:p>
            <a:pPr marL="285750" indent="-285750">
              <a:buFont typeface="Arial" panose="020B0604020202020204" pitchFamily="34" charset="0"/>
              <a:buChar char="•"/>
            </a:pPr>
            <a:endParaRPr lang="en-US" dirty="0">
              <a:solidFill>
                <a:schemeClr val="bg1"/>
              </a:solidFill>
            </a:endParaRPr>
          </a:p>
          <a:p>
            <a:pPr marL="285750" indent="-285750">
              <a:buFont typeface="Arial" panose="020B0604020202020204" pitchFamily="34" charset="0"/>
              <a:buChar char="•"/>
            </a:pPr>
            <a:r>
              <a:rPr lang="en-US" dirty="0">
                <a:solidFill>
                  <a:schemeClr val="bg1"/>
                </a:solidFill>
              </a:rPr>
              <a:t>Local Mode: using a simplified (less resilient) agentic processing implementation</a:t>
            </a:r>
          </a:p>
        </p:txBody>
      </p:sp>
    </p:spTree>
    <p:extLst>
      <p:ext uri="{BB962C8B-B14F-4D97-AF65-F5344CB8AC3E}">
        <p14:creationId xmlns:p14="http://schemas.microsoft.com/office/powerpoint/2010/main" val="387124747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0A17C4-4F1D-105E-F379-1D64AA803D9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4CC2DD6-743F-1681-311D-F66E9D16698E}"/>
              </a:ext>
            </a:extLst>
          </p:cNvPr>
          <p:cNvSpPr txBox="1"/>
          <p:nvPr/>
        </p:nvSpPr>
        <p:spPr>
          <a:xfrm>
            <a:off x="1919124" y="819029"/>
            <a:ext cx="8353825" cy="523220"/>
          </a:xfrm>
          <a:prstGeom prst="rect">
            <a:avLst/>
          </a:prstGeom>
          <a:noFill/>
        </p:spPr>
        <p:txBody>
          <a:bodyPr wrap="none" rtlCol="0">
            <a:spAutoFit/>
          </a:bodyPr>
          <a:lstStyle/>
          <a:p>
            <a:pPr algn="ctr"/>
            <a:r>
              <a:rPr lang="en-US" sz="2800" dirty="0">
                <a:solidFill>
                  <a:schemeClr val="bg1"/>
                </a:solidFill>
              </a:rPr>
              <a:t>Observability and Monitoring – (eta</a:t>
            </a:r>
            <a:r>
              <a:rPr lang="en-US" sz="2800">
                <a:solidFill>
                  <a:schemeClr val="bg1"/>
                </a:solidFill>
              </a:rPr>
              <a:t>: July 31 2026</a:t>
            </a:r>
            <a:r>
              <a:rPr lang="en-US" sz="2800" dirty="0">
                <a:solidFill>
                  <a:schemeClr val="bg1"/>
                </a:solidFill>
              </a:rPr>
              <a:t>)</a:t>
            </a:r>
          </a:p>
        </p:txBody>
      </p:sp>
    </p:spTree>
    <p:extLst>
      <p:ext uri="{BB962C8B-B14F-4D97-AF65-F5344CB8AC3E}">
        <p14:creationId xmlns:p14="http://schemas.microsoft.com/office/powerpoint/2010/main" val="175431321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E3470C-FECE-6004-2580-6695846FEB0E}"/>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BD5981A1-AC0C-0275-EF7A-477B97F26C6B}"/>
              </a:ext>
            </a:extLst>
          </p:cNvPr>
          <p:cNvPicPr>
            <a:picLocks noChangeAspect="1"/>
          </p:cNvPicPr>
          <p:nvPr/>
        </p:nvPicPr>
        <p:blipFill>
          <a:blip r:embed="rId2"/>
          <a:stretch>
            <a:fillRect/>
          </a:stretch>
        </p:blipFill>
        <p:spPr>
          <a:xfrm>
            <a:off x="747252" y="1609726"/>
            <a:ext cx="7561007" cy="3770496"/>
          </a:xfrm>
          <a:prstGeom prst="rect">
            <a:avLst/>
          </a:prstGeom>
          <a:ln>
            <a:solidFill>
              <a:schemeClr val="bg1"/>
            </a:solidFill>
          </a:ln>
        </p:spPr>
      </p:pic>
      <p:sp>
        <p:nvSpPr>
          <p:cNvPr id="9" name="TextBox 8">
            <a:extLst>
              <a:ext uri="{FF2B5EF4-FFF2-40B4-BE49-F238E27FC236}">
                <a16:creationId xmlns:a16="http://schemas.microsoft.com/office/drawing/2014/main" id="{E4C48F3D-0193-61B3-5E74-3B08B6A20B81}"/>
              </a:ext>
            </a:extLst>
          </p:cNvPr>
          <p:cNvSpPr txBox="1"/>
          <p:nvPr/>
        </p:nvSpPr>
        <p:spPr>
          <a:xfrm>
            <a:off x="8565005" y="2119074"/>
            <a:ext cx="3255518" cy="3231654"/>
          </a:xfrm>
          <a:prstGeom prst="rect">
            <a:avLst/>
          </a:prstGeom>
          <a:noFill/>
        </p:spPr>
        <p:txBody>
          <a:bodyPr wrap="square" rtlCol="0">
            <a:spAutoFit/>
          </a:bodyPr>
          <a:lstStyle/>
          <a:p>
            <a:r>
              <a:rPr lang="en-US" sz="2400" b="1" dirty="0">
                <a:solidFill>
                  <a:schemeClr val="bg1"/>
                </a:solidFill>
              </a:rPr>
              <a:t>Features</a:t>
            </a:r>
          </a:p>
          <a:p>
            <a:endParaRPr lang="en-US" dirty="0">
              <a:solidFill>
                <a:schemeClr val="bg1"/>
              </a:solidFill>
            </a:endParaRPr>
          </a:p>
          <a:p>
            <a:r>
              <a:rPr lang="en-US" dirty="0">
                <a:solidFill>
                  <a:schemeClr val="bg1"/>
                </a:solidFill>
              </a:rPr>
              <a:t>Total costs of the development </a:t>
            </a:r>
          </a:p>
          <a:p>
            <a:pPr marL="285750" indent="-285750">
              <a:buFont typeface="Arial" panose="020B0604020202020204" pitchFamily="34" charset="0"/>
              <a:buChar char="•"/>
            </a:pPr>
            <a:r>
              <a:rPr lang="en-US" dirty="0">
                <a:solidFill>
                  <a:schemeClr val="bg1"/>
                </a:solidFill>
              </a:rPr>
              <a:t>AWS Account: $6.59</a:t>
            </a:r>
          </a:p>
          <a:p>
            <a:pPr marL="285750" indent="-285750">
              <a:buFont typeface="Arial" panose="020B0604020202020204" pitchFamily="34" charset="0"/>
              <a:buChar char="•"/>
            </a:pPr>
            <a:r>
              <a:rPr lang="en-US" dirty="0">
                <a:solidFill>
                  <a:schemeClr val="bg1"/>
                </a:solidFill>
              </a:rPr>
              <a:t>Kiro AI-DLC: 1355 Credits ($27.10)</a:t>
            </a:r>
          </a:p>
          <a:p>
            <a:pPr marL="285750" indent="-285750">
              <a:buFont typeface="Arial" panose="020B0604020202020204" pitchFamily="34" charset="0"/>
              <a:buChar char="•"/>
            </a:pPr>
            <a:r>
              <a:rPr lang="en-US" dirty="0">
                <a:solidFill>
                  <a:schemeClr val="bg1"/>
                </a:solidFill>
              </a:rPr>
              <a:t>LLM usage is not included in these costs</a:t>
            </a:r>
          </a:p>
          <a:p>
            <a:pPr marL="285750" indent="-285750">
              <a:buFont typeface="Arial" panose="020B0604020202020204" pitchFamily="34" charset="0"/>
              <a:buChar char="•"/>
            </a:pPr>
            <a:endParaRPr lang="en-US" dirty="0">
              <a:solidFill>
                <a:schemeClr val="bg1"/>
              </a:solidFill>
            </a:endParaRPr>
          </a:p>
          <a:p>
            <a:pPr marL="285750" indent="-285750">
              <a:buFont typeface="Arial" panose="020B0604020202020204" pitchFamily="34" charset="0"/>
              <a:buChar char="•"/>
            </a:pPr>
            <a:endParaRPr lang="en-US" dirty="0">
              <a:solidFill>
                <a:schemeClr val="bg1"/>
              </a:solidFill>
            </a:endParaRPr>
          </a:p>
        </p:txBody>
      </p:sp>
      <p:sp>
        <p:nvSpPr>
          <p:cNvPr id="11" name="TextBox 10">
            <a:extLst>
              <a:ext uri="{FF2B5EF4-FFF2-40B4-BE49-F238E27FC236}">
                <a16:creationId xmlns:a16="http://schemas.microsoft.com/office/drawing/2014/main" id="{24FB79FA-8FB2-64DF-4AB6-1A3A9B5E92E1}"/>
              </a:ext>
            </a:extLst>
          </p:cNvPr>
          <p:cNvSpPr txBox="1"/>
          <p:nvPr/>
        </p:nvSpPr>
        <p:spPr>
          <a:xfrm>
            <a:off x="4470090" y="819029"/>
            <a:ext cx="3251851" cy="523220"/>
          </a:xfrm>
          <a:prstGeom prst="rect">
            <a:avLst/>
          </a:prstGeom>
          <a:noFill/>
        </p:spPr>
        <p:txBody>
          <a:bodyPr wrap="none" rtlCol="0">
            <a:spAutoFit/>
          </a:bodyPr>
          <a:lstStyle/>
          <a:p>
            <a:pPr algn="ctr"/>
            <a:r>
              <a:rPr lang="en-US" sz="2800" dirty="0">
                <a:solidFill>
                  <a:schemeClr val="bg1"/>
                </a:solidFill>
              </a:rPr>
              <a:t>Development Costs</a:t>
            </a:r>
          </a:p>
        </p:txBody>
      </p:sp>
      <p:pic>
        <p:nvPicPr>
          <p:cNvPr id="13" name="Picture 12">
            <a:extLst>
              <a:ext uri="{FF2B5EF4-FFF2-40B4-BE49-F238E27FC236}">
                <a16:creationId xmlns:a16="http://schemas.microsoft.com/office/drawing/2014/main" id="{4D4D21EA-AA39-C1A7-B351-35E8A30D4927}"/>
              </a:ext>
            </a:extLst>
          </p:cNvPr>
          <p:cNvPicPr>
            <a:picLocks noChangeAspect="1"/>
          </p:cNvPicPr>
          <p:nvPr/>
        </p:nvPicPr>
        <p:blipFill>
          <a:blip r:embed="rId3"/>
          <a:srcRect l="31001"/>
          <a:stretch>
            <a:fillRect/>
          </a:stretch>
        </p:blipFill>
        <p:spPr>
          <a:xfrm>
            <a:off x="2006248" y="5575299"/>
            <a:ext cx="4927684" cy="833435"/>
          </a:xfrm>
          <a:prstGeom prst="rect">
            <a:avLst/>
          </a:prstGeom>
          <a:ln>
            <a:solidFill>
              <a:schemeClr val="bg1"/>
            </a:solidFill>
          </a:ln>
        </p:spPr>
      </p:pic>
    </p:spTree>
    <p:extLst>
      <p:ext uri="{BB962C8B-B14F-4D97-AF65-F5344CB8AC3E}">
        <p14:creationId xmlns:p14="http://schemas.microsoft.com/office/powerpoint/2010/main" val="149944270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5F89E9-B4FC-4295-CE8A-0BF6B97DB63C}"/>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EA289140-D0FF-76C3-8818-530C07F2DFB7}"/>
              </a:ext>
            </a:extLst>
          </p:cNvPr>
          <p:cNvPicPr>
            <a:picLocks noChangeAspect="1"/>
          </p:cNvPicPr>
          <p:nvPr/>
        </p:nvPicPr>
        <p:blipFill>
          <a:blip r:embed="rId2"/>
          <a:stretch>
            <a:fillRect/>
          </a:stretch>
        </p:blipFill>
        <p:spPr>
          <a:xfrm>
            <a:off x="2577393" y="2623467"/>
            <a:ext cx="7449590" cy="2362530"/>
          </a:xfrm>
          <a:prstGeom prst="rect">
            <a:avLst/>
          </a:prstGeom>
        </p:spPr>
      </p:pic>
      <p:sp>
        <p:nvSpPr>
          <p:cNvPr id="5" name="TextBox 4">
            <a:extLst>
              <a:ext uri="{FF2B5EF4-FFF2-40B4-BE49-F238E27FC236}">
                <a16:creationId xmlns:a16="http://schemas.microsoft.com/office/drawing/2014/main" id="{B159F23F-CB3E-C402-35E8-AD1D3BAD73BA}"/>
              </a:ext>
            </a:extLst>
          </p:cNvPr>
          <p:cNvSpPr txBox="1"/>
          <p:nvPr/>
        </p:nvSpPr>
        <p:spPr>
          <a:xfrm>
            <a:off x="3254999" y="4985997"/>
            <a:ext cx="6094378" cy="369332"/>
          </a:xfrm>
          <a:prstGeom prst="rect">
            <a:avLst/>
          </a:prstGeom>
          <a:noFill/>
        </p:spPr>
        <p:txBody>
          <a:bodyPr wrap="square">
            <a:spAutoFit/>
          </a:bodyPr>
          <a:lstStyle/>
          <a:p>
            <a:pPr algn="ctr"/>
            <a:r>
              <a:rPr lang="en-US" dirty="0">
                <a:solidFill>
                  <a:schemeClr val="bg1"/>
                </a:solidFill>
              </a:rPr>
              <a:t>https://github.com/michaelgeiser/kiro-agentcore-app </a:t>
            </a:r>
          </a:p>
        </p:txBody>
      </p:sp>
      <p:sp>
        <p:nvSpPr>
          <p:cNvPr id="7" name="TextBox 6">
            <a:extLst>
              <a:ext uri="{FF2B5EF4-FFF2-40B4-BE49-F238E27FC236}">
                <a16:creationId xmlns:a16="http://schemas.microsoft.com/office/drawing/2014/main" id="{3410A36E-B5C1-F312-0D84-70E4FE3FA43E}"/>
              </a:ext>
            </a:extLst>
          </p:cNvPr>
          <p:cNvSpPr txBox="1"/>
          <p:nvPr/>
        </p:nvSpPr>
        <p:spPr>
          <a:xfrm>
            <a:off x="4383245" y="819029"/>
            <a:ext cx="3425553" cy="523220"/>
          </a:xfrm>
          <a:prstGeom prst="rect">
            <a:avLst/>
          </a:prstGeom>
          <a:noFill/>
        </p:spPr>
        <p:txBody>
          <a:bodyPr wrap="none" rtlCol="0">
            <a:spAutoFit/>
          </a:bodyPr>
          <a:lstStyle/>
          <a:p>
            <a:pPr algn="ctr"/>
            <a:r>
              <a:rPr lang="en-US" sz="2800" dirty="0" err="1">
                <a:solidFill>
                  <a:schemeClr val="bg1"/>
                </a:solidFill>
              </a:rPr>
              <a:t>Github</a:t>
            </a:r>
            <a:r>
              <a:rPr lang="en-US" sz="2800" dirty="0">
                <a:solidFill>
                  <a:schemeClr val="bg1"/>
                </a:solidFill>
              </a:rPr>
              <a:t> Repo Activity</a:t>
            </a:r>
          </a:p>
        </p:txBody>
      </p:sp>
    </p:spTree>
    <p:extLst>
      <p:ext uri="{BB962C8B-B14F-4D97-AF65-F5344CB8AC3E}">
        <p14:creationId xmlns:p14="http://schemas.microsoft.com/office/powerpoint/2010/main" val="307822675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0E9B62-1D9A-7C87-A470-8B8AAC7C6BD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F84745D-D4CE-6054-27DA-F6529BEC63C9}"/>
              </a:ext>
            </a:extLst>
          </p:cNvPr>
          <p:cNvSpPr txBox="1"/>
          <p:nvPr/>
        </p:nvSpPr>
        <p:spPr>
          <a:xfrm>
            <a:off x="3970293" y="2563905"/>
            <a:ext cx="4251421" cy="769441"/>
          </a:xfrm>
          <a:prstGeom prst="rect">
            <a:avLst/>
          </a:prstGeom>
          <a:noFill/>
        </p:spPr>
        <p:txBody>
          <a:bodyPr wrap="none" rtlCol="0">
            <a:spAutoFit/>
          </a:bodyPr>
          <a:lstStyle/>
          <a:p>
            <a:pPr algn="ctr"/>
            <a:r>
              <a:rPr lang="en-US" sz="4400" dirty="0">
                <a:solidFill>
                  <a:schemeClr val="bg1"/>
                </a:solidFill>
              </a:rPr>
              <a:t>The Architecture</a:t>
            </a:r>
          </a:p>
        </p:txBody>
      </p:sp>
    </p:spTree>
    <p:extLst>
      <p:ext uri="{BB962C8B-B14F-4D97-AF65-F5344CB8AC3E}">
        <p14:creationId xmlns:p14="http://schemas.microsoft.com/office/powerpoint/2010/main" val="424122139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6E58CE-66C9-BF83-29F2-7B56C5A4A366}"/>
            </a:ext>
          </a:extLst>
        </p:cNvPr>
        <p:cNvGrpSpPr/>
        <p:nvPr/>
      </p:nvGrpSpPr>
      <p:grpSpPr>
        <a:xfrm>
          <a:off x="0" y="0"/>
          <a:ext cx="0" cy="0"/>
          <a:chOff x="0" y="0"/>
          <a:chExt cx="0" cy="0"/>
        </a:xfrm>
      </p:grpSpPr>
      <p:grpSp>
        <p:nvGrpSpPr>
          <p:cNvPr id="4" name="aGrouping" descr="Example of AWS Cloud group, represented as a rectangle with AWS logo at the top left, and AWS Cloud as a title.">
            <a:extLst>
              <a:ext uri="{FF2B5EF4-FFF2-40B4-BE49-F238E27FC236}">
                <a16:creationId xmlns:a16="http://schemas.microsoft.com/office/drawing/2014/main" id="{31E80340-AF15-3B2C-39B7-EDCA4445415F}"/>
              </a:ext>
            </a:extLst>
          </p:cNvPr>
          <p:cNvGrpSpPr/>
          <p:nvPr/>
        </p:nvGrpSpPr>
        <p:grpSpPr>
          <a:xfrm>
            <a:off x="1873575" y="831451"/>
            <a:ext cx="9759888" cy="5140972"/>
            <a:chOff x="1126114" y="1236252"/>
            <a:chExt cx="2742722" cy="718165"/>
          </a:xfrm>
        </p:grpSpPr>
        <p:sp>
          <p:nvSpPr>
            <p:cNvPr id="5" name="Rectangle 4">
              <a:extLst>
                <a:ext uri="{FF2B5EF4-FFF2-40B4-BE49-F238E27FC236}">
                  <a16:creationId xmlns:a16="http://schemas.microsoft.com/office/drawing/2014/main" id="{1DFAE1CD-85F4-35B0-3A01-29EAC0C91F18}"/>
                </a:ext>
              </a:extLst>
            </p:cNvPr>
            <p:cNvSpPr/>
            <p:nvPr/>
          </p:nvSpPr>
          <p:spPr>
            <a:xfrm>
              <a:off x="1126926" y="1236252"/>
              <a:ext cx="2741910" cy="718165"/>
            </a:xfrm>
            <a:prstGeom prst="rect">
              <a:avLst/>
            </a:prstGeom>
            <a:noFill/>
            <a:ln w="158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502920" tIns="9144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pic>
          <p:nvPicPr>
            <p:cNvPr id="6" name="Graphic 5">
              <a:extLst>
                <a:ext uri="{FF2B5EF4-FFF2-40B4-BE49-F238E27FC236}">
                  <a16:creationId xmlns:a16="http://schemas.microsoft.com/office/drawing/2014/main" id="{E1D53AB9-AC7F-95C0-FED8-4101BE3DFADD}"/>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1126114" y="1237248"/>
              <a:ext cx="85898" cy="53777"/>
            </a:xfrm>
            <a:prstGeom prst="rect">
              <a:avLst/>
            </a:prstGeom>
          </p:spPr>
        </p:pic>
      </p:grpSp>
      <p:grpSp>
        <p:nvGrpSpPr>
          <p:cNvPr id="7" name="AZGroup" descr="Group for availability zone, inside the AWS Cloud grouping.">
            <a:extLst>
              <a:ext uri="{FF2B5EF4-FFF2-40B4-BE49-F238E27FC236}">
                <a16:creationId xmlns:a16="http://schemas.microsoft.com/office/drawing/2014/main" id="{9D17AE6D-788A-3559-AB46-D722EF90D98E}"/>
              </a:ext>
            </a:extLst>
          </p:cNvPr>
          <p:cNvGrpSpPr/>
          <p:nvPr/>
        </p:nvGrpSpPr>
        <p:grpSpPr>
          <a:xfrm>
            <a:off x="2749959" y="919950"/>
            <a:ext cx="8786265" cy="4616711"/>
            <a:chOff x="4188315" y="1576360"/>
            <a:chExt cx="8394391" cy="2984265"/>
          </a:xfrm>
        </p:grpSpPr>
        <p:sp>
          <p:nvSpPr>
            <p:cNvPr id="8" name="Rectangle 7" descr="AZ group border">
              <a:extLst>
                <a:ext uri="{FF2B5EF4-FFF2-40B4-BE49-F238E27FC236}">
                  <a16:creationId xmlns:a16="http://schemas.microsoft.com/office/drawing/2014/main" id="{1EE28534-A653-90DE-B3B2-B38422EE11B9}"/>
                </a:ext>
              </a:extLst>
            </p:cNvPr>
            <p:cNvSpPr/>
            <p:nvPr/>
          </p:nvSpPr>
          <p:spPr>
            <a:xfrm>
              <a:off x="4188315" y="1576360"/>
              <a:ext cx="8394391" cy="2984265"/>
            </a:xfrm>
            <a:prstGeom prst="rect">
              <a:avLst/>
            </a:prstGeom>
            <a:noFill/>
            <a:ln w="15875">
              <a:solidFill>
                <a:srgbClr val="00A4A6"/>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srgbClr val="A5A5A5"/>
                </a:solidFill>
                <a:effectLst/>
                <a:uLnTx/>
                <a:uFillTx/>
                <a:latin typeface="Calibri" panose="020F0502020204030204"/>
                <a:ea typeface="+mn-ea"/>
                <a:cs typeface="+mn-cs"/>
              </a:endParaRPr>
            </a:p>
          </p:txBody>
        </p:sp>
        <p:sp>
          <p:nvSpPr>
            <p:cNvPr id="9" name="Rectangle 37">
              <a:extLst>
                <a:ext uri="{FF2B5EF4-FFF2-40B4-BE49-F238E27FC236}">
                  <a16:creationId xmlns:a16="http://schemas.microsoft.com/office/drawing/2014/main" id="{5AD7A31A-3AA3-5876-3654-F13D6FE331BB}"/>
                </a:ext>
              </a:extLst>
            </p:cNvPr>
            <p:cNvSpPr>
              <a:spLocks noChangeArrowheads="1"/>
            </p:cNvSpPr>
            <p:nvPr/>
          </p:nvSpPr>
          <p:spPr bwMode="auto">
            <a:xfrm>
              <a:off x="4328036" y="1576639"/>
              <a:ext cx="591223" cy="1564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700" b="1" i="0" u="none" strike="noStrike" kern="1200" cap="none" spc="0" normalizeH="0" baseline="0" noProof="0" dirty="0">
                  <a:ln>
                    <a:noFill/>
                  </a:ln>
                  <a:solidFill>
                    <a:srgbClr val="00A4A6"/>
                  </a:solidFill>
                  <a:effectLst/>
                  <a:uLnTx/>
                  <a:uFillTx/>
                  <a:latin typeface="Arial" panose="020B0604020202020204" pitchFamily="34" charset="0"/>
                  <a:ea typeface="+mn-ea"/>
                  <a:cs typeface="Arial" panose="020B0604020202020204" pitchFamily="34" charset="0"/>
                </a:rPr>
                <a:t>us-east-1 </a:t>
              </a:r>
            </a:p>
          </p:txBody>
        </p:sp>
      </p:grpSp>
      <p:pic>
        <p:nvPicPr>
          <p:cNvPr id="10" name="Graphic 9" descr="Region group icon.">
            <a:extLst>
              <a:ext uri="{FF2B5EF4-FFF2-40B4-BE49-F238E27FC236}">
                <a16:creationId xmlns:a16="http://schemas.microsoft.com/office/drawing/2014/main" id="{E29A65D9-6C24-1E39-1B45-6EF6372EBF6B}"/>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2759516" y="915579"/>
            <a:ext cx="181666" cy="181666"/>
          </a:xfrm>
          <a:prstGeom prst="rect">
            <a:avLst/>
          </a:prstGeom>
        </p:spPr>
      </p:pic>
      <p:sp>
        <p:nvSpPr>
          <p:cNvPr id="11" name="Rectangle 10">
            <a:extLst>
              <a:ext uri="{FF2B5EF4-FFF2-40B4-BE49-F238E27FC236}">
                <a16:creationId xmlns:a16="http://schemas.microsoft.com/office/drawing/2014/main" id="{256F833A-E53E-6BF3-7D09-A7FB70B77869}"/>
              </a:ext>
              <a:ext uri="{C183D7F6-B498-43B3-948B-1728B52AA6E4}">
                <adec:decorative xmlns:adec="http://schemas.microsoft.com/office/drawing/2017/decorative" val="1"/>
              </a:ext>
            </a:extLst>
          </p:cNvPr>
          <p:cNvSpPr/>
          <p:nvPr/>
        </p:nvSpPr>
        <p:spPr bwMode="auto">
          <a:xfrm>
            <a:off x="3445586" y="1020727"/>
            <a:ext cx="8020990" cy="3410142"/>
          </a:xfrm>
          <a:prstGeom prst="rect">
            <a:avLst/>
          </a:prstGeom>
          <a:noFill/>
          <a:ln w="15875">
            <a:solidFill>
              <a:srgbClr val="8C4FFF"/>
            </a:solidFill>
          </a:ln>
        </p:spPr>
        <p:style>
          <a:lnRef idx="2">
            <a:schemeClr val="accent1">
              <a:shade val="50000"/>
            </a:schemeClr>
          </a:lnRef>
          <a:fillRef idx="1">
            <a:schemeClr val="accent1"/>
          </a:fillRef>
          <a:effectRef idx="0">
            <a:schemeClr val="accent1"/>
          </a:effectRef>
          <a:fontRef idx="minor">
            <a:schemeClr val="lt1"/>
          </a:fontRef>
        </p:style>
        <p:txBody>
          <a:bodyPr lIns="502920" tIns="9144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w="0"/>
              <a:solidFill>
                <a:prstClr val="black"/>
              </a:solidFill>
              <a:effectLst/>
              <a:uLnTx/>
              <a:uFillTx/>
              <a:latin typeface="Arial" panose="020B0604020202020204" pitchFamily="34" charset="0"/>
              <a:ea typeface="+mn-ea"/>
              <a:cs typeface="Arial" panose="020B0604020202020204" pitchFamily="34" charset="0"/>
            </a:endParaRPr>
          </a:p>
        </p:txBody>
      </p:sp>
      <p:pic>
        <p:nvPicPr>
          <p:cNvPr id="12" name="Graphic 11" descr="VPC group icon.">
            <a:extLst>
              <a:ext uri="{FF2B5EF4-FFF2-40B4-BE49-F238E27FC236}">
                <a16:creationId xmlns:a16="http://schemas.microsoft.com/office/drawing/2014/main" id="{EE221067-EFFE-E521-C401-CD3B9BA8082D}"/>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449672" y="1028241"/>
            <a:ext cx="159014" cy="159014"/>
          </a:xfrm>
          <a:prstGeom prst="rect">
            <a:avLst/>
          </a:prstGeom>
        </p:spPr>
      </p:pic>
      <p:sp>
        <p:nvSpPr>
          <p:cNvPr id="13" name="Rectangle 37">
            <a:extLst>
              <a:ext uri="{FF2B5EF4-FFF2-40B4-BE49-F238E27FC236}">
                <a16:creationId xmlns:a16="http://schemas.microsoft.com/office/drawing/2014/main" id="{14266244-AC1D-81A6-3786-3F4B49040408}"/>
              </a:ext>
            </a:extLst>
          </p:cNvPr>
          <p:cNvSpPr>
            <a:spLocks noChangeArrowheads="1"/>
          </p:cNvSpPr>
          <p:nvPr/>
        </p:nvSpPr>
        <p:spPr bwMode="auto">
          <a:xfrm>
            <a:off x="3548707" y="1008918"/>
            <a:ext cx="367409" cy="2000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700" b="1" i="0" u="none" strike="noStrike" kern="1200" cap="none" spc="0" normalizeH="0" baseline="0" noProof="0" dirty="0">
                <a:ln>
                  <a:noFill/>
                </a:ln>
                <a:solidFill>
                  <a:srgbClr val="8C4FFF"/>
                </a:solidFill>
                <a:effectLst/>
                <a:uLnTx/>
                <a:uFillTx/>
                <a:latin typeface="Arial" panose="020B0604020202020204" pitchFamily="34" charset="0"/>
                <a:ea typeface="+mn-ea"/>
                <a:cs typeface="Arial" panose="020B0604020202020204" pitchFamily="34" charset="0"/>
              </a:rPr>
              <a:t>VPC</a:t>
            </a:r>
          </a:p>
        </p:txBody>
      </p:sp>
      <p:cxnSp>
        <p:nvCxnSpPr>
          <p:cNvPr id="14" name="Straight Arrow Connector 13">
            <a:extLst>
              <a:ext uri="{FF2B5EF4-FFF2-40B4-BE49-F238E27FC236}">
                <a16:creationId xmlns:a16="http://schemas.microsoft.com/office/drawing/2014/main" id="{03A0DFB4-B22B-B1AD-E6D3-BBE06E19E6E9}"/>
              </a:ext>
            </a:extLst>
          </p:cNvPr>
          <p:cNvCxnSpPr>
            <a:cxnSpLocks/>
            <a:stCxn id="29" idx="3"/>
            <a:endCxn id="26" idx="1"/>
          </p:cNvCxnSpPr>
          <p:nvPr/>
        </p:nvCxnSpPr>
        <p:spPr>
          <a:xfrm flipV="1">
            <a:off x="3202073" y="3899331"/>
            <a:ext cx="295531" cy="3124"/>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cxnSp>
        <p:nvCxnSpPr>
          <p:cNvPr id="15" name="Straight Arrow Connector 14">
            <a:extLst>
              <a:ext uri="{FF2B5EF4-FFF2-40B4-BE49-F238E27FC236}">
                <a16:creationId xmlns:a16="http://schemas.microsoft.com/office/drawing/2014/main" id="{A703EB94-98EA-37A2-5E09-6F935A14892A}"/>
              </a:ext>
            </a:extLst>
          </p:cNvPr>
          <p:cNvCxnSpPr>
            <a:cxnSpLocks/>
            <a:stCxn id="26" idx="3"/>
            <a:endCxn id="68" idx="1"/>
          </p:cNvCxnSpPr>
          <p:nvPr/>
        </p:nvCxnSpPr>
        <p:spPr>
          <a:xfrm flipV="1">
            <a:off x="3771924" y="3891145"/>
            <a:ext cx="864209" cy="8186"/>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sp>
        <p:nvSpPr>
          <p:cNvPr id="17" name="TextBox 16">
            <a:extLst>
              <a:ext uri="{FF2B5EF4-FFF2-40B4-BE49-F238E27FC236}">
                <a16:creationId xmlns:a16="http://schemas.microsoft.com/office/drawing/2014/main" id="{04B0A5DB-A321-CA10-D172-026F8A494025}"/>
              </a:ext>
            </a:extLst>
          </p:cNvPr>
          <p:cNvSpPr txBox="1"/>
          <p:nvPr/>
        </p:nvSpPr>
        <p:spPr>
          <a:xfrm>
            <a:off x="661177" y="3932828"/>
            <a:ext cx="729687" cy="40011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HTTP API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Traffic</a:t>
            </a:r>
          </a:p>
        </p:txBody>
      </p:sp>
      <p:cxnSp>
        <p:nvCxnSpPr>
          <p:cNvPr id="18" name="Straight Arrow Connector 17">
            <a:extLst>
              <a:ext uri="{FF2B5EF4-FFF2-40B4-BE49-F238E27FC236}">
                <a16:creationId xmlns:a16="http://schemas.microsoft.com/office/drawing/2014/main" id="{01F68C50-6779-43F9-A249-3F3B7A059F12}"/>
              </a:ext>
            </a:extLst>
          </p:cNvPr>
          <p:cNvCxnSpPr>
            <a:cxnSpLocks/>
            <a:stCxn id="23" idx="3"/>
            <a:endCxn id="21" idx="1"/>
          </p:cNvCxnSpPr>
          <p:nvPr/>
        </p:nvCxnSpPr>
        <p:spPr>
          <a:xfrm flipV="1">
            <a:off x="1392066" y="4854173"/>
            <a:ext cx="761012" cy="13729"/>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grpSp>
        <p:nvGrpSpPr>
          <p:cNvPr id="19" name="Group 18">
            <a:extLst>
              <a:ext uri="{FF2B5EF4-FFF2-40B4-BE49-F238E27FC236}">
                <a16:creationId xmlns:a16="http://schemas.microsoft.com/office/drawing/2014/main" id="{81324C85-1D54-1119-0F44-1624D42DB616}"/>
              </a:ext>
            </a:extLst>
          </p:cNvPr>
          <p:cNvGrpSpPr/>
          <p:nvPr/>
        </p:nvGrpSpPr>
        <p:grpSpPr>
          <a:xfrm>
            <a:off x="2111828" y="4404685"/>
            <a:ext cx="330849" cy="637914"/>
            <a:chOff x="2021255" y="5606297"/>
            <a:chExt cx="330849" cy="637914"/>
          </a:xfrm>
        </p:grpSpPr>
        <p:pic>
          <p:nvPicPr>
            <p:cNvPr id="20" name="Graphic 8" descr="AWS WAF service icon.">
              <a:extLst>
                <a:ext uri="{FF2B5EF4-FFF2-40B4-BE49-F238E27FC236}">
                  <a16:creationId xmlns:a16="http://schemas.microsoft.com/office/drawing/2014/main" id="{A6B20AFA-2142-C4AD-B8D9-0EDF26E8B25E}"/>
                </a:ext>
              </a:extLst>
            </p:cNvPr>
            <p:cNvPicPr>
              <a:picLocks noChangeAspect="1" noChangeArrowheads="1"/>
            </p:cNvPicPr>
            <p:nvPr/>
          </p:nvPicPr>
          <p:blipFill>
            <a:blip>
              <a:extLst>
                <a:ext uri="{96DAC541-7B7A-43D3-8B79-37D633B846F1}">
                  <asvg:svgBlip xmlns:asvg="http://schemas.microsoft.com/office/drawing/2016/SVG/main" r:embed="rId5"/>
                </a:ext>
              </a:extLst>
            </a:blip>
            <a:srcRect/>
            <a:stretch/>
          </p:blipFill>
          <p:spPr bwMode="auto">
            <a:xfrm>
              <a:off x="2061331" y="5633576"/>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1" name="Graphic 19" descr="Amazon CloudFront service icon.">
              <a:extLst>
                <a:ext uri="{FF2B5EF4-FFF2-40B4-BE49-F238E27FC236}">
                  <a16:creationId xmlns:a16="http://schemas.microsoft.com/office/drawing/2014/main" id="{93A4BC37-9935-A290-A702-EE93715B554F}"/>
                </a:ext>
              </a:extLst>
            </p:cNvPr>
            <p:cNvPicPr>
              <a:picLocks noChangeAspect="1" noChangeArrowheads="1"/>
            </p:cNvPicPr>
            <p:nvPr/>
          </p:nvPicPr>
          <p:blipFill>
            <a:blip>
              <a:extLst>
                <a:ext uri="{96DAC541-7B7A-43D3-8B79-37D633B846F1}">
                  <asvg:svgBlip xmlns:asvg="http://schemas.microsoft.com/office/drawing/2016/SVG/main" r:embed="rId6"/>
                </a:ext>
              </a:extLst>
            </a:blip>
            <a:srcRect/>
            <a:stretch/>
          </p:blipFill>
          <p:spPr bwMode="auto">
            <a:xfrm>
              <a:off x="2062505" y="591862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Rectangle 21" descr="Availability Zone group.">
              <a:extLst>
                <a:ext uri="{FF2B5EF4-FFF2-40B4-BE49-F238E27FC236}">
                  <a16:creationId xmlns:a16="http://schemas.microsoft.com/office/drawing/2014/main" id="{DF802394-1D62-DEEB-B16A-E6AF1F17C819}"/>
                </a:ext>
              </a:extLst>
            </p:cNvPr>
            <p:cNvSpPr/>
            <p:nvPr/>
          </p:nvSpPr>
          <p:spPr>
            <a:xfrm>
              <a:off x="2021255" y="5606297"/>
              <a:ext cx="330849" cy="637914"/>
            </a:xfrm>
            <a:prstGeom prst="rect">
              <a:avLst/>
            </a:prstGeom>
            <a:noFill/>
            <a:ln w="15875" cap="flat" cmpd="sng" algn="ctr">
              <a:solidFill>
                <a:schemeClr val="tx1"/>
              </a:solidFill>
              <a:prstDash val="dash"/>
              <a:miter lim="800000"/>
            </a:ln>
            <a:effectLst/>
          </p:spPr>
          <p:txBody>
            <a:bodyPr tIns="9144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endParaRPr>
            </a:p>
          </p:txBody>
        </p:sp>
      </p:grpSp>
      <p:sp>
        <p:nvSpPr>
          <p:cNvPr id="23" name="TextBox 22">
            <a:extLst>
              <a:ext uri="{FF2B5EF4-FFF2-40B4-BE49-F238E27FC236}">
                <a16:creationId xmlns:a16="http://schemas.microsoft.com/office/drawing/2014/main" id="{4D36E996-41D1-9C08-4F29-01CDDAD3FF53}"/>
              </a:ext>
            </a:extLst>
          </p:cNvPr>
          <p:cNvSpPr txBox="1"/>
          <p:nvPr/>
        </p:nvSpPr>
        <p:spPr>
          <a:xfrm>
            <a:off x="655967" y="4667847"/>
            <a:ext cx="736099" cy="40011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SPA Web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Traffic</a:t>
            </a:r>
          </a:p>
        </p:txBody>
      </p:sp>
      <p:pic>
        <p:nvPicPr>
          <p:cNvPr id="24" name="Graphic 8" descr="Amazon Simple Storage Service (Amazon S3) service icon.">
            <a:extLst>
              <a:ext uri="{FF2B5EF4-FFF2-40B4-BE49-F238E27FC236}">
                <a16:creationId xmlns:a16="http://schemas.microsoft.com/office/drawing/2014/main" id="{92058D6D-5D2A-7FFE-B5C4-BCF3C2ABB2AD}"/>
              </a:ext>
            </a:extLst>
          </p:cNvPr>
          <p:cNvPicPr>
            <a:picLocks noChangeAspect="1" noChangeArrowheads="1"/>
          </p:cNvPicPr>
          <p:nvPr/>
        </p:nvPicPr>
        <p:blipFill>
          <a:blip>
            <a:extLst>
              <a:ext uri="{96DAC541-7B7A-43D3-8B79-37D633B846F1}">
                <asvg:svgBlip xmlns:asvg="http://schemas.microsoft.com/office/drawing/2016/SVG/main" r:embed="rId7"/>
              </a:ext>
            </a:extLst>
          </a:blip>
          <a:srcRect/>
          <a:stretch/>
        </p:blipFill>
        <p:spPr bwMode="auto">
          <a:xfrm>
            <a:off x="3200949" y="4718104"/>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25" name="Connector: Elbow 24">
            <a:extLst>
              <a:ext uri="{FF2B5EF4-FFF2-40B4-BE49-F238E27FC236}">
                <a16:creationId xmlns:a16="http://schemas.microsoft.com/office/drawing/2014/main" id="{C740E2E8-0A8A-FD05-7424-D25510357529}"/>
              </a:ext>
            </a:extLst>
          </p:cNvPr>
          <p:cNvCxnSpPr>
            <a:cxnSpLocks/>
            <a:stCxn id="21" idx="3"/>
            <a:endCxn id="24" idx="1"/>
          </p:cNvCxnSpPr>
          <p:nvPr/>
        </p:nvCxnSpPr>
        <p:spPr>
          <a:xfrm>
            <a:off x="2427398" y="4854173"/>
            <a:ext cx="773551" cy="1091"/>
          </a:xfrm>
          <a:prstGeom prst="bentConnector3">
            <a:avLst>
              <a:gd name="adj1" fmla="val 50000"/>
            </a:avLst>
          </a:prstGeom>
          <a:ln>
            <a:headEnd type="triangle" w="med" len="med"/>
            <a:tailEnd type="none" w="med" len="med"/>
          </a:ln>
        </p:spPr>
        <p:style>
          <a:lnRef idx="2">
            <a:schemeClr val="accent2"/>
          </a:lnRef>
          <a:fillRef idx="0">
            <a:schemeClr val="accent2"/>
          </a:fillRef>
          <a:effectRef idx="1">
            <a:schemeClr val="accent2"/>
          </a:effectRef>
          <a:fontRef idx="minor">
            <a:schemeClr val="tx1"/>
          </a:fontRef>
        </p:style>
      </p:cxnSp>
      <p:pic>
        <p:nvPicPr>
          <p:cNvPr id="26" name="Graphic 25" descr="Endpoints resource icon for the Amazon VPC service.&#10;">
            <a:extLst>
              <a:ext uri="{FF2B5EF4-FFF2-40B4-BE49-F238E27FC236}">
                <a16:creationId xmlns:a16="http://schemas.microsoft.com/office/drawing/2014/main" id="{75F9A907-CECF-EFF0-BABB-417FDF1D114E}"/>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497604" y="3762171"/>
            <a:ext cx="274320" cy="274320"/>
          </a:xfrm>
          <a:prstGeom prst="rect">
            <a:avLst/>
          </a:prstGeom>
        </p:spPr>
      </p:pic>
      <p:pic>
        <p:nvPicPr>
          <p:cNvPr id="27" name="Graphic 21" descr="Amazon Route 53 service icon.">
            <a:extLst>
              <a:ext uri="{FF2B5EF4-FFF2-40B4-BE49-F238E27FC236}">
                <a16:creationId xmlns:a16="http://schemas.microsoft.com/office/drawing/2014/main" id="{CFA1A362-50A7-74B2-80A9-77B70E441168}"/>
              </a:ext>
            </a:extLst>
          </p:cNvPr>
          <p:cNvPicPr>
            <a:picLocks noChangeAspect="1" noChangeArrowheads="1"/>
          </p:cNvPicPr>
          <p:nvPr/>
        </p:nvPicPr>
        <p:blipFill>
          <a:blip>
            <a:extLst>
              <a:ext uri="{96DAC541-7B7A-43D3-8B79-37D633B846F1}">
                <asvg:svgBlip xmlns:asvg="http://schemas.microsoft.com/office/drawing/2016/SVG/main" r:embed="rId9"/>
              </a:ext>
            </a:extLst>
          </a:blip>
          <a:srcRect/>
          <a:stretch/>
        </p:blipFill>
        <p:spPr bwMode="auto">
          <a:xfrm>
            <a:off x="2026407" y="1388197"/>
            <a:ext cx="274320" cy="2668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9" name="Graphic 7" descr="Amazon API Gateway service icon.">
            <a:extLst>
              <a:ext uri="{FF2B5EF4-FFF2-40B4-BE49-F238E27FC236}">
                <a16:creationId xmlns:a16="http://schemas.microsoft.com/office/drawing/2014/main" id="{FECC2FF3-0D1F-789D-0DCA-EB47FBE24F1E}"/>
              </a:ext>
            </a:extLst>
          </p:cNvPr>
          <p:cNvPicPr>
            <a:picLocks noChangeAspect="1" noChangeArrowheads="1"/>
          </p:cNvPicPr>
          <p:nvPr/>
        </p:nvPicPr>
        <p:blipFill>
          <a:blip>
            <a:extLst>
              <a:ext uri="{96DAC541-7B7A-43D3-8B79-37D633B846F1}">
                <asvg:svgBlip xmlns:asvg="http://schemas.microsoft.com/office/drawing/2016/SVG/main" r:embed="rId10"/>
              </a:ext>
            </a:extLst>
          </a:blip>
          <a:srcRect/>
          <a:stretch/>
        </p:blipFill>
        <p:spPr bwMode="auto">
          <a:xfrm>
            <a:off x="2927753" y="376529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30" name="Connector: Elbow 29">
            <a:extLst>
              <a:ext uri="{FF2B5EF4-FFF2-40B4-BE49-F238E27FC236}">
                <a16:creationId xmlns:a16="http://schemas.microsoft.com/office/drawing/2014/main" id="{6A749918-5080-4A54-DF44-B11C5FF0B6BF}"/>
              </a:ext>
            </a:extLst>
          </p:cNvPr>
          <p:cNvCxnSpPr>
            <a:cxnSpLocks/>
            <a:stCxn id="17" idx="3"/>
            <a:endCxn id="29" idx="1"/>
          </p:cNvCxnSpPr>
          <p:nvPr/>
        </p:nvCxnSpPr>
        <p:spPr>
          <a:xfrm flipV="1">
            <a:off x="1390864" y="3902455"/>
            <a:ext cx="1536889" cy="230428"/>
          </a:xfrm>
          <a:prstGeom prst="bentConnector3">
            <a:avLst>
              <a:gd name="adj1" fmla="val 50000"/>
            </a:avLst>
          </a:prstGeom>
          <a:ln>
            <a:solidFill>
              <a:schemeClr val="accent1"/>
            </a:solidFill>
            <a:tailEnd type="triangle"/>
          </a:ln>
        </p:spPr>
        <p:style>
          <a:lnRef idx="2">
            <a:schemeClr val="accent1"/>
          </a:lnRef>
          <a:fillRef idx="0">
            <a:schemeClr val="accent1"/>
          </a:fillRef>
          <a:effectRef idx="1">
            <a:schemeClr val="accent1"/>
          </a:effectRef>
          <a:fontRef idx="minor">
            <a:schemeClr val="tx1"/>
          </a:fontRef>
        </p:style>
      </p:cxnSp>
      <p:pic>
        <p:nvPicPr>
          <p:cNvPr id="64" name="Graphic 17" descr="Amazon Cognito service icon.">
            <a:extLst>
              <a:ext uri="{FF2B5EF4-FFF2-40B4-BE49-F238E27FC236}">
                <a16:creationId xmlns:a16="http://schemas.microsoft.com/office/drawing/2014/main" id="{04EC196C-F660-39AB-C2D1-D9D848D0CF03}"/>
              </a:ext>
            </a:extLst>
          </p:cNvPr>
          <p:cNvPicPr>
            <a:picLocks noChangeAspect="1" noChangeArrowheads="1"/>
          </p:cNvPicPr>
          <p:nvPr/>
        </p:nvPicPr>
        <p:blipFill>
          <a:blip>
            <a:extLst>
              <a:ext uri="{96DAC541-7B7A-43D3-8B79-37D633B846F1}">
                <asvg:svgBlip xmlns:asvg="http://schemas.microsoft.com/office/drawing/2016/SVG/main" r:embed="rId11"/>
              </a:ext>
            </a:extLst>
          </a:blip>
          <a:srcRect/>
          <a:stretch/>
        </p:blipFill>
        <p:spPr bwMode="auto">
          <a:xfrm>
            <a:off x="2901721" y="1900157"/>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lambda" descr="Lambda service icon.">
            <a:extLst>
              <a:ext uri="{FF2B5EF4-FFF2-40B4-BE49-F238E27FC236}">
                <a16:creationId xmlns:a16="http://schemas.microsoft.com/office/drawing/2014/main" id="{182B88FC-F5BD-2CC1-BBD3-ED4F8C3DD64E}"/>
              </a:ext>
            </a:extLst>
          </p:cNvPr>
          <p:cNvPicPr>
            <a:picLocks noChangeAspect="1" noChangeArrowheads="1"/>
          </p:cNvPicPr>
          <p:nvPr/>
        </p:nvPicPr>
        <p:blipFill>
          <a:blip>
            <a:extLst>
              <a:ext uri="{96DAC541-7B7A-43D3-8B79-37D633B846F1}">
                <asvg:svgBlip xmlns:asvg="http://schemas.microsoft.com/office/drawing/2016/SVG/main" r:embed="rId12"/>
              </a:ext>
            </a:extLst>
          </a:blip>
          <a:srcRect/>
          <a:stretch/>
        </p:blipFill>
        <p:spPr bwMode="auto">
          <a:xfrm>
            <a:off x="4636133" y="375398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9" name="Graphic 68" descr="Endpoints resource icon for the Amazon VPC service.&#10;">
            <a:extLst>
              <a:ext uri="{FF2B5EF4-FFF2-40B4-BE49-F238E27FC236}">
                <a16:creationId xmlns:a16="http://schemas.microsoft.com/office/drawing/2014/main" id="{DE1D3B06-4831-5581-108B-4D7E6F8B772C}"/>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091487" y="3753985"/>
            <a:ext cx="274320" cy="274320"/>
          </a:xfrm>
          <a:prstGeom prst="rect">
            <a:avLst/>
          </a:prstGeom>
        </p:spPr>
      </p:pic>
      <p:cxnSp>
        <p:nvCxnSpPr>
          <p:cNvPr id="70" name="Connector: Elbow 69">
            <a:extLst>
              <a:ext uri="{FF2B5EF4-FFF2-40B4-BE49-F238E27FC236}">
                <a16:creationId xmlns:a16="http://schemas.microsoft.com/office/drawing/2014/main" id="{05C16BFD-35F4-7DEF-3156-E8E6C7D6169B}"/>
              </a:ext>
            </a:extLst>
          </p:cNvPr>
          <p:cNvCxnSpPr>
            <a:cxnSpLocks/>
            <a:stCxn id="69" idx="2"/>
            <a:endCxn id="67" idx="0"/>
          </p:cNvCxnSpPr>
          <p:nvPr/>
        </p:nvCxnSpPr>
        <p:spPr>
          <a:xfrm rot="5400000">
            <a:off x="4466852" y="4020618"/>
            <a:ext cx="754109" cy="769482"/>
          </a:xfrm>
          <a:prstGeom prst="bentConnector3">
            <a:avLst>
              <a:gd name="adj1" fmla="val 20949"/>
            </a:avLst>
          </a:prstGeom>
          <a:ln w="28575">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71" name="Connector: Elbow 70">
            <a:extLst>
              <a:ext uri="{FF2B5EF4-FFF2-40B4-BE49-F238E27FC236}">
                <a16:creationId xmlns:a16="http://schemas.microsoft.com/office/drawing/2014/main" id="{57A5E1B2-F809-F986-39EF-DEDFD1F236F3}"/>
              </a:ext>
            </a:extLst>
          </p:cNvPr>
          <p:cNvCxnSpPr>
            <a:cxnSpLocks/>
            <a:stCxn id="69" idx="2"/>
            <a:endCxn id="66" idx="0"/>
          </p:cNvCxnSpPr>
          <p:nvPr/>
        </p:nvCxnSpPr>
        <p:spPr>
          <a:xfrm rot="16200000" flipH="1">
            <a:off x="4885129" y="4371822"/>
            <a:ext cx="729821" cy="42785"/>
          </a:xfrm>
          <a:prstGeom prst="bentConnector3">
            <a:avLst>
              <a:gd name="adj1" fmla="val 21288"/>
            </a:avLst>
          </a:prstGeom>
          <a:ln w="28575">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72" name="TextBox 71">
            <a:extLst>
              <a:ext uri="{FF2B5EF4-FFF2-40B4-BE49-F238E27FC236}">
                <a16:creationId xmlns:a16="http://schemas.microsoft.com/office/drawing/2014/main" id="{C0D7592C-40C6-D4D1-3CA8-F4090A1647AA}"/>
              </a:ext>
            </a:extLst>
          </p:cNvPr>
          <p:cNvSpPr txBox="1"/>
          <p:nvPr/>
        </p:nvSpPr>
        <p:spPr>
          <a:xfrm>
            <a:off x="5292471" y="3706479"/>
            <a:ext cx="896399" cy="369332"/>
          </a:xfrm>
          <a:prstGeom prst="rect">
            <a:avLst/>
          </a:prstGeom>
          <a:noFill/>
        </p:spPr>
        <p:txBody>
          <a:bodyPr wrap="none" rtlCol="0">
            <a:spAutoFit/>
          </a:bodyPr>
          <a:lstStyle/>
          <a:p>
            <a:pPr algn="ctr"/>
            <a:r>
              <a:rPr lang="en-US" sz="900" dirty="0">
                <a:solidFill>
                  <a:schemeClr val="bg1"/>
                </a:solidFill>
              </a:rPr>
              <a:t>Interface VPC </a:t>
            </a:r>
          </a:p>
          <a:p>
            <a:pPr algn="ctr"/>
            <a:r>
              <a:rPr lang="en-US" sz="900" dirty="0">
                <a:solidFill>
                  <a:schemeClr val="bg1"/>
                </a:solidFill>
              </a:rPr>
              <a:t>Endpoint</a:t>
            </a:r>
          </a:p>
        </p:txBody>
      </p:sp>
      <p:cxnSp>
        <p:nvCxnSpPr>
          <p:cNvPr id="73" name="Straight Arrow Connector 72">
            <a:extLst>
              <a:ext uri="{FF2B5EF4-FFF2-40B4-BE49-F238E27FC236}">
                <a16:creationId xmlns:a16="http://schemas.microsoft.com/office/drawing/2014/main" id="{E64798D6-A12A-43CA-0D45-05BABCFAA990}"/>
              </a:ext>
            </a:extLst>
          </p:cNvPr>
          <p:cNvCxnSpPr>
            <a:cxnSpLocks/>
            <a:stCxn id="68" idx="3"/>
          </p:cNvCxnSpPr>
          <p:nvPr/>
        </p:nvCxnSpPr>
        <p:spPr>
          <a:xfrm>
            <a:off x="4910453" y="3891145"/>
            <a:ext cx="223819" cy="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pic>
        <p:nvPicPr>
          <p:cNvPr id="83" name="Graphic 26" descr="Amazon Simple Queue Service (Amazon SQS) service icon.">
            <a:extLst>
              <a:ext uri="{FF2B5EF4-FFF2-40B4-BE49-F238E27FC236}">
                <a16:creationId xmlns:a16="http://schemas.microsoft.com/office/drawing/2014/main" id="{D34FAAB5-9BAC-DF31-AF49-E5943E15CC26}"/>
              </a:ext>
            </a:extLst>
          </p:cNvPr>
          <p:cNvPicPr>
            <a:picLocks noChangeAspect="1" noChangeArrowheads="1"/>
          </p:cNvPicPr>
          <p:nvPr/>
        </p:nvPicPr>
        <p:blipFill>
          <a:blip>
            <a:extLst>
              <a:ext uri="{96DAC541-7B7A-43D3-8B79-37D633B846F1}">
                <asvg:svgBlip xmlns:asvg="http://schemas.microsoft.com/office/drawing/2016/SVG/main" r:embed="rId13"/>
              </a:ext>
            </a:extLst>
          </a:blip>
          <a:srcRect/>
          <a:stretch/>
        </p:blipFill>
        <p:spPr bwMode="auto">
          <a:xfrm>
            <a:off x="4892478" y="3044803"/>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1" name="Graphic 24" descr="Amazon Simple Notification Service (Amazon SNS) service icon.">
            <a:extLst>
              <a:ext uri="{FF2B5EF4-FFF2-40B4-BE49-F238E27FC236}">
                <a16:creationId xmlns:a16="http://schemas.microsoft.com/office/drawing/2014/main" id="{12647673-0149-449B-3B99-C95F9F4F2B74}"/>
              </a:ext>
            </a:extLst>
          </p:cNvPr>
          <p:cNvPicPr>
            <a:picLocks noChangeAspect="1" noChangeArrowheads="1"/>
          </p:cNvPicPr>
          <p:nvPr/>
        </p:nvPicPr>
        <p:blipFill>
          <a:blip>
            <a:extLst>
              <a:ext uri="{96DAC541-7B7A-43D3-8B79-37D633B846F1}">
                <asvg:svgBlip xmlns:asvg="http://schemas.microsoft.com/office/drawing/2016/SVG/main" r:embed="rId14"/>
              </a:ext>
            </a:extLst>
          </a:blip>
          <a:srcRect/>
          <a:stretch/>
        </p:blipFill>
        <p:spPr bwMode="auto">
          <a:xfrm>
            <a:off x="4328159" y="304616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95" name="Connector: Elbow 94">
            <a:extLst>
              <a:ext uri="{FF2B5EF4-FFF2-40B4-BE49-F238E27FC236}">
                <a16:creationId xmlns:a16="http://schemas.microsoft.com/office/drawing/2014/main" id="{E2ED6BC6-7B17-DFDD-689B-89173F58A06A}"/>
              </a:ext>
            </a:extLst>
          </p:cNvPr>
          <p:cNvCxnSpPr>
            <a:cxnSpLocks/>
            <a:stCxn id="68" idx="0"/>
            <a:endCxn id="83" idx="2"/>
          </p:cNvCxnSpPr>
          <p:nvPr/>
        </p:nvCxnSpPr>
        <p:spPr>
          <a:xfrm rot="5400000" flipH="1" flipV="1">
            <a:off x="4684034" y="3408382"/>
            <a:ext cx="434862" cy="256345"/>
          </a:xfrm>
          <a:prstGeom prst="bentConnector3">
            <a:avLst>
              <a:gd name="adj1" fmla="val 50000"/>
            </a:avLst>
          </a:prstGeom>
          <a:ln w="28575">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Connector: Elbow 99">
            <a:extLst>
              <a:ext uri="{FF2B5EF4-FFF2-40B4-BE49-F238E27FC236}">
                <a16:creationId xmlns:a16="http://schemas.microsoft.com/office/drawing/2014/main" id="{E06683F6-4B1F-719B-DCEB-AE718EBBD922}"/>
              </a:ext>
            </a:extLst>
          </p:cNvPr>
          <p:cNvCxnSpPr>
            <a:cxnSpLocks/>
            <a:stCxn id="68" idx="0"/>
            <a:endCxn id="91" idx="2"/>
          </p:cNvCxnSpPr>
          <p:nvPr/>
        </p:nvCxnSpPr>
        <p:spPr>
          <a:xfrm rot="16200000" flipV="1">
            <a:off x="4402556" y="3383248"/>
            <a:ext cx="433500" cy="307974"/>
          </a:xfrm>
          <a:prstGeom prst="bentConnector3">
            <a:avLst>
              <a:gd name="adj1" fmla="val 50000"/>
            </a:avLst>
          </a:prstGeom>
          <a:ln w="28575">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04" name="TextBox 103">
            <a:extLst>
              <a:ext uri="{FF2B5EF4-FFF2-40B4-BE49-F238E27FC236}">
                <a16:creationId xmlns:a16="http://schemas.microsoft.com/office/drawing/2014/main" id="{13BAA5C6-E1A8-928E-2FF4-8957FC40CD4E}"/>
              </a:ext>
            </a:extLst>
          </p:cNvPr>
          <p:cNvSpPr txBox="1"/>
          <p:nvPr/>
        </p:nvSpPr>
        <p:spPr>
          <a:xfrm>
            <a:off x="4000434" y="208364"/>
            <a:ext cx="4238148" cy="369332"/>
          </a:xfrm>
          <a:prstGeom prst="rect">
            <a:avLst/>
          </a:prstGeom>
          <a:noFill/>
        </p:spPr>
        <p:txBody>
          <a:bodyPr wrap="none" rtlCol="0">
            <a:spAutoFit/>
          </a:bodyPr>
          <a:lstStyle/>
          <a:p>
            <a:pPr algn="ctr"/>
            <a:r>
              <a:rPr lang="en-US" dirty="0">
                <a:solidFill>
                  <a:schemeClr val="bg1"/>
                </a:solidFill>
              </a:rPr>
              <a:t>Web App SPA and Backend Architecture</a:t>
            </a:r>
          </a:p>
        </p:txBody>
      </p:sp>
      <p:grpSp>
        <p:nvGrpSpPr>
          <p:cNvPr id="78" name="Group 77">
            <a:extLst>
              <a:ext uri="{FF2B5EF4-FFF2-40B4-BE49-F238E27FC236}">
                <a16:creationId xmlns:a16="http://schemas.microsoft.com/office/drawing/2014/main" id="{011689FC-BDAD-7E51-F4B5-DA7DEDAB0104}"/>
              </a:ext>
            </a:extLst>
          </p:cNvPr>
          <p:cNvGrpSpPr/>
          <p:nvPr/>
        </p:nvGrpSpPr>
        <p:grpSpPr>
          <a:xfrm>
            <a:off x="3991747" y="4782414"/>
            <a:ext cx="934836" cy="491345"/>
            <a:chOff x="3991747" y="4782414"/>
            <a:chExt cx="934836" cy="491345"/>
          </a:xfrm>
        </p:grpSpPr>
        <p:pic>
          <p:nvPicPr>
            <p:cNvPr id="67" name="Graphic 23" descr="Amazon DynamoDB service icon.">
              <a:extLst>
                <a:ext uri="{FF2B5EF4-FFF2-40B4-BE49-F238E27FC236}">
                  <a16:creationId xmlns:a16="http://schemas.microsoft.com/office/drawing/2014/main" id="{1E875D57-26B0-EFAC-2798-76923F91FA8D}"/>
                </a:ext>
              </a:extLst>
            </p:cNvPr>
            <p:cNvPicPr>
              <a:picLocks noChangeAspect="1" noChangeArrowheads="1"/>
            </p:cNvPicPr>
            <p:nvPr/>
          </p:nvPicPr>
          <p:blipFill>
            <a:blip>
              <a:extLst>
                <a:ext uri="{96DAC541-7B7A-43D3-8B79-37D633B846F1}">
                  <asvg:svgBlip xmlns:asvg="http://schemas.microsoft.com/office/drawing/2016/SVG/main" r:embed="rId15"/>
                </a:ext>
              </a:extLst>
            </a:blip>
            <a:srcRect/>
            <a:stretch/>
          </p:blipFill>
          <p:spPr bwMode="auto">
            <a:xfrm>
              <a:off x="4322005" y="4782414"/>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11">
              <a:extLst>
                <a:ext uri="{FF2B5EF4-FFF2-40B4-BE49-F238E27FC236}">
                  <a16:creationId xmlns:a16="http://schemas.microsoft.com/office/drawing/2014/main" id="{D2D74F82-D16E-3123-607F-1803520805DD}"/>
                </a:ext>
              </a:extLst>
            </p:cNvPr>
            <p:cNvSpPr txBox="1">
              <a:spLocks noChangeArrowheads="1"/>
            </p:cNvSpPr>
            <p:nvPr/>
          </p:nvSpPr>
          <p:spPr bwMode="auto">
            <a:xfrm>
              <a:off x="3991747" y="5027538"/>
              <a:ext cx="93483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DynamoDB</a:t>
              </a:r>
            </a:p>
          </p:txBody>
        </p:sp>
      </p:grpSp>
      <p:grpSp>
        <p:nvGrpSpPr>
          <p:cNvPr id="79" name="Group 78">
            <a:extLst>
              <a:ext uri="{FF2B5EF4-FFF2-40B4-BE49-F238E27FC236}">
                <a16:creationId xmlns:a16="http://schemas.microsoft.com/office/drawing/2014/main" id="{7DEE2290-E22F-CCF0-73B0-169EDBD7C5E8}"/>
              </a:ext>
            </a:extLst>
          </p:cNvPr>
          <p:cNvGrpSpPr/>
          <p:nvPr/>
        </p:nvGrpSpPr>
        <p:grpSpPr>
          <a:xfrm>
            <a:off x="5039124" y="4758126"/>
            <a:ext cx="474496" cy="479772"/>
            <a:chOff x="5039124" y="4758126"/>
            <a:chExt cx="474496" cy="479772"/>
          </a:xfrm>
        </p:grpSpPr>
        <p:pic>
          <p:nvPicPr>
            <p:cNvPr id="66" name="Graphic 8" descr="Amazon Simple Storage Service (Amazon S3) service icon.">
              <a:extLst>
                <a:ext uri="{FF2B5EF4-FFF2-40B4-BE49-F238E27FC236}">
                  <a16:creationId xmlns:a16="http://schemas.microsoft.com/office/drawing/2014/main" id="{58F32006-8CF4-8BA8-946C-F591F8C4316C}"/>
                </a:ext>
              </a:extLst>
            </p:cNvPr>
            <p:cNvPicPr>
              <a:picLocks noChangeAspect="1" noChangeArrowheads="1"/>
            </p:cNvPicPr>
            <p:nvPr/>
          </p:nvPicPr>
          <p:blipFill>
            <a:blip>
              <a:extLst>
                <a:ext uri="{96DAC541-7B7A-43D3-8B79-37D633B846F1}">
                  <asvg:svgBlip xmlns:asvg="http://schemas.microsoft.com/office/drawing/2016/SVG/main" r:embed="rId7"/>
                </a:ext>
              </a:extLst>
            </a:blip>
            <a:srcRect/>
            <a:stretch/>
          </p:blipFill>
          <p:spPr bwMode="auto">
            <a:xfrm>
              <a:off x="5134272" y="4758126"/>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 name="TextBox 9">
              <a:extLst>
                <a:ext uri="{FF2B5EF4-FFF2-40B4-BE49-F238E27FC236}">
                  <a16:creationId xmlns:a16="http://schemas.microsoft.com/office/drawing/2014/main" id="{06F875E8-3970-6A2A-A331-CA7F76C72887}"/>
                </a:ext>
              </a:extLst>
            </p:cNvPr>
            <p:cNvSpPr txBox="1">
              <a:spLocks noChangeArrowheads="1"/>
            </p:cNvSpPr>
            <p:nvPr/>
          </p:nvSpPr>
          <p:spPr bwMode="auto">
            <a:xfrm>
              <a:off x="5039124" y="4991677"/>
              <a:ext cx="47449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S3</a:t>
              </a:r>
            </a:p>
          </p:txBody>
        </p:sp>
      </p:grpSp>
      <p:sp>
        <p:nvSpPr>
          <p:cNvPr id="63" name="TextBox 9">
            <a:extLst>
              <a:ext uri="{FF2B5EF4-FFF2-40B4-BE49-F238E27FC236}">
                <a16:creationId xmlns:a16="http://schemas.microsoft.com/office/drawing/2014/main" id="{17773EA2-69C7-872F-8DEF-126EFF8EFE53}"/>
              </a:ext>
            </a:extLst>
          </p:cNvPr>
          <p:cNvSpPr txBox="1">
            <a:spLocks noChangeArrowheads="1"/>
          </p:cNvSpPr>
          <p:nvPr/>
        </p:nvSpPr>
        <p:spPr bwMode="auto">
          <a:xfrm>
            <a:off x="1824680" y="4978595"/>
            <a:ext cx="931832"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CloudFront</a:t>
            </a:r>
          </a:p>
        </p:txBody>
      </p:sp>
      <p:sp>
        <p:nvSpPr>
          <p:cNvPr id="75" name="TextBox 9">
            <a:extLst>
              <a:ext uri="{FF2B5EF4-FFF2-40B4-BE49-F238E27FC236}">
                <a16:creationId xmlns:a16="http://schemas.microsoft.com/office/drawing/2014/main" id="{031E997F-094D-5E45-3589-ED08AF5AA28A}"/>
              </a:ext>
            </a:extLst>
          </p:cNvPr>
          <p:cNvSpPr txBox="1">
            <a:spLocks noChangeArrowheads="1"/>
          </p:cNvSpPr>
          <p:nvPr/>
        </p:nvSpPr>
        <p:spPr bwMode="auto">
          <a:xfrm>
            <a:off x="1820808" y="4218053"/>
            <a:ext cx="931832"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WAF</a:t>
            </a:r>
          </a:p>
        </p:txBody>
      </p:sp>
      <p:sp>
        <p:nvSpPr>
          <p:cNvPr id="77" name="TextBox 9">
            <a:extLst>
              <a:ext uri="{FF2B5EF4-FFF2-40B4-BE49-F238E27FC236}">
                <a16:creationId xmlns:a16="http://schemas.microsoft.com/office/drawing/2014/main" id="{84937EC8-CDF1-C785-6E3F-F6DBE187C4A0}"/>
              </a:ext>
            </a:extLst>
          </p:cNvPr>
          <p:cNvSpPr txBox="1">
            <a:spLocks noChangeArrowheads="1"/>
          </p:cNvSpPr>
          <p:nvPr/>
        </p:nvSpPr>
        <p:spPr bwMode="auto">
          <a:xfrm>
            <a:off x="2591210" y="3362260"/>
            <a:ext cx="931832"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API </a:t>
            </a:r>
          </a:p>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Gateway</a:t>
            </a:r>
          </a:p>
        </p:txBody>
      </p:sp>
      <p:sp>
        <p:nvSpPr>
          <p:cNvPr id="144" name="TextBox 9">
            <a:extLst>
              <a:ext uri="{FF2B5EF4-FFF2-40B4-BE49-F238E27FC236}">
                <a16:creationId xmlns:a16="http://schemas.microsoft.com/office/drawing/2014/main" id="{8C092407-E350-2BBE-9668-3ACE100ABCAF}"/>
              </a:ext>
            </a:extLst>
          </p:cNvPr>
          <p:cNvSpPr txBox="1">
            <a:spLocks noChangeArrowheads="1"/>
          </p:cNvSpPr>
          <p:nvPr/>
        </p:nvSpPr>
        <p:spPr bwMode="auto">
          <a:xfrm>
            <a:off x="3111266" y="4963121"/>
            <a:ext cx="47449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S3</a:t>
            </a:r>
          </a:p>
        </p:txBody>
      </p:sp>
      <p:sp>
        <p:nvSpPr>
          <p:cNvPr id="16" name="TextBox 12">
            <a:extLst>
              <a:ext uri="{FF2B5EF4-FFF2-40B4-BE49-F238E27FC236}">
                <a16:creationId xmlns:a16="http://schemas.microsoft.com/office/drawing/2014/main" id="{EBE186AA-E0B4-8040-87DF-61DAE1C588AD}"/>
              </a:ext>
            </a:extLst>
          </p:cNvPr>
          <p:cNvSpPr txBox="1">
            <a:spLocks noChangeArrowheads="1"/>
          </p:cNvSpPr>
          <p:nvPr/>
        </p:nvSpPr>
        <p:spPr bwMode="auto">
          <a:xfrm>
            <a:off x="2597092" y="1690705"/>
            <a:ext cx="919174"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Cognito</a:t>
            </a:r>
          </a:p>
        </p:txBody>
      </p:sp>
      <p:pic>
        <p:nvPicPr>
          <p:cNvPr id="33" name="Graphic 32" descr="User with solid fill">
            <a:extLst>
              <a:ext uri="{FF2B5EF4-FFF2-40B4-BE49-F238E27FC236}">
                <a16:creationId xmlns:a16="http://schemas.microsoft.com/office/drawing/2014/main" id="{05BAD76F-DA56-760B-97AF-4725BE210CDE}"/>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93264" y="3878247"/>
            <a:ext cx="914400" cy="914400"/>
          </a:xfrm>
          <a:prstGeom prst="rect">
            <a:avLst/>
          </a:prstGeom>
        </p:spPr>
      </p:pic>
      <p:sp>
        <p:nvSpPr>
          <p:cNvPr id="34" name="Rectangle 33">
            <a:extLst>
              <a:ext uri="{FF2B5EF4-FFF2-40B4-BE49-F238E27FC236}">
                <a16:creationId xmlns:a16="http://schemas.microsoft.com/office/drawing/2014/main" id="{52B9680A-693F-6AD3-A703-D1EF683D1ACD}"/>
              </a:ext>
            </a:extLst>
          </p:cNvPr>
          <p:cNvSpPr/>
          <p:nvPr/>
        </p:nvSpPr>
        <p:spPr>
          <a:xfrm>
            <a:off x="93264" y="3660526"/>
            <a:ext cx="1271559" cy="1535088"/>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5" name="Connector: Elbow 34">
            <a:extLst>
              <a:ext uri="{FF2B5EF4-FFF2-40B4-BE49-F238E27FC236}">
                <a16:creationId xmlns:a16="http://schemas.microsoft.com/office/drawing/2014/main" id="{9CA92961-5384-B5E7-A6A2-138E59281ED4}"/>
              </a:ext>
            </a:extLst>
          </p:cNvPr>
          <p:cNvCxnSpPr>
            <a:cxnSpLocks/>
            <a:stCxn id="34" idx="0"/>
            <a:endCxn id="27" idx="2"/>
          </p:cNvCxnSpPr>
          <p:nvPr/>
        </p:nvCxnSpPr>
        <p:spPr>
          <a:xfrm rot="5400000" flipH="1" flipV="1">
            <a:off x="443555" y="1940515"/>
            <a:ext cx="2005500" cy="1434523"/>
          </a:xfrm>
          <a:prstGeom prst="bentConnector3">
            <a:avLst>
              <a:gd name="adj1" fmla="val 73263"/>
            </a:avLst>
          </a:prstGeom>
          <a:ln>
            <a:solidFill>
              <a:schemeClr val="bg1"/>
            </a:solidFill>
            <a:tailEnd type="triangle"/>
          </a:ln>
        </p:spPr>
        <p:style>
          <a:lnRef idx="2">
            <a:schemeClr val="accent1"/>
          </a:lnRef>
          <a:fillRef idx="0">
            <a:schemeClr val="accent1"/>
          </a:fillRef>
          <a:effectRef idx="1">
            <a:schemeClr val="accent1"/>
          </a:effectRef>
          <a:fontRef idx="minor">
            <a:schemeClr val="tx1"/>
          </a:fontRef>
        </p:style>
      </p:cxnSp>
      <p:cxnSp>
        <p:nvCxnSpPr>
          <p:cNvPr id="40" name="Connector: Elbow 39">
            <a:extLst>
              <a:ext uri="{FF2B5EF4-FFF2-40B4-BE49-F238E27FC236}">
                <a16:creationId xmlns:a16="http://schemas.microsoft.com/office/drawing/2014/main" id="{73B79B76-DAB9-FD8D-D8DF-8A8E8E547ADB}"/>
              </a:ext>
            </a:extLst>
          </p:cNvPr>
          <p:cNvCxnSpPr>
            <a:cxnSpLocks/>
            <a:stCxn id="34" idx="0"/>
            <a:endCxn id="64" idx="2"/>
          </p:cNvCxnSpPr>
          <p:nvPr/>
        </p:nvCxnSpPr>
        <p:spPr>
          <a:xfrm rot="5400000" flipH="1" flipV="1">
            <a:off x="1140938" y="1762584"/>
            <a:ext cx="1486049" cy="2309837"/>
          </a:xfrm>
          <a:prstGeom prst="bentConnector3">
            <a:avLst>
              <a:gd name="adj1" fmla="val 70092"/>
            </a:avLst>
          </a:prstGeom>
          <a:ln>
            <a:solidFill>
              <a:schemeClr val="bg1"/>
            </a:solidFill>
            <a:tailEnd type="triangle"/>
          </a:ln>
        </p:spPr>
        <p:style>
          <a:lnRef idx="2">
            <a:schemeClr val="accent1"/>
          </a:lnRef>
          <a:fillRef idx="0">
            <a:schemeClr val="accent1"/>
          </a:fillRef>
          <a:effectRef idx="1">
            <a:schemeClr val="accent1"/>
          </a:effectRef>
          <a:fontRef idx="minor">
            <a:schemeClr val="tx1"/>
          </a:fontRef>
        </p:style>
      </p:cxnSp>
      <p:grpSp>
        <p:nvGrpSpPr>
          <p:cNvPr id="2" name="Group 1">
            <a:extLst>
              <a:ext uri="{FF2B5EF4-FFF2-40B4-BE49-F238E27FC236}">
                <a16:creationId xmlns:a16="http://schemas.microsoft.com/office/drawing/2014/main" id="{661E8847-7AA4-4546-5B48-110ECB3C022A}"/>
              </a:ext>
            </a:extLst>
          </p:cNvPr>
          <p:cNvGrpSpPr/>
          <p:nvPr/>
        </p:nvGrpSpPr>
        <p:grpSpPr>
          <a:xfrm>
            <a:off x="85060" y="5603361"/>
            <a:ext cx="3153842" cy="1193249"/>
            <a:chOff x="85060" y="5603361"/>
            <a:chExt cx="3153842" cy="1193249"/>
          </a:xfrm>
        </p:grpSpPr>
        <p:sp>
          <p:nvSpPr>
            <p:cNvPr id="31" name="Rectangle 30">
              <a:extLst>
                <a:ext uri="{FF2B5EF4-FFF2-40B4-BE49-F238E27FC236}">
                  <a16:creationId xmlns:a16="http://schemas.microsoft.com/office/drawing/2014/main" id="{62352087-3DF0-EF2E-8E34-48A7D92D0128}"/>
                </a:ext>
              </a:extLst>
            </p:cNvPr>
            <p:cNvSpPr/>
            <p:nvPr/>
          </p:nvSpPr>
          <p:spPr>
            <a:xfrm>
              <a:off x="85060" y="5603361"/>
              <a:ext cx="3153842" cy="1193249"/>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32" name="Graphic 8" descr="AWS WAF service icon.">
              <a:extLst>
                <a:ext uri="{FF2B5EF4-FFF2-40B4-BE49-F238E27FC236}">
                  <a16:creationId xmlns:a16="http://schemas.microsoft.com/office/drawing/2014/main" id="{C0B93156-8D7D-89BC-8A79-2C4EF4805BD7}"/>
                </a:ext>
              </a:extLst>
            </p:cNvPr>
            <p:cNvPicPr>
              <a:picLocks noChangeAspect="1" noChangeArrowheads="1"/>
            </p:cNvPicPr>
            <p:nvPr/>
          </p:nvPicPr>
          <p:blipFill>
            <a:blip>
              <a:extLst>
                <a:ext uri="{96DAC541-7B7A-43D3-8B79-37D633B846F1}">
                  <asvg:svgBlip xmlns:asvg="http://schemas.microsoft.com/office/drawing/2016/SVG/main" r:embed="rId5"/>
                </a:ext>
              </a:extLst>
            </a:blip>
            <a:srcRect/>
            <a:stretch/>
          </p:blipFill>
          <p:spPr bwMode="auto">
            <a:xfrm>
              <a:off x="273020" y="5729290"/>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6" name="TextBox 35">
              <a:extLst>
                <a:ext uri="{FF2B5EF4-FFF2-40B4-BE49-F238E27FC236}">
                  <a16:creationId xmlns:a16="http://schemas.microsoft.com/office/drawing/2014/main" id="{418C662B-3900-9301-D40D-68AF55D1DF77}"/>
                </a:ext>
              </a:extLst>
            </p:cNvPr>
            <p:cNvSpPr txBox="1"/>
            <p:nvPr/>
          </p:nvSpPr>
          <p:spPr>
            <a:xfrm>
              <a:off x="548418" y="5762371"/>
              <a:ext cx="357790"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WAF</a:t>
              </a:r>
            </a:p>
          </p:txBody>
        </p:sp>
        <p:pic>
          <p:nvPicPr>
            <p:cNvPr id="37" name="Graphic 19" descr="Amazon CloudFront service icon.">
              <a:extLst>
                <a:ext uri="{FF2B5EF4-FFF2-40B4-BE49-F238E27FC236}">
                  <a16:creationId xmlns:a16="http://schemas.microsoft.com/office/drawing/2014/main" id="{F537EFF4-D574-21EB-0F27-FFBDDFD55E44}"/>
                </a:ext>
              </a:extLst>
            </p:cNvPr>
            <p:cNvPicPr>
              <a:picLocks noChangeAspect="1" noChangeArrowheads="1"/>
            </p:cNvPicPr>
            <p:nvPr/>
          </p:nvPicPr>
          <p:blipFill>
            <a:blip>
              <a:extLst>
                <a:ext uri="{96DAC541-7B7A-43D3-8B79-37D633B846F1}">
                  <asvg:svgBlip xmlns:asvg="http://schemas.microsoft.com/office/drawing/2016/SVG/main" r:embed="rId6"/>
                </a:ext>
              </a:extLst>
            </a:blip>
            <a:srcRect/>
            <a:stretch/>
          </p:blipFill>
          <p:spPr bwMode="auto">
            <a:xfrm>
              <a:off x="273020" y="6056039"/>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Box 37">
              <a:extLst>
                <a:ext uri="{FF2B5EF4-FFF2-40B4-BE49-F238E27FC236}">
                  <a16:creationId xmlns:a16="http://schemas.microsoft.com/office/drawing/2014/main" id="{C8AEF356-EAE1-4F37-98FB-195FFECDB477}"/>
                </a:ext>
              </a:extLst>
            </p:cNvPr>
            <p:cNvSpPr txBox="1"/>
            <p:nvPr/>
          </p:nvSpPr>
          <p:spPr>
            <a:xfrm>
              <a:off x="548858" y="6098719"/>
              <a:ext cx="593432"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CloudFront</a:t>
              </a:r>
            </a:p>
          </p:txBody>
        </p:sp>
        <p:pic>
          <p:nvPicPr>
            <p:cNvPr id="39" name="Graphic 7" descr="Amazon API Gateway service icon.">
              <a:extLst>
                <a:ext uri="{FF2B5EF4-FFF2-40B4-BE49-F238E27FC236}">
                  <a16:creationId xmlns:a16="http://schemas.microsoft.com/office/drawing/2014/main" id="{2703A6D3-3E1A-ACD2-7E0C-4EA8A275FEE1}"/>
                </a:ext>
              </a:extLst>
            </p:cNvPr>
            <p:cNvPicPr>
              <a:picLocks noChangeAspect="1" noChangeArrowheads="1"/>
            </p:cNvPicPr>
            <p:nvPr/>
          </p:nvPicPr>
          <p:blipFill>
            <a:blip>
              <a:extLst>
                <a:ext uri="{96DAC541-7B7A-43D3-8B79-37D633B846F1}">
                  <asvg:svgBlip xmlns:asvg="http://schemas.microsoft.com/office/drawing/2016/SVG/main" r:embed="rId10"/>
                </a:ext>
              </a:extLst>
            </a:blip>
            <a:srcRect/>
            <a:stretch/>
          </p:blipFill>
          <p:spPr bwMode="auto">
            <a:xfrm>
              <a:off x="273020" y="6382788"/>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Box 40">
              <a:extLst>
                <a:ext uri="{FF2B5EF4-FFF2-40B4-BE49-F238E27FC236}">
                  <a16:creationId xmlns:a16="http://schemas.microsoft.com/office/drawing/2014/main" id="{60C28595-0793-049D-149D-BDDCA9AC8B8C}"/>
                </a:ext>
              </a:extLst>
            </p:cNvPr>
            <p:cNvSpPr txBox="1"/>
            <p:nvPr/>
          </p:nvSpPr>
          <p:spPr>
            <a:xfrm>
              <a:off x="548860" y="6423956"/>
              <a:ext cx="647934"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API Gateway</a:t>
              </a:r>
            </a:p>
          </p:txBody>
        </p:sp>
        <p:sp>
          <p:nvSpPr>
            <p:cNvPr id="42" name="TextBox 41">
              <a:extLst>
                <a:ext uri="{FF2B5EF4-FFF2-40B4-BE49-F238E27FC236}">
                  <a16:creationId xmlns:a16="http://schemas.microsoft.com/office/drawing/2014/main" id="{B16AD18F-5CCB-75C6-6227-3E9780C6BC2E}"/>
                </a:ext>
              </a:extLst>
            </p:cNvPr>
            <p:cNvSpPr txBox="1"/>
            <p:nvPr/>
          </p:nvSpPr>
          <p:spPr>
            <a:xfrm>
              <a:off x="1527497" y="5783435"/>
              <a:ext cx="325730"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SNS</a:t>
              </a:r>
            </a:p>
          </p:txBody>
        </p:sp>
        <p:sp>
          <p:nvSpPr>
            <p:cNvPr id="43" name="TextBox 42">
              <a:extLst>
                <a:ext uri="{FF2B5EF4-FFF2-40B4-BE49-F238E27FC236}">
                  <a16:creationId xmlns:a16="http://schemas.microsoft.com/office/drawing/2014/main" id="{3CD38D5E-4CEA-9770-DD93-41BE3F236BAA}"/>
                </a:ext>
              </a:extLst>
            </p:cNvPr>
            <p:cNvSpPr txBox="1"/>
            <p:nvPr/>
          </p:nvSpPr>
          <p:spPr>
            <a:xfrm>
              <a:off x="1531143" y="6092888"/>
              <a:ext cx="328936"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SQS</a:t>
              </a:r>
            </a:p>
          </p:txBody>
        </p:sp>
        <p:sp>
          <p:nvSpPr>
            <p:cNvPr id="44" name="TextBox 43">
              <a:extLst>
                <a:ext uri="{FF2B5EF4-FFF2-40B4-BE49-F238E27FC236}">
                  <a16:creationId xmlns:a16="http://schemas.microsoft.com/office/drawing/2014/main" id="{F98425BC-F526-6C82-BAB7-A25C247D071A}"/>
                </a:ext>
              </a:extLst>
            </p:cNvPr>
            <p:cNvSpPr txBox="1"/>
            <p:nvPr/>
          </p:nvSpPr>
          <p:spPr>
            <a:xfrm>
              <a:off x="2481410" y="6094792"/>
              <a:ext cx="482824" cy="200055"/>
            </a:xfrm>
            <a:prstGeom prst="rect">
              <a:avLst/>
            </a:prstGeom>
            <a:noFill/>
          </p:spPr>
          <p:txBody>
            <a:bodyPr wrap="none" rtlCol="0">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Bedrock</a:t>
              </a:r>
            </a:p>
          </p:txBody>
        </p:sp>
        <p:pic>
          <p:nvPicPr>
            <p:cNvPr id="45" name="Graphic 44" descr="Endpoints resource icon for the Amazon VPC service.&#10;">
              <a:extLst>
                <a:ext uri="{FF2B5EF4-FFF2-40B4-BE49-F238E27FC236}">
                  <a16:creationId xmlns:a16="http://schemas.microsoft.com/office/drawing/2014/main" id="{D8688D71-3A02-A3A9-D892-BEC311FB4EDA}"/>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216552" y="6382788"/>
              <a:ext cx="274320" cy="274320"/>
            </a:xfrm>
            <a:prstGeom prst="rect">
              <a:avLst/>
            </a:prstGeom>
          </p:spPr>
        </p:pic>
        <p:sp>
          <p:nvSpPr>
            <p:cNvPr id="46" name="TextBox 45">
              <a:extLst>
                <a:ext uri="{FF2B5EF4-FFF2-40B4-BE49-F238E27FC236}">
                  <a16:creationId xmlns:a16="http://schemas.microsoft.com/office/drawing/2014/main" id="{DF2484B4-96F7-E468-1CF2-DE3343A67FC2}"/>
                </a:ext>
              </a:extLst>
            </p:cNvPr>
            <p:cNvSpPr txBox="1"/>
            <p:nvPr/>
          </p:nvSpPr>
          <p:spPr>
            <a:xfrm>
              <a:off x="2477155" y="6414402"/>
              <a:ext cx="761747" cy="307777"/>
            </a:xfrm>
            <a:prstGeom prst="rect">
              <a:avLst/>
            </a:prstGeom>
            <a:noFill/>
          </p:spPr>
          <p:txBody>
            <a:bodyPr wrap="none" rtlCol="0">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VPC Endpoint &amp;</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VPC Links</a:t>
              </a:r>
            </a:p>
          </p:txBody>
        </p:sp>
        <p:sp>
          <p:nvSpPr>
            <p:cNvPr id="47" name="TextBox 46">
              <a:extLst>
                <a:ext uri="{FF2B5EF4-FFF2-40B4-BE49-F238E27FC236}">
                  <a16:creationId xmlns:a16="http://schemas.microsoft.com/office/drawing/2014/main" id="{C45E3C41-DCEF-26B0-6A69-87741C662E60}"/>
                </a:ext>
              </a:extLst>
            </p:cNvPr>
            <p:cNvSpPr txBox="1"/>
            <p:nvPr/>
          </p:nvSpPr>
          <p:spPr>
            <a:xfrm>
              <a:off x="1561712" y="6385050"/>
              <a:ext cx="713657"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Step Function</a:t>
              </a:r>
            </a:p>
          </p:txBody>
        </p:sp>
        <p:sp>
          <p:nvSpPr>
            <p:cNvPr id="48" name="TextBox 17">
              <a:extLst>
                <a:ext uri="{FF2B5EF4-FFF2-40B4-BE49-F238E27FC236}">
                  <a16:creationId xmlns:a16="http://schemas.microsoft.com/office/drawing/2014/main" id="{2A779037-B02D-4328-EEA4-3C442C24B209}"/>
                </a:ext>
                <a:ext uri="{C183D7F6-B498-43B3-948B-1728B52AA6E4}">
                  <adec:decorative xmlns:adec="http://schemas.microsoft.com/office/drawing/2017/decorative" val="1"/>
                </a:ext>
              </a:extLst>
            </p:cNvPr>
            <p:cNvSpPr txBox="1">
              <a:spLocks noChangeArrowheads="1"/>
            </p:cNvSpPr>
            <p:nvPr/>
          </p:nvSpPr>
          <p:spPr bwMode="auto">
            <a:xfrm>
              <a:off x="2444914" y="5772368"/>
              <a:ext cx="778042" cy="2000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en-US" sz="700" b="0" i="0" u="none" strike="noStrike" kern="1200" cap="none" spc="0" normalizeH="0" baseline="0" noProof="0" dirty="0">
                  <a:ln>
                    <a:noFill/>
                  </a:ln>
                  <a:solidFill>
                    <a:prstClr val="black"/>
                  </a:solidFill>
                  <a:effectLst/>
                  <a:uLnTx/>
                  <a:uFillTx/>
                  <a:latin typeface="Arial" panose="020B0604020202020204" pitchFamily="34" charset="0"/>
                  <a:ea typeface="Amazon Ember" panose="020B0603020204020204" pitchFamily="34" charset="0"/>
                  <a:cs typeface="Arial" panose="020B0604020202020204" pitchFamily="34" charset="0"/>
                </a:rPr>
                <a:t>Transcribe</a:t>
              </a:r>
            </a:p>
          </p:txBody>
        </p:sp>
        <p:pic>
          <p:nvPicPr>
            <p:cNvPr id="49" name="Graphic 26" descr="Amazon Simple Queue Service (Amazon SQS) service icon.">
              <a:extLst>
                <a:ext uri="{FF2B5EF4-FFF2-40B4-BE49-F238E27FC236}">
                  <a16:creationId xmlns:a16="http://schemas.microsoft.com/office/drawing/2014/main" id="{404A1A50-CF7B-F6E4-EBD4-B1B4C8B3BCAF}"/>
                </a:ext>
              </a:extLst>
            </p:cNvPr>
            <p:cNvPicPr>
              <a:picLocks noChangeAspect="1" noChangeArrowheads="1"/>
            </p:cNvPicPr>
            <p:nvPr/>
          </p:nvPicPr>
          <p:blipFill>
            <a:blip>
              <a:extLst>
                <a:ext uri="{96DAC541-7B7A-43D3-8B79-37D633B846F1}">
                  <asvg:svgBlip xmlns:asvg="http://schemas.microsoft.com/office/drawing/2016/SVG/main" r:embed="rId13"/>
                </a:ext>
              </a:extLst>
            </a:blip>
            <a:srcRect/>
            <a:stretch/>
          </p:blipFill>
          <p:spPr bwMode="auto">
            <a:xfrm>
              <a:off x="1253177" y="6056039"/>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0" name="Graphic 24" descr="Amazon Simple Notification Service (Amazon SNS) service icon.">
              <a:extLst>
                <a:ext uri="{FF2B5EF4-FFF2-40B4-BE49-F238E27FC236}">
                  <a16:creationId xmlns:a16="http://schemas.microsoft.com/office/drawing/2014/main" id="{0D94A00A-6AD1-302E-761C-0FB735B45734}"/>
                </a:ext>
              </a:extLst>
            </p:cNvPr>
            <p:cNvPicPr>
              <a:picLocks noChangeAspect="1" noChangeArrowheads="1"/>
            </p:cNvPicPr>
            <p:nvPr/>
          </p:nvPicPr>
          <p:blipFill>
            <a:blip>
              <a:extLst>
                <a:ext uri="{96DAC541-7B7A-43D3-8B79-37D633B846F1}">
                  <asvg:svgBlip xmlns:asvg="http://schemas.microsoft.com/office/drawing/2016/SVG/main" r:embed="rId14"/>
                </a:ext>
              </a:extLst>
            </a:blip>
            <a:srcRect/>
            <a:stretch/>
          </p:blipFill>
          <p:spPr bwMode="auto">
            <a:xfrm>
              <a:off x="1253177" y="5729290"/>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1" name="Graphic 17" descr="AWS Step Functions service icon.">
              <a:extLst>
                <a:ext uri="{FF2B5EF4-FFF2-40B4-BE49-F238E27FC236}">
                  <a16:creationId xmlns:a16="http://schemas.microsoft.com/office/drawing/2014/main" id="{4BAD5B8A-9B0B-8376-EA8C-817949131E4C}"/>
                </a:ext>
              </a:extLst>
            </p:cNvPr>
            <p:cNvPicPr>
              <a:picLocks noChangeAspect="1" noChangeArrowheads="1"/>
            </p:cNvPicPr>
            <p:nvPr/>
          </p:nvPicPr>
          <p:blipFill>
            <a:blip>
              <a:extLst>
                <a:ext uri="{96DAC541-7B7A-43D3-8B79-37D633B846F1}">
                  <asvg:svgBlip xmlns:asvg="http://schemas.microsoft.com/office/drawing/2016/SVG/main" r:embed="rId17"/>
                </a:ext>
              </a:extLst>
            </a:blip>
            <a:srcRect/>
            <a:stretch/>
          </p:blipFill>
          <p:spPr bwMode="auto">
            <a:xfrm>
              <a:off x="1265116" y="6382788"/>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2" name="Graphic 51" descr="Amazon Bedrock service icon.">
              <a:extLst>
                <a:ext uri="{FF2B5EF4-FFF2-40B4-BE49-F238E27FC236}">
                  <a16:creationId xmlns:a16="http://schemas.microsoft.com/office/drawing/2014/main" id="{7904EC4D-F603-7ADB-25A4-83EFF978E108}"/>
                </a:ext>
              </a:extLst>
            </p:cNvPr>
            <p:cNvPicPr>
              <a:picLocks noChangeAspect="1"/>
            </p:cNvPicPr>
            <p:nvPr/>
          </p:nvPicPr>
          <p:blipFill>
            <a:blip>
              <a:extLst>
                <a:ext uri="{96DAC541-7B7A-43D3-8B79-37D633B846F1}">
                  <asvg:svgBlip xmlns:asvg="http://schemas.microsoft.com/office/drawing/2016/SVG/main" r:embed="rId18"/>
                </a:ext>
              </a:extLst>
            </a:blip>
            <a:srcRect/>
            <a:stretch/>
          </p:blipFill>
          <p:spPr>
            <a:xfrm>
              <a:off x="2216552" y="6056039"/>
              <a:ext cx="274320" cy="274320"/>
            </a:xfrm>
            <a:prstGeom prst="rect">
              <a:avLst/>
            </a:prstGeom>
          </p:spPr>
        </p:pic>
        <p:pic>
          <p:nvPicPr>
            <p:cNvPr id="53" name="Graphic 20" descr="Amazon Transcribe service icon.">
              <a:extLst>
                <a:ext uri="{FF2B5EF4-FFF2-40B4-BE49-F238E27FC236}">
                  <a16:creationId xmlns:a16="http://schemas.microsoft.com/office/drawing/2014/main" id="{90BE5FC6-CA86-5CA5-88E8-F705770971B9}"/>
                </a:ext>
              </a:extLst>
            </p:cNvPr>
            <p:cNvPicPr>
              <a:picLocks noChangeAspect="1" noChangeArrowheads="1"/>
            </p:cNvPicPr>
            <p:nvPr/>
          </p:nvPicPr>
          <p:blipFill>
            <a:blip>
              <a:extLst>
                <a:ext uri="{96DAC541-7B7A-43D3-8B79-37D633B846F1}">
                  <asvg:svgBlip xmlns:asvg="http://schemas.microsoft.com/office/drawing/2016/SVG/main" r:embed="rId19"/>
                </a:ext>
              </a:extLst>
            </a:blip>
            <a:srcRect/>
            <a:stretch/>
          </p:blipFill>
          <p:spPr bwMode="auto">
            <a:xfrm>
              <a:off x="2225048" y="5729290"/>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91062365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C96BE0-6172-F456-6FC8-DA7DADDD5909}"/>
            </a:ext>
          </a:extLst>
        </p:cNvPr>
        <p:cNvGrpSpPr/>
        <p:nvPr/>
      </p:nvGrpSpPr>
      <p:grpSpPr>
        <a:xfrm>
          <a:off x="0" y="0"/>
          <a:ext cx="0" cy="0"/>
          <a:chOff x="0" y="0"/>
          <a:chExt cx="0" cy="0"/>
        </a:xfrm>
      </p:grpSpPr>
      <p:grpSp>
        <p:nvGrpSpPr>
          <p:cNvPr id="4" name="aGrouping" descr="Example of AWS Cloud group, represented as a rectangle with AWS logo at the top left, and AWS Cloud as a title.">
            <a:extLst>
              <a:ext uri="{FF2B5EF4-FFF2-40B4-BE49-F238E27FC236}">
                <a16:creationId xmlns:a16="http://schemas.microsoft.com/office/drawing/2014/main" id="{A60CC929-843F-7333-802D-30AC2D7438D1}"/>
              </a:ext>
            </a:extLst>
          </p:cNvPr>
          <p:cNvGrpSpPr/>
          <p:nvPr/>
        </p:nvGrpSpPr>
        <p:grpSpPr>
          <a:xfrm>
            <a:off x="1873575" y="831451"/>
            <a:ext cx="9759888" cy="5140972"/>
            <a:chOff x="1126114" y="1236252"/>
            <a:chExt cx="2742722" cy="718165"/>
          </a:xfrm>
        </p:grpSpPr>
        <p:sp>
          <p:nvSpPr>
            <p:cNvPr id="5" name="Rectangle 4">
              <a:extLst>
                <a:ext uri="{FF2B5EF4-FFF2-40B4-BE49-F238E27FC236}">
                  <a16:creationId xmlns:a16="http://schemas.microsoft.com/office/drawing/2014/main" id="{7F4633C1-FB49-04BD-B222-7E157B8B4A84}"/>
                </a:ext>
              </a:extLst>
            </p:cNvPr>
            <p:cNvSpPr/>
            <p:nvPr/>
          </p:nvSpPr>
          <p:spPr>
            <a:xfrm>
              <a:off x="1126926" y="1236252"/>
              <a:ext cx="2741910" cy="718165"/>
            </a:xfrm>
            <a:prstGeom prst="rect">
              <a:avLst/>
            </a:prstGeom>
            <a:noFill/>
            <a:ln w="158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502920" tIns="9144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pic>
          <p:nvPicPr>
            <p:cNvPr id="6" name="Graphic 5">
              <a:extLst>
                <a:ext uri="{FF2B5EF4-FFF2-40B4-BE49-F238E27FC236}">
                  <a16:creationId xmlns:a16="http://schemas.microsoft.com/office/drawing/2014/main" id="{2099725B-C414-5B8D-83D1-F7E45AD1688A}"/>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1126114" y="1237248"/>
              <a:ext cx="85898" cy="53777"/>
            </a:xfrm>
            <a:prstGeom prst="rect">
              <a:avLst/>
            </a:prstGeom>
          </p:spPr>
        </p:pic>
      </p:grpSp>
      <p:grpSp>
        <p:nvGrpSpPr>
          <p:cNvPr id="7" name="AZGroup" descr="Group for availability zone, inside the AWS Cloud grouping.">
            <a:extLst>
              <a:ext uri="{FF2B5EF4-FFF2-40B4-BE49-F238E27FC236}">
                <a16:creationId xmlns:a16="http://schemas.microsoft.com/office/drawing/2014/main" id="{DED5575C-F4B5-F01E-E891-59E057DACD20}"/>
              </a:ext>
            </a:extLst>
          </p:cNvPr>
          <p:cNvGrpSpPr/>
          <p:nvPr/>
        </p:nvGrpSpPr>
        <p:grpSpPr>
          <a:xfrm>
            <a:off x="2749959" y="919950"/>
            <a:ext cx="8786265" cy="4616711"/>
            <a:chOff x="4188315" y="1576360"/>
            <a:chExt cx="8394391" cy="2984265"/>
          </a:xfrm>
        </p:grpSpPr>
        <p:sp>
          <p:nvSpPr>
            <p:cNvPr id="8" name="Rectangle 7" descr="AZ group border">
              <a:extLst>
                <a:ext uri="{FF2B5EF4-FFF2-40B4-BE49-F238E27FC236}">
                  <a16:creationId xmlns:a16="http://schemas.microsoft.com/office/drawing/2014/main" id="{E27FBD84-1C93-F552-1517-F7208FC64C90}"/>
                </a:ext>
              </a:extLst>
            </p:cNvPr>
            <p:cNvSpPr/>
            <p:nvPr/>
          </p:nvSpPr>
          <p:spPr>
            <a:xfrm>
              <a:off x="4188315" y="1576360"/>
              <a:ext cx="8394391" cy="2984265"/>
            </a:xfrm>
            <a:prstGeom prst="rect">
              <a:avLst/>
            </a:prstGeom>
            <a:noFill/>
            <a:ln w="15875">
              <a:solidFill>
                <a:srgbClr val="00A4A6"/>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srgbClr val="A5A5A5"/>
                </a:solidFill>
                <a:effectLst/>
                <a:uLnTx/>
                <a:uFillTx/>
                <a:latin typeface="Calibri" panose="020F0502020204030204"/>
                <a:ea typeface="+mn-ea"/>
                <a:cs typeface="+mn-cs"/>
              </a:endParaRPr>
            </a:p>
          </p:txBody>
        </p:sp>
        <p:sp>
          <p:nvSpPr>
            <p:cNvPr id="9" name="Rectangle 37">
              <a:extLst>
                <a:ext uri="{FF2B5EF4-FFF2-40B4-BE49-F238E27FC236}">
                  <a16:creationId xmlns:a16="http://schemas.microsoft.com/office/drawing/2014/main" id="{5E3EC36B-D720-ACD5-DDC4-74CD943AC0FC}"/>
                </a:ext>
              </a:extLst>
            </p:cNvPr>
            <p:cNvSpPr>
              <a:spLocks noChangeArrowheads="1"/>
            </p:cNvSpPr>
            <p:nvPr/>
          </p:nvSpPr>
          <p:spPr bwMode="auto">
            <a:xfrm>
              <a:off x="4328036" y="1576639"/>
              <a:ext cx="591223" cy="1564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700" b="1" i="0" u="none" strike="noStrike" kern="1200" cap="none" spc="0" normalizeH="0" baseline="0" noProof="0" dirty="0">
                  <a:ln>
                    <a:noFill/>
                  </a:ln>
                  <a:solidFill>
                    <a:srgbClr val="00A4A6"/>
                  </a:solidFill>
                  <a:effectLst/>
                  <a:uLnTx/>
                  <a:uFillTx/>
                  <a:latin typeface="Arial" panose="020B0604020202020204" pitchFamily="34" charset="0"/>
                  <a:ea typeface="+mn-ea"/>
                  <a:cs typeface="Arial" panose="020B0604020202020204" pitchFamily="34" charset="0"/>
                </a:rPr>
                <a:t>us-east-1 </a:t>
              </a:r>
            </a:p>
          </p:txBody>
        </p:sp>
      </p:grpSp>
      <p:pic>
        <p:nvPicPr>
          <p:cNvPr id="10" name="Graphic 9" descr="Region group icon.">
            <a:extLst>
              <a:ext uri="{FF2B5EF4-FFF2-40B4-BE49-F238E27FC236}">
                <a16:creationId xmlns:a16="http://schemas.microsoft.com/office/drawing/2014/main" id="{DDC30BDF-D1BF-96AE-A9F4-6C94BF3BEA4A}"/>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2759516" y="915579"/>
            <a:ext cx="181666" cy="181666"/>
          </a:xfrm>
          <a:prstGeom prst="rect">
            <a:avLst/>
          </a:prstGeom>
        </p:spPr>
      </p:pic>
      <p:sp>
        <p:nvSpPr>
          <p:cNvPr id="11" name="Rectangle 10">
            <a:extLst>
              <a:ext uri="{FF2B5EF4-FFF2-40B4-BE49-F238E27FC236}">
                <a16:creationId xmlns:a16="http://schemas.microsoft.com/office/drawing/2014/main" id="{95DFCBC9-120B-1790-537B-4FAD750CB3CD}"/>
              </a:ext>
              <a:ext uri="{C183D7F6-B498-43B3-948B-1728B52AA6E4}">
                <adec:decorative xmlns:adec="http://schemas.microsoft.com/office/drawing/2017/decorative" val="1"/>
              </a:ext>
            </a:extLst>
          </p:cNvPr>
          <p:cNvSpPr/>
          <p:nvPr/>
        </p:nvSpPr>
        <p:spPr bwMode="auto">
          <a:xfrm>
            <a:off x="3445586" y="1020727"/>
            <a:ext cx="8020990" cy="3410142"/>
          </a:xfrm>
          <a:prstGeom prst="rect">
            <a:avLst/>
          </a:prstGeom>
          <a:noFill/>
          <a:ln w="15875">
            <a:solidFill>
              <a:srgbClr val="8C4FFF"/>
            </a:solidFill>
          </a:ln>
        </p:spPr>
        <p:style>
          <a:lnRef idx="2">
            <a:schemeClr val="accent1">
              <a:shade val="50000"/>
            </a:schemeClr>
          </a:lnRef>
          <a:fillRef idx="1">
            <a:schemeClr val="accent1"/>
          </a:fillRef>
          <a:effectRef idx="0">
            <a:schemeClr val="accent1"/>
          </a:effectRef>
          <a:fontRef idx="minor">
            <a:schemeClr val="lt1"/>
          </a:fontRef>
        </p:style>
        <p:txBody>
          <a:bodyPr lIns="502920" tIns="9144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w="0"/>
              <a:solidFill>
                <a:prstClr val="black"/>
              </a:solidFill>
              <a:effectLst/>
              <a:uLnTx/>
              <a:uFillTx/>
              <a:latin typeface="Arial" panose="020B0604020202020204" pitchFamily="34" charset="0"/>
              <a:ea typeface="+mn-ea"/>
              <a:cs typeface="Arial" panose="020B0604020202020204" pitchFamily="34" charset="0"/>
            </a:endParaRPr>
          </a:p>
        </p:txBody>
      </p:sp>
      <p:pic>
        <p:nvPicPr>
          <p:cNvPr id="12" name="Graphic 11" descr="VPC group icon.">
            <a:extLst>
              <a:ext uri="{FF2B5EF4-FFF2-40B4-BE49-F238E27FC236}">
                <a16:creationId xmlns:a16="http://schemas.microsoft.com/office/drawing/2014/main" id="{5FDA1622-7045-EEFF-1335-0F4B11DFAD1E}"/>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449672" y="1028241"/>
            <a:ext cx="159014" cy="159014"/>
          </a:xfrm>
          <a:prstGeom prst="rect">
            <a:avLst/>
          </a:prstGeom>
        </p:spPr>
      </p:pic>
      <p:sp>
        <p:nvSpPr>
          <p:cNvPr id="13" name="Rectangle 37">
            <a:extLst>
              <a:ext uri="{FF2B5EF4-FFF2-40B4-BE49-F238E27FC236}">
                <a16:creationId xmlns:a16="http://schemas.microsoft.com/office/drawing/2014/main" id="{3EC66E0F-7DE2-E587-AAFB-67F7B0EF60DD}"/>
              </a:ext>
            </a:extLst>
          </p:cNvPr>
          <p:cNvSpPr>
            <a:spLocks noChangeArrowheads="1"/>
          </p:cNvSpPr>
          <p:nvPr/>
        </p:nvSpPr>
        <p:spPr bwMode="auto">
          <a:xfrm>
            <a:off x="3548707" y="1008918"/>
            <a:ext cx="367409" cy="2000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700" b="1" i="0" u="none" strike="noStrike" kern="1200" cap="none" spc="0" normalizeH="0" baseline="0" noProof="0" dirty="0">
                <a:ln>
                  <a:noFill/>
                </a:ln>
                <a:solidFill>
                  <a:srgbClr val="8C4FFF"/>
                </a:solidFill>
                <a:effectLst/>
                <a:uLnTx/>
                <a:uFillTx/>
                <a:latin typeface="Arial" panose="020B0604020202020204" pitchFamily="34" charset="0"/>
                <a:ea typeface="+mn-ea"/>
                <a:cs typeface="Arial" panose="020B0604020202020204" pitchFamily="34" charset="0"/>
              </a:rPr>
              <a:t>VPC</a:t>
            </a:r>
          </a:p>
        </p:txBody>
      </p:sp>
      <p:cxnSp>
        <p:nvCxnSpPr>
          <p:cNvPr id="14" name="Straight Arrow Connector 13">
            <a:extLst>
              <a:ext uri="{FF2B5EF4-FFF2-40B4-BE49-F238E27FC236}">
                <a16:creationId xmlns:a16="http://schemas.microsoft.com/office/drawing/2014/main" id="{7D86893B-7E82-7B3F-D842-314CF1EB83D4}"/>
              </a:ext>
            </a:extLst>
          </p:cNvPr>
          <p:cNvCxnSpPr>
            <a:cxnSpLocks/>
            <a:stCxn id="29" idx="3"/>
            <a:endCxn id="26" idx="1"/>
          </p:cNvCxnSpPr>
          <p:nvPr/>
        </p:nvCxnSpPr>
        <p:spPr>
          <a:xfrm flipV="1">
            <a:off x="3202073" y="3899331"/>
            <a:ext cx="295531" cy="3124"/>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cxnSp>
        <p:nvCxnSpPr>
          <p:cNvPr id="15" name="Straight Arrow Connector 14">
            <a:extLst>
              <a:ext uri="{FF2B5EF4-FFF2-40B4-BE49-F238E27FC236}">
                <a16:creationId xmlns:a16="http://schemas.microsoft.com/office/drawing/2014/main" id="{C5B954C4-52AC-E5AB-2EF2-D92DE692BF85}"/>
              </a:ext>
            </a:extLst>
          </p:cNvPr>
          <p:cNvCxnSpPr>
            <a:cxnSpLocks/>
            <a:stCxn id="26" idx="3"/>
            <a:endCxn id="68" idx="1"/>
          </p:cNvCxnSpPr>
          <p:nvPr/>
        </p:nvCxnSpPr>
        <p:spPr>
          <a:xfrm flipV="1">
            <a:off x="3771924" y="3891145"/>
            <a:ext cx="864209" cy="8186"/>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sp>
        <p:nvSpPr>
          <p:cNvPr id="17" name="TextBox 16">
            <a:extLst>
              <a:ext uri="{FF2B5EF4-FFF2-40B4-BE49-F238E27FC236}">
                <a16:creationId xmlns:a16="http://schemas.microsoft.com/office/drawing/2014/main" id="{FE38FC0A-638D-51BF-70C6-45DE82793675}"/>
              </a:ext>
            </a:extLst>
          </p:cNvPr>
          <p:cNvSpPr txBox="1"/>
          <p:nvPr/>
        </p:nvSpPr>
        <p:spPr>
          <a:xfrm>
            <a:off x="661177" y="3932828"/>
            <a:ext cx="729687" cy="40011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HTTP API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Traffic</a:t>
            </a:r>
          </a:p>
        </p:txBody>
      </p:sp>
      <p:cxnSp>
        <p:nvCxnSpPr>
          <p:cNvPr id="18" name="Straight Arrow Connector 17">
            <a:extLst>
              <a:ext uri="{FF2B5EF4-FFF2-40B4-BE49-F238E27FC236}">
                <a16:creationId xmlns:a16="http://schemas.microsoft.com/office/drawing/2014/main" id="{7EA4A7D7-884B-0EF9-135F-AAAFAABF1A04}"/>
              </a:ext>
            </a:extLst>
          </p:cNvPr>
          <p:cNvCxnSpPr>
            <a:cxnSpLocks/>
            <a:stCxn id="23" idx="3"/>
            <a:endCxn id="21" idx="1"/>
          </p:cNvCxnSpPr>
          <p:nvPr/>
        </p:nvCxnSpPr>
        <p:spPr>
          <a:xfrm flipV="1">
            <a:off x="1392066" y="4854173"/>
            <a:ext cx="761012" cy="13729"/>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grpSp>
        <p:nvGrpSpPr>
          <p:cNvPr id="19" name="Group 18">
            <a:extLst>
              <a:ext uri="{FF2B5EF4-FFF2-40B4-BE49-F238E27FC236}">
                <a16:creationId xmlns:a16="http://schemas.microsoft.com/office/drawing/2014/main" id="{E5A6DC56-FC71-6203-63A4-1E013D32CC54}"/>
              </a:ext>
            </a:extLst>
          </p:cNvPr>
          <p:cNvGrpSpPr/>
          <p:nvPr/>
        </p:nvGrpSpPr>
        <p:grpSpPr>
          <a:xfrm>
            <a:off x="2111828" y="4404685"/>
            <a:ext cx="330849" cy="637914"/>
            <a:chOff x="2021255" y="5606297"/>
            <a:chExt cx="330849" cy="637914"/>
          </a:xfrm>
        </p:grpSpPr>
        <p:pic>
          <p:nvPicPr>
            <p:cNvPr id="20" name="Graphic 8" descr="AWS WAF service icon.">
              <a:extLst>
                <a:ext uri="{FF2B5EF4-FFF2-40B4-BE49-F238E27FC236}">
                  <a16:creationId xmlns:a16="http://schemas.microsoft.com/office/drawing/2014/main" id="{471EE3C2-5A21-1F2E-6242-CAEAFE4C138D}"/>
                </a:ext>
              </a:extLst>
            </p:cNvPr>
            <p:cNvPicPr>
              <a:picLocks noChangeAspect="1" noChangeArrowheads="1"/>
            </p:cNvPicPr>
            <p:nvPr/>
          </p:nvPicPr>
          <p:blipFill>
            <a:blip>
              <a:extLst>
                <a:ext uri="{96DAC541-7B7A-43D3-8B79-37D633B846F1}">
                  <asvg:svgBlip xmlns:asvg="http://schemas.microsoft.com/office/drawing/2016/SVG/main" r:embed="rId5"/>
                </a:ext>
              </a:extLst>
            </a:blip>
            <a:srcRect/>
            <a:stretch/>
          </p:blipFill>
          <p:spPr bwMode="auto">
            <a:xfrm>
              <a:off x="2061331" y="5633576"/>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1" name="Graphic 19" descr="Amazon CloudFront service icon.">
              <a:extLst>
                <a:ext uri="{FF2B5EF4-FFF2-40B4-BE49-F238E27FC236}">
                  <a16:creationId xmlns:a16="http://schemas.microsoft.com/office/drawing/2014/main" id="{CF4124D2-6A0E-85C2-B91D-B9C8246F0211}"/>
                </a:ext>
              </a:extLst>
            </p:cNvPr>
            <p:cNvPicPr>
              <a:picLocks noChangeAspect="1" noChangeArrowheads="1"/>
            </p:cNvPicPr>
            <p:nvPr/>
          </p:nvPicPr>
          <p:blipFill>
            <a:blip>
              <a:extLst>
                <a:ext uri="{96DAC541-7B7A-43D3-8B79-37D633B846F1}">
                  <asvg:svgBlip xmlns:asvg="http://schemas.microsoft.com/office/drawing/2016/SVG/main" r:embed="rId6"/>
                </a:ext>
              </a:extLst>
            </a:blip>
            <a:srcRect/>
            <a:stretch/>
          </p:blipFill>
          <p:spPr bwMode="auto">
            <a:xfrm>
              <a:off x="2062505" y="591862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Rectangle 21" descr="Availability Zone group.">
              <a:extLst>
                <a:ext uri="{FF2B5EF4-FFF2-40B4-BE49-F238E27FC236}">
                  <a16:creationId xmlns:a16="http://schemas.microsoft.com/office/drawing/2014/main" id="{69029F08-D000-2B5A-511E-3DA4F7C2C0D0}"/>
                </a:ext>
              </a:extLst>
            </p:cNvPr>
            <p:cNvSpPr/>
            <p:nvPr/>
          </p:nvSpPr>
          <p:spPr>
            <a:xfrm>
              <a:off x="2021255" y="5606297"/>
              <a:ext cx="330849" cy="637914"/>
            </a:xfrm>
            <a:prstGeom prst="rect">
              <a:avLst/>
            </a:prstGeom>
            <a:noFill/>
            <a:ln w="15875" cap="flat" cmpd="sng" algn="ctr">
              <a:solidFill>
                <a:schemeClr val="tx1"/>
              </a:solidFill>
              <a:prstDash val="dash"/>
              <a:miter lim="800000"/>
            </a:ln>
            <a:effectLst/>
          </p:spPr>
          <p:txBody>
            <a:bodyPr tIns="9144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endParaRPr>
            </a:p>
          </p:txBody>
        </p:sp>
      </p:grpSp>
      <p:sp>
        <p:nvSpPr>
          <p:cNvPr id="23" name="TextBox 22">
            <a:extLst>
              <a:ext uri="{FF2B5EF4-FFF2-40B4-BE49-F238E27FC236}">
                <a16:creationId xmlns:a16="http://schemas.microsoft.com/office/drawing/2014/main" id="{382B0B0F-C2CF-642D-D7BB-3C7B600CDC0A}"/>
              </a:ext>
            </a:extLst>
          </p:cNvPr>
          <p:cNvSpPr txBox="1"/>
          <p:nvPr/>
        </p:nvSpPr>
        <p:spPr>
          <a:xfrm>
            <a:off x="655967" y="4667847"/>
            <a:ext cx="736099" cy="40011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SPA Web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Traffic</a:t>
            </a:r>
          </a:p>
        </p:txBody>
      </p:sp>
      <p:cxnSp>
        <p:nvCxnSpPr>
          <p:cNvPr id="25" name="Connector: Elbow 24">
            <a:extLst>
              <a:ext uri="{FF2B5EF4-FFF2-40B4-BE49-F238E27FC236}">
                <a16:creationId xmlns:a16="http://schemas.microsoft.com/office/drawing/2014/main" id="{C144B695-D0D8-BC8D-EDD5-958B92DB25A0}"/>
              </a:ext>
            </a:extLst>
          </p:cNvPr>
          <p:cNvCxnSpPr>
            <a:cxnSpLocks/>
            <a:stCxn id="21" idx="3"/>
            <a:endCxn id="55" idx="1"/>
          </p:cNvCxnSpPr>
          <p:nvPr/>
        </p:nvCxnSpPr>
        <p:spPr>
          <a:xfrm>
            <a:off x="2427398" y="4854173"/>
            <a:ext cx="773551" cy="1091"/>
          </a:xfrm>
          <a:prstGeom prst="bentConnector3">
            <a:avLst>
              <a:gd name="adj1" fmla="val 50000"/>
            </a:avLst>
          </a:prstGeom>
          <a:ln>
            <a:headEnd type="triangle" w="med" len="med"/>
            <a:tailEnd type="none" w="med" len="med"/>
          </a:ln>
        </p:spPr>
        <p:style>
          <a:lnRef idx="2">
            <a:schemeClr val="accent2"/>
          </a:lnRef>
          <a:fillRef idx="0">
            <a:schemeClr val="accent2"/>
          </a:fillRef>
          <a:effectRef idx="1">
            <a:schemeClr val="accent2"/>
          </a:effectRef>
          <a:fontRef idx="minor">
            <a:schemeClr val="tx1"/>
          </a:fontRef>
        </p:style>
      </p:cxnSp>
      <p:pic>
        <p:nvPicPr>
          <p:cNvPr id="26" name="Graphic 25" descr="Endpoints resource icon for the Amazon VPC service.&#10;">
            <a:extLst>
              <a:ext uri="{FF2B5EF4-FFF2-40B4-BE49-F238E27FC236}">
                <a16:creationId xmlns:a16="http://schemas.microsoft.com/office/drawing/2014/main" id="{7FE3947B-81A6-CFB2-C28C-BCEA1727535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497604" y="3762171"/>
            <a:ext cx="274320" cy="274320"/>
          </a:xfrm>
          <a:prstGeom prst="rect">
            <a:avLst/>
          </a:prstGeom>
        </p:spPr>
      </p:pic>
      <p:pic>
        <p:nvPicPr>
          <p:cNvPr id="27" name="Graphic 21" descr="Amazon Route 53 service icon.">
            <a:extLst>
              <a:ext uri="{FF2B5EF4-FFF2-40B4-BE49-F238E27FC236}">
                <a16:creationId xmlns:a16="http://schemas.microsoft.com/office/drawing/2014/main" id="{3439FCB8-0229-A1E3-65C5-36FF257E4C4B}"/>
              </a:ext>
            </a:extLst>
          </p:cNvPr>
          <p:cNvPicPr>
            <a:picLocks noChangeAspect="1" noChangeArrowheads="1"/>
          </p:cNvPicPr>
          <p:nvPr/>
        </p:nvPicPr>
        <p:blipFill>
          <a:blip>
            <a:extLst>
              <a:ext uri="{96DAC541-7B7A-43D3-8B79-37D633B846F1}">
                <asvg:svgBlip xmlns:asvg="http://schemas.microsoft.com/office/drawing/2016/SVG/main" r:embed="rId8"/>
              </a:ext>
            </a:extLst>
          </a:blip>
          <a:srcRect/>
          <a:stretch/>
        </p:blipFill>
        <p:spPr bwMode="auto">
          <a:xfrm>
            <a:off x="2026407" y="1388197"/>
            <a:ext cx="274320" cy="2668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9" name="Graphic 7" descr="Amazon API Gateway service icon.">
            <a:extLst>
              <a:ext uri="{FF2B5EF4-FFF2-40B4-BE49-F238E27FC236}">
                <a16:creationId xmlns:a16="http://schemas.microsoft.com/office/drawing/2014/main" id="{A08BD7CF-C332-0488-BE89-16606881B696}"/>
              </a:ext>
            </a:extLst>
          </p:cNvPr>
          <p:cNvPicPr>
            <a:picLocks noChangeAspect="1" noChangeArrowheads="1"/>
          </p:cNvPicPr>
          <p:nvPr/>
        </p:nvPicPr>
        <p:blipFill>
          <a:blip>
            <a:extLst>
              <a:ext uri="{96DAC541-7B7A-43D3-8B79-37D633B846F1}">
                <asvg:svgBlip xmlns:asvg="http://schemas.microsoft.com/office/drawing/2016/SVG/main" r:embed="rId9"/>
              </a:ext>
            </a:extLst>
          </a:blip>
          <a:srcRect/>
          <a:stretch/>
        </p:blipFill>
        <p:spPr bwMode="auto">
          <a:xfrm>
            <a:off x="2927753" y="376529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30" name="Connector: Elbow 29">
            <a:extLst>
              <a:ext uri="{FF2B5EF4-FFF2-40B4-BE49-F238E27FC236}">
                <a16:creationId xmlns:a16="http://schemas.microsoft.com/office/drawing/2014/main" id="{B1CD8A05-028B-2719-2BF3-D25C004E7D3A}"/>
              </a:ext>
            </a:extLst>
          </p:cNvPr>
          <p:cNvCxnSpPr>
            <a:cxnSpLocks/>
            <a:stCxn id="17" idx="3"/>
            <a:endCxn id="29" idx="1"/>
          </p:cNvCxnSpPr>
          <p:nvPr/>
        </p:nvCxnSpPr>
        <p:spPr>
          <a:xfrm flipV="1">
            <a:off x="1390864" y="3902455"/>
            <a:ext cx="1536889" cy="230428"/>
          </a:xfrm>
          <a:prstGeom prst="bentConnector3">
            <a:avLst>
              <a:gd name="adj1" fmla="val 50000"/>
            </a:avLst>
          </a:prstGeom>
          <a:ln>
            <a:solidFill>
              <a:schemeClr val="accent1"/>
            </a:solidFill>
            <a:tailEnd type="triangle"/>
          </a:ln>
        </p:spPr>
        <p:style>
          <a:lnRef idx="2">
            <a:schemeClr val="accent1"/>
          </a:lnRef>
          <a:fillRef idx="0">
            <a:schemeClr val="accent1"/>
          </a:fillRef>
          <a:effectRef idx="1">
            <a:schemeClr val="accent1"/>
          </a:effectRef>
          <a:fontRef idx="minor">
            <a:schemeClr val="tx1"/>
          </a:fontRef>
        </p:style>
      </p:cxnSp>
      <p:pic>
        <p:nvPicPr>
          <p:cNvPr id="64" name="Graphic 17" descr="Amazon Cognito service icon.">
            <a:extLst>
              <a:ext uri="{FF2B5EF4-FFF2-40B4-BE49-F238E27FC236}">
                <a16:creationId xmlns:a16="http://schemas.microsoft.com/office/drawing/2014/main" id="{C855EE0A-EBAD-4CA1-BBE5-7401F4358F52}"/>
              </a:ext>
            </a:extLst>
          </p:cNvPr>
          <p:cNvPicPr>
            <a:picLocks noChangeAspect="1" noChangeArrowheads="1"/>
          </p:cNvPicPr>
          <p:nvPr/>
        </p:nvPicPr>
        <p:blipFill>
          <a:blip>
            <a:extLst>
              <a:ext uri="{96DAC541-7B7A-43D3-8B79-37D633B846F1}">
                <asvg:svgBlip xmlns:asvg="http://schemas.microsoft.com/office/drawing/2016/SVG/main" r:embed="rId10"/>
              </a:ext>
            </a:extLst>
          </a:blip>
          <a:srcRect/>
          <a:stretch/>
        </p:blipFill>
        <p:spPr bwMode="auto">
          <a:xfrm>
            <a:off x="2901721" y="1900157"/>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lambda" descr="Lambda service icon.">
            <a:extLst>
              <a:ext uri="{FF2B5EF4-FFF2-40B4-BE49-F238E27FC236}">
                <a16:creationId xmlns:a16="http://schemas.microsoft.com/office/drawing/2014/main" id="{D04C4103-8AA5-E384-ED94-5942BB55B405}"/>
              </a:ext>
            </a:extLst>
          </p:cNvPr>
          <p:cNvPicPr>
            <a:picLocks noChangeAspect="1" noChangeArrowheads="1"/>
          </p:cNvPicPr>
          <p:nvPr/>
        </p:nvPicPr>
        <p:blipFill>
          <a:blip>
            <a:extLst>
              <a:ext uri="{96DAC541-7B7A-43D3-8B79-37D633B846F1}">
                <asvg:svgBlip xmlns:asvg="http://schemas.microsoft.com/office/drawing/2016/SVG/main" r:embed="rId11"/>
              </a:ext>
            </a:extLst>
          </a:blip>
          <a:srcRect/>
          <a:stretch/>
        </p:blipFill>
        <p:spPr bwMode="auto">
          <a:xfrm>
            <a:off x="4636133" y="375398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9" name="Graphic 68" descr="Endpoints resource icon for the Amazon VPC service.&#10;">
            <a:extLst>
              <a:ext uri="{FF2B5EF4-FFF2-40B4-BE49-F238E27FC236}">
                <a16:creationId xmlns:a16="http://schemas.microsoft.com/office/drawing/2014/main" id="{630DF8A8-821E-9320-C3DF-5D3E4ED4296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091487" y="3753985"/>
            <a:ext cx="274320" cy="274320"/>
          </a:xfrm>
          <a:prstGeom prst="rect">
            <a:avLst/>
          </a:prstGeom>
        </p:spPr>
      </p:pic>
      <p:cxnSp>
        <p:nvCxnSpPr>
          <p:cNvPr id="70" name="Connector: Elbow 69">
            <a:extLst>
              <a:ext uri="{FF2B5EF4-FFF2-40B4-BE49-F238E27FC236}">
                <a16:creationId xmlns:a16="http://schemas.microsoft.com/office/drawing/2014/main" id="{74F8332A-69D9-DDD1-B30F-D5A764736995}"/>
              </a:ext>
            </a:extLst>
          </p:cNvPr>
          <p:cNvCxnSpPr>
            <a:cxnSpLocks/>
            <a:stCxn id="69" idx="2"/>
            <a:endCxn id="67" idx="0"/>
          </p:cNvCxnSpPr>
          <p:nvPr/>
        </p:nvCxnSpPr>
        <p:spPr>
          <a:xfrm rot="5400000">
            <a:off x="4466852" y="4020618"/>
            <a:ext cx="754109" cy="769482"/>
          </a:xfrm>
          <a:prstGeom prst="bentConnector3">
            <a:avLst>
              <a:gd name="adj1" fmla="val 20949"/>
            </a:avLst>
          </a:prstGeom>
          <a:ln w="28575">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71" name="Connector: Elbow 70">
            <a:extLst>
              <a:ext uri="{FF2B5EF4-FFF2-40B4-BE49-F238E27FC236}">
                <a16:creationId xmlns:a16="http://schemas.microsoft.com/office/drawing/2014/main" id="{34FD3CBD-E92E-C165-74A5-D94B0FB685AE}"/>
              </a:ext>
            </a:extLst>
          </p:cNvPr>
          <p:cNvCxnSpPr>
            <a:cxnSpLocks/>
            <a:stCxn id="69" idx="2"/>
            <a:endCxn id="66" idx="0"/>
          </p:cNvCxnSpPr>
          <p:nvPr/>
        </p:nvCxnSpPr>
        <p:spPr>
          <a:xfrm rot="16200000" flipH="1">
            <a:off x="4885129" y="4371822"/>
            <a:ext cx="729821" cy="42785"/>
          </a:xfrm>
          <a:prstGeom prst="bentConnector3">
            <a:avLst>
              <a:gd name="adj1" fmla="val 21288"/>
            </a:avLst>
          </a:prstGeom>
          <a:ln w="28575">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72" name="TextBox 71">
            <a:extLst>
              <a:ext uri="{FF2B5EF4-FFF2-40B4-BE49-F238E27FC236}">
                <a16:creationId xmlns:a16="http://schemas.microsoft.com/office/drawing/2014/main" id="{55E611AC-A5F9-9C70-7A57-064488C261A6}"/>
              </a:ext>
            </a:extLst>
          </p:cNvPr>
          <p:cNvSpPr txBox="1"/>
          <p:nvPr/>
        </p:nvSpPr>
        <p:spPr>
          <a:xfrm>
            <a:off x="5292471" y="3706479"/>
            <a:ext cx="896399" cy="369332"/>
          </a:xfrm>
          <a:prstGeom prst="rect">
            <a:avLst/>
          </a:prstGeom>
          <a:noFill/>
        </p:spPr>
        <p:txBody>
          <a:bodyPr wrap="none" rtlCol="0">
            <a:spAutoFit/>
          </a:bodyPr>
          <a:lstStyle/>
          <a:p>
            <a:pPr algn="ctr"/>
            <a:r>
              <a:rPr lang="en-US" sz="900" dirty="0">
                <a:solidFill>
                  <a:schemeClr val="bg1"/>
                </a:solidFill>
              </a:rPr>
              <a:t>Interface VPC </a:t>
            </a:r>
          </a:p>
          <a:p>
            <a:pPr algn="ctr"/>
            <a:r>
              <a:rPr lang="en-US" sz="900" dirty="0">
                <a:solidFill>
                  <a:schemeClr val="bg1"/>
                </a:solidFill>
              </a:rPr>
              <a:t>Endpoint</a:t>
            </a:r>
          </a:p>
        </p:txBody>
      </p:sp>
      <p:cxnSp>
        <p:nvCxnSpPr>
          <p:cNvPr id="73" name="Straight Arrow Connector 72">
            <a:extLst>
              <a:ext uri="{FF2B5EF4-FFF2-40B4-BE49-F238E27FC236}">
                <a16:creationId xmlns:a16="http://schemas.microsoft.com/office/drawing/2014/main" id="{53F4A8F7-A2B1-BCDA-C2F5-E47A25FCE319}"/>
              </a:ext>
            </a:extLst>
          </p:cNvPr>
          <p:cNvCxnSpPr>
            <a:cxnSpLocks/>
            <a:stCxn id="68" idx="3"/>
          </p:cNvCxnSpPr>
          <p:nvPr/>
        </p:nvCxnSpPr>
        <p:spPr>
          <a:xfrm>
            <a:off x="4910453" y="3891145"/>
            <a:ext cx="223819" cy="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pic>
        <p:nvPicPr>
          <p:cNvPr id="83" name="Graphic 26" descr="Amazon Simple Queue Service (Amazon SQS) service icon.">
            <a:extLst>
              <a:ext uri="{FF2B5EF4-FFF2-40B4-BE49-F238E27FC236}">
                <a16:creationId xmlns:a16="http://schemas.microsoft.com/office/drawing/2014/main" id="{4872EA49-C51E-9F0E-6818-571976FEBB5B}"/>
              </a:ext>
            </a:extLst>
          </p:cNvPr>
          <p:cNvPicPr>
            <a:picLocks noChangeAspect="1" noChangeArrowheads="1"/>
          </p:cNvPicPr>
          <p:nvPr/>
        </p:nvPicPr>
        <p:blipFill>
          <a:blip>
            <a:extLst>
              <a:ext uri="{96DAC541-7B7A-43D3-8B79-37D633B846F1}">
                <asvg:svgBlip xmlns:asvg="http://schemas.microsoft.com/office/drawing/2016/SVG/main" r:embed="rId12"/>
              </a:ext>
            </a:extLst>
          </a:blip>
          <a:srcRect/>
          <a:stretch/>
        </p:blipFill>
        <p:spPr bwMode="auto">
          <a:xfrm>
            <a:off x="4892478" y="3044803"/>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1" name="Graphic 24" descr="Amazon Simple Notification Service (Amazon SNS) service icon.">
            <a:extLst>
              <a:ext uri="{FF2B5EF4-FFF2-40B4-BE49-F238E27FC236}">
                <a16:creationId xmlns:a16="http://schemas.microsoft.com/office/drawing/2014/main" id="{02D91618-032C-F56E-ED90-6C0BC4523B8B}"/>
              </a:ext>
            </a:extLst>
          </p:cNvPr>
          <p:cNvPicPr>
            <a:picLocks noChangeAspect="1" noChangeArrowheads="1"/>
          </p:cNvPicPr>
          <p:nvPr/>
        </p:nvPicPr>
        <p:blipFill>
          <a:blip>
            <a:extLst>
              <a:ext uri="{96DAC541-7B7A-43D3-8B79-37D633B846F1}">
                <asvg:svgBlip xmlns:asvg="http://schemas.microsoft.com/office/drawing/2016/SVG/main" r:embed="rId13"/>
              </a:ext>
            </a:extLst>
          </a:blip>
          <a:srcRect/>
          <a:stretch/>
        </p:blipFill>
        <p:spPr bwMode="auto">
          <a:xfrm>
            <a:off x="4328159" y="304616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95" name="Connector: Elbow 94">
            <a:extLst>
              <a:ext uri="{FF2B5EF4-FFF2-40B4-BE49-F238E27FC236}">
                <a16:creationId xmlns:a16="http://schemas.microsoft.com/office/drawing/2014/main" id="{3D10C12A-C889-749F-7D28-43CDFECCF5EA}"/>
              </a:ext>
            </a:extLst>
          </p:cNvPr>
          <p:cNvCxnSpPr>
            <a:cxnSpLocks/>
            <a:stCxn id="68" idx="0"/>
            <a:endCxn id="83" idx="2"/>
          </p:cNvCxnSpPr>
          <p:nvPr/>
        </p:nvCxnSpPr>
        <p:spPr>
          <a:xfrm rot="5400000" flipH="1" flipV="1">
            <a:off x="4684034" y="3408382"/>
            <a:ext cx="434862" cy="256345"/>
          </a:xfrm>
          <a:prstGeom prst="bentConnector3">
            <a:avLst>
              <a:gd name="adj1" fmla="val 50000"/>
            </a:avLst>
          </a:prstGeom>
          <a:ln w="28575">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Connector: Elbow 99">
            <a:extLst>
              <a:ext uri="{FF2B5EF4-FFF2-40B4-BE49-F238E27FC236}">
                <a16:creationId xmlns:a16="http://schemas.microsoft.com/office/drawing/2014/main" id="{935FC02E-A109-D122-72B8-275DE08373FE}"/>
              </a:ext>
            </a:extLst>
          </p:cNvPr>
          <p:cNvCxnSpPr>
            <a:cxnSpLocks/>
            <a:stCxn id="68" idx="0"/>
            <a:endCxn id="91" idx="2"/>
          </p:cNvCxnSpPr>
          <p:nvPr/>
        </p:nvCxnSpPr>
        <p:spPr>
          <a:xfrm rot="16200000" flipV="1">
            <a:off x="4402556" y="3383248"/>
            <a:ext cx="433500" cy="307974"/>
          </a:xfrm>
          <a:prstGeom prst="bentConnector3">
            <a:avLst>
              <a:gd name="adj1" fmla="val 50000"/>
            </a:avLst>
          </a:prstGeom>
          <a:ln w="28575">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04" name="TextBox 103">
            <a:extLst>
              <a:ext uri="{FF2B5EF4-FFF2-40B4-BE49-F238E27FC236}">
                <a16:creationId xmlns:a16="http://schemas.microsoft.com/office/drawing/2014/main" id="{09DB8E0B-E0BC-0432-4B0F-BDDCD031433C}"/>
              </a:ext>
            </a:extLst>
          </p:cNvPr>
          <p:cNvSpPr txBox="1"/>
          <p:nvPr/>
        </p:nvSpPr>
        <p:spPr>
          <a:xfrm>
            <a:off x="4256370" y="208364"/>
            <a:ext cx="3726276" cy="369332"/>
          </a:xfrm>
          <a:prstGeom prst="rect">
            <a:avLst/>
          </a:prstGeom>
          <a:noFill/>
        </p:spPr>
        <p:txBody>
          <a:bodyPr wrap="none" rtlCol="0">
            <a:spAutoFit/>
          </a:bodyPr>
          <a:lstStyle/>
          <a:p>
            <a:pPr algn="ctr"/>
            <a:r>
              <a:rPr lang="en-US" dirty="0">
                <a:solidFill>
                  <a:schemeClr val="bg1"/>
                </a:solidFill>
              </a:rPr>
              <a:t>Audio File Preparation Architecture</a:t>
            </a:r>
          </a:p>
        </p:txBody>
      </p:sp>
      <p:grpSp>
        <p:nvGrpSpPr>
          <p:cNvPr id="78" name="Group 77">
            <a:extLst>
              <a:ext uri="{FF2B5EF4-FFF2-40B4-BE49-F238E27FC236}">
                <a16:creationId xmlns:a16="http://schemas.microsoft.com/office/drawing/2014/main" id="{B79E6984-5FC4-7EA8-918F-FEBDB8577186}"/>
              </a:ext>
            </a:extLst>
          </p:cNvPr>
          <p:cNvGrpSpPr/>
          <p:nvPr/>
        </p:nvGrpSpPr>
        <p:grpSpPr>
          <a:xfrm>
            <a:off x="3991747" y="4782414"/>
            <a:ext cx="934836" cy="491345"/>
            <a:chOff x="3991747" y="4782414"/>
            <a:chExt cx="934836" cy="491345"/>
          </a:xfrm>
        </p:grpSpPr>
        <p:pic>
          <p:nvPicPr>
            <p:cNvPr id="67" name="Graphic 23" descr="Amazon DynamoDB service icon.">
              <a:extLst>
                <a:ext uri="{FF2B5EF4-FFF2-40B4-BE49-F238E27FC236}">
                  <a16:creationId xmlns:a16="http://schemas.microsoft.com/office/drawing/2014/main" id="{DC62DE7E-825E-1B9E-4DCA-A24B20785091}"/>
                </a:ext>
              </a:extLst>
            </p:cNvPr>
            <p:cNvPicPr>
              <a:picLocks noChangeAspect="1" noChangeArrowheads="1"/>
            </p:cNvPicPr>
            <p:nvPr/>
          </p:nvPicPr>
          <p:blipFill>
            <a:blip>
              <a:extLst>
                <a:ext uri="{96DAC541-7B7A-43D3-8B79-37D633B846F1}">
                  <asvg:svgBlip xmlns:asvg="http://schemas.microsoft.com/office/drawing/2016/SVG/main" r:embed="rId14"/>
                </a:ext>
              </a:extLst>
            </a:blip>
            <a:srcRect/>
            <a:stretch/>
          </p:blipFill>
          <p:spPr bwMode="auto">
            <a:xfrm>
              <a:off x="4322005" y="4782414"/>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11">
              <a:extLst>
                <a:ext uri="{FF2B5EF4-FFF2-40B4-BE49-F238E27FC236}">
                  <a16:creationId xmlns:a16="http://schemas.microsoft.com/office/drawing/2014/main" id="{E23215D6-9720-12DF-F447-A9A81DB4CA00}"/>
                </a:ext>
              </a:extLst>
            </p:cNvPr>
            <p:cNvSpPr txBox="1">
              <a:spLocks noChangeArrowheads="1"/>
            </p:cNvSpPr>
            <p:nvPr/>
          </p:nvSpPr>
          <p:spPr bwMode="auto">
            <a:xfrm>
              <a:off x="3991747" y="5027538"/>
              <a:ext cx="93483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DynamoDB</a:t>
              </a:r>
            </a:p>
          </p:txBody>
        </p:sp>
      </p:grpSp>
      <p:grpSp>
        <p:nvGrpSpPr>
          <p:cNvPr id="79" name="Group 78">
            <a:extLst>
              <a:ext uri="{FF2B5EF4-FFF2-40B4-BE49-F238E27FC236}">
                <a16:creationId xmlns:a16="http://schemas.microsoft.com/office/drawing/2014/main" id="{D4671E57-9F24-46A8-8FC7-8C6D29216F25}"/>
              </a:ext>
            </a:extLst>
          </p:cNvPr>
          <p:cNvGrpSpPr/>
          <p:nvPr/>
        </p:nvGrpSpPr>
        <p:grpSpPr>
          <a:xfrm>
            <a:off x="5039124" y="4758126"/>
            <a:ext cx="474496" cy="479772"/>
            <a:chOff x="5039124" y="4758126"/>
            <a:chExt cx="474496" cy="479772"/>
          </a:xfrm>
        </p:grpSpPr>
        <p:pic>
          <p:nvPicPr>
            <p:cNvPr id="66" name="Graphic 8" descr="Amazon Simple Storage Service (Amazon S3) service icon.">
              <a:extLst>
                <a:ext uri="{FF2B5EF4-FFF2-40B4-BE49-F238E27FC236}">
                  <a16:creationId xmlns:a16="http://schemas.microsoft.com/office/drawing/2014/main" id="{D379EF17-5676-862D-C3A5-4D7E9158E4CD}"/>
                </a:ext>
              </a:extLst>
            </p:cNvPr>
            <p:cNvPicPr>
              <a:picLocks noChangeAspect="1" noChangeArrowheads="1"/>
            </p:cNvPicPr>
            <p:nvPr/>
          </p:nvPicPr>
          <p:blipFill>
            <a:blip>
              <a:extLst>
                <a:ext uri="{96DAC541-7B7A-43D3-8B79-37D633B846F1}">
                  <asvg:svgBlip xmlns:asvg="http://schemas.microsoft.com/office/drawing/2016/SVG/main" r:embed="rId15"/>
                </a:ext>
              </a:extLst>
            </a:blip>
            <a:srcRect/>
            <a:stretch/>
          </p:blipFill>
          <p:spPr bwMode="auto">
            <a:xfrm>
              <a:off x="5134272" y="4758126"/>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 name="TextBox 9">
              <a:extLst>
                <a:ext uri="{FF2B5EF4-FFF2-40B4-BE49-F238E27FC236}">
                  <a16:creationId xmlns:a16="http://schemas.microsoft.com/office/drawing/2014/main" id="{27F71E60-F6A1-372D-22F6-17E7E4C0C130}"/>
                </a:ext>
              </a:extLst>
            </p:cNvPr>
            <p:cNvSpPr txBox="1">
              <a:spLocks noChangeArrowheads="1"/>
            </p:cNvSpPr>
            <p:nvPr/>
          </p:nvSpPr>
          <p:spPr bwMode="auto">
            <a:xfrm>
              <a:off x="5039124" y="4991677"/>
              <a:ext cx="47449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S3</a:t>
              </a:r>
            </a:p>
          </p:txBody>
        </p:sp>
      </p:grpSp>
      <p:sp>
        <p:nvSpPr>
          <p:cNvPr id="63" name="TextBox 9">
            <a:extLst>
              <a:ext uri="{FF2B5EF4-FFF2-40B4-BE49-F238E27FC236}">
                <a16:creationId xmlns:a16="http://schemas.microsoft.com/office/drawing/2014/main" id="{472E7728-2C23-B492-8B06-8FD154BE2783}"/>
              </a:ext>
            </a:extLst>
          </p:cNvPr>
          <p:cNvSpPr txBox="1">
            <a:spLocks noChangeArrowheads="1"/>
          </p:cNvSpPr>
          <p:nvPr/>
        </p:nvSpPr>
        <p:spPr bwMode="auto">
          <a:xfrm>
            <a:off x="1824680" y="4978595"/>
            <a:ext cx="931832"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CloudFront</a:t>
            </a:r>
          </a:p>
        </p:txBody>
      </p:sp>
      <p:sp>
        <p:nvSpPr>
          <p:cNvPr id="75" name="TextBox 9">
            <a:extLst>
              <a:ext uri="{FF2B5EF4-FFF2-40B4-BE49-F238E27FC236}">
                <a16:creationId xmlns:a16="http://schemas.microsoft.com/office/drawing/2014/main" id="{4938517C-996E-B27C-10AD-B8D6C8ABFA58}"/>
              </a:ext>
            </a:extLst>
          </p:cNvPr>
          <p:cNvSpPr txBox="1">
            <a:spLocks noChangeArrowheads="1"/>
          </p:cNvSpPr>
          <p:nvPr/>
        </p:nvSpPr>
        <p:spPr bwMode="auto">
          <a:xfrm>
            <a:off x="1820808" y="4218053"/>
            <a:ext cx="931832"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WAF</a:t>
            </a:r>
          </a:p>
        </p:txBody>
      </p:sp>
      <p:sp>
        <p:nvSpPr>
          <p:cNvPr id="77" name="TextBox 9">
            <a:extLst>
              <a:ext uri="{FF2B5EF4-FFF2-40B4-BE49-F238E27FC236}">
                <a16:creationId xmlns:a16="http://schemas.microsoft.com/office/drawing/2014/main" id="{F0B2663D-BFB6-48C2-9606-DF4D9F4E145F}"/>
              </a:ext>
            </a:extLst>
          </p:cNvPr>
          <p:cNvSpPr txBox="1">
            <a:spLocks noChangeArrowheads="1"/>
          </p:cNvSpPr>
          <p:nvPr/>
        </p:nvSpPr>
        <p:spPr bwMode="auto">
          <a:xfrm>
            <a:off x="2591210" y="3362260"/>
            <a:ext cx="931832"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API </a:t>
            </a:r>
          </a:p>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Gateway</a:t>
            </a:r>
          </a:p>
        </p:txBody>
      </p:sp>
      <p:grpSp>
        <p:nvGrpSpPr>
          <p:cNvPr id="76" name="Group 75">
            <a:extLst>
              <a:ext uri="{FF2B5EF4-FFF2-40B4-BE49-F238E27FC236}">
                <a16:creationId xmlns:a16="http://schemas.microsoft.com/office/drawing/2014/main" id="{FE276D5D-84E8-1892-DDB5-D85FDEC6C936}"/>
              </a:ext>
            </a:extLst>
          </p:cNvPr>
          <p:cNvGrpSpPr/>
          <p:nvPr/>
        </p:nvGrpSpPr>
        <p:grpSpPr>
          <a:xfrm>
            <a:off x="5258530" y="3040239"/>
            <a:ext cx="910254" cy="667961"/>
            <a:chOff x="5635046" y="2699578"/>
            <a:chExt cx="910254" cy="667961"/>
          </a:xfrm>
        </p:grpSpPr>
        <p:pic>
          <p:nvPicPr>
            <p:cNvPr id="62" name="Graphic 61" descr="Pipes resource icon for the Amazon EventBridge service.">
              <a:extLst>
                <a:ext uri="{FF2B5EF4-FFF2-40B4-BE49-F238E27FC236}">
                  <a16:creationId xmlns:a16="http://schemas.microsoft.com/office/drawing/2014/main" id="{09CFE050-5DC0-6FB5-9C2F-BCB4C0093923}"/>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5950828" y="2699578"/>
              <a:ext cx="274320" cy="274320"/>
            </a:xfrm>
            <a:prstGeom prst="rect">
              <a:avLst/>
            </a:prstGeom>
          </p:spPr>
        </p:pic>
        <p:sp>
          <p:nvSpPr>
            <p:cNvPr id="74" name="TextBox 22">
              <a:extLst>
                <a:ext uri="{FF2B5EF4-FFF2-40B4-BE49-F238E27FC236}">
                  <a16:creationId xmlns:a16="http://schemas.microsoft.com/office/drawing/2014/main" id="{D74BD3C0-05F6-8BB6-B5A3-E57FA6ECDF0B}"/>
                </a:ext>
              </a:extLst>
            </p:cNvPr>
            <p:cNvSpPr txBox="1">
              <a:spLocks noChangeArrowheads="1"/>
            </p:cNvSpPr>
            <p:nvPr/>
          </p:nvSpPr>
          <p:spPr bwMode="auto">
            <a:xfrm>
              <a:off x="5635046" y="2967429"/>
              <a:ext cx="91025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fontAlgn="base">
                <a:spcBef>
                  <a:spcPct val="0"/>
                </a:spcBef>
                <a:spcAft>
                  <a:spcPct val="0"/>
                </a:spcAft>
              </a:pPr>
              <a:r>
                <a:rPr lang="en-US" altLang="en-US" sz="1000" dirty="0" err="1">
                  <a:solidFill>
                    <a:schemeClr val="bg1"/>
                  </a:solidFill>
                </a:rPr>
                <a:t>Eventbridge</a:t>
              </a:r>
              <a:r>
                <a:rPr lang="en-US" altLang="en-US" sz="1000" dirty="0">
                  <a:solidFill>
                    <a:schemeClr val="bg1"/>
                  </a:solidFill>
                </a:rPr>
                <a:t> Pipes </a:t>
              </a:r>
              <a:endPar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endParaRPr>
            </a:p>
          </p:txBody>
        </p:sp>
      </p:grpSp>
      <p:cxnSp>
        <p:nvCxnSpPr>
          <p:cNvPr id="84" name="Straight Arrow Connector 83">
            <a:extLst>
              <a:ext uri="{FF2B5EF4-FFF2-40B4-BE49-F238E27FC236}">
                <a16:creationId xmlns:a16="http://schemas.microsoft.com/office/drawing/2014/main" id="{1CA3515B-5CB4-2B61-56B3-4FF34286562D}"/>
              </a:ext>
            </a:extLst>
          </p:cNvPr>
          <p:cNvCxnSpPr>
            <a:cxnSpLocks/>
            <a:stCxn id="83" idx="3"/>
            <a:endCxn id="62" idx="1"/>
          </p:cNvCxnSpPr>
          <p:nvPr/>
        </p:nvCxnSpPr>
        <p:spPr>
          <a:xfrm flipV="1">
            <a:off x="5166798" y="3177399"/>
            <a:ext cx="407514" cy="4564"/>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pic>
        <p:nvPicPr>
          <p:cNvPr id="89" name="Graphic 17" descr="AWS Step Functions service icon.">
            <a:extLst>
              <a:ext uri="{FF2B5EF4-FFF2-40B4-BE49-F238E27FC236}">
                <a16:creationId xmlns:a16="http://schemas.microsoft.com/office/drawing/2014/main" id="{6371AC07-7052-CFFB-07CC-632D46BE089D}"/>
              </a:ext>
            </a:extLst>
          </p:cNvPr>
          <p:cNvPicPr>
            <a:picLocks noChangeAspect="1" noChangeArrowheads="1"/>
          </p:cNvPicPr>
          <p:nvPr/>
        </p:nvPicPr>
        <p:blipFill>
          <a:blip>
            <a:extLst>
              <a:ext uri="{96DAC541-7B7A-43D3-8B79-37D633B846F1}">
                <asvg:svgBlip xmlns:asvg="http://schemas.microsoft.com/office/drawing/2016/SVG/main" r:embed="rId17"/>
              </a:ext>
            </a:extLst>
          </a:blip>
          <a:srcRect/>
          <a:stretch/>
        </p:blipFill>
        <p:spPr bwMode="auto">
          <a:xfrm>
            <a:off x="6313683" y="3040771"/>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94" name="Straight Arrow Connector 93">
            <a:extLst>
              <a:ext uri="{FF2B5EF4-FFF2-40B4-BE49-F238E27FC236}">
                <a16:creationId xmlns:a16="http://schemas.microsoft.com/office/drawing/2014/main" id="{7B1E4EE2-8B3C-8A49-2DC8-CF29F8BDDF83}"/>
              </a:ext>
            </a:extLst>
          </p:cNvPr>
          <p:cNvCxnSpPr>
            <a:cxnSpLocks/>
            <a:stCxn id="62" idx="3"/>
            <a:endCxn id="89" idx="1"/>
          </p:cNvCxnSpPr>
          <p:nvPr/>
        </p:nvCxnSpPr>
        <p:spPr>
          <a:xfrm>
            <a:off x="5848632" y="3177399"/>
            <a:ext cx="465051" cy="532"/>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cxnSp>
        <p:nvCxnSpPr>
          <p:cNvPr id="88" name="Connector: Elbow 87">
            <a:extLst>
              <a:ext uri="{FF2B5EF4-FFF2-40B4-BE49-F238E27FC236}">
                <a16:creationId xmlns:a16="http://schemas.microsoft.com/office/drawing/2014/main" id="{DC6E15AC-A570-3E75-35ED-F481EC4A36A4}"/>
              </a:ext>
            </a:extLst>
          </p:cNvPr>
          <p:cNvCxnSpPr>
            <a:cxnSpLocks/>
            <a:stCxn id="89" idx="0"/>
            <a:endCxn id="91" idx="0"/>
          </p:cNvCxnSpPr>
          <p:nvPr/>
        </p:nvCxnSpPr>
        <p:spPr>
          <a:xfrm rot="16200000" flipH="1" flipV="1">
            <a:off x="5455384" y="2050706"/>
            <a:ext cx="5394" cy="1985524"/>
          </a:xfrm>
          <a:prstGeom prst="bentConnector3">
            <a:avLst>
              <a:gd name="adj1" fmla="val -4238042"/>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98" name="Connector: Elbow 97">
            <a:extLst>
              <a:ext uri="{FF2B5EF4-FFF2-40B4-BE49-F238E27FC236}">
                <a16:creationId xmlns:a16="http://schemas.microsoft.com/office/drawing/2014/main" id="{36D4BEFF-7DE3-031D-B060-2BF7F180ECD7}"/>
              </a:ext>
            </a:extLst>
          </p:cNvPr>
          <p:cNvCxnSpPr>
            <a:cxnSpLocks/>
            <a:stCxn id="89" idx="0"/>
            <a:endCxn id="83" idx="0"/>
          </p:cNvCxnSpPr>
          <p:nvPr/>
        </p:nvCxnSpPr>
        <p:spPr>
          <a:xfrm rot="16200000" flipH="1" flipV="1">
            <a:off x="5738225" y="2332184"/>
            <a:ext cx="4032" cy="1421205"/>
          </a:xfrm>
          <a:prstGeom prst="bentConnector3">
            <a:avLst>
              <a:gd name="adj1" fmla="val -5669643"/>
            </a:avLst>
          </a:prstGeom>
          <a:ln w="28575">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05" name="Connector: Elbow 104">
            <a:extLst>
              <a:ext uri="{FF2B5EF4-FFF2-40B4-BE49-F238E27FC236}">
                <a16:creationId xmlns:a16="http://schemas.microsoft.com/office/drawing/2014/main" id="{7006353F-767C-1FB6-0500-45CDDE012BBB}"/>
              </a:ext>
            </a:extLst>
          </p:cNvPr>
          <p:cNvCxnSpPr>
            <a:cxnSpLocks/>
            <a:endCxn id="67" idx="3"/>
          </p:cNvCxnSpPr>
          <p:nvPr/>
        </p:nvCxnSpPr>
        <p:spPr>
          <a:xfrm rot="16200000" flipH="1" flipV="1">
            <a:off x="4723142" y="3205673"/>
            <a:ext cx="1587083" cy="1840717"/>
          </a:xfrm>
          <a:prstGeom prst="bentConnector4">
            <a:avLst>
              <a:gd name="adj1" fmla="val 119467"/>
              <a:gd name="adj2" fmla="val 83773"/>
            </a:avLst>
          </a:prstGeom>
          <a:ln w="28575">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Connector: Elbow 112">
            <a:extLst>
              <a:ext uri="{FF2B5EF4-FFF2-40B4-BE49-F238E27FC236}">
                <a16:creationId xmlns:a16="http://schemas.microsoft.com/office/drawing/2014/main" id="{36A4035E-2D45-5630-FAAE-69596D129F53}"/>
              </a:ext>
            </a:extLst>
          </p:cNvPr>
          <p:cNvCxnSpPr>
            <a:cxnSpLocks/>
            <a:endCxn id="66" idx="3"/>
          </p:cNvCxnSpPr>
          <p:nvPr/>
        </p:nvCxnSpPr>
        <p:spPr>
          <a:xfrm rot="16200000" flipH="1" flipV="1">
            <a:off x="5141419" y="3599663"/>
            <a:ext cx="1562795" cy="1028450"/>
          </a:xfrm>
          <a:prstGeom prst="bentConnector4">
            <a:avLst>
              <a:gd name="adj1" fmla="val 99927"/>
              <a:gd name="adj2" fmla="val 76452"/>
            </a:avLst>
          </a:prstGeom>
          <a:ln w="28575">
            <a:solidFill>
              <a:schemeClr val="accent6"/>
            </a:solidFill>
            <a:tailEnd type="triangle"/>
          </a:ln>
        </p:spPr>
        <p:style>
          <a:lnRef idx="1">
            <a:schemeClr val="accent1"/>
          </a:lnRef>
          <a:fillRef idx="0">
            <a:schemeClr val="accent1"/>
          </a:fillRef>
          <a:effectRef idx="0">
            <a:schemeClr val="accent1"/>
          </a:effectRef>
          <a:fontRef idx="minor">
            <a:schemeClr val="tx1"/>
          </a:fontRef>
        </p:style>
      </p:cxnSp>
      <p:grpSp>
        <p:nvGrpSpPr>
          <p:cNvPr id="126" name="Group 125">
            <a:extLst>
              <a:ext uri="{FF2B5EF4-FFF2-40B4-BE49-F238E27FC236}">
                <a16:creationId xmlns:a16="http://schemas.microsoft.com/office/drawing/2014/main" id="{6B6C127B-E59E-FF33-9074-CBEC0DD34E6C}"/>
              </a:ext>
            </a:extLst>
          </p:cNvPr>
          <p:cNvGrpSpPr/>
          <p:nvPr/>
        </p:nvGrpSpPr>
        <p:grpSpPr>
          <a:xfrm>
            <a:off x="5963190" y="1610102"/>
            <a:ext cx="742690" cy="644137"/>
            <a:chOff x="9572846" y="213792"/>
            <a:chExt cx="742690" cy="644137"/>
          </a:xfrm>
        </p:grpSpPr>
        <p:pic>
          <p:nvPicPr>
            <p:cNvPr id="118" name="Graphic 117" descr="Amazon Bedrock service icon.">
              <a:extLst>
                <a:ext uri="{FF2B5EF4-FFF2-40B4-BE49-F238E27FC236}">
                  <a16:creationId xmlns:a16="http://schemas.microsoft.com/office/drawing/2014/main" id="{3FBA852D-255C-3B0A-0A8E-A87726984B6F}"/>
                </a:ext>
              </a:extLst>
            </p:cNvPr>
            <p:cNvPicPr>
              <a:picLocks noChangeAspect="1"/>
            </p:cNvPicPr>
            <p:nvPr/>
          </p:nvPicPr>
          <p:blipFill>
            <a:blip>
              <a:extLst>
                <a:ext uri="{96DAC541-7B7A-43D3-8B79-37D633B846F1}">
                  <asvg:svgBlip xmlns:asvg="http://schemas.microsoft.com/office/drawing/2016/SVG/main" r:embed="rId18"/>
                </a:ext>
              </a:extLst>
            </a:blip>
            <a:srcRect/>
            <a:stretch/>
          </p:blipFill>
          <p:spPr>
            <a:xfrm>
              <a:off x="9814596" y="583609"/>
              <a:ext cx="274320" cy="274320"/>
            </a:xfrm>
            <a:prstGeom prst="rect">
              <a:avLst/>
            </a:prstGeom>
          </p:spPr>
        </p:pic>
        <p:sp>
          <p:nvSpPr>
            <p:cNvPr id="120" name="TextBox 12">
              <a:extLst>
                <a:ext uri="{FF2B5EF4-FFF2-40B4-BE49-F238E27FC236}">
                  <a16:creationId xmlns:a16="http://schemas.microsoft.com/office/drawing/2014/main" id="{7AC056FE-4BA5-586E-8467-1DF72801433C}"/>
                </a:ext>
              </a:extLst>
            </p:cNvPr>
            <p:cNvSpPr txBox="1">
              <a:spLocks noChangeArrowheads="1"/>
            </p:cNvSpPr>
            <p:nvPr/>
          </p:nvSpPr>
          <p:spPr bwMode="auto">
            <a:xfrm>
              <a:off x="9572846" y="213792"/>
              <a:ext cx="742690"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Amazon Bedrock</a:t>
              </a:r>
            </a:p>
          </p:txBody>
        </p:sp>
      </p:grpSp>
      <p:grpSp>
        <p:nvGrpSpPr>
          <p:cNvPr id="125" name="Group 124">
            <a:extLst>
              <a:ext uri="{FF2B5EF4-FFF2-40B4-BE49-F238E27FC236}">
                <a16:creationId xmlns:a16="http://schemas.microsoft.com/office/drawing/2014/main" id="{DB460182-6DCE-51CF-9FB2-FB7B9915E152}"/>
              </a:ext>
            </a:extLst>
          </p:cNvPr>
          <p:cNvGrpSpPr/>
          <p:nvPr/>
        </p:nvGrpSpPr>
        <p:grpSpPr>
          <a:xfrm>
            <a:off x="5158572" y="1601942"/>
            <a:ext cx="919174" cy="652297"/>
            <a:chOff x="9289741" y="1506741"/>
            <a:chExt cx="919174" cy="652297"/>
          </a:xfrm>
        </p:grpSpPr>
        <p:pic>
          <p:nvPicPr>
            <p:cNvPr id="122" name="Graphic 20" descr="Amazon Transcribe service icon.">
              <a:extLst>
                <a:ext uri="{FF2B5EF4-FFF2-40B4-BE49-F238E27FC236}">
                  <a16:creationId xmlns:a16="http://schemas.microsoft.com/office/drawing/2014/main" id="{A2AA06AD-BAE8-BD32-536B-8658405BB44B}"/>
                </a:ext>
              </a:extLst>
            </p:cNvPr>
            <p:cNvPicPr>
              <a:picLocks noChangeAspect="1" noChangeArrowheads="1"/>
            </p:cNvPicPr>
            <p:nvPr/>
          </p:nvPicPr>
          <p:blipFill>
            <a:blip>
              <a:extLst>
                <a:ext uri="{96DAC541-7B7A-43D3-8B79-37D633B846F1}">
                  <asvg:svgBlip xmlns:asvg="http://schemas.microsoft.com/office/drawing/2016/SVG/main" r:embed="rId19"/>
                </a:ext>
              </a:extLst>
            </a:blip>
            <a:srcRect/>
            <a:stretch/>
          </p:blipFill>
          <p:spPr bwMode="auto">
            <a:xfrm>
              <a:off x="9620664" y="1884718"/>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4" name="TextBox 12">
              <a:extLst>
                <a:ext uri="{FF2B5EF4-FFF2-40B4-BE49-F238E27FC236}">
                  <a16:creationId xmlns:a16="http://schemas.microsoft.com/office/drawing/2014/main" id="{44025656-97D1-C23F-99AB-38D7E95B8F43}"/>
                </a:ext>
              </a:extLst>
            </p:cNvPr>
            <p:cNvSpPr txBox="1">
              <a:spLocks noChangeArrowheads="1"/>
            </p:cNvSpPr>
            <p:nvPr/>
          </p:nvSpPr>
          <p:spPr bwMode="auto">
            <a:xfrm>
              <a:off x="9289741" y="1506741"/>
              <a:ext cx="91917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Amazon Transcribe</a:t>
              </a:r>
            </a:p>
          </p:txBody>
        </p:sp>
      </p:grpSp>
      <p:cxnSp>
        <p:nvCxnSpPr>
          <p:cNvPr id="128" name="Connector: Elbow 127">
            <a:extLst>
              <a:ext uri="{FF2B5EF4-FFF2-40B4-BE49-F238E27FC236}">
                <a16:creationId xmlns:a16="http://schemas.microsoft.com/office/drawing/2014/main" id="{EB1FC0C6-C8B5-6C98-A48E-674B4514E165}"/>
              </a:ext>
            </a:extLst>
          </p:cNvPr>
          <p:cNvCxnSpPr>
            <a:stCxn id="89" idx="0"/>
            <a:endCxn id="122" idx="2"/>
          </p:cNvCxnSpPr>
          <p:nvPr/>
        </p:nvCxnSpPr>
        <p:spPr>
          <a:xfrm rot="16200000" flipV="1">
            <a:off x="5645483" y="2235411"/>
            <a:ext cx="786532" cy="824188"/>
          </a:xfrm>
          <a:prstGeom prst="bentConnector3">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30" name="Connector: Elbow 129">
            <a:extLst>
              <a:ext uri="{FF2B5EF4-FFF2-40B4-BE49-F238E27FC236}">
                <a16:creationId xmlns:a16="http://schemas.microsoft.com/office/drawing/2014/main" id="{88372EED-E07A-1C33-8D16-021AFA601574}"/>
              </a:ext>
            </a:extLst>
          </p:cNvPr>
          <p:cNvCxnSpPr>
            <a:endCxn id="118" idx="2"/>
          </p:cNvCxnSpPr>
          <p:nvPr/>
        </p:nvCxnSpPr>
        <p:spPr>
          <a:xfrm rot="16200000" flipV="1">
            <a:off x="6003472" y="2592867"/>
            <a:ext cx="786000" cy="108743"/>
          </a:xfrm>
          <a:prstGeom prst="bentConnector3">
            <a:avLst/>
          </a:prstGeom>
          <a:ln w="28575">
            <a:tailEnd type="triangle"/>
          </a:ln>
        </p:spPr>
        <p:style>
          <a:lnRef idx="1">
            <a:schemeClr val="accent1"/>
          </a:lnRef>
          <a:fillRef idx="0">
            <a:schemeClr val="accent1"/>
          </a:fillRef>
          <a:effectRef idx="0">
            <a:schemeClr val="accent1"/>
          </a:effectRef>
          <a:fontRef idx="minor">
            <a:schemeClr val="tx1"/>
          </a:fontRef>
        </p:style>
      </p:cxnSp>
      <p:pic>
        <p:nvPicPr>
          <p:cNvPr id="132" name="Graphic 26" descr="Amazon Simple Queue Service (Amazon SQS) service icon.">
            <a:extLst>
              <a:ext uri="{FF2B5EF4-FFF2-40B4-BE49-F238E27FC236}">
                <a16:creationId xmlns:a16="http://schemas.microsoft.com/office/drawing/2014/main" id="{DC390405-5EBC-D6B5-C8DB-875D643BE717}"/>
              </a:ext>
            </a:extLst>
          </p:cNvPr>
          <p:cNvPicPr>
            <a:picLocks noChangeAspect="1" noChangeArrowheads="1"/>
          </p:cNvPicPr>
          <p:nvPr/>
        </p:nvPicPr>
        <p:blipFill>
          <a:blip>
            <a:extLst>
              <a:ext uri="{96DAC541-7B7A-43D3-8B79-37D633B846F1}">
                <asvg:svgBlip xmlns:asvg="http://schemas.microsoft.com/office/drawing/2016/SVG/main" r:embed="rId12"/>
              </a:ext>
            </a:extLst>
          </a:blip>
          <a:srcRect/>
          <a:stretch/>
        </p:blipFill>
        <p:spPr bwMode="auto">
          <a:xfrm>
            <a:off x="7069149" y="3035139"/>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34" name="Straight Arrow Connector 133">
            <a:extLst>
              <a:ext uri="{FF2B5EF4-FFF2-40B4-BE49-F238E27FC236}">
                <a16:creationId xmlns:a16="http://schemas.microsoft.com/office/drawing/2014/main" id="{85210452-1E32-3388-A497-8858F673EA1C}"/>
              </a:ext>
            </a:extLst>
          </p:cNvPr>
          <p:cNvCxnSpPr>
            <a:cxnSpLocks/>
            <a:stCxn id="89" idx="3"/>
            <a:endCxn id="132" idx="1"/>
          </p:cNvCxnSpPr>
          <p:nvPr/>
        </p:nvCxnSpPr>
        <p:spPr>
          <a:xfrm flipV="1">
            <a:off x="6588003" y="3172299"/>
            <a:ext cx="481146" cy="5632"/>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sp>
        <p:nvSpPr>
          <p:cNvPr id="16" name="TextBox 12">
            <a:extLst>
              <a:ext uri="{FF2B5EF4-FFF2-40B4-BE49-F238E27FC236}">
                <a16:creationId xmlns:a16="http://schemas.microsoft.com/office/drawing/2014/main" id="{F3C9E180-C56F-C295-218F-228E19188B5D}"/>
              </a:ext>
            </a:extLst>
          </p:cNvPr>
          <p:cNvSpPr txBox="1">
            <a:spLocks noChangeArrowheads="1"/>
          </p:cNvSpPr>
          <p:nvPr/>
        </p:nvSpPr>
        <p:spPr bwMode="auto">
          <a:xfrm>
            <a:off x="2597092" y="1690705"/>
            <a:ext cx="919174"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Cognito</a:t>
            </a:r>
          </a:p>
        </p:txBody>
      </p:sp>
      <p:pic>
        <p:nvPicPr>
          <p:cNvPr id="33" name="Graphic 32" descr="User with solid fill">
            <a:extLst>
              <a:ext uri="{FF2B5EF4-FFF2-40B4-BE49-F238E27FC236}">
                <a16:creationId xmlns:a16="http://schemas.microsoft.com/office/drawing/2014/main" id="{B50C5990-6872-4147-9A13-24D1D01FC225}"/>
              </a:ext>
            </a:extLst>
          </p:cNvPr>
          <p:cNvPicPr>
            <a:picLocks noChangeAspect="1"/>
          </p:cNvPicPr>
          <p:nvPr/>
        </p:nvPicPr>
        <p:blipFill>
          <a:blip>
            <a:extLst>
              <a:ext uri="{96DAC541-7B7A-43D3-8B79-37D633B846F1}">
                <asvg:svgBlip xmlns:asvg="http://schemas.microsoft.com/office/drawing/2016/SVG/main" r:embed="rId20"/>
              </a:ext>
            </a:extLst>
          </a:blip>
          <a:stretch>
            <a:fillRect/>
          </a:stretch>
        </p:blipFill>
        <p:spPr>
          <a:xfrm>
            <a:off x="93264" y="3878247"/>
            <a:ext cx="914400" cy="914400"/>
          </a:xfrm>
          <a:prstGeom prst="rect">
            <a:avLst/>
          </a:prstGeom>
        </p:spPr>
      </p:pic>
      <p:sp>
        <p:nvSpPr>
          <p:cNvPr id="34" name="Rectangle 33">
            <a:extLst>
              <a:ext uri="{FF2B5EF4-FFF2-40B4-BE49-F238E27FC236}">
                <a16:creationId xmlns:a16="http://schemas.microsoft.com/office/drawing/2014/main" id="{9B5BC435-9953-A231-42E2-F1E8361931C3}"/>
              </a:ext>
            </a:extLst>
          </p:cNvPr>
          <p:cNvSpPr/>
          <p:nvPr/>
        </p:nvSpPr>
        <p:spPr>
          <a:xfrm>
            <a:off x="93264" y="3660526"/>
            <a:ext cx="1271559" cy="1535088"/>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5" name="Connector: Elbow 34">
            <a:extLst>
              <a:ext uri="{FF2B5EF4-FFF2-40B4-BE49-F238E27FC236}">
                <a16:creationId xmlns:a16="http://schemas.microsoft.com/office/drawing/2014/main" id="{AA752CB7-86ED-CB28-DC9E-E4276895B3CE}"/>
              </a:ext>
            </a:extLst>
          </p:cNvPr>
          <p:cNvCxnSpPr>
            <a:cxnSpLocks/>
            <a:stCxn id="34" idx="0"/>
            <a:endCxn id="27" idx="2"/>
          </p:cNvCxnSpPr>
          <p:nvPr/>
        </p:nvCxnSpPr>
        <p:spPr>
          <a:xfrm rot="5400000" flipH="1" flipV="1">
            <a:off x="443555" y="1940515"/>
            <a:ext cx="2005500" cy="1434523"/>
          </a:xfrm>
          <a:prstGeom prst="bentConnector3">
            <a:avLst>
              <a:gd name="adj1" fmla="val 73263"/>
            </a:avLst>
          </a:prstGeom>
          <a:ln>
            <a:solidFill>
              <a:schemeClr val="bg1"/>
            </a:solidFill>
            <a:tailEnd type="triangle"/>
          </a:ln>
        </p:spPr>
        <p:style>
          <a:lnRef idx="2">
            <a:schemeClr val="accent1"/>
          </a:lnRef>
          <a:fillRef idx="0">
            <a:schemeClr val="accent1"/>
          </a:fillRef>
          <a:effectRef idx="1">
            <a:schemeClr val="accent1"/>
          </a:effectRef>
          <a:fontRef idx="minor">
            <a:schemeClr val="tx1"/>
          </a:fontRef>
        </p:style>
      </p:cxnSp>
      <p:cxnSp>
        <p:nvCxnSpPr>
          <p:cNvPr id="40" name="Connector: Elbow 39">
            <a:extLst>
              <a:ext uri="{FF2B5EF4-FFF2-40B4-BE49-F238E27FC236}">
                <a16:creationId xmlns:a16="http://schemas.microsoft.com/office/drawing/2014/main" id="{62900FA6-4BCB-47E8-895A-99F77306D26B}"/>
              </a:ext>
            </a:extLst>
          </p:cNvPr>
          <p:cNvCxnSpPr>
            <a:cxnSpLocks/>
            <a:stCxn id="34" idx="0"/>
            <a:endCxn id="64" idx="2"/>
          </p:cNvCxnSpPr>
          <p:nvPr/>
        </p:nvCxnSpPr>
        <p:spPr>
          <a:xfrm rot="5400000" flipH="1" flipV="1">
            <a:off x="1140938" y="1762584"/>
            <a:ext cx="1486049" cy="2309837"/>
          </a:xfrm>
          <a:prstGeom prst="bentConnector3">
            <a:avLst>
              <a:gd name="adj1" fmla="val 70092"/>
            </a:avLst>
          </a:prstGeom>
          <a:ln>
            <a:solidFill>
              <a:schemeClr val="bg1"/>
            </a:solidFill>
            <a:tailEnd type="triangle"/>
          </a:ln>
        </p:spPr>
        <p:style>
          <a:lnRef idx="2">
            <a:schemeClr val="accent1"/>
          </a:lnRef>
          <a:fillRef idx="0">
            <a:schemeClr val="accent1"/>
          </a:fillRef>
          <a:effectRef idx="1">
            <a:schemeClr val="accent1"/>
          </a:effectRef>
          <a:fontRef idx="minor">
            <a:schemeClr val="tx1"/>
          </a:fontRef>
        </p:style>
      </p:cxnSp>
      <p:grpSp>
        <p:nvGrpSpPr>
          <p:cNvPr id="2" name="Group 1">
            <a:extLst>
              <a:ext uri="{FF2B5EF4-FFF2-40B4-BE49-F238E27FC236}">
                <a16:creationId xmlns:a16="http://schemas.microsoft.com/office/drawing/2014/main" id="{0FD31716-ABE5-5A1C-E9F7-B228D80556A7}"/>
              </a:ext>
            </a:extLst>
          </p:cNvPr>
          <p:cNvGrpSpPr/>
          <p:nvPr/>
        </p:nvGrpSpPr>
        <p:grpSpPr>
          <a:xfrm>
            <a:off x="85060" y="5603361"/>
            <a:ext cx="3153842" cy="1193249"/>
            <a:chOff x="85060" y="5603361"/>
            <a:chExt cx="3153842" cy="1193249"/>
          </a:xfrm>
        </p:grpSpPr>
        <p:sp>
          <p:nvSpPr>
            <p:cNvPr id="31" name="Rectangle 30">
              <a:extLst>
                <a:ext uri="{FF2B5EF4-FFF2-40B4-BE49-F238E27FC236}">
                  <a16:creationId xmlns:a16="http://schemas.microsoft.com/office/drawing/2014/main" id="{F7E7292D-6354-C864-49C8-C1F7CAE4B8FE}"/>
                </a:ext>
              </a:extLst>
            </p:cNvPr>
            <p:cNvSpPr/>
            <p:nvPr/>
          </p:nvSpPr>
          <p:spPr>
            <a:xfrm>
              <a:off x="85060" y="5603361"/>
              <a:ext cx="3153842" cy="1193249"/>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32" name="Graphic 8" descr="AWS WAF service icon.">
              <a:extLst>
                <a:ext uri="{FF2B5EF4-FFF2-40B4-BE49-F238E27FC236}">
                  <a16:creationId xmlns:a16="http://schemas.microsoft.com/office/drawing/2014/main" id="{18F20802-7ACE-5295-C6F0-0F9F5804F0D2}"/>
                </a:ext>
              </a:extLst>
            </p:cNvPr>
            <p:cNvPicPr>
              <a:picLocks noChangeAspect="1" noChangeArrowheads="1"/>
            </p:cNvPicPr>
            <p:nvPr/>
          </p:nvPicPr>
          <p:blipFill>
            <a:blip>
              <a:extLst>
                <a:ext uri="{96DAC541-7B7A-43D3-8B79-37D633B846F1}">
                  <asvg:svgBlip xmlns:asvg="http://schemas.microsoft.com/office/drawing/2016/SVG/main" r:embed="rId5"/>
                </a:ext>
              </a:extLst>
            </a:blip>
            <a:srcRect/>
            <a:stretch/>
          </p:blipFill>
          <p:spPr bwMode="auto">
            <a:xfrm>
              <a:off x="273020" y="5729290"/>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6" name="TextBox 35">
              <a:extLst>
                <a:ext uri="{FF2B5EF4-FFF2-40B4-BE49-F238E27FC236}">
                  <a16:creationId xmlns:a16="http://schemas.microsoft.com/office/drawing/2014/main" id="{877600DF-A4BD-9F74-1B0B-2CD5F6F82636}"/>
                </a:ext>
              </a:extLst>
            </p:cNvPr>
            <p:cNvSpPr txBox="1"/>
            <p:nvPr/>
          </p:nvSpPr>
          <p:spPr>
            <a:xfrm>
              <a:off x="548418" y="5762371"/>
              <a:ext cx="357790"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WAF</a:t>
              </a:r>
            </a:p>
          </p:txBody>
        </p:sp>
        <p:pic>
          <p:nvPicPr>
            <p:cNvPr id="37" name="Graphic 19" descr="Amazon CloudFront service icon.">
              <a:extLst>
                <a:ext uri="{FF2B5EF4-FFF2-40B4-BE49-F238E27FC236}">
                  <a16:creationId xmlns:a16="http://schemas.microsoft.com/office/drawing/2014/main" id="{25A2584A-AB3A-9A04-6AB2-EB1711449637}"/>
                </a:ext>
              </a:extLst>
            </p:cNvPr>
            <p:cNvPicPr>
              <a:picLocks noChangeAspect="1" noChangeArrowheads="1"/>
            </p:cNvPicPr>
            <p:nvPr/>
          </p:nvPicPr>
          <p:blipFill>
            <a:blip>
              <a:extLst>
                <a:ext uri="{96DAC541-7B7A-43D3-8B79-37D633B846F1}">
                  <asvg:svgBlip xmlns:asvg="http://schemas.microsoft.com/office/drawing/2016/SVG/main" r:embed="rId6"/>
                </a:ext>
              </a:extLst>
            </a:blip>
            <a:srcRect/>
            <a:stretch/>
          </p:blipFill>
          <p:spPr bwMode="auto">
            <a:xfrm>
              <a:off x="273020" y="6056039"/>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Box 37">
              <a:extLst>
                <a:ext uri="{FF2B5EF4-FFF2-40B4-BE49-F238E27FC236}">
                  <a16:creationId xmlns:a16="http://schemas.microsoft.com/office/drawing/2014/main" id="{A981F025-A7C2-BEC6-7E5D-77B2EAAC6BA7}"/>
                </a:ext>
              </a:extLst>
            </p:cNvPr>
            <p:cNvSpPr txBox="1"/>
            <p:nvPr/>
          </p:nvSpPr>
          <p:spPr>
            <a:xfrm>
              <a:off x="548858" y="6098719"/>
              <a:ext cx="593432"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CloudFront</a:t>
              </a:r>
            </a:p>
          </p:txBody>
        </p:sp>
        <p:pic>
          <p:nvPicPr>
            <p:cNvPr id="39" name="Graphic 7" descr="Amazon API Gateway service icon.">
              <a:extLst>
                <a:ext uri="{FF2B5EF4-FFF2-40B4-BE49-F238E27FC236}">
                  <a16:creationId xmlns:a16="http://schemas.microsoft.com/office/drawing/2014/main" id="{C35C85AD-A4AC-2F05-9CDC-975EDF4BF762}"/>
                </a:ext>
              </a:extLst>
            </p:cNvPr>
            <p:cNvPicPr>
              <a:picLocks noChangeAspect="1" noChangeArrowheads="1"/>
            </p:cNvPicPr>
            <p:nvPr/>
          </p:nvPicPr>
          <p:blipFill>
            <a:blip>
              <a:extLst>
                <a:ext uri="{96DAC541-7B7A-43D3-8B79-37D633B846F1}">
                  <asvg:svgBlip xmlns:asvg="http://schemas.microsoft.com/office/drawing/2016/SVG/main" r:embed="rId9"/>
                </a:ext>
              </a:extLst>
            </a:blip>
            <a:srcRect/>
            <a:stretch/>
          </p:blipFill>
          <p:spPr bwMode="auto">
            <a:xfrm>
              <a:off x="273020" y="6382788"/>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Box 40">
              <a:extLst>
                <a:ext uri="{FF2B5EF4-FFF2-40B4-BE49-F238E27FC236}">
                  <a16:creationId xmlns:a16="http://schemas.microsoft.com/office/drawing/2014/main" id="{C38B9AED-1E74-A7F8-646C-0CD49297F193}"/>
                </a:ext>
              </a:extLst>
            </p:cNvPr>
            <p:cNvSpPr txBox="1"/>
            <p:nvPr/>
          </p:nvSpPr>
          <p:spPr>
            <a:xfrm>
              <a:off x="548860" y="6423956"/>
              <a:ext cx="647934"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API Gateway</a:t>
              </a:r>
            </a:p>
          </p:txBody>
        </p:sp>
        <p:sp>
          <p:nvSpPr>
            <p:cNvPr id="42" name="TextBox 41">
              <a:extLst>
                <a:ext uri="{FF2B5EF4-FFF2-40B4-BE49-F238E27FC236}">
                  <a16:creationId xmlns:a16="http://schemas.microsoft.com/office/drawing/2014/main" id="{98F2AB7D-19C2-A678-0931-8FC3403CABF0}"/>
                </a:ext>
              </a:extLst>
            </p:cNvPr>
            <p:cNvSpPr txBox="1"/>
            <p:nvPr/>
          </p:nvSpPr>
          <p:spPr>
            <a:xfrm>
              <a:off x="1527497" y="5783435"/>
              <a:ext cx="325730"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SNS</a:t>
              </a:r>
            </a:p>
          </p:txBody>
        </p:sp>
        <p:sp>
          <p:nvSpPr>
            <p:cNvPr id="43" name="TextBox 42">
              <a:extLst>
                <a:ext uri="{FF2B5EF4-FFF2-40B4-BE49-F238E27FC236}">
                  <a16:creationId xmlns:a16="http://schemas.microsoft.com/office/drawing/2014/main" id="{DEF7C2B4-4ED6-3D68-9102-89D8ABB51EC8}"/>
                </a:ext>
              </a:extLst>
            </p:cNvPr>
            <p:cNvSpPr txBox="1"/>
            <p:nvPr/>
          </p:nvSpPr>
          <p:spPr>
            <a:xfrm>
              <a:off x="1531143" y="6092888"/>
              <a:ext cx="328936"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SQS</a:t>
              </a:r>
            </a:p>
          </p:txBody>
        </p:sp>
        <p:sp>
          <p:nvSpPr>
            <p:cNvPr id="44" name="TextBox 43">
              <a:extLst>
                <a:ext uri="{FF2B5EF4-FFF2-40B4-BE49-F238E27FC236}">
                  <a16:creationId xmlns:a16="http://schemas.microsoft.com/office/drawing/2014/main" id="{429FC9E5-803E-ED9C-2048-9CBC5E4C1D47}"/>
                </a:ext>
              </a:extLst>
            </p:cNvPr>
            <p:cNvSpPr txBox="1"/>
            <p:nvPr/>
          </p:nvSpPr>
          <p:spPr>
            <a:xfrm>
              <a:off x="2481410" y="6094792"/>
              <a:ext cx="482824" cy="200055"/>
            </a:xfrm>
            <a:prstGeom prst="rect">
              <a:avLst/>
            </a:prstGeom>
            <a:noFill/>
          </p:spPr>
          <p:txBody>
            <a:bodyPr wrap="none" rtlCol="0">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Bedrock</a:t>
              </a:r>
            </a:p>
          </p:txBody>
        </p:sp>
        <p:pic>
          <p:nvPicPr>
            <p:cNvPr id="45" name="Graphic 44" descr="Endpoints resource icon for the Amazon VPC service.&#10;">
              <a:extLst>
                <a:ext uri="{FF2B5EF4-FFF2-40B4-BE49-F238E27FC236}">
                  <a16:creationId xmlns:a16="http://schemas.microsoft.com/office/drawing/2014/main" id="{9FC9B28C-142E-FBF0-0BAB-DA10F1AE9899}"/>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216552" y="6382788"/>
              <a:ext cx="274320" cy="274320"/>
            </a:xfrm>
            <a:prstGeom prst="rect">
              <a:avLst/>
            </a:prstGeom>
          </p:spPr>
        </p:pic>
        <p:sp>
          <p:nvSpPr>
            <p:cNvPr id="46" name="TextBox 45">
              <a:extLst>
                <a:ext uri="{FF2B5EF4-FFF2-40B4-BE49-F238E27FC236}">
                  <a16:creationId xmlns:a16="http://schemas.microsoft.com/office/drawing/2014/main" id="{9642ADE7-4D70-D7C5-779D-5670C01C81D1}"/>
                </a:ext>
              </a:extLst>
            </p:cNvPr>
            <p:cNvSpPr txBox="1"/>
            <p:nvPr/>
          </p:nvSpPr>
          <p:spPr>
            <a:xfrm>
              <a:off x="2477155" y="6414402"/>
              <a:ext cx="761747" cy="307777"/>
            </a:xfrm>
            <a:prstGeom prst="rect">
              <a:avLst/>
            </a:prstGeom>
            <a:noFill/>
          </p:spPr>
          <p:txBody>
            <a:bodyPr wrap="none" rtlCol="0">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VPC Endpoint &amp;</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VPC Links</a:t>
              </a:r>
            </a:p>
          </p:txBody>
        </p:sp>
        <p:sp>
          <p:nvSpPr>
            <p:cNvPr id="47" name="TextBox 46">
              <a:extLst>
                <a:ext uri="{FF2B5EF4-FFF2-40B4-BE49-F238E27FC236}">
                  <a16:creationId xmlns:a16="http://schemas.microsoft.com/office/drawing/2014/main" id="{26954A69-7B3E-1CD0-6E40-3C90E8D6C106}"/>
                </a:ext>
              </a:extLst>
            </p:cNvPr>
            <p:cNvSpPr txBox="1"/>
            <p:nvPr/>
          </p:nvSpPr>
          <p:spPr>
            <a:xfrm>
              <a:off x="1561712" y="6385050"/>
              <a:ext cx="713657"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Step Function</a:t>
              </a:r>
            </a:p>
          </p:txBody>
        </p:sp>
        <p:sp>
          <p:nvSpPr>
            <p:cNvPr id="48" name="TextBox 17">
              <a:extLst>
                <a:ext uri="{FF2B5EF4-FFF2-40B4-BE49-F238E27FC236}">
                  <a16:creationId xmlns:a16="http://schemas.microsoft.com/office/drawing/2014/main" id="{D552DDB3-2346-3116-4A88-E332A41B0198}"/>
                </a:ext>
                <a:ext uri="{C183D7F6-B498-43B3-948B-1728B52AA6E4}">
                  <adec:decorative xmlns:adec="http://schemas.microsoft.com/office/drawing/2017/decorative" val="1"/>
                </a:ext>
              </a:extLst>
            </p:cNvPr>
            <p:cNvSpPr txBox="1">
              <a:spLocks noChangeArrowheads="1"/>
            </p:cNvSpPr>
            <p:nvPr/>
          </p:nvSpPr>
          <p:spPr bwMode="auto">
            <a:xfrm>
              <a:off x="2444914" y="5772368"/>
              <a:ext cx="778042" cy="2000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en-US" sz="700" b="0" i="0" u="none" strike="noStrike" kern="1200" cap="none" spc="0" normalizeH="0" baseline="0" noProof="0" dirty="0">
                  <a:ln>
                    <a:noFill/>
                  </a:ln>
                  <a:solidFill>
                    <a:prstClr val="black"/>
                  </a:solidFill>
                  <a:effectLst/>
                  <a:uLnTx/>
                  <a:uFillTx/>
                  <a:latin typeface="Arial" panose="020B0604020202020204" pitchFamily="34" charset="0"/>
                  <a:ea typeface="Amazon Ember" panose="020B0603020204020204" pitchFamily="34" charset="0"/>
                  <a:cs typeface="Arial" panose="020B0604020202020204" pitchFamily="34" charset="0"/>
                </a:rPr>
                <a:t>Transcribe</a:t>
              </a:r>
            </a:p>
          </p:txBody>
        </p:sp>
        <p:pic>
          <p:nvPicPr>
            <p:cNvPr id="49" name="Graphic 26" descr="Amazon Simple Queue Service (Amazon SQS) service icon.">
              <a:extLst>
                <a:ext uri="{FF2B5EF4-FFF2-40B4-BE49-F238E27FC236}">
                  <a16:creationId xmlns:a16="http://schemas.microsoft.com/office/drawing/2014/main" id="{180A8A18-DCAC-BB4E-E1D6-5F63D50A7C8C}"/>
                </a:ext>
              </a:extLst>
            </p:cNvPr>
            <p:cNvPicPr>
              <a:picLocks noChangeAspect="1" noChangeArrowheads="1"/>
            </p:cNvPicPr>
            <p:nvPr/>
          </p:nvPicPr>
          <p:blipFill>
            <a:blip>
              <a:extLst>
                <a:ext uri="{96DAC541-7B7A-43D3-8B79-37D633B846F1}">
                  <asvg:svgBlip xmlns:asvg="http://schemas.microsoft.com/office/drawing/2016/SVG/main" r:embed="rId12"/>
                </a:ext>
              </a:extLst>
            </a:blip>
            <a:srcRect/>
            <a:stretch/>
          </p:blipFill>
          <p:spPr bwMode="auto">
            <a:xfrm>
              <a:off x="1253177" y="6056039"/>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0" name="Graphic 24" descr="Amazon Simple Notification Service (Amazon SNS) service icon.">
              <a:extLst>
                <a:ext uri="{FF2B5EF4-FFF2-40B4-BE49-F238E27FC236}">
                  <a16:creationId xmlns:a16="http://schemas.microsoft.com/office/drawing/2014/main" id="{A7C77489-073D-74F9-55A9-AA80F40FFBAE}"/>
                </a:ext>
              </a:extLst>
            </p:cNvPr>
            <p:cNvPicPr>
              <a:picLocks noChangeAspect="1" noChangeArrowheads="1"/>
            </p:cNvPicPr>
            <p:nvPr/>
          </p:nvPicPr>
          <p:blipFill>
            <a:blip>
              <a:extLst>
                <a:ext uri="{96DAC541-7B7A-43D3-8B79-37D633B846F1}">
                  <asvg:svgBlip xmlns:asvg="http://schemas.microsoft.com/office/drawing/2016/SVG/main" r:embed="rId13"/>
                </a:ext>
              </a:extLst>
            </a:blip>
            <a:srcRect/>
            <a:stretch/>
          </p:blipFill>
          <p:spPr bwMode="auto">
            <a:xfrm>
              <a:off x="1253177" y="5729290"/>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1" name="Graphic 17" descr="AWS Step Functions service icon.">
              <a:extLst>
                <a:ext uri="{FF2B5EF4-FFF2-40B4-BE49-F238E27FC236}">
                  <a16:creationId xmlns:a16="http://schemas.microsoft.com/office/drawing/2014/main" id="{60E3CDFA-7DA4-DED0-5904-CC23E4B41428}"/>
                </a:ext>
              </a:extLst>
            </p:cNvPr>
            <p:cNvPicPr>
              <a:picLocks noChangeAspect="1" noChangeArrowheads="1"/>
            </p:cNvPicPr>
            <p:nvPr/>
          </p:nvPicPr>
          <p:blipFill>
            <a:blip>
              <a:extLst>
                <a:ext uri="{96DAC541-7B7A-43D3-8B79-37D633B846F1}">
                  <asvg:svgBlip xmlns:asvg="http://schemas.microsoft.com/office/drawing/2016/SVG/main" r:embed="rId17"/>
                </a:ext>
              </a:extLst>
            </a:blip>
            <a:srcRect/>
            <a:stretch/>
          </p:blipFill>
          <p:spPr bwMode="auto">
            <a:xfrm>
              <a:off x="1265116" y="6382788"/>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2" name="Graphic 51" descr="Amazon Bedrock service icon.">
              <a:extLst>
                <a:ext uri="{FF2B5EF4-FFF2-40B4-BE49-F238E27FC236}">
                  <a16:creationId xmlns:a16="http://schemas.microsoft.com/office/drawing/2014/main" id="{BF78C680-E8EB-B53A-2B37-16703FF2E43B}"/>
                </a:ext>
              </a:extLst>
            </p:cNvPr>
            <p:cNvPicPr>
              <a:picLocks noChangeAspect="1"/>
            </p:cNvPicPr>
            <p:nvPr/>
          </p:nvPicPr>
          <p:blipFill>
            <a:blip>
              <a:extLst>
                <a:ext uri="{96DAC541-7B7A-43D3-8B79-37D633B846F1}">
                  <asvg:svgBlip xmlns:asvg="http://schemas.microsoft.com/office/drawing/2016/SVG/main" r:embed="rId18"/>
                </a:ext>
              </a:extLst>
            </a:blip>
            <a:srcRect/>
            <a:stretch/>
          </p:blipFill>
          <p:spPr>
            <a:xfrm>
              <a:off x="2216552" y="6056039"/>
              <a:ext cx="274320" cy="274320"/>
            </a:xfrm>
            <a:prstGeom prst="rect">
              <a:avLst/>
            </a:prstGeom>
          </p:spPr>
        </p:pic>
        <p:pic>
          <p:nvPicPr>
            <p:cNvPr id="53" name="Graphic 20" descr="Amazon Transcribe service icon.">
              <a:extLst>
                <a:ext uri="{FF2B5EF4-FFF2-40B4-BE49-F238E27FC236}">
                  <a16:creationId xmlns:a16="http://schemas.microsoft.com/office/drawing/2014/main" id="{97BE15DA-409E-96D6-B81A-CC2B43C376FF}"/>
                </a:ext>
              </a:extLst>
            </p:cNvPr>
            <p:cNvPicPr>
              <a:picLocks noChangeAspect="1" noChangeArrowheads="1"/>
            </p:cNvPicPr>
            <p:nvPr/>
          </p:nvPicPr>
          <p:blipFill>
            <a:blip>
              <a:extLst>
                <a:ext uri="{96DAC541-7B7A-43D3-8B79-37D633B846F1}">
                  <asvg:svgBlip xmlns:asvg="http://schemas.microsoft.com/office/drawing/2016/SVG/main" r:embed="rId19"/>
                </a:ext>
              </a:extLst>
            </a:blip>
            <a:srcRect/>
            <a:stretch/>
          </p:blipFill>
          <p:spPr bwMode="auto">
            <a:xfrm>
              <a:off x="2225048" y="5729290"/>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pic>
        <p:nvPicPr>
          <p:cNvPr id="55" name="Graphic 8" descr="Amazon Simple Storage Service (Amazon S3) service icon.">
            <a:extLst>
              <a:ext uri="{FF2B5EF4-FFF2-40B4-BE49-F238E27FC236}">
                <a16:creationId xmlns:a16="http://schemas.microsoft.com/office/drawing/2014/main" id="{73A2263A-2428-781F-CE4B-604BBEE78F07}"/>
              </a:ext>
            </a:extLst>
          </p:cNvPr>
          <p:cNvPicPr>
            <a:picLocks noChangeAspect="1" noChangeArrowheads="1"/>
          </p:cNvPicPr>
          <p:nvPr/>
        </p:nvPicPr>
        <p:blipFill>
          <a:blip>
            <a:extLst>
              <a:ext uri="{96DAC541-7B7A-43D3-8B79-37D633B846F1}">
                <asvg:svgBlip xmlns:asvg="http://schemas.microsoft.com/office/drawing/2016/SVG/main" r:embed="rId15"/>
              </a:ext>
            </a:extLst>
          </a:blip>
          <a:srcRect/>
          <a:stretch/>
        </p:blipFill>
        <p:spPr bwMode="auto">
          <a:xfrm>
            <a:off x="3200949" y="4718104"/>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 name="TextBox 9">
            <a:extLst>
              <a:ext uri="{FF2B5EF4-FFF2-40B4-BE49-F238E27FC236}">
                <a16:creationId xmlns:a16="http://schemas.microsoft.com/office/drawing/2014/main" id="{E183426A-9E6F-A74B-F92B-F77C24B42C78}"/>
              </a:ext>
            </a:extLst>
          </p:cNvPr>
          <p:cNvSpPr txBox="1">
            <a:spLocks noChangeArrowheads="1"/>
          </p:cNvSpPr>
          <p:nvPr/>
        </p:nvSpPr>
        <p:spPr bwMode="auto">
          <a:xfrm>
            <a:off x="3111266" y="4963121"/>
            <a:ext cx="47449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S3</a:t>
            </a:r>
          </a:p>
        </p:txBody>
      </p:sp>
    </p:spTree>
    <p:extLst>
      <p:ext uri="{BB962C8B-B14F-4D97-AF65-F5344CB8AC3E}">
        <p14:creationId xmlns:p14="http://schemas.microsoft.com/office/powerpoint/2010/main" val="274625461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F5A748-36DE-3778-A2B4-868A6D1E2BD5}"/>
            </a:ext>
          </a:extLst>
        </p:cNvPr>
        <p:cNvGrpSpPr/>
        <p:nvPr/>
      </p:nvGrpSpPr>
      <p:grpSpPr>
        <a:xfrm>
          <a:off x="0" y="0"/>
          <a:ext cx="0" cy="0"/>
          <a:chOff x="0" y="0"/>
          <a:chExt cx="0" cy="0"/>
        </a:xfrm>
      </p:grpSpPr>
      <p:sp>
        <p:nvSpPr>
          <p:cNvPr id="158" name="Rectangle 157">
            <a:extLst>
              <a:ext uri="{FF2B5EF4-FFF2-40B4-BE49-F238E27FC236}">
                <a16:creationId xmlns:a16="http://schemas.microsoft.com/office/drawing/2014/main" id="{57BFB505-8486-00D6-2F1A-001895097FD7}"/>
              </a:ext>
            </a:extLst>
          </p:cNvPr>
          <p:cNvSpPr/>
          <p:nvPr/>
        </p:nvSpPr>
        <p:spPr>
          <a:xfrm>
            <a:off x="9404684" y="1900157"/>
            <a:ext cx="1913021" cy="208630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 name="Rectangle: Rounded Corners 150">
            <a:extLst>
              <a:ext uri="{FF2B5EF4-FFF2-40B4-BE49-F238E27FC236}">
                <a16:creationId xmlns:a16="http://schemas.microsoft.com/office/drawing/2014/main" id="{7CE96D54-943C-E1E2-76DE-9F2DD59ECA2C}"/>
              </a:ext>
            </a:extLst>
          </p:cNvPr>
          <p:cNvSpPr/>
          <p:nvPr/>
        </p:nvSpPr>
        <p:spPr>
          <a:xfrm>
            <a:off x="9518904" y="3638217"/>
            <a:ext cx="1694528" cy="282898"/>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Summary Creation</a:t>
            </a:r>
          </a:p>
        </p:txBody>
      </p:sp>
      <p:grpSp>
        <p:nvGrpSpPr>
          <p:cNvPr id="4" name="aGrouping" descr="Example of AWS Cloud group, represented as a rectangle with AWS logo at the top left, and AWS Cloud as a title.">
            <a:extLst>
              <a:ext uri="{FF2B5EF4-FFF2-40B4-BE49-F238E27FC236}">
                <a16:creationId xmlns:a16="http://schemas.microsoft.com/office/drawing/2014/main" id="{8967A6A2-81D6-42B0-A046-E4AA7FDD7672}"/>
              </a:ext>
            </a:extLst>
          </p:cNvPr>
          <p:cNvGrpSpPr/>
          <p:nvPr/>
        </p:nvGrpSpPr>
        <p:grpSpPr>
          <a:xfrm>
            <a:off x="1873575" y="831451"/>
            <a:ext cx="9759888" cy="5140972"/>
            <a:chOff x="1126114" y="1236252"/>
            <a:chExt cx="2742722" cy="718165"/>
          </a:xfrm>
        </p:grpSpPr>
        <p:sp>
          <p:nvSpPr>
            <p:cNvPr id="5" name="Rectangle 4">
              <a:extLst>
                <a:ext uri="{FF2B5EF4-FFF2-40B4-BE49-F238E27FC236}">
                  <a16:creationId xmlns:a16="http://schemas.microsoft.com/office/drawing/2014/main" id="{9E47D05B-AC5A-F7E0-BCCB-D9E0BCD19C0F}"/>
                </a:ext>
              </a:extLst>
            </p:cNvPr>
            <p:cNvSpPr/>
            <p:nvPr/>
          </p:nvSpPr>
          <p:spPr>
            <a:xfrm>
              <a:off x="1126926" y="1236252"/>
              <a:ext cx="2741910" cy="718165"/>
            </a:xfrm>
            <a:prstGeom prst="rect">
              <a:avLst/>
            </a:prstGeom>
            <a:noFill/>
            <a:ln w="158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502920" tIns="9144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pic>
          <p:nvPicPr>
            <p:cNvPr id="6" name="Graphic 5">
              <a:extLst>
                <a:ext uri="{FF2B5EF4-FFF2-40B4-BE49-F238E27FC236}">
                  <a16:creationId xmlns:a16="http://schemas.microsoft.com/office/drawing/2014/main" id="{CA2BC49E-CF07-27C3-9A9B-FFDE55A41FB8}"/>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1126114" y="1237248"/>
              <a:ext cx="85898" cy="53777"/>
            </a:xfrm>
            <a:prstGeom prst="rect">
              <a:avLst/>
            </a:prstGeom>
          </p:spPr>
        </p:pic>
      </p:grpSp>
      <p:grpSp>
        <p:nvGrpSpPr>
          <p:cNvPr id="7" name="AZGroup" descr="Group for availability zone, inside the AWS Cloud grouping.">
            <a:extLst>
              <a:ext uri="{FF2B5EF4-FFF2-40B4-BE49-F238E27FC236}">
                <a16:creationId xmlns:a16="http://schemas.microsoft.com/office/drawing/2014/main" id="{B3628504-E540-14DF-F500-8CDC7554F906}"/>
              </a:ext>
            </a:extLst>
          </p:cNvPr>
          <p:cNvGrpSpPr/>
          <p:nvPr/>
        </p:nvGrpSpPr>
        <p:grpSpPr>
          <a:xfrm>
            <a:off x="2749959" y="919950"/>
            <a:ext cx="8786265" cy="4616711"/>
            <a:chOff x="4188315" y="1576360"/>
            <a:chExt cx="8394391" cy="2984265"/>
          </a:xfrm>
        </p:grpSpPr>
        <p:sp>
          <p:nvSpPr>
            <p:cNvPr id="8" name="Rectangle 7" descr="AZ group border">
              <a:extLst>
                <a:ext uri="{FF2B5EF4-FFF2-40B4-BE49-F238E27FC236}">
                  <a16:creationId xmlns:a16="http://schemas.microsoft.com/office/drawing/2014/main" id="{8F6C5A37-6653-6971-216E-4AD7E499ED1C}"/>
                </a:ext>
              </a:extLst>
            </p:cNvPr>
            <p:cNvSpPr/>
            <p:nvPr/>
          </p:nvSpPr>
          <p:spPr>
            <a:xfrm>
              <a:off x="4188315" y="1576360"/>
              <a:ext cx="8394391" cy="2984265"/>
            </a:xfrm>
            <a:prstGeom prst="rect">
              <a:avLst/>
            </a:prstGeom>
            <a:noFill/>
            <a:ln w="15875">
              <a:solidFill>
                <a:srgbClr val="00A4A6"/>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srgbClr val="A5A5A5"/>
                </a:solidFill>
                <a:effectLst/>
                <a:uLnTx/>
                <a:uFillTx/>
                <a:latin typeface="Calibri" panose="020F0502020204030204"/>
                <a:ea typeface="+mn-ea"/>
                <a:cs typeface="+mn-cs"/>
              </a:endParaRPr>
            </a:p>
          </p:txBody>
        </p:sp>
        <p:sp>
          <p:nvSpPr>
            <p:cNvPr id="9" name="Rectangle 37">
              <a:extLst>
                <a:ext uri="{FF2B5EF4-FFF2-40B4-BE49-F238E27FC236}">
                  <a16:creationId xmlns:a16="http://schemas.microsoft.com/office/drawing/2014/main" id="{51026811-0F8C-CC70-BD9C-25E7AF0FEB29}"/>
                </a:ext>
              </a:extLst>
            </p:cNvPr>
            <p:cNvSpPr>
              <a:spLocks noChangeArrowheads="1"/>
            </p:cNvSpPr>
            <p:nvPr/>
          </p:nvSpPr>
          <p:spPr bwMode="auto">
            <a:xfrm>
              <a:off x="4328036" y="1576639"/>
              <a:ext cx="591223" cy="1564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700" b="1" i="0" u="none" strike="noStrike" kern="1200" cap="none" spc="0" normalizeH="0" baseline="0" noProof="0" dirty="0">
                  <a:ln>
                    <a:noFill/>
                  </a:ln>
                  <a:solidFill>
                    <a:srgbClr val="00A4A6"/>
                  </a:solidFill>
                  <a:effectLst/>
                  <a:uLnTx/>
                  <a:uFillTx/>
                  <a:latin typeface="Arial" panose="020B0604020202020204" pitchFamily="34" charset="0"/>
                  <a:ea typeface="+mn-ea"/>
                  <a:cs typeface="Arial" panose="020B0604020202020204" pitchFamily="34" charset="0"/>
                </a:rPr>
                <a:t>us-east-1 </a:t>
              </a:r>
            </a:p>
          </p:txBody>
        </p:sp>
      </p:grpSp>
      <p:pic>
        <p:nvPicPr>
          <p:cNvPr id="10" name="Graphic 9" descr="Region group icon.">
            <a:extLst>
              <a:ext uri="{FF2B5EF4-FFF2-40B4-BE49-F238E27FC236}">
                <a16:creationId xmlns:a16="http://schemas.microsoft.com/office/drawing/2014/main" id="{4335F76D-BE8B-5383-24E6-A138B6065CA5}"/>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2759516" y="915579"/>
            <a:ext cx="181666" cy="181666"/>
          </a:xfrm>
          <a:prstGeom prst="rect">
            <a:avLst/>
          </a:prstGeom>
        </p:spPr>
      </p:pic>
      <p:sp>
        <p:nvSpPr>
          <p:cNvPr id="11" name="Rectangle 10">
            <a:extLst>
              <a:ext uri="{FF2B5EF4-FFF2-40B4-BE49-F238E27FC236}">
                <a16:creationId xmlns:a16="http://schemas.microsoft.com/office/drawing/2014/main" id="{D11B9F68-3E0F-C1DB-D031-B917653B4855}"/>
              </a:ext>
              <a:ext uri="{C183D7F6-B498-43B3-948B-1728B52AA6E4}">
                <adec:decorative xmlns:adec="http://schemas.microsoft.com/office/drawing/2017/decorative" val="1"/>
              </a:ext>
            </a:extLst>
          </p:cNvPr>
          <p:cNvSpPr/>
          <p:nvPr/>
        </p:nvSpPr>
        <p:spPr bwMode="auto">
          <a:xfrm>
            <a:off x="3445586" y="1020727"/>
            <a:ext cx="8020990" cy="3410142"/>
          </a:xfrm>
          <a:prstGeom prst="rect">
            <a:avLst/>
          </a:prstGeom>
          <a:noFill/>
          <a:ln w="15875">
            <a:solidFill>
              <a:srgbClr val="8C4FFF"/>
            </a:solidFill>
          </a:ln>
        </p:spPr>
        <p:style>
          <a:lnRef idx="2">
            <a:schemeClr val="accent1">
              <a:shade val="50000"/>
            </a:schemeClr>
          </a:lnRef>
          <a:fillRef idx="1">
            <a:schemeClr val="accent1"/>
          </a:fillRef>
          <a:effectRef idx="0">
            <a:schemeClr val="accent1"/>
          </a:effectRef>
          <a:fontRef idx="minor">
            <a:schemeClr val="lt1"/>
          </a:fontRef>
        </p:style>
        <p:txBody>
          <a:bodyPr lIns="502920" tIns="9144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w="0"/>
              <a:solidFill>
                <a:prstClr val="black"/>
              </a:solidFill>
              <a:effectLst/>
              <a:uLnTx/>
              <a:uFillTx/>
              <a:latin typeface="Arial" panose="020B0604020202020204" pitchFamily="34" charset="0"/>
              <a:ea typeface="+mn-ea"/>
              <a:cs typeface="Arial" panose="020B0604020202020204" pitchFamily="34" charset="0"/>
            </a:endParaRPr>
          </a:p>
        </p:txBody>
      </p:sp>
      <p:pic>
        <p:nvPicPr>
          <p:cNvPr id="12" name="Graphic 11" descr="VPC group icon.">
            <a:extLst>
              <a:ext uri="{FF2B5EF4-FFF2-40B4-BE49-F238E27FC236}">
                <a16:creationId xmlns:a16="http://schemas.microsoft.com/office/drawing/2014/main" id="{6B2388FC-A0E5-72E5-AA09-FF7DD6AAE40B}"/>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449672" y="1028241"/>
            <a:ext cx="159014" cy="159014"/>
          </a:xfrm>
          <a:prstGeom prst="rect">
            <a:avLst/>
          </a:prstGeom>
        </p:spPr>
      </p:pic>
      <p:sp>
        <p:nvSpPr>
          <p:cNvPr id="13" name="Rectangle 37">
            <a:extLst>
              <a:ext uri="{FF2B5EF4-FFF2-40B4-BE49-F238E27FC236}">
                <a16:creationId xmlns:a16="http://schemas.microsoft.com/office/drawing/2014/main" id="{C76C8141-002A-32EA-7FF7-AAA620B004F5}"/>
              </a:ext>
            </a:extLst>
          </p:cNvPr>
          <p:cNvSpPr>
            <a:spLocks noChangeArrowheads="1"/>
          </p:cNvSpPr>
          <p:nvPr/>
        </p:nvSpPr>
        <p:spPr bwMode="auto">
          <a:xfrm>
            <a:off x="3548707" y="1008918"/>
            <a:ext cx="367409" cy="2000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700" b="1" i="0" u="none" strike="noStrike" kern="1200" cap="none" spc="0" normalizeH="0" baseline="0" noProof="0" dirty="0">
                <a:ln>
                  <a:noFill/>
                </a:ln>
                <a:solidFill>
                  <a:srgbClr val="8C4FFF"/>
                </a:solidFill>
                <a:effectLst/>
                <a:uLnTx/>
                <a:uFillTx/>
                <a:latin typeface="Arial" panose="020B0604020202020204" pitchFamily="34" charset="0"/>
                <a:ea typeface="+mn-ea"/>
                <a:cs typeface="Arial" panose="020B0604020202020204" pitchFamily="34" charset="0"/>
              </a:rPr>
              <a:t>VPC</a:t>
            </a:r>
          </a:p>
        </p:txBody>
      </p:sp>
      <p:cxnSp>
        <p:nvCxnSpPr>
          <p:cNvPr id="14" name="Straight Arrow Connector 13">
            <a:extLst>
              <a:ext uri="{FF2B5EF4-FFF2-40B4-BE49-F238E27FC236}">
                <a16:creationId xmlns:a16="http://schemas.microsoft.com/office/drawing/2014/main" id="{E59C2621-A95D-CC36-9BB0-57B0B8A01660}"/>
              </a:ext>
            </a:extLst>
          </p:cNvPr>
          <p:cNvCxnSpPr>
            <a:cxnSpLocks/>
            <a:stCxn id="29" idx="3"/>
            <a:endCxn id="26" idx="1"/>
          </p:cNvCxnSpPr>
          <p:nvPr/>
        </p:nvCxnSpPr>
        <p:spPr>
          <a:xfrm flipV="1">
            <a:off x="3202073" y="3899331"/>
            <a:ext cx="295531" cy="3124"/>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cxnSp>
        <p:nvCxnSpPr>
          <p:cNvPr id="15" name="Straight Arrow Connector 14">
            <a:extLst>
              <a:ext uri="{FF2B5EF4-FFF2-40B4-BE49-F238E27FC236}">
                <a16:creationId xmlns:a16="http://schemas.microsoft.com/office/drawing/2014/main" id="{BFA4C0D7-B8BE-C267-D6D1-E14DC8AA1B72}"/>
              </a:ext>
            </a:extLst>
          </p:cNvPr>
          <p:cNvCxnSpPr>
            <a:cxnSpLocks/>
            <a:stCxn id="26" idx="3"/>
            <a:endCxn id="68" idx="1"/>
          </p:cNvCxnSpPr>
          <p:nvPr/>
        </p:nvCxnSpPr>
        <p:spPr>
          <a:xfrm flipV="1">
            <a:off x="3771924" y="3891145"/>
            <a:ext cx="864209" cy="8186"/>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sp>
        <p:nvSpPr>
          <p:cNvPr id="17" name="TextBox 16">
            <a:extLst>
              <a:ext uri="{FF2B5EF4-FFF2-40B4-BE49-F238E27FC236}">
                <a16:creationId xmlns:a16="http://schemas.microsoft.com/office/drawing/2014/main" id="{CBD7B03C-67D1-C2FC-39CF-06D4892AB1EB}"/>
              </a:ext>
            </a:extLst>
          </p:cNvPr>
          <p:cNvSpPr txBox="1"/>
          <p:nvPr/>
        </p:nvSpPr>
        <p:spPr>
          <a:xfrm>
            <a:off x="661177" y="3932828"/>
            <a:ext cx="729687" cy="40011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HTTP API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Traffic</a:t>
            </a:r>
          </a:p>
        </p:txBody>
      </p:sp>
      <p:cxnSp>
        <p:nvCxnSpPr>
          <p:cNvPr id="18" name="Straight Arrow Connector 17">
            <a:extLst>
              <a:ext uri="{FF2B5EF4-FFF2-40B4-BE49-F238E27FC236}">
                <a16:creationId xmlns:a16="http://schemas.microsoft.com/office/drawing/2014/main" id="{C8265B33-61D2-7F62-5B3E-BF6713825DEE}"/>
              </a:ext>
            </a:extLst>
          </p:cNvPr>
          <p:cNvCxnSpPr>
            <a:cxnSpLocks/>
            <a:stCxn id="23" idx="3"/>
            <a:endCxn id="21" idx="1"/>
          </p:cNvCxnSpPr>
          <p:nvPr/>
        </p:nvCxnSpPr>
        <p:spPr>
          <a:xfrm flipV="1">
            <a:off x="1392066" y="4854173"/>
            <a:ext cx="751868" cy="13729"/>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grpSp>
        <p:nvGrpSpPr>
          <p:cNvPr id="19" name="Group 18">
            <a:extLst>
              <a:ext uri="{FF2B5EF4-FFF2-40B4-BE49-F238E27FC236}">
                <a16:creationId xmlns:a16="http://schemas.microsoft.com/office/drawing/2014/main" id="{6C24DE01-16BB-3203-2369-2F6780277504}"/>
              </a:ext>
            </a:extLst>
          </p:cNvPr>
          <p:cNvGrpSpPr/>
          <p:nvPr/>
        </p:nvGrpSpPr>
        <p:grpSpPr>
          <a:xfrm>
            <a:off x="2102684" y="4404685"/>
            <a:ext cx="330849" cy="637914"/>
            <a:chOff x="2021255" y="5606297"/>
            <a:chExt cx="330849" cy="637914"/>
          </a:xfrm>
        </p:grpSpPr>
        <p:pic>
          <p:nvPicPr>
            <p:cNvPr id="20" name="Graphic 8" descr="AWS WAF service icon.">
              <a:extLst>
                <a:ext uri="{FF2B5EF4-FFF2-40B4-BE49-F238E27FC236}">
                  <a16:creationId xmlns:a16="http://schemas.microsoft.com/office/drawing/2014/main" id="{A5ACC992-E723-1EDB-F2D9-B102F8772047}"/>
                </a:ext>
              </a:extLst>
            </p:cNvPr>
            <p:cNvPicPr>
              <a:picLocks noChangeAspect="1" noChangeArrowheads="1"/>
            </p:cNvPicPr>
            <p:nvPr/>
          </p:nvPicPr>
          <p:blipFill>
            <a:blip>
              <a:extLst>
                <a:ext uri="{96DAC541-7B7A-43D3-8B79-37D633B846F1}">
                  <asvg:svgBlip xmlns:asvg="http://schemas.microsoft.com/office/drawing/2016/SVG/main" r:embed="rId5"/>
                </a:ext>
              </a:extLst>
            </a:blip>
            <a:srcRect/>
            <a:stretch/>
          </p:blipFill>
          <p:spPr bwMode="auto">
            <a:xfrm>
              <a:off x="2061331" y="5633576"/>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1" name="Graphic 19" descr="Amazon CloudFront service icon.">
              <a:extLst>
                <a:ext uri="{FF2B5EF4-FFF2-40B4-BE49-F238E27FC236}">
                  <a16:creationId xmlns:a16="http://schemas.microsoft.com/office/drawing/2014/main" id="{91B5FA84-9553-1669-E27C-845ADAD77B9E}"/>
                </a:ext>
              </a:extLst>
            </p:cNvPr>
            <p:cNvPicPr>
              <a:picLocks noChangeAspect="1" noChangeArrowheads="1"/>
            </p:cNvPicPr>
            <p:nvPr/>
          </p:nvPicPr>
          <p:blipFill>
            <a:blip>
              <a:extLst>
                <a:ext uri="{96DAC541-7B7A-43D3-8B79-37D633B846F1}">
                  <asvg:svgBlip xmlns:asvg="http://schemas.microsoft.com/office/drawing/2016/SVG/main" r:embed="rId6"/>
                </a:ext>
              </a:extLst>
            </a:blip>
            <a:srcRect/>
            <a:stretch/>
          </p:blipFill>
          <p:spPr bwMode="auto">
            <a:xfrm>
              <a:off x="2062505" y="591862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Rectangle 21" descr="Availability Zone group.">
              <a:extLst>
                <a:ext uri="{FF2B5EF4-FFF2-40B4-BE49-F238E27FC236}">
                  <a16:creationId xmlns:a16="http://schemas.microsoft.com/office/drawing/2014/main" id="{6499B68D-0628-22EE-CFB5-0BA767202744}"/>
                </a:ext>
              </a:extLst>
            </p:cNvPr>
            <p:cNvSpPr/>
            <p:nvPr/>
          </p:nvSpPr>
          <p:spPr>
            <a:xfrm>
              <a:off x="2021255" y="5606297"/>
              <a:ext cx="330849" cy="637914"/>
            </a:xfrm>
            <a:prstGeom prst="rect">
              <a:avLst/>
            </a:prstGeom>
            <a:noFill/>
            <a:ln w="15875" cap="flat" cmpd="sng" algn="ctr">
              <a:solidFill>
                <a:schemeClr val="tx1"/>
              </a:solidFill>
              <a:prstDash val="dash"/>
              <a:miter lim="800000"/>
            </a:ln>
            <a:effectLst/>
          </p:spPr>
          <p:txBody>
            <a:bodyPr tIns="9144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endParaRPr>
            </a:p>
          </p:txBody>
        </p:sp>
      </p:grpSp>
      <p:sp>
        <p:nvSpPr>
          <p:cNvPr id="23" name="TextBox 22">
            <a:extLst>
              <a:ext uri="{FF2B5EF4-FFF2-40B4-BE49-F238E27FC236}">
                <a16:creationId xmlns:a16="http://schemas.microsoft.com/office/drawing/2014/main" id="{FAFF04E9-0539-8E50-30E0-D1CF2F97DF9E}"/>
              </a:ext>
            </a:extLst>
          </p:cNvPr>
          <p:cNvSpPr txBox="1"/>
          <p:nvPr/>
        </p:nvSpPr>
        <p:spPr>
          <a:xfrm>
            <a:off x="655967" y="4667847"/>
            <a:ext cx="736099" cy="40011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SPA Web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Traffic</a:t>
            </a:r>
          </a:p>
        </p:txBody>
      </p:sp>
      <p:cxnSp>
        <p:nvCxnSpPr>
          <p:cNvPr id="25" name="Connector: Elbow 24">
            <a:extLst>
              <a:ext uri="{FF2B5EF4-FFF2-40B4-BE49-F238E27FC236}">
                <a16:creationId xmlns:a16="http://schemas.microsoft.com/office/drawing/2014/main" id="{F013731B-2E63-4B93-F824-CE4CA3779199}"/>
              </a:ext>
            </a:extLst>
          </p:cNvPr>
          <p:cNvCxnSpPr>
            <a:cxnSpLocks/>
            <a:stCxn id="21" idx="3"/>
            <a:endCxn id="55" idx="1"/>
          </p:cNvCxnSpPr>
          <p:nvPr/>
        </p:nvCxnSpPr>
        <p:spPr>
          <a:xfrm>
            <a:off x="2418254" y="4854173"/>
            <a:ext cx="782695" cy="1091"/>
          </a:xfrm>
          <a:prstGeom prst="bentConnector3">
            <a:avLst>
              <a:gd name="adj1" fmla="val 50000"/>
            </a:avLst>
          </a:prstGeom>
          <a:ln>
            <a:headEnd type="triangle" w="med" len="med"/>
            <a:tailEnd type="none" w="med" len="med"/>
          </a:ln>
        </p:spPr>
        <p:style>
          <a:lnRef idx="2">
            <a:schemeClr val="accent2"/>
          </a:lnRef>
          <a:fillRef idx="0">
            <a:schemeClr val="accent2"/>
          </a:fillRef>
          <a:effectRef idx="1">
            <a:schemeClr val="accent2"/>
          </a:effectRef>
          <a:fontRef idx="minor">
            <a:schemeClr val="tx1"/>
          </a:fontRef>
        </p:style>
      </p:cxnSp>
      <p:pic>
        <p:nvPicPr>
          <p:cNvPr id="26" name="Graphic 25" descr="Endpoints resource icon for the Amazon VPC service.&#10;">
            <a:extLst>
              <a:ext uri="{FF2B5EF4-FFF2-40B4-BE49-F238E27FC236}">
                <a16:creationId xmlns:a16="http://schemas.microsoft.com/office/drawing/2014/main" id="{EAA3C9E6-C868-AB2B-6062-9884AB07FBA3}"/>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497604" y="3762171"/>
            <a:ext cx="274320" cy="274320"/>
          </a:xfrm>
          <a:prstGeom prst="rect">
            <a:avLst/>
          </a:prstGeom>
        </p:spPr>
      </p:pic>
      <p:pic>
        <p:nvPicPr>
          <p:cNvPr id="27" name="Graphic 21" descr="Amazon Route 53 service icon.">
            <a:extLst>
              <a:ext uri="{FF2B5EF4-FFF2-40B4-BE49-F238E27FC236}">
                <a16:creationId xmlns:a16="http://schemas.microsoft.com/office/drawing/2014/main" id="{3386D00A-6EB9-BD71-B202-101B7825F0DB}"/>
              </a:ext>
            </a:extLst>
          </p:cNvPr>
          <p:cNvPicPr>
            <a:picLocks noChangeAspect="1" noChangeArrowheads="1"/>
          </p:cNvPicPr>
          <p:nvPr/>
        </p:nvPicPr>
        <p:blipFill>
          <a:blip>
            <a:extLst>
              <a:ext uri="{96DAC541-7B7A-43D3-8B79-37D633B846F1}">
                <asvg:svgBlip xmlns:asvg="http://schemas.microsoft.com/office/drawing/2016/SVG/main" r:embed="rId8"/>
              </a:ext>
            </a:extLst>
          </a:blip>
          <a:srcRect/>
          <a:stretch/>
        </p:blipFill>
        <p:spPr bwMode="auto">
          <a:xfrm>
            <a:off x="2026407" y="1388197"/>
            <a:ext cx="274320" cy="2668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9" name="Graphic 7" descr="Amazon API Gateway service icon.">
            <a:extLst>
              <a:ext uri="{FF2B5EF4-FFF2-40B4-BE49-F238E27FC236}">
                <a16:creationId xmlns:a16="http://schemas.microsoft.com/office/drawing/2014/main" id="{4E42E6E0-B154-C87B-6EDC-B1E61C97A954}"/>
              </a:ext>
            </a:extLst>
          </p:cNvPr>
          <p:cNvPicPr>
            <a:picLocks noChangeAspect="1" noChangeArrowheads="1"/>
          </p:cNvPicPr>
          <p:nvPr/>
        </p:nvPicPr>
        <p:blipFill>
          <a:blip>
            <a:extLst>
              <a:ext uri="{96DAC541-7B7A-43D3-8B79-37D633B846F1}">
                <asvg:svgBlip xmlns:asvg="http://schemas.microsoft.com/office/drawing/2016/SVG/main" r:embed="rId9"/>
              </a:ext>
            </a:extLst>
          </a:blip>
          <a:srcRect/>
          <a:stretch/>
        </p:blipFill>
        <p:spPr bwMode="auto">
          <a:xfrm>
            <a:off x="2927753" y="376529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30" name="Connector: Elbow 29">
            <a:extLst>
              <a:ext uri="{FF2B5EF4-FFF2-40B4-BE49-F238E27FC236}">
                <a16:creationId xmlns:a16="http://schemas.microsoft.com/office/drawing/2014/main" id="{CA605806-975F-5FA3-7879-E196C278A461}"/>
              </a:ext>
            </a:extLst>
          </p:cNvPr>
          <p:cNvCxnSpPr>
            <a:cxnSpLocks/>
            <a:stCxn id="17" idx="3"/>
            <a:endCxn id="29" idx="1"/>
          </p:cNvCxnSpPr>
          <p:nvPr/>
        </p:nvCxnSpPr>
        <p:spPr>
          <a:xfrm flipV="1">
            <a:off x="1390864" y="3902455"/>
            <a:ext cx="1536889" cy="230428"/>
          </a:xfrm>
          <a:prstGeom prst="bentConnector3">
            <a:avLst>
              <a:gd name="adj1" fmla="val 50000"/>
            </a:avLst>
          </a:prstGeom>
          <a:ln>
            <a:solidFill>
              <a:schemeClr val="accent1"/>
            </a:solidFill>
            <a:tailEnd type="triangle"/>
          </a:ln>
        </p:spPr>
        <p:style>
          <a:lnRef idx="2">
            <a:schemeClr val="accent1"/>
          </a:lnRef>
          <a:fillRef idx="0">
            <a:schemeClr val="accent1"/>
          </a:fillRef>
          <a:effectRef idx="1">
            <a:schemeClr val="accent1"/>
          </a:effectRef>
          <a:fontRef idx="minor">
            <a:schemeClr val="tx1"/>
          </a:fontRef>
        </p:style>
      </p:cxnSp>
      <p:pic>
        <p:nvPicPr>
          <p:cNvPr id="64" name="Graphic 17" descr="Amazon Cognito service icon.">
            <a:extLst>
              <a:ext uri="{FF2B5EF4-FFF2-40B4-BE49-F238E27FC236}">
                <a16:creationId xmlns:a16="http://schemas.microsoft.com/office/drawing/2014/main" id="{D2EDEB6F-5F20-88FC-4A4A-72CE9B6D436E}"/>
              </a:ext>
            </a:extLst>
          </p:cNvPr>
          <p:cNvPicPr>
            <a:picLocks noChangeAspect="1" noChangeArrowheads="1"/>
          </p:cNvPicPr>
          <p:nvPr/>
        </p:nvPicPr>
        <p:blipFill>
          <a:blip>
            <a:extLst>
              <a:ext uri="{96DAC541-7B7A-43D3-8B79-37D633B846F1}">
                <asvg:svgBlip xmlns:asvg="http://schemas.microsoft.com/office/drawing/2016/SVG/main" r:embed="rId10"/>
              </a:ext>
            </a:extLst>
          </a:blip>
          <a:srcRect/>
          <a:stretch/>
        </p:blipFill>
        <p:spPr bwMode="auto">
          <a:xfrm>
            <a:off x="2901721" y="1900157"/>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lambda" descr="Lambda service icon.">
            <a:extLst>
              <a:ext uri="{FF2B5EF4-FFF2-40B4-BE49-F238E27FC236}">
                <a16:creationId xmlns:a16="http://schemas.microsoft.com/office/drawing/2014/main" id="{B47E8573-C24D-5A56-F864-F5EB8B7EFFC9}"/>
              </a:ext>
            </a:extLst>
          </p:cNvPr>
          <p:cNvPicPr>
            <a:picLocks noChangeAspect="1" noChangeArrowheads="1"/>
          </p:cNvPicPr>
          <p:nvPr/>
        </p:nvPicPr>
        <p:blipFill>
          <a:blip>
            <a:extLst>
              <a:ext uri="{96DAC541-7B7A-43D3-8B79-37D633B846F1}">
                <asvg:svgBlip xmlns:asvg="http://schemas.microsoft.com/office/drawing/2016/SVG/main" r:embed="rId11"/>
              </a:ext>
            </a:extLst>
          </a:blip>
          <a:srcRect/>
          <a:stretch/>
        </p:blipFill>
        <p:spPr bwMode="auto">
          <a:xfrm>
            <a:off x="4636133" y="375398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9" name="Graphic 68" descr="Endpoints resource icon for the Amazon VPC service.&#10;">
            <a:extLst>
              <a:ext uri="{FF2B5EF4-FFF2-40B4-BE49-F238E27FC236}">
                <a16:creationId xmlns:a16="http://schemas.microsoft.com/office/drawing/2014/main" id="{68CA133F-26B9-AC25-6412-92785931F6B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091487" y="3753985"/>
            <a:ext cx="274320" cy="274320"/>
          </a:xfrm>
          <a:prstGeom prst="rect">
            <a:avLst/>
          </a:prstGeom>
        </p:spPr>
      </p:pic>
      <p:cxnSp>
        <p:nvCxnSpPr>
          <p:cNvPr id="70" name="Connector: Elbow 69">
            <a:extLst>
              <a:ext uri="{FF2B5EF4-FFF2-40B4-BE49-F238E27FC236}">
                <a16:creationId xmlns:a16="http://schemas.microsoft.com/office/drawing/2014/main" id="{83DFE076-7E28-DC27-DF0F-FAAAB9F54C98}"/>
              </a:ext>
            </a:extLst>
          </p:cNvPr>
          <p:cNvCxnSpPr>
            <a:cxnSpLocks/>
            <a:stCxn id="69" idx="2"/>
            <a:endCxn id="67" idx="0"/>
          </p:cNvCxnSpPr>
          <p:nvPr/>
        </p:nvCxnSpPr>
        <p:spPr>
          <a:xfrm rot="5400000">
            <a:off x="4466852" y="4020618"/>
            <a:ext cx="754109" cy="769482"/>
          </a:xfrm>
          <a:prstGeom prst="bentConnector3">
            <a:avLst>
              <a:gd name="adj1" fmla="val 20949"/>
            </a:avLst>
          </a:prstGeom>
          <a:ln w="28575">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71" name="Connector: Elbow 70">
            <a:extLst>
              <a:ext uri="{FF2B5EF4-FFF2-40B4-BE49-F238E27FC236}">
                <a16:creationId xmlns:a16="http://schemas.microsoft.com/office/drawing/2014/main" id="{3FB26283-62AB-EFC4-4572-ADFA29B2E481}"/>
              </a:ext>
            </a:extLst>
          </p:cNvPr>
          <p:cNvCxnSpPr>
            <a:cxnSpLocks/>
            <a:stCxn id="69" idx="2"/>
            <a:endCxn id="66" idx="0"/>
          </p:cNvCxnSpPr>
          <p:nvPr/>
        </p:nvCxnSpPr>
        <p:spPr>
          <a:xfrm rot="16200000" flipH="1">
            <a:off x="4885129" y="4371822"/>
            <a:ext cx="729821" cy="42785"/>
          </a:xfrm>
          <a:prstGeom prst="bentConnector3">
            <a:avLst>
              <a:gd name="adj1" fmla="val 21288"/>
            </a:avLst>
          </a:prstGeom>
          <a:ln w="28575">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72" name="TextBox 71">
            <a:extLst>
              <a:ext uri="{FF2B5EF4-FFF2-40B4-BE49-F238E27FC236}">
                <a16:creationId xmlns:a16="http://schemas.microsoft.com/office/drawing/2014/main" id="{36D852FE-BC4B-94BE-490A-1E9F6873B7BE}"/>
              </a:ext>
            </a:extLst>
          </p:cNvPr>
          <p:cNvSpPr txBox="1"/>
          <p:nvPr/>
        </p:nvSpPr>
        <p:spPr>
          <a:xfrm>
            <a:off x="5292471" y="3706479"/>
            <a:ext cx="896399" cy="369332"/>
          </a:xfrm>
          <a:prstGeom prst="rect">
            <a:avLst/>
          </a:prstGeom>
          <a:noFill/>
        </p:spPr>
        <p:txBody>
          <a:bodyPr wrap="none" rtlCol="0">
            <a:spAutoFit/>
          </a:bodyPr>
          <a:lstStyle/>
          <a:p>
            <a:pPr algn="ctr"/>
            <a:r>
              <a:rPr lang="en-US" sz="900" dirty="0">
                <a:solidFill>
                  <a:schemeClr val="bg1"/>
                </a:solidFill>
              </a:rPr>
              <a:t>Interface VPC </a:t>
            </a:r>
          </a:p>
          <a:p>
            <a:pPr algn="ctr"/>
            <a:r>
              <a:rPr lang="en-US" sz="900" dirty="0">
                <a:solidFill>
                  <a:schemeClr val="bg1"/>
                </a:solidFill>
              </a:rPr>
              <a:t>Endpoint</a:t>
            </a:r>
          </a:p>
        </p:txBody>
      </p:sp>
      <p:cxnSp>
        <p:nvCxnSpPr>
          <p:cNvPr id="73" name="Straight Arrow Connector 72">
            <a:extLst>
              <a:ext uri="{FF2B5EF4-FFF2-40B4-BE49-F238E27FC236}">
                <a16:creationId xmlns:a16="http://schemas.microsoft.com/office/drawing/2014/main" id="{4CFE0011-CC9F-7700-C354-2D4356E5C7D4}"/>
              </a:ext>
            </a:extLst>
          </p:cNvPr>
          <p:cNvCxnSpPr>
            <a:cxnSpLocks/>
            <a:stCxn id="68" idx="3"/>
          </p:cNvCxnSpPr>
          <p:nvPr/>
        </p:nvCxnSpPr>
        <p:spPr>
          <a:xfrm>
            <a:off x="4910453" y="3891145"/>
            <a:ext cx="223819" cy="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pic>
        <p:nvPicPr>
          <p:cNvPr id="83" name="Graphic 26" descr="Amazon Simple Queue Service (Amazon SQS) service icon.">
            <a:extLst>
              <a:ext uri="{FF2B5EF4-FFF2-40B4-BE49-F238E27FC236}">
                <a16:creationId xmlns:a16="http://schemas.microsoft.com/office/drawing/2014/main" id="{F6A76849-BB04-E503-6801-50CE06055C17}"/>
              </a:ext>
            </a:extLst>
          </p:cNvPr>
          <p:cNvPicPr>
            <a:picLocks noChangeAspect="1" noChangeArrowheads="1"/>
          </p:cNvPicPr>
          <p:nvPr/>
        </p:nvPicPr>
        <p:blipFill>
          <a:blip>
            <a:extLst>
              <a:ext uri="{96DAC541-7B7A-43D3-8B79-37D633B846F1}">
                <asvg:svgBlip xmlns:asvg="http://schemas.microsoft.com/office/drawing/2016/SVG/main" r:embed="rId12"/>
              </a:ext>
            </a:extLst>
          </a:blip>
          <a:srcRect/>
          <a:stretch/>
        </p:blipFill>
        <p:spPr bwMode="auto">
          <a:xfrm>
            <a:off x="4892478" y="3044803"/>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1" name="Graphic 24" descr="Amazon Simple Notification Service (Amazon SNS) service icon.">
            <a:extLst>
              <a:ext uri="{FF2B5EF4-FFF2-40B4-BE49-F238E27FC236}">
                <a16:creationId xmlns:a16="http://schemas.microsoft.com/office/drawing/2014/main" id="{023BBE0C-430C-64E5-7957-DA6704D3B734}"/>
              </a:ext>
            </a:extLst>
          </p:cNvPr>
          <p:cNvPicPr>
            <a:picLocks noChangeAspect="1" noChangeArrowheads="1"/>
          </p:cNvPicPr>
          <p:nvPr/>
        </p:nvPicPr>
        <p:blipFill>
          <a:blip>
            <a:extLst>
              <a:ext uri="{96DAC541-7B7A-43D3-8B79-37D633B846F1}">
                <asvg:svgBlip xmlns:asvg="http://schemas.microsoft.com/office/drawing/2016/SVG/main" r:embed="rId13"/>
              </a:ext>
            </a:extLst>
          </a:blip>
          <a:srcRect/>
          <a:stretch/>
        </p:blipFill>
        <p:spPr bwMode="auto">
          <a:xfrm>
            <a:off x="4328159" y="304616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95" name="Connector: Elbow 94">
            <a:extLst>
              <a:ext uri="{FF2B5EF4-FFF2-40B4-BE49-F238E27FC236}">
                <a16:creationId xmlns:a16="http://schemas.microsoft.com/office/drawing/2014/main" id="{7165EBBC-6282-8102-7934-AE4BD078022A}"/>
              </a:ext>
            </a:extLst>
          </p:cNvPr>
          <p:cNvCxnSpPr>
            <a:cxnSpLocks/>
            <a:stCxn id="68" idx="0"/>
            <a:endCxn id="83" idx="2"/>
          </p:cNvCxnSpPr>
          <p:nvPr/>
        </p:nvCxnSpPr>
        <p:spPr>
          <a:xfrm rot="5400000" flipH="1" flipV="1">
            <a:off x="4684034" y="3408382"/>
            <a:ext cx="434862" cy="256345"/>
          </a:xfrm>
          <a:prstGeom prst="bentConnector3">
            <a:avLst>
              <a:gd name="adj1" fmla="val 50000"/>
            </a:avLst>
          </a:prstGeom>
          <a:ln w="28575">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Connector: Elbow 99">
            <a:extLst>
              <a:ext uri="{FF2B5EF4-FFF2-40B4-BE49-F238E27FC236}">
                <a16:creationId xmlns:a16="http://schemas.microsoft.com/office/drawing/2014/main" id="{71C79467-C5D6-E866-153A-02A96AF882A2}"/>
              </a:ext>
            </a:extLst>
          </p:cNvPr>
          <p:cNvCxnSpPr>
            <a:cxnSpLocks/>
            <a:stCxn id="68" idx="0"/>
            <a:endCxn id="91" idx="2"/>
          </p:cNvCxnSpPr>
          <p:nvPr/>
        </p:nvCxnSpPr>
        <p:spPr>
          <a:xfrm rot="16200000" flipV="1">
            <a:off x="4402556" y="3383248"/>
            <a:ext cx="433500" cy="307974"/>
          </a:xfrm>
          <a:prstGeom prst="bentConnector3">
            <a:avLst>
              <a:gd name="adj1" fmla="val 50000"/>
            </a:avLst>
          </a:prstGeom>
          <a:ln w="28575">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04" name="TextBox 103">
            <a:extLst>
              <a:ext uri="{FF2B5EF4-FFF2-40B4-BE49-F238E27FC236}">
                <a16:creationId xmlns:a16="http://schemas.microsoft.com/office/drawing/2014/main" id="{1D90F352-27DC-306B-4D61-87E2947D973B}"/>
              </a:ext>
            </a:extLst>
          </p:cNvPr>
          <p:cNvSpPr txBox="1"/>
          <p:nvPr/>
        </p:nvSpPr>
        <p:spPr>
          <a:xfrm>
            <a:off x="3645369" y="208364"/>
            <a:ext cx="4948278" cy="369332"/>
          </a:xfrm>
          <a:prstGeom prst="rect">
            <a:avLst/>
          </a:prstGeom>
          <a:noFill/>
        </p:spPr>
        <p:txBody>
          <a:bodyPr wrap="none" rtlCol="0">
            <a:spAutoFit/>
          </a:bodyPr>
          <a:lstStyle/>
          <a:p>
            <a:pPr algn="ctr"/>
            <a:r>
              <a:rPr lang="en-US" dirty="0">
                <a:solidFill>
                  <a:schemeClr val="bg1"/>
                </a:solidFill>
              </a:rPr>
              <a:t>Evaluation with Agentic AI and Report Creation</a:t>
            </a:r>
          </a:p>
        </p:txBody>
      </p:sp>
      <p:grpSp>
        <p:nvGrpSpPr>
          <p:cNvPr id="78" name="Group 77">
            <a:extLst>
              <a:ext uri="{FF2B5EF4-FFF2-40B4-BE49-F238E27FC236}">
                <a16:creationId xmlns:a16="http://schemas.microsoft.com/office/drawing/2014/main" id="{3E375ADD-711C-11C5-F8B0-2605AEE7FA5F}"/>
              </a:ext>
            </a:extLst>
          </p:cNvPr>
          <p:cNvGrpSpPr/>
          <p:nvPr/>
        </p:nvGrpSpPr>
        <p:grpSpPr>
          <a:xfrm>
            <a:off x="3991747" y="4782414"/>
            <a:ext cx="934836" cy="491345"/>
            <a:chOff x="3991747" y="4782414"/>
            <a:chExt cx="934836" cy="491345"/>
          </a:xfrm>
        </p:grpSpPr>
        <p:pic>
          <p:nvPicPr>
            <p:cNvPr id="67" name="Graphic 23" descr="Amazon DynamoDB service icon.">
              <a:extLst>
                <a:ext uri="{FF2B5EF4-FFF2-40B4-BE49-F238E27FC236}">
                  <a16:creationId xmlns:a16="http://schemas.microsoft.com/office/drawing/2014/main" id="{D20FB21A-0841-7F10-60C1-C9B8A475B67F}"/>
                </a:ext>
              </a:extLst>
            </p:cNvPr>
            <p:cNvPicPr>
              <a:picLocks noChangeAspect="1" noChangeArrowheads="1"/>
            </p:cNvPicPr>
            <p:nvPr/>
          </p:nvPicPr>
          <p:blipFill>
            <a:blip>
              <a:extLst>
                <a:ext uri="{96DAC541-7B7A-43D3-8B79-37D633B846F1}">
                  <asvg:svgBlip xmlns:asvg="http://schemas.microsoft.com/office/drawing/2016/SVG/main" r:embed="rId14"/>
                </a:ext>
              </a:extLst>
            </a:blip>
            <a:srcRect/>
            <a:stretch/>
          </p:blipFill>
          <p:spPr bwMode="auto">
            <a:xfrm>
              <a:off x="4322005" y="4782414"/>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11">
              <a:extLst>
                <a:ext uri="{FF2B5EF4-FFF2-40B4-BE49-F238E27FC236}">
                  <a16:creationId xmlns:a16="http://schemas.microsoft.com/office/drawing/2014/main" id="{32AE0302-2985-80A7-89E4-01BA2FEFFEFA}"/>
                </a:ext>
              </a:extLst>
            </p:cNvPr>
            <p:cNvSpPr txBox="1">
              <a:spLocks noChangeArrowheads="1"/>
            </p:cNvSpPr>
            <p:nvPr/>
          </p:nvSpPr>
          <p:spPr bwMode="auto">
            <a:xfrm>
              <a:off x="3991747" y="5027538"/>
              <a:ext cx="93483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DynamoDB</a:t>
              </a:r>
            </a:p>
          </p:txBody>
        </p:sp>
      </p:grpSp>
      <p:grpSp>
        <p:nvGrpSpPr>
          <p:cNvPr id="79" name="Group 78">
            <a:extLst>
              <a:ext uri="{FF2B5EF4-FFF2-40B4-BE49-F238E27FC236}">
                <a16:creationId xmlns:a16="http://schemas.microsoft.com/office/drawing/2014/main" id="{44E4753E-C142-DEC0-9957-C9519F072F14}"/>
              </a:ext>
            </a:extLst>
          </p:cNvPr>
          <p:cNvGrpSpPr/>
          <p:nvPr/>
        </p:nvGrpSpPr>
        <p:grpSpPr>
          <a:xfrm>
            <a:off x="5039124" y="4758126"/>
            <a:ext cx="474496" cy="479772"/>
            <a:chOff x="5039124" y="4758126"/>
            <a:chExt cx="474496" cy="479772"/>
          </a:xfrm>
        </p:grpSpPr>
        <p:pic>
          <p:nvPicPr>
            <p:cNvPr id="66" name="Graphic 8" descr="Amazon Simple Storage Service (Amazon S3) service icon.">
              <a:extLst>
                <a:ext uri="{FF2B5EF4-FFF2-40B4-BE49-F238E27FC236}">
                  <a16:creationId xmlns:a16="http://schemas.microsoft.com/office/drawing/2014/main" id="{EC5607D0-F0A3-5F16-C615-2331CBE8BBB4}"/>
                </a:ext>
              </a:extLst>
            </p:cNvPr>
            <p:cNvPicPr>
              <a:picLocks noChangeAspect="1" noChangeArrowheads="1"/>
            </p:cNvPicPr>
            <p:nvPr/>
          </p:nvPicPr>
          <p:blipFill>
            <a:blip>
              <a:extLst>
                <a:ext uri="{96DAC541-7B7A-43D3-8B79-37D633B846F1}">
                  <asvg:svgBlip xmlns:asvg="http://schemas.microsoft.com/office/drawing/2016/SVG/main" r:embed="rId15"/>
                </a:ext>
              </a:extLst>
            </a:blip>
            <a:srcRect/>
            <a:stretch/>
          </p:blipFill>
          <p:spPr bwMode="auto">
            <a:xfrm>
              <a:off x="5134272" y="4758126"/>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 name="TextBox 9">
              <a:extLst>
                <a:ext uri="{FF2B5EF4-FFF2-40B4-BE49-F238E27FC236}">
                  <a16:creationId xmlns:a16="http://schemas.microsoft.com/office/drawing/2014/main" id="{92EFD26C-3250-4A2E-E8F0-82D58DF875D7}"/>
                </a:ext>
              </a:extLst>
            </p:cNvPr>
            <p:cNvSpPr txBox="1">
              <a:spLocks noChangeArrowheads="1"/>
            </p:cNvSpPr>
            <p:nvPr/>
          </p:nvSpPr>
          <p:spPr bwMode="auto">
            <a:xfrm>
              <a:off x="5039124" y="4991677"/>
              <a:ext cx="47449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S3</a:t>
              </a:r>
            </a:p>
          </p:txBody>
        </p:sp>
      </p:grpSp>
      <p:sp>
        <p:nvSpPr>
          <p:cNvPr id="63" name="TextBox 9">
            <a:extLst>
              <a:ext uri="{FF2B5EF4-FFF2-40B4-BE49-F238E27FC236}">
                <a16:creationId xmlns:a16="http://schemas.microsoft.com/office/drawing/2014/main" id="{795C5F6B-0671-0150-8B9B-6213FCC66AE9}"/>
              </a:ext>
            </a:extLst>
          </p:cNvPr>
          <p:cNvSpPr txBox="1">
            <a:spLocks noChangeArrowheads="1"/>
          </p:cNvSpPr>
          <p:nvPr/>
        </p:nvSpPr>
        <p:spPr bwMode="auto">
          <a:xfrm>
            <a:off x="1824680" y="4978595"/>
            <a:ext cx="931832"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CloudFront</a:t>
            </a:r>
          </a:p>
        </p:txBody>
      </p:sp>
      <p:sp>
        <p:nvSpPr>
          <p:cNvPr id="75" name="TextBox 9">
            <a:extLst>
              <a:ext uri="{FF2B5EF4-FFF2-40B4-BE49-F238E27FC236}">
                <a16:creationId xmlns:a16="http://schemas.microsoft.com/office/drawing/2014/main" id="{4431FE25-DDF7-1C0A-4267-6D8CB9A176E0}"/>
              </a:ext>
            </a:extLst>
          </p:cNvPr>
          <p:cNvSpPr txBox="1">
            <a:spLocks noChangeArrowheads="1"/>
          </p:cNvSpPr>
          <p:nvPr/>
        </p:nvSpPr>
        <p:spPr bwMode="auto">
          <a:xfrm>
            <a:off x="1829952" y="4218053"/>
            <a:ext cx="931832"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WAF</a:t>
            </a:r>
          </a:p>
        </p:txBody>
      </p:sp>
      <p:sp>
        <p:nvSpPr>
          <p:cNvPr id="77" name="TextBox 9">
            <a:extLst>
              <a:ext uri="{FF2B5EF4-FFF2-40B4-BE49-F238E27FC236}">
                <a16:creationId xmlns:a16="http://schemas.microsoft.com/office/drawing/2014/main" id="{69BCD0FD-2C9E-1196-6760-56557B929547}"/>
              </a:ext>
            </a:extLst>
          </p:cNvPr>
          <p:cNvSpPr txBox="1">
            <a:spLocks noChangeArrowheads="1"/>
          </p:cNvSpPr>
          <p:nvPr/>
        </p:nvSpPr>
        <p:spPr bwMode="auto">
          <a:xfrm>
            <a:off x="2591210" y="3362260"/>
            <a:ext cx="931832"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API </a:t>
            </a:r>
          </a:p>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Gateway</a:t>
            </a:r>
          </a:p>
        </p:txBody>
      </p:sp>
      <p:grpSp>
        <p:nvGrpSpPr>
          <p:cNvPr id="76" name="Group 75">
            <a:extLst>
              <a:ext uri="{FF2B5EF4-FFF2-40B4-BE49-F238E27FC236}">
                <a16:creationId xmlns:a16="http://schemas.microsoft.com/office/drawing/2014/main" id="{1B526CE4-C620-DC57-AB13-5D1ABB53B06D}"/>
              </a:ext>
            </a:extLst>
          </p:cNvPr>
          <p:cNvGrpSpPr/>
          <p:nvPr/>
        </p:nvGrpSpPr>
        <p:grpSpPr>
          <a:xfrm>
            <a:off x="5258530" y="3040239"/>
            <a:ext cx="910254" cy="667961"/>
            <a:chOff x="5635046" y="2699578"/>
            <a:chExt cx="910254" cy="667961"/>
          </a:xfrm>
        </p:grpSpPr>
        <p:pic>
          <p:nvPicPr>
            <p:cNvPr id="62" name="Graphic 61" descr="Pipes resource icon for the Amazon EventBridge service.">
              <a:extLst>
                <a:ext uri="{FF2B5EF4-FFF2-40B4-BE49-F238E27FC236}">
                  <a16:creationId xmlns:a16="http://schemas.microsoft.com/office/drawing/2014/main" id="{AD71B2AA-4464-946D-2826-85C8254B739F}"/>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5950828" y="2699578"/>
              <a:ext cx="274320" cy="274320"/>
            </a:xfrm>
            <a:prstGeom prst="rect">
              <a:avLst/>
            </a:prstGeom>
          </p:spPr>
        </p:pic>
        <p:sp>
          <p:nvSpPr>
            <p:cNvPr id="74" name="TextBox 22">
              <a:extLst>
                <a:ext uri="{FF2B5EF4-FFF2-40B4-BE49-F238E27FC236}">
                  <a16:creationId xmlns:a16="http://schemas.microsoft.com/office/drawing/2014/main" id="{76C7B698-139E-0E31-84B3-4FFE42B32D92}"/>
                </a:ext>
              </a:extLst>
            </p:cNvPr>
            <p:cNvSpPr txBox="1">
              <a:spLocks noChangeArrowheads="1"/>
            </p:cNvSpPr>
            <p:nvPr/>
          </p:nvSpPr>
          <p:spPr bwMode="auto">
            <a:xfrm>
              <a:off x="5635046" y="2967429"/>
              <a:ext cx="91025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fontAlgn="base">
                <a:spcBef>
                  <a:spcPct val="0"/>
                </a:spcBef>
                <a:spcAft>
                  <a:spcPct val="0"/>
                </a:spcAft>
              </a:pPr>
              <a:r>
                <a:rPr lang="en-US" altLang="en-US" sz="1000" dirty="0" err="1">
                  <a:solidFill>
                    <a:schemeClr val="bg1"/>
                  </a:solidFill>
                </a:rPr>
                <a:t>Eventbridge</a:t>
              </a:r>
              <a:r>
                <a:rPr lang="en-US" altLang="en-US" sz="1000" dirty="0">
                  <a:solidFill>
                    <a:schemeClr val="bg1"/>
                  </a:solidFill>
                </a:rPr>
                <a:t> Pipes </a:t>
              </a:r>
              <a:endPar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endParaRPr>
            </a:p>
          </p:txBody>
        </p:sp>
      </p:grpSp>
      <p:cxnSp>
        <p:nvCxnSpPr>
          <p:cNvPr id="84" name="Straight Arrow Connector 83">
            <a:extLst>
              <a:ext uri="{FF2B5EF4-FFF2-40B4-BE49-F238E27FC236}">
                <a16:creationId xmlns:a16="http://schemas.microsoft.com/office/drawing/2014/main" id="{DFF13BCA-4791-C760-4BC7-877CDD69AD24}"/>
              </a:ext>
            </a:extLst>
          </p:cNvPr>
          <p:cNvCxnSpPr>
            <a:cxnSpLocks/>
            <a:stCxn id="83" idx="3"/>
            <a:endCxn id="62" idx="1"/>
          </p:cNvCxnSpPr>
          <p:nvPr/>
        </p:nvCxnSpPr>
        <p:spPr>
          <a:xfrm flipV="1">
            <a:off x="5166798" y="3177399"/>
            <a:ext cx="407514" cy="4564"/>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pic>
        <p:nvPicPr>
          <p:cNvPr id="89" name="Graphic 17" descr="AWS Step Functions service icon.">
            <a:extLst>
              <a:ext uri="{FF2B5EF4-FFF2-40B4-BE49-F238E27FC236}">
                <a16:creationId xmlns:a16="http://schemas.microsoft.com/office/drawing/2014/main" id="{F007535F-06B4-AFDA-A59E-759434A32113}"/>
              </a:ext>
            </a:extLst>
          </p:cNvPr>
          <p:cNvPicPr>
            <a:picLocks noChangeAspect="1" noChangeArrowheads="1"/>
          </p:cNvPicPr>
          <p:nvPr/>
        </p:nvPicPr>
        <p:blipFill>
          <a:blip>
            <a:extLst>
              <a:ext uri="{96DAC541-7B7A-43D3-8B79-37D633B846F1}">
                <asvg:svgBlip xmlns:asvg="http://schemas.microsoft.com/office/drawing/2016/SVG/main" r:embed="rId17"/>
              </a:ext>
            </a:extLst>
          </a:blip>
          <a:srcRect/>
          <a:stretch/>
        </p:blipFill>
        <p:spPr bwMode="auto">
          <a:xfrm>
            <a:off x="6313683" y="3040771"/>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94" name="Straight Arrow Connector 93">
            <a:extLst>
              <a:ext uri="{FF2B5EF4-FFF2-40B4-BE49-F238E27FC236}">
                <a16:creationId xmlns:a16="http://schemas.microsoft.com/office/drawing/2014/main" id="{A6CF2442-5E0E-D3CC-4DEB-A8F55AFC50B9}"/>
              </a:ext>
            </a:extLst>
          </p:cNvPr>
          <p:cNvCxnSpPr>
            <a:cxnSpLocks/>
            <a:stCxn id="62" idx="3"/>
            <a:endCxn id="89" idx="1"/>
          </p:cNvCxnSpPr>
          <p:nvPr/>
        </p:nvCxnSpPr>
        <p:spPr>
          <a:xfrm>
            <a:off x="5848632" y="3177399"/>
            <a:ext cx="465051" cy="532"/>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cxnSp>
        <p:nvCxnSpPr>
          <p:cNvPr id="88" name="Connector: Elbow 87">
            <a:extLst>
              <a:ext uri="{FF2B5EF4-FFF2-40B4-BE49-F238E27FC236}">
                <a16:creationId xmlns:a16="http://schemas.microsoft.com/office/drawing/2014/main" id="{07F8E071-6E85-24FF-7649-466DB57D50E3}"/>
              </a:ext>
            </a:extLst>
          </p:cNvPr>
          <p:cNvCxnSpPr>
            <a:cxnSpLocks/>
            <a:stCxn id="89" idx="0"/>
            <a:endCxn id="91" idx="0"/>
          </p:cNvCxnSpPr>
          <p:nvPr/>
        </p:nvCxnSpPr>
        <p:spPr>
          <a:xfrm rot="16200000" flipH="1" flipV="1">
            <a:off x="5455384" y="2050706"/>
            <a:ext cx="5394" cy="1985524"/>
          </a:xfrm>
          <a:prstGeom prst="bentConnector3">
            <a:avLst>
              <a:gd name="adj1" fmla="val -4238042"/>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98" name="Connector: Elbow 97">
            <a:extLst>
              <a:ext uri="{FF2B5EF4-FFF2-40B4-BE49-F238E27FC236}">
                <a16:creationId xmlns:a16="http://schemas.microsoft.com/office/drawing/2014/main" id="{A729BFCC-EEF6-2DBC-BD6E-F933C51CDD84}"/>
              </a:ext>
            </a:extLst>
          </p:cNvPr>
          <p:cNvCxnSpPr>
            <a:cxnSpLocks/>
            <a:stCxn id="89" idx="0"/>
            <a:endCxn id="83" idx="0"/>
          </p:cNvCxnSpPr>
          <p:nvPr/>
        </p:nvCxnSpPr>
        <p:spPr>
          <a:xfrm rot="16200000" flipH="1" flipV="1">
            <a:off x="5738225" y="2332184"/>
            <a:ext cx="4032" cy="1421205"/>
          </a:xfrm>
          <a:prstGeom prst="bentConnector3">
            <a:avLst>
              <a:gd name="adj1" fmla="val -5669643"/>
            </a:avLst>
          </a:prstGeom>
          <a:ln w="28575">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05" name="Connector: Elbow 104">
            <a:extLst>
              <a:ext uri="{FF2B5EF4-FFF2-40B4-BE49-F238E27FC236}">
                <a16:creationId xmlns:a16="http://schemas.microsoft.com/office/drawing/2014/main" id="{4A109D65-7821-8EA0-4601-1FCDD2DDAF9C}"/>
              </a:ext>
            </a:extLst>
          </p:cNvPr>
          <p:cNvCxnSpPr>
            <a:cxnSpLocks/>
            <a:endCxn id="67" idx="3"/>
          </p:cNvCxnSpPr>
          <p:nvPr/>
        </p:nvCxnSpPr>
        <p:spPr>
          <a:xfrm rot="16200000" flipH="1" flipV="1">
            <a:off x="4723142" y="3205673"/>
            <a:ext cx="1587083" cy="1840717"/>
          </a:xfrm>
          <a:prstGeom prst="bentConnector4">
            <a:avLst>
              <a:gd name="adj1" fmla="val 119467"/>
              <a:gd name="adj2" fmla="val 83773"/>
            </a:avLst>
          </a:prstGeom>
          <a:ln w="28575">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Connector: Elbow 112">
            <a:extLst>
              <a:ext uri="{FF2B5EF4-FFF2-40B4-BE49-F238E27FC236}">
                <a16:creationId xmlns:a16="http://schemas.microsoft.com/office/drawing/2014/main" id="{F7461662-7872-1F20-C3F1-7AEA5A074971}"/>
              </a:ext>
            </a:extLst>
          </p:cNvPr>
          <p:cNvCxnSpPr>
            <a:cxnSpLocks/>
            <a:endCxn id="66" idx="3"/>
          </p:cNvCxnSpPr>
          <p:nvPr/>
        </p:nvCxnSpPr>
        <p:spPr>
          <a:xfrm rot="16200000" flipH="1" flipV="1">
            <a:off x="5141419" y="3599663"/>
            <a:ext cx="1562795" cy="1028450"/>
          </a:xfrm>
          <a:prstGeom prst="bentConnector4">
            <a:avLst>
              <a:gd name="adj1" fmla="val 99927"/>
              <a:gd name="adj2" fmla="val 76452"/>
            </a:avLst>
          </a:prstGeom>
          <a:ln w="28575">
            <a:solidFill>
              <a:schemeClr val="accent6"/>
            </a:solidFill>
            <a:tailEnd type="triangle"/>
          </a:ln>
        </p:spPr>
        <p:style>
          <a:lnRef idx="1">
            <a:schemeClr val="accent1"/>
          </a:lnRef>
          <a:fillRef idx="0">
            <a:schemeClr val="accent1"/>
          </a:fillRef>
          <a:effectRef idx="0">
            <a:schemeClr val="accent1"/>
          </a:effectRef>
          <a:fontRef idx="minor">
            <a:schemeClr val="tx1"/>
          </a:fontRef>
        </p:style>
      </p:cxnSp>
      <p:grpSp>
        <p:nvGrpSpPr>
          <p:cNvPr id="126" name="Group 125">
            <a:extLst>
              <a:ext uri="{FF2B5EF4-FFF2-40B4-BE49-F238E27FC236}">
                <a16:creationId xmlns:a16="http://schemas.microsoft.com/office/drawing/2014/main" id="{C7FA2177-AC57-C235-8918-3EC091821073}"/>
              </a:ext>
            </a:extLst>
          </p:cNvPr>
          <p:cNvGrpSpPr/>
          <p:nvPr/>
        </p:nvGrpSpPr>
        <p:grpSpPr>
          <a:xfrm>
            <a:off x="5963190" y="1610102"/>
            <a:ext cx="742690" cy="644137"/>
            <a:chOff x="9572846" y="213792"/>
            <a:chExt cx="742690" cy="644137"/>
          </a:xfrm>
        </p:grpSpPr>
        <p:pic>
          <p:nvPicPr>
            <p:cNvPr id="118" name="Graphic 117" descr="Amazon Bedrock service icon.">
              <a:extLst>
                <a:ext uri="{FF2B5EF4-FFF2-40B4-BE49-F238E27FC236}">
                  <a16:creationId xmlns:a16="http://schemas.microsoft.com/office/drawing/2014/main" id="{C6D1CE4C-689B-8068-9DF1-28F79422EDF4}"/>
                </a:ext>
              </a:extLst>
            </p:cNvPr>
            <p:cNvPicPr>
              <a:picLocks noChangeAspect="1"/>
            </p:cNvPicPr>
            <p:nvPr/>
          </p:nvPicPr>
          <p:blipFill>
            <a:blip>
              <a:extLst>
                <a:ext uri="{96DAC541-7B7A-43D3-8B79-37D633B846F1}">
                  <asvg:svgBlip xmlns:asvg="http://schemas.microsoft.com/office/drawing/2016/SVG/main" r:embed="rId18"/>
                </a:ext>
              </a:extLst>
            </a:blip>
            <a:srcRect/>
            <a:stretch/>
          </p:blipFill>
          <p:spPr>
            <a:xfrm>
              <a:off x="9814596" y="583609"/>
              <a:ext cx="274320" cy="274320"/>
            </a:xfrm>
            <a:prstGeom prst="rect">
              <a:avLst/>
            </a:prstGeom>
          </p:spPr>
        </p:pic>
        <p:sp>
          <p:nvSpPr>
            <p:cNvPr id="120" name="TextBox 12">
              <a:extLst>
                <a:ext uri="{FF2B5EF4-FFF2-40B4-BE49-F238E27FC236}">
                  <a16:creationId xmlns:a16="http://schemas.microsoft.com/office/drawing/2014/main" id="{5D3C7780-EDE9-F3B2-1986-0266ECD5E3ED}"/>
                </a:ext>
              </a:extLst>
            </p:cNvPr>
            <p:cNvSpPr txBox="1">
              <a:spLocks noChangeArrowheads="1"/>
            </p:cNvSpPr>
            <p:nvPr/>
          </p:nvSpPr>
          <p:spPr bwMode="auto">
            <a:xfrm>
              <a:off x="9572846" y="213792"/>
              <a:ext cx="742690"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Amazon Bedrock</a:t>
              </a:r>
            </a:p>
          </p:txBody>
        </p:sp>
      </p:grpSp>
      <p:grpSp>
        <p:nvGrpSpPr>
          <p:cNvPr id="125" name="Group 124">
            <a:extLst>
              <a:ext uri="{FF2B5EF4-FFF2-40B4-BE49-F238E27FC236}">
                <a16:creationId xmlns:a16="http://schemas.microsoft.com/office/drawing/2014/main" id="{058E4FC1-F6B0-8A6E-D15E-F29591E80F61}"/>
              </a:ext>
            </a:extLst>
          </p:cNvPr>
          <p:cNvGrpSpPr/>
          <p:nvPr/>
        </p:nvGrpSpPr>
        <p:grpSpPr>
          <a:xfrm>
            <a:off x="5158572" y="1601942"/>
            <a:ext cx="919174" cy="652297"/>
            <a:chOff x="9289741" y="1506741"/>
            <a:chExt cx="919174" cy="652297"/>
          </a:xfrm>
        </p:grpSpPr>
        <p:pic>
          <p:nvPicPr>
            <p:cNvPr id="122" name="Graphic 20" descr="Amazon Transcribe service icon.">
              <a:extLst>
                <a:ext uri="{FF2B5EF4-FFF2-40B4-BE49-F238E27FC236}">
                  <a16:creationId xmlns:a16="http://schemas.microsoft.com/office/drawing/2014/main" id="{14ABD7B7-7C23-D862-4AFD-2ED2585BBA8B}"/>
                </a:ext>
              </a:extLst>
            </p:cNvPr>
            <p:cNvPicPr>
              <a:picLocks noChangeAspect="1" noChangeArrowheads="1"/>
            </p:cNvPicPr>
            <p:nvPr/>
          </p:nvPicPr>
          <p:blipFill>
            <a:blip>
              <a:extLst>
                <a:ext uri="{96DAC541-7B7A-43D3-8B79-37D633B846F1}">
                  <asvg:svgBlip xmlns:asvg="http://schemas.microsoft.com/office/drawing/2016/SVG/main" r:embed="rId19"/>
                </a:ext>
              </a:extLst>
            </a:blip>
            <a:srcRect/>
            <a:stretch/>
          </p:blipFill>
          <p:spPr bwMode="auto">
            <a:xfrm>
              <a:off x="9620664" y="1884718"/>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4" name="TextBox 12">
              <a:extLst>
                <a:ext uri="{FF2B5EF4-FFF2-40B4-BE49-F238E27FC236}">
                  <a16:creationId xmlns:a16="http://schemas.microsoft.com/office/drawing/2014/main" id="{D2E4B53B-FE4B-E9B7-BC21-F03DAD6A4BC9}"/>
                </a:ext>
              </a:extLst>
            </p:cNvPr>
            <p:cNvSpPr txBox="1">
              <a:spLocks noChangeArrowheads="1"/>
            </p:cNvSpPr>
            <p:nvPr/>
          </p:nvSpPr>
          <p:spPr bwMode="auto">
            <a:xfrm>
              <a:off x="9289741" y="1506741"/>
              <a:ext cx="91917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Amazon Transcribe</a:t>
              </a:r>
            </a:p>
          </p:txBody>
        </p:sp>
      </p:grpSp>
      <p:cxnSp>
        <p:nvCxnSpPr>
          <p:cNvPr id="128" name="Connector: Elbow 127">
            <a:extLst>
              <a:ext uri="{FF2B5EF4-FFF2-40B4-BE49-F238E27FC236}">
                <a16:creationId xmlns:a16="http://schemas.microsoft.com/office/drawing/2014/main" id="{E9514FB5-66C5-CD19-7421-5FBF3F52CB74}"/>
              </a:ext>
            </a:extLst>
          </p:cNvPr>
          <p:cNvCxnSpPr>
            <a:stCxn id="89" idx="0"/>
            <a:endCxn id="122" idx="2"/>
          </p:cNvCxnSpPr>
          <p:nvPr/>
        </p:nvCxnSpPr>
        <p:spPr>
          <a:xfrm rot="16200000" flipV="1">
            <a:off x="5645483" y="2235411"/>
            <a:ext cx="786532" cy="824188"/>
          </a:xfrm>
          <a:prstGeom prst="bentConnector3">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30" name="Connector: Elbow 129">
            <a:extLst>
              <a:ext uri="{FF2B5EF4-FFF2-40B4-BE49-F238E27FC236}">
                <a16:creationId xmlns:a16="http://schemas.microsoft.com/office/drawing/2014/main" id="{CB971C00-984A-DF4F-493A-3BF30A3E882B}"/>
              </a:ext>
            </a:extLst>
          </p:cNvPr>
          <p:cNvCxnSpPr>
            <a:endCxn id="118" idx="2"/>
          </p:cNvCxnSpPr>
          <p:nvPr/>
        </p:nvCxnSpPr>
        <p:spPr>
          <a:xfrm rot="16200000" flipV="1">
            <a:off x="6003472" y="2592867"/>
            <a:ext cx="786000" cy="108743"/>
          </a:xfrm>
          <a:prstGeom prst="bentConnector3">
            <a:avLst/>
          </a:prstGeom>
          <a:ln w="28575">
            <a:tailEnd type="triangle"/>
          </a:ln>
        </p:spPr>
        <p:style>
          <a:lnRef idx="1">
            <a:schemeClr val="accent1"/>
          </a:lnRef>
          <a:fillRef idx="0">
            <a:schemeClr val="accent1"/>
          </a:fillRef>
          <a:effectRef idx="0">
            <a:schemeClr val="accent1"/>
          </a:effectRef>
          <a:fontRef idx="minor">
            <a:schemeClr val="tx1"/>
          </a:fontRef>
        </p:style>
      </p:cxnSp>
      <p:pic>
        <p:nvPicPr>
          <p:cNvPr id="132" name="Graphic 26" descr="Amazon Simple Queue Service (Amazon SQS) service icon.">
            <a:extLst>
              <a:ext uri="{FF2B5EF4-FFF2-40B4-BE49-F238E27FC236}">
                <a16:creationId xmlns:a16="http://schemas.microsoft.com/office/drawing/2014/main" id="{7F6EBB0B-2C49-012D-D12B-004A6512EE9F}"/>
              </a:ext>
            </a:extLst>
          </p:cNvPr>
          <p:cNvPicPr>
            <a:picLocks noChangeAspect="1" noChangeArrowheads="1"/>
          </p:cNvPicPr>
          <p:nvPr/>
        </p:nvPicPr>
        <p:blipFill>
          <a:blip>
            <a:extLst>
              <a:ext uri="{96DAC541-7B7A-43D3-8B79-37D633B846F1}">
                <asvg:svgBlip xmlns:asvg="http://schemas.microsoft.com/office/drawing/2016/SVG/main" r:embed="rId12"/>
              </a:ext>
            </a:extLst>
          </a:blip>
          <a:srcRect/>
          <a:stretch/>
        </p:blipFill>
        <p:spPr bwMode="auto">
          <a:xfrm>
            <a:off x="7069149" y="3035139"/>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34" name="Straight Arrow Connector 133">
            <a:extLst>
              <a:ext uri="{FF2B5EF4-FFF2-40B4-BE49-F238E27FC236}">
                <a16:creationId xmlns:a16="http://schemas.microsoft.com/office/drawing/2014/main" id="{F59313D7-8964-B07E-6432-EB7CA257A7AC}"/>
              </a:ext>
            </a:extLst>
          </p:cNvPr>
          <p:cNvCxnSpPr>
            <a:cxnSpLocks/>
            <a:stCxn id="89" idx="3"/>
            <a:endCxn id="132" idx="1"/>
          </p:cNvCxnSpPr>
          <p:nvPr/>
        </p:nvCxnSpPr>
        <p:spPr>
          <a:xfrm flipV="1">
            <a:off x="6588003" y="3172299"/>
            <a:ext cx="481146" cy="5632"/>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grpSp>
        <p:nvGrpSpPr>
          <p:cNvPr id="80" name="Group 79">
            <a:extLst>
              <a:ext uri="{FF2B5EF4-FFF2-40B4-BE49-F238E27FC236}">
                <a16:creationId xmlns:a16="http://schemas.microsoft.com/office/drawing/2014/main" id="{048FD04D-63BE-2B95-2DEC-1528404816A9}"/>
              </a:ext>
            </a:extLst>
          </p:cNvPr>
          <p:cNvGrpSpPr/>
          <p:nvPr/>
        </p:nvGrpSpPr>
        <p:grpSpPr>
          <a:xfrm>
            <a:off x="7312466" y="3029288"/>
            <a:ext cx="910254" cy="667961"/>
            <a:chOff x="5635046" y="2699578"/>
            <a:chExt cx="910254" cy="667961"/>
          </a:xfrm>
        </p:grpSpPr>
        <p:pic>
          <p:nvPicPr>
            <p:cNvPr id="81" name="Graphic 80" descr="Pipes resource icon for the Amazon EventBridge service.">
              <a:extLst>
                <a:ext uri="{FF2B5EF4-FFF2-40B4-BE49-F238E27FC236}">
                  <a16:creationId xmlns:a16="http://schemas.microsoft.com/office/drawing/2014/main" id="{EEBE13AC-07FD-7C42-DE8D-F20FE3B244EF}"/>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5950828" y="2699578"/>
              <a:ext cx="274320" cy="274320"/>
            </a:xfrm>
            <a:prstGeom prst="rect">
              <a:avLst/>
            </a:prstGeom>
          </p:spPr>
        </p:pic>
        <p:sp>
          <p:nvSpPr>
            <p:cNvPr id="82" name="TextBox 22">
              <a:extLst>
                <a:ext uri="{FF2B5EF4-FFF2-40B4-BE49-F238E27FC236}">
                  <a16:creationId xmlns:a16="http://schemas.microsoft.com/office/drawing/2014/main" id="{499F5D3E-B2A7-B198-B336-1DEC1A54B098}"/>
                </a:ext>
              </a:extLst>
            </p:cNvPr>
            <p:cNvSpPr txBox="1">
              <a:spLocks noChangeArrowheads="1"/>
            </p:cNvSpPr>
            <p:nvPr/>
          </p:nvSpPr>
          <p:spPr bwMode="auto">
            <a:xfrm>
              <a:off x="5635046" y="2967429"/>
              <a:ext cx="91025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fontAlgn="base">
                <a:spcBef>
                  <a:spcPct val="0"/>
                </a:spcBef>
                <a:spcAft>
                  <a:spcPct val="0"/>
                </a:spcAft>
              </a:pPr>
              <a:r>
                <a:rPr lang="en-US" altLang="en-US" sz="1000" dirty="0" err="1">
                  <a:solidFill>
                    <a:schemeClr val="bg1"/>
                  </a:solidFill>
                </a:rPr>
                <a:t>Eventbridge</a:t>
              </a:r>
              <a:r>
                <a:rPr lang="en-US" altLang="en-US" sz="1000" dirty="0">
                  <a:solidFill>
                    <a:schemeClr val="bg1"/>
                  </a:solidFill>
                </a:rPr>
                <a:t> Pipes </a:t>
              </a:r>
              <a:endPar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endParaRPr>
            </a:p>
          </p:txBody>
        </p:sp>
      </p:grpSp>
      <p:cxnSp>
        <p:nvCxnSpPr>
          <p:cNvPr id="86" name="Straight Arrow Connector 85">
            <a:extLst>
              <a:ext uri="{FF2B5EF4-FFF2-40B4-BE49-F238E27FC236}">
                <a16:creationId xmlns:a16="http://schemas.microsoft.com/office/drawing/2014/main" id="{9AA5499F-4C22-7CE6-938A-27382409A614}"/>
              </a:ext>
            </a:extLst>
          </p:cNvPr>
          <p:cNvCxnSpPr>
            <a:cxnSpLocks/>
            <a:stCxn id="132" idx="3"/>
            <a:endCxn id="81" idx="1"/>
          </p:cNvCxnSpPr>
          <p:nvPr/>
        </p:nvCxnSpPr>
        <p:spPr>
          <a:xfrm flipV="1">
            <a:off x="7343469" y="3166448"/>
            <a:ext cx="284779" cy="5851"/>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grpSp>
        <p:nvGrpSpPr>
          <p:cNvPr id="103" name="Group 102">
            <a:extLst>
              <a:ext uri="{FF2B5EF4-FFF2-40B4-BE49-F238E27FC236}">
                <a16:creationId xmlns:a16="http://schemas.microsoft.com/office/drawing/2014/main" id="{C0C04E5C-EAD7-06E3-B174-69BCB2EFB74C}"/>
              </a:ext>
            </a:extLst>
          </p:cNvPr>
          <p:cNvGrpSpPr/>
          <p:nvPr/>
        </p:nvGrpSpPr>
        <p:grpSpPr>
          <a:xfrm>
            <a:off x="8187347" y="3031588"/>
            <a:ext cx="505380" cy="478891"/>
            <a:chOff x="7421920" y="1184275"/>
            <a:chExt cx="505380" cy="478891"/>
          </a:xfrm>
        </p:grpSpPr>
        <p:pic>
          <p:nvPicPr>
            <p:cNvPr id="99" name="Graphic 18" descr="Amazon Elastic Container Service (Amazon ECS) service icon.">
              <a:extLst>
                <a:ext uri="{FF2B5EF4-FFF2-40B4-BE49-F238E27FC236}">
                  <a16:creationId xmlns:a16="http://schemas.microsoft.com/office/drawing/2014/main" id="{84870A71-AA7A-382C-2B64-B5E850890F42}"/>
                </a:ext>
              </a:extLst>
            </p:cNvPr>
            <p:cNvPicPr>
              <a:picLocks noChangeAspect="1" noChangeArrowheads="1"/>
            </p:cNvPicPr>
            <p:nvPr/>
          </p:nvPicPr>
          <p:blipFill>
            <a:blip>
              <a:extLst>
                <a:ext uri="{96DAC541-7B7A-43D3-8B79-37D633B846F1}">
                  <asvg:svgBlip xmlns:asvg="http://schemas.microsoft.com/office/drawing/2016/SVG/main" r:embed="rId20"/>
                </a:ext>
              </a:extLst>
            </a:blip>
            <a:srcRect/>
            <a:stretch/>
          </p:blipFill>
          <p:spPr bwMode="auto">
            <a:xfrm>
              <a:off x="7537450" y="118427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 name="TextBox 24">
              <a:extLst>
                <a:ext uri="{FF2B5EF4-FFF2-40B4-BE49-F238E27FC236}">
                  <a16:creationId xmlns:a16="http://schemas.microsoft.com/office/drawing/2014/main" id="{31F539EC-828E-3E71-87C8-85AD1A3BF205}"/>
                </a:ext>
              </a:extLst>
            </p:cNvPr>
            <p:cNvSpPr txBox="1">
              <a:spLocks noChangeArrowheads="1"/>
            </p:cNvSpPr>
            <p:nvPr/>
          </p:nvSpPr>
          <p:spPr bwMode="auto">
            <a:xfrm>
              <a:off x="7421920" y="1416945"/>
              <a:ext cx="50538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ECS</a:t>
              </a:r>
            </a:p>
          </p:txBody>
        </p:sp>
      </p:grpSp>
      <p:cxnSp>
        <p:nvCxnSpPr>
          <p:cNvPr id="106" name="Straight Arrow Connector 105">
            <a:extLst>
              <a:ext uri="{FF2B5EF4-FFF2-40B4-BE49-F238E27FC236}">
                <a16:creationId xmlns:a16="http://schemas.microsoft.com/office/drawing/2014/main" id="{D9CF6A03-37A0-A03B-529F-E322AD6E9AEB}"/>
              </a:ext>
            </a:extLst>
          </p:cNvPr>
          <p:cNvCxnSpPr>
            <a:cxnSpLocks/>
            <a:stCxn id="81" idx="3"/>
            <a:endCxn id="99" idx="1"/>
          </p:cNvCxnSpPr>
          <p:nvPr/>
        </p:nvCxnSpPr>
        <p:spPr>
          <a:xfrm>
            <a:off x="7902568" y="3166448"/>
            <a:ext cx="400309" cy="2300"/>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sp>
        <p:nvSpPr>
          <p:cNvPr id="112" name="Rectangle 111" descr="Generic group.">
            <a:extLst>
              <a:ext uri="{FF2B5EF4-FFF2-40B4-BE49-F238E27FC236}">
                <a16:creationId xmlns:a16="http://schemas.microsoft.com/office/drawing/2014/main" id="{8045DF4C-1F92-A86D-ADE6-D712202E8DBF}"/>
              </a:ext>
            </a:extLst>
          </p:cNvPr>
          <p:cNvSpPr/>
          <p:nvPr/>
        </p:nvSpPr>
        <p:spPr>
          <a:xfrm>
            <a:off x="8718007" y="1321337"/>
            <a:ext cx="2645502" cy="2792551"/>
          </a:xfrm>
          <a:prstGeom prst="rect">
            <a:avLst/>
          </a:prstGeom>
          <a:noFill/>
          <a:ln w="15875">
            <a:solidFill>
              <a:srgbClr val="7D8998"/>
            </a:solidFill>
            <a:prstDash val="solid"/>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eaLnBrk="1" fontAlgn="auto" hangingPunct="1">
              <a:spcBef>
                <a:spcPts val="0"/>
              </a:spcBef>
              <a:spcAft>
                <a:spcPts val="0"/>
              </a:spcAft>
              <a:defRPr/>
            </a:pPr>
            <a:endParaRPr lang="en-US" sz="1200" dirty="0">
              <a:solidFill>
                <a:schemeClr val="bg1"/>
              </a:solidFill>
              <a:latin typeface="Arial" panose="020B0604020202020204" pitchFamily="34" charset="0"/>
              <a:cs typeface="Arial" panose="020B0604020202020204" pitchFamily="34" charset="0"/>
            </a:endParaRPr>
          </a:p>
        </p:txBody>
      </p:sp>
      <p:pic>
        <p:nvPicPr>
          <p:cNvPr id="115" name="Graphic 114" descr="Amazon Bedrock AgentCore service icon.">
            <a:extLst>
              <a:ext uri="{FF2B5EF4-FFF2-40B4-BE49-F238E27FC236}">
                <a16:creationId xmlns:a16="http://schemas.microsoft.com/office/drawing/2014/main" id="{60879097-3FE1-EAEF-1CC7-A78381CC3F95}"/>
              </a:ext>
            </a:extLst>
          </p:cNvPr>
          <p:cNvPicPr>
            <a:picLocks noChangeAspect="1" noChangeArrowheads="1"/>
          </p:cNvPicPr>
          <p:nvPr/>
        </p:nvPicPr>
        <p:blipFill>
          <a:blip>
            <a:extLst>
              <a:ext uri="{96DAC541-7B7A-43D3-8B79-37D633B846F1}">
                <asvg:svgBlip xmlns:asvg="http://schemas.microsoft.com/office/drawing/2016/SVG/main" r:embed="rId21"/>
              </a:ext>
            </a:extLst>
          </a:blip>
          <a:srcRect/>
          <a:stretch/>
        </p:blipFill>
        <p:spPr bwMode="auto">
          <a:xfrm>
            <a:off x="8712525" y="1316887"/>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3" name="Rectangle: Rounded Corners 122">
            <a:extLst>
              <a:ext uri="{FF2B5EF4-FFF2-40B4-BE49-F238E27FC236}">
                <a16:creationId xmlns:a16="http://schemas.microsoft.com/office/drawing/2014/main" id="{1B0A814F-FD91-AC70-B8DE-6588DF654D0E}"/>
              </a:ext>
            </a:extLst>
          </p:cNvPr>
          <p:cNvSpPr/>
          <p:nvPr/>
        </p:nvSpPr>
        <p:spPr>
          <a:xfrm rot="5400000">
            <a:off x="8135506" y="2741484"/>
            <a:ext cx="1869773" cy="34664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Supervisor Agent</a:t>
            </a:r>
          </a:p>
        </p:txBody>
      </p:sp>
      <p:sp>
        <p:nvSpPr>
          <p:cNvPr id="127" name="Rectangle: Rounded Corners 126">
            <a:extLst>
              <a:ext uri="{FF2B5EF4-FFF2-40B4-BE49-F238E27FC236}">
                <a16:creationId xmlns:a16="http://schemas.microsoft.com/office/drawing/2014/main" id="{6B30B76B-5734-95B5-7726-5DBB8508B56F}"/>
              </a:ext>
            </a:extLst>
          </p:cNvPr>
          <p:cNvSpPr/>
          <p:nvPr/>
        </p:nvSpPr>
        <p:spPr>
          <a:xfrm>
            <a:off x="9518904" y="203207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Delivery Agent</a:t>
            </a:r>
          </a:p>
        </p:txBody>
      </p:sp>
      <p:sp>
        <p:nvSpPr>
          <p:cNvPr id="135" name="Rectangle: Rounded Corners 134">
            <a:extLst>
              <a:ext uri="{FF2B5EF4-FFF2-40B4-BE49-F238E27FC236}">
                <a16:creationId xmlns:a16="http://schemas.microsoft.com/office/drawing/2014/main" id="{A89E654A-0DBC-5ED7-EAF5-1304B44175DE}"/>
              </a:ext>
            </a:extLst>
          </p:cNvPr>
          <p:cNvSpPr/>
          <p:nvPr/>
        </p:nvSpPr>
        <p:spPr>
          <a:xfrm>
            <a:off x="9518904" y="226093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Structure Agent</a:t>
            </a:r>
          </a:p>
        </p:txBody>
      </p:sp>
      <p:sp>
        <p:nvSpPr>
          <p:cNvPr id="137" name="Rectangle: Rounded Corners 136">
            <a:extLst>
              <a:ext uri="{FF2B5EF4-FFF2-40B4-BE49-F238E27FC236}">
                <a16:creationId xmlns:a16="http://schemas.microsoft.com/office/drawing/2014/main" id="{A4D9267A-8425-A57F-0208-E702196F6230}"/>
              </a:ext>
            </a:extLst>
          </p:cNvPr>
          <p:cNvSpPr/>
          <p:nvPr/>
        </p:nvSpPr>
        <p:spPr>
          <a:xfrm>
            <a:off x="9518904" y="248979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Executive Presence Agent</a:t>
            </a:r>
          </a:p>
        </p:txBody>
      </p:sp>
      <p:sp>
        <p:nvSpPr>
          <p:cNvPr id="139" name="Rectangle: Rounded Corners 138">
            <a:extLst>
              <a:ext uri="{FF2B5EF4-FFF2-40B4-BE49-F238E27FC236}">
                <a16:creationId xmlns:a16="http://schemas.microsoft.com/office/drawing/2014/main" id="{DF4186EE-E78C-2701-7FAD-FEC21143BADD}"/>
              </a:ext>
            </a:extLst>
          </p:cNvPr>
          <p:cNvSpPr/>
          <p:nvPr/>
        </p:nvSpPr>
        <p:spPr>
          <a:xfrm>
            <a:off x="9518904" y="271865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Tech. Communication Agent</a:t>
            </a:r>
          </a:p>
        </p:txBody>
      </p:sp>
      <p:sp>
        <p:nvSpPr>
          <p:cNvPr id="141" name="Rectangle: Rounded Corners 140">
            <a:extLst>
              <a:ext uri="{FF2B5EF4-FFF2-40B4-BE49-F238E27FC236}">
                <a16:creationId xmlns:a16="http://schemas.microsoft.com/office/drawing/2014/main" id="{121AD5FA-A80D-4C37-3A5B-A3CBCAC4A7E0}"/>
              </a:ext>
            </a:extLst>
          </p:cNvPr>
          <p:cNvSpPr/>
          <p:nvPr/>
        </p:nvSpPr>
        <p:spPr>
          <a:xfrm>
            <a:off x="9518904" y="294751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Audience Engagement Agent</a:t>
            </a:r>
          </a:p>
        </p:txBody>
      </p:sp>
      <p:sp>
        <p:nvSpPr>
          <p:cNvPr id="143" name="Rectangle: Rounded Corners 142">
            <a:extLst>
              <a:ext uri="{FF2B5EF4-FFF2-40B4-BE49-F238E27FC236}">
                <a16:creationId xmlns:a16="http://schemas.microsoft.com/office/drawing/2014/main" id="{E35ABEAC-C1A4-85FF-5B5F-126011A28F54}"/>
              </a:ext>
            </a:extLst>
          </p:cNvPr>
          <p:cNvSpPr/>
          <p:nvPr/>
        </p:nvSpPr>
        <p:spPr>
          <a:xfrm>
            <a:off x="9518904" y="317637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Pacing Agent</a:t>
            </a:r>
          </a:p>
        </p:txBody>
      </p:sp>
      <p:sp>
        <p:nvSpPr>
          <p:cNvPr id="145" name="Rectangle: Rounded Corners 144">
            <a:extLst>
              <a:ext uri="{FF2B5EF4-FFF2-40B4-BE49-F238E27FC236}">
                <a16:creationId xmlns:a16="http://schemas.microsoft.com/office/drawing/2014/main" id="{69B70B62-3A6B-97B8-733A-EA9F28C750DA}"/>
              </a:ext>
            </a:extLst>
          </p:cNvPr>
          <p:cNvSpPr/>
          <p:nvPr/>
        </p:nvSpPr>
        <p:spPr>
          <a:xfrm>
            <a:off x="9518904" y="340523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Persuasion Agent</a:t>
            </a:r>
          </a:p>
        </p:txBody>
      </p:sp>
      <p:pic>
        <p:nvPicPr>
          <p:cNvPr id="149" name="Graphic 148" descr="Amazon Bedrock service icon.">
            <a:extLst>
              <a:ext uri="{FF2B5EF4-FFF2-40B4-BE49-F238E27FC236}">
                <a16:creationId xmlns:a16="http://schemas.microsoft.com/office/drawing/2014/main" id="{A711FA71-DF27-6152-FD9F-5DFFA381E367}"/>
              </a:ext>
            </a:extLst>
          </p:cNvPr>
          <p:cNvPicPr>
            <a:picLocks noChangeAspect="1"/>
          </p:cNvPicPr>
          <p:nvPr/>
        </p:nvPicPr>
        <p:blipFill>
          <a:blip>
            <a:extLst>
              <a:ext uri="{96DAC541-7B7A-43D3-8B79-37D633B846F1}">
                <asvg:svgBlip xmlns:asvg="http://schemas.microsoft.com/office/drawing/2016/SVG/main" r:embed="rId22"/>
              </a:ext>
            </a:extLst>
          </a:blip>
          <a:srcRect/>
          <a:stretch/>
        </p:blipFill>
        <p:spPr>
          <a:xfrm>
            <a:off x="9524831" y="3646797"/>
            <a:ext cx="274320" cy="274320"/>
          </a:xfrm>
          <a:prstGeom prst="rect">
            <a:avLst/>
          </a:prstGeom>
        </p:spPr>
      </p:pic>
      <p:cxnSp>
        <p:nvCxnSpPr>
          <p:cNvPr id="153" name="Connector: Elbow 152">
            <a:extLst>
              <a:ext uri="{FF2B5EF4-FFF2-40B4-BE49-F238E27FC236}">
                <a16:creationId xmlns:a16="http://schemas.microsoft.com/office/drawing/2014/main" id="{5995CA1D-18BC-080F-B34E-18498E2685C0}"/>
              </a:ext>
            </a:extLst>
          </p:cNvPr>
          <p:cNvCxnSpPr>
            <a:cxnSpLocks/>
          </p:cNvCxnSpPr>
          <p:nvPr/>
        </p:nvCxnSpPr>
        <p:spPr>
          <a:xfrm rot="5400000" flipH="1" flipV="1">
            <a:off x="9689037" y="1294637"/>
            <a:ext cx="79762" cy="1290803"/>
          </a:xfrm>
          <a:prstGeom prst="bentConnector3">
            <a:avLst>
              <a:gd name="adj1" fmla="val 386603"/>
            </a:avLst>
          </a:prstGeom>
          <a:ln>
            <a:solidFill>
              <a:schemeClr val="bg1"/>
            </a:solidFill>
            <a:tailEnd type="triangle"/>
          </a:ln>
        </p:spPr>
        <p:style>
          <a:lnRef idx="3">
            <a:schemeClr val="accent5"/>
          </a:lnRef>
          <a:fillRef idx="0">
            <a:schemeClr val="accent5"/>
          </a:fillRef>
          <a:effectRef idx="2">
            <a:schemeClr val="accent5"/>
          </a:effectRef>
          <a:fontRef idx="minor">
            <a:schemeClr val="tx1"/>
          </a:fontRef>
        </p:style>
      </p:cxnSp>
      <p:cxnSp>
        <p:nvCxnSpPr>
          <p:cNvPr id="161" name="Connector: Elbow 160">
            <a:extLst>
              <a:ext uri="{FF2B5EF4-FFF2-40B4-BE49-F238E27FC236}">
                <a16:creationId xmlns:a16="http://schemas.microsoft.com/office/drawing/2014/main" id="{E9F09B75-E996-EFBD-AA17-29A7F73B003D}"/>
              </a:ext>
            </a:extLst>
          </p:cNvPr>
          <p:cNvCxnSpPr>
            <a:cxnSpLocks/>
          </p:cNvCxnSpPr>
          <p:nvPr/>
        </p:nvCxnSpPr>
        <p:spPr>
          <a:xfrm rot="5400000" flipH="1">
            <a:off x="9660533" y="3272677"/>
            <a:ext cx="136771" cy="1290803"/>
          </a:xfrm>
          <a:prstGeom prst="bentConnector3">
            <a:avLst>
              <a:gd name="adj1" fmla="val -49849"/>
            </a:avLst>
          </a:prstGeom>
          <a:ln>
            <a:solidFill>
              <a:schemeClr val="bg1"/>
            </a:solidFill>
            <a:tailEnd type="triangle"/>
          </a:ln>
        </p:spPr>
        <p:style>
          <a:lnRef idx="3">
            <a:schemeClr val="accent5"/>
          </a:lnRef>
          <a:fillRef idx="0">
            <a:schemeClr val="accent5"/>
          </a:fillRef>
          <a:effectRef idx="2">
            <a:schemeClr val="accent5"/>
          </a:effectRef>
          <a:fontRef idx="minor">
            <a:schemeClr val="tx1"/>
          </a:fontRef>
        </p:style>
      </p:cxnSp>
      <p:sp>
        <p:nvSpPr>
          <p:cNvPr id="165" name="TextBox 164">
            <a:extLst>
              <a:ext uri="{FF2B5EF4-FFF2-40B4-BE49-F238E27FC236}">
                <a16:creationId xmlns:a16="http://schemas.microsoft.com/office/drawing/2014/main" id="{4B05C444-AE37-8FDE-CD9B-FB72F668B795}"/>
              </a:ext>
            </a:extLst>
          </p:cNvPr>
          <p:cNvSpPr txBox="1"/>
          <p:nvPr/>
        </p:nvSpPr>
        <p:spPr>
          <a:xfrm>
            <a:off x="9235438" y="1534563"/>
            <a:ext cx="865943" cy="253916"/>
          </a:xfrm>
          <a:prstGeom prst="rect">
            <a:avLst/>
          </a:prstGeom>
          <a:solidFill>
            <a:schemeClr val="tx1"/>
          </a:solidFill>
        </p:spPr>
        <p:txBody>
          <a:bodyPr wrap="none" rtlCol="0">
            <a:spAutoFit/>
          </a:bodyPr>
          <a:lstStyle/>
          <a:p>
            <a:r>
              <a:rPr lang="en-US" sz="1000" dirty="0" err="1">
                <a:solidFill>
                  <a:schemeClr val="bg1"/>
                </a:solidFill>
              </a:rPr>
              <a:t>ReAct</a:t>
            </a:r>
            <a:r>
              <a:rPr lang="en-US" sz="1000" dirty="0">
                <a:solidFill>
                  <a:schemeClr val="bg1"/>
                </a:solidFill>
              </a:rPr>
              <a:t> Loop</a:t>
            </a:r>
          </a:p>
        </p:txBody>
      </p:sp>
      <p:sp>
        <p:nvSpPr>
          <p:cNvPr id="167" name="TextBox 166">
            <a:extLst>
              <a:ext uri="{FF2B5EF4-FFF2-40B4-BE49-F238E27FC236}">
                <a16:creationId xmlns:a16="http://schemas.microsoft.com/office/drawing/2014/main" id="{794C56E3-946B-8346-EE0F-08C377B9D0C0}"/>
              </a:ext>
            </a:extLst>
          </p:cNvPr>
          <p:cNvSpPr txBox="1"/>
          <p:nvPr/>
        </p:nvSpPr>
        <p:spPr>
          <a:xfrm>
            <a:off x="8929560" y="1288342"/>
            <a:ext cx="1297150" cy="246221"/>
          </a:xfrm>
          <a:prstGeom prst="rect">
            <a:avLst/>
          </a:prstGeom>
          <a:noFill/>
        </p:spPr>
        <p:txBody>
          <a:bodyPr wrap="none" rtlCol="0">
            <a:spAutoFit/>
          </a:bodyPr>
          <a:lstStyle/>
          <a:p>
            <a:pPr algn="ctr">
              <a:defRPr/>
            </a:pPr>
            <a:r>
              <a:rPr lang="en-US" sz="1000" dirty="0">
                <a:solidFill>
                  <a:schemeClr val="bg1"/>
                </a:solidFill>
                <a:latin typeface="Arial" panose="020B0604020202020204" pitchFamily="34" charset="0"/>
                <a:cs typeface="Arial" panose="020B0604020202020204" pitchFamily="34" charset="0"/>
              </a:rPr>
              <a:t>Bedrock </a:t>
            </a:r>
            <a:r>
              <a:rPr lang="en-US" sz="1000" dirty="0" err="1">
                <a:solidFill>
                  <a:schemeClr val="bg1"/>
                </a:solidFill>
                <a:latin typeface="Arial" panose="020B0604020202020204" pitchFamily="34" charset="0"/>
                <a:cs typeface="Arial" panose="020B0604020202020204" pitchFamily="34" charset="0"/>
              </a:rPr>
              <a:t>AgentCore</a:t>
            </a:r>
            <a:endParaRPr lang="en-US" sz="1000" dirty="0">
              <a:solidFill>
                <a:schemeClr val="bg1"/>
              </a:solidFill>
              <a:latin typeface="Arial" panose="020B0604020202020204" pitchFamily="34" charset="0"/>
              <a:cs typeface="Arial" panose="020B0604020202020204" pitchFamily="34" charset="0"/>
            </a:endParaRPr>
          </a:p>
        </p:txBody>
      </p:sp>
      <p:sp>
        <p:nvSpPr>
          <p:cNvPr id="169" name="TextBox 168">
            <a:extLst>
              <a:ext uri="{FF2B5EF4-FFF2-40B4-BE49-F238E27FC236}">
                <a16:creationId xmlns:a16="http://schemas.microsoft.com/office/drawing/2014/main" id="{6B7595F2-C4DA-5EB0-EABB-975C878E1F61}"/>
              </a:ext>
            </a:extLst>
          </p:cNvPr>
          <p:cNvSpPr txBox="1"/>
          <p:nvPr/>
        </p:nvSpPr>
        <p:spPr>
          <a:xfrm>
            <a:off x="9433530" y="1795524"/>
            <a:ext cx="894797" cy="200055"/>
          </a:xfrm>
          <a:prstGeom prst="rect">
            <a:avLst/>
          </a:prstGeom>
          <a:solidFill>
            <a:schemeClr val="tx1"/>
          </a:solidFill>
        </p:spPr>
        <p:txBody>
          <a:bodyPr wrap="none" rtlCol="0">
            <a:spAutoFit/>
          </a:bodyPr>
          <a:lstStyle/>
          <a:p>
            <a:r>
              <a:rPr lang="en-US" sz="700" dirty="0">
                <a:solidFill>
                  <a:schemeClr val="bg1"/>
                </a:solidFill>
              </a:rPr>
              <a:t>Evaluation Agents</a:t>
            </a:r>
          </a:p>
        </p:txBody>
      </p:sp>
      <p:cxnSp>
        <p:nvCxnSpPr>
          <p:cNvPr id="171" name="Connector: Elbow 170">
            <a:extLst>
              <a:ext uri="{FF2B5EF4-FFF2-40B4-BE49-F238E27FC236}">
                <a16:creationId xmlns:a16="http://schemas.microsoft.com/office/drawing/2014/main" id="{1E1D9991-AACC-7CD0-3CAA-168F3FDFD9EA}"/>
              </a:ext>
            </a:extLst>
          </p:cNvPr>
          <p:cNvCxnSpPr>
            <a:cxnSpLocks/>
            <a:stCxn id="123" idx="3"/>
            <a:endCxn id="66" idx="3"/>
          </p:cNvCxnSpPr>
          <p:nvPr/>
        </p:nvCxnSpPr>
        <p:spPr>
          <a:xfrm rot="5400000">
            <a:off x="6716695" y="2541589"/>
            <a:ext cx="1045594" cy="3661800"/>
          </a:xfrm>
          <a:prstGeom prst="bentConnector2">
            <a:avLst/>
          </a:prstGeom>
          <a:ln w="28575">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186" name="Connector: Elbow 185">
            <a:extLst>
              <a:ext uri="{FF2B5EF4-FFF2-40B4-BE49-F238E27FC236}">
                <a16:creationId xmlns:a16="http://schemas.microsoft.com/office/drawing/2014/main" id="{192DCA5B-1AF6-0F27-F192-D99C631B44DE}"/>
              </a:ext>
            </a:extLst>
          </p:cNvPr>
          <p:cNvCxnSpPr>
            <a:cxnSpLocks/>
            <a:stCxn id="123" idx="3"/>
          </p:cNvCxnSpPr>
          <p:nvPr/>
        </p:nvCxnSpPr>
        <p:spPr>
          <a:xfrm rot="5400000">
            <a:off x="6672489" y="2826915"/>
            <a:ext cx="1375126" cy="3420680"/>
          </a:xfrm>
          <a:prstGeom prst="bentConnector2">
            <a:avLst/>
          </a:prstGeom>
          <a:ln w="28575">
            <a:solidFill>
              <a:schemeClr val="accent4"/>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9" name="Connector: Elbow 188">
            <a:extLst>
              <a:ext uri="{FF2B5EF4-FFF2-40B4-BE49-F238E27FC236}">
                <a16:creationId xmlns:a16="http://schemas.microsoft.com/office/drawing/2014/main" id="{CF465F8E-22A7-4B11-ECDA-7CECF21C0B9D}"/>
              </a:ext>
            </a:extLst>
          </p:cNvPr>
          <p:cNvCxnSpPr>
            <a:cxnSpLocks/>
            <a:stCxn id="123" idx="3"/>
            <a:endCxn id="91" idx="0"/>
          </p:cNvCxnSpPr>
          <p:nvPr/>
        </p:nvCxnSpPr>
        <p:spPr>
          <a:xfrm rot="5400000" flipH="1">
            <a:off x="6366092" y="1145393"/>
            <a:ext cx="803527" cy="4605073"/>
          </a:xfrm>
          <a:prstGeom prst="bentConnector5">
            <a:avLst>
              <a:gd name="adj1" fmla="val -28450"/>
              <a:gd name="adj2" fmla="val 6133"/>
              <a:gd name="adj3" fmla="val 128450"/>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202" name="Straight Arrow Connector 201">
            <a:extLst>
              <a:ext uri="{FF2B5EF4-FFF2-40B4-BE49-F238E27FC236}">
                <a16:creationId xmlns:a16="http://schemas.microsoft.com/office/drawing/2014/main" id="{175A19AF-21C2-4251-5300-FA37460804CF}"/>
              </a:ext>
            </a:extLst>
          </p:cNvPr>
          <p:cNvCxnSpPr>
            <a:cxnSpLocks/>
            <a:stCxn id="99" idx="3"/>
            <a:endCxn id="123" idx="2"/>
          </p:cNvCxnSpPr>
          <p:nvPr/>
        </p:nvCxnSpPr>
        <p:spPr>
          <a:xfrm flipV="1">
            <a:off x="8577197" y="2914806"/>
            <a:ext cx="319874" cy="253942"/>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cxnSp>
        <p:nvCxnSpPr>
          <p:cNvPr id="87" name="Connector: Elbow 86">
            <a:extLst>
              <a:ext uri="{FF2B5EF4-FFF2-40B4-BE49-F238E27FC236}">
                <a16:creationId xmlns:a16="http://schemas.microsoft.com/office/drawing/2014/main" id="{77E9C3ED-48A1-BA4C-C6CF-18A4BCA9D1E1}"/>
              </a:ext>
            </a:extLst>
          </p:cNvPr>
          <p:cNvCxnSpPr>
            <a:cxnSpLocks/>
            <a:stCxn id="123" idx="3"/>
            <a:endCxn id="132" idx="2"/>
          </p:cNvCxnSpPr>
          <p:nvPr/>
        </p:nvCxnSpPr>
        <p:spPr>
          <a:xfrm rot="5400000" flipH="1">
            <a:off x="7868234" y="2647535"/>
            <a:ext cx="540233" cy="1864083"/>
          </a:xfrm>
          <a:prstGeom prst="bentConnector3">
            <a:avLst>
              <a:gd name="adj1" fmla="val -75068"/>
            </a:avLst>
          </a:prstGeom>
          <a:ln w="28575">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2">
            <a:extLst>
              <a:ext uri="{FF2B5EF4-FFF2-40B4-BE49-F238E27FC236}">
                <a16:creationId xmlns:a16="http://schemas.microsoft.com/office/drawing/2014/main" id="{8006518B-77E4-2A89-0EAD-5C360D737957}"/>
              </a:ext>
            </a:extLst>
          </p:cNvPr>
          <p:cNvSpPr txBox="1">
            <a:spLocks noChangeArrowheads="1"/>
          </p:cNvSpPr>
          <p:nvPr/>
        </p:nvSpPr>
        <p:spPr bwMode="auto">
          <a:xfrm>
            <a:off x="2597092" y="1690705"/>
            <a:ext cx="919174"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Cognito</a:t>
            </a:r>
          </a:p>
        </p:txBody>
      </p:sp>
      <p:pic>
        <p:nvPicPr>
          <p:cNvPr id="33" name="Graphic 32" descr="User with solid fill">
            <a:extLst>
              <a:ext uri="{FF2B5EF4-FFF2-40B4-BE49-F238E27FC236}">
                <a16:creationId xmlns:a16="http://schemas.microsoft.com/office/drawing/2014/main" id="{6E56B544-9671-EF59-ADDA-DA2C0029B612}"/>
              </a:ext>
            </a:extLst>
          </p:cNvPr>
          <p:cNvPicPr>
            <a:picLocks noChangeAspect="1"/>
          </p:cNvPicPr>
          <p:nvPr/>
        </p:nvPicPr>
        <p:blipFill>
          <a:blip>
            <a:extLst>
              <a:ext uri="{96DAC541-7B7A-43D3-8B79-37D633B846F1}">
                <asvg:svgBlip xmlns:asvg="http://schemas.microsoft.com/office/drawing/2016/SVG/main" r:embed="rId23"/>
              </a:ext>
            </a:extLst>
          </a:blip>
          <a:stretch>
            <a:fillRect/>
          </a:stretch>
        </p:blipFill>
        <p:spPr>
          <a:xfrm>
            <a:off x="93264" y="3878247"/>
            <a:ext cx="914400" cy="914400"/>
          </a:xfrm>
          <a:prstGeom prst="rect">
            <a:avLst/>
          </a:prstGeom>
        </p:spPr>
      </p:pic>
      <p:sp>
        <p:nvSpPr>
          <p:cNvPr id="34" name="Rectangle 33">
            <a:extLst>
              <a:ext uri="{FF2B5EF4-FFF2-40B4-BE49-F238E27FC236}">
                <a16:creationId xmlns:a16="http://schemas.microsoft.com/office/drawing/2014/main" id="{A85FA03D-D5C3-0462-DD50-F2484979DE98}"/>
              </a:ext>
            </a:extLst>
          </p:cNvPr>
          <p:cNvSpPr/>
          <p:nvPr/>
        </p:nvSpPr>
        <p:spPr>
          <a:xfrm>
            <a:off x="93264" y="3660526"/>
            <a:ext cx="1271559" cy="1535088"/>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5" name="Connector: Elbow 34">
            <a:extLst>
              <a:ext uri="{FF2B5EF4-FFF2-40B4-BE49-F238E27FC236}">
                <a16:creationId xmlns:a16="http://schemas.microsoft.com/office/drawing/2014/main" id="{A1A2BA66-FA90-4413-48B0-410FBC965437}"/>
              </a:ext>
            </a:extLst>
          </p:cNvPr>
          <p:cNvCxnSpPr>
            <a:cxnSpLocks/>
            <a:stCxn id="34" idx="0"/>
            <a:endCxn id="27" idx="2"/>
          </p:cNvCxnSpPr>
          <p:nvPr/>
        </p:nvCxnSpPr>
        <p:spPr>
          <a:xfrm rot="5400000" flipH="1" flipV="1">
            <a:off x="443555" y="1940515"/>
            <a:ext cx="2005500" cy="1434523"/>
          </a:xfrm>
          <a:prstGeom prst="bentConnector3">
            <a:avLst>
              <a:gd name="adj1" fmla="val 73263"/>
            </a:avLst>
          </a:prstGeom>
          <a:ln>
            <a:solidFill>
              <a:schemeClr val="bg1"/>
            </a:solidFill>
            <a:tailEnd type="triangle"/>
          </a:ln>
        </p:spPr>
        <p:style>
          <a:lnRef idx="2">
            <a:schemeClr val="accent1"/>
          </a:lnRef>
          <a:fillRef idx="0">
            <a:schemeClr val="accent1"/>
          </a:fillRef>
          <a:effectRef idx="1">
            <a:schemeClr val="accent1"/>
          </a:effectRef>
          <a:fontRef idx="minor">
            <a:schemeClr val="tx1"/>
          </a:fontRef>
        </p:style>
      </p:cxnSp>
      <p:cxnSp>
        <p:nvCxnSpPr>
          <p:cNvPr id="40" name="Connector: Elbow 39">
            <a:extLst>
              <a:ext uri="{FF2B5EF4-FFF2-40B4-BE49-F238E27FC236}">
                <a16:creationId xmlns:a16="http://schemas.microsoft.com/office/drawing/2014/main" id="{07CC2ED3-3844-DD7F-72F7-F0AE897C3D78}"/>
              </a:ext>
            </a:extLst>
          </p:cNvPr>
          <p:cNvCxnSpPr>
            <a:cxnSpLocks/>
            <a:stCxn id="34" idx="0"/>
            <a:endCxn id="64" idx="2"/>
          </p:cNvCxnSpPr>
          <p:nvPr/>
        </p:nvCxnSpPr>
        <p:spPr>
          <a:xfrm rot="5400000" flipH="1" flipV="1">
            <a:off x="1140938" y="1762584"/>
            <a:ext cx="1486049" cy="2309837"/>
          </a:xfrm>
          <a:prstGeom prst="bentConnector3">
            <a:avLst>
              <a:gd name="adj1" fmla="val 70092"/>
            </a:avLst>
          </a:prstGeom>
          <a:ln>
            <a:solidFill>
              <a:schemeClr val="bg1"/>
            </a:solidFill>
            <a:tailEnd type="triangle"/>
          </a:ln>
        </p:spPr>
        <p:style>
          <a:lnRef idx="2">
            <a:schemeClr val="accent1"/>
          </a:lnRef>
          <a:fillRef idx="0">
            <a:schemeClr val="accent1"/>
          </a:fillRef>
          <a:effectRef idx="1">
            <a:schemeClr val="accent1"/>
          </a:effectRef>
          <a:fontRef idx="minor">
            <a:schemeClr val="tx1"/>
          </a:fontRef>
        </p:style>
      </p:cxnSp>
      <p:grpSp>
        <p:nvGrpSpPr>
          <p:cNvPr id="2" name="Group 1">
            <a:extLst>
              <a:ext uri="{FF2B5EF4-FFF2-40B4-BE49-F238E27FC236}">
                <a16:creationId xmlns:a16="http://schemas.microsoft.com/office/drawing/2014/main" id="{C52AA5B6-0608-C216-394A-195AF4B949EE}"/>
              </a:ext>
            </a:extLst>
          </p:cNvPr>
          <p:cNvGrpSpPr/>
          <p:nvPr/>
        </p:nvGrpSpPr>
        <p:grpSpPr>
          <a:xfrm>
            <a:off x="85060" y="5603361"/>
            <a:ext cx="3153842" cy="1193249"/>
            <a:chOff x="85060" y="5603361"/>
            <a:chExt cx="3153842" cy="1193249"/>
          </a:xfrm>
        </p:grpSpPr>
        <p:sp>
          <p:nvSpPr>
            <p:cNvPr id="31" name="Rectangle 30">
              <a:extLst>
                <a:ext uri="{FF2B5EF4-FFF2-40B4-BE49-F238E27FC236}">
                  <a16:creationId xmlns:a16="http://schemas.microsoft.com/office/drawing/2014/main" id="{2FF7185B-A305-00D5-52C9-B1C5F76C5B03}"/>
                </a:ext>
              </a:extLst>
            </p:cNvPr>
            <p:cNvSpPr/>
            <p:nvPr/>
          </p:nvSpPr>
          <p:spPr>
            <a:xfrm>
              <a:off x="85060" y="5603361"/>
              <a:ext cx="3153842" cy="1193249"/>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32" name="Graphic 8" descr="AWS WAF service icon.">
              <a:extLst>
                <a:ext uri="{FF2B5EF4-FFF2-40B4-BE49-F238E27FC236}">
                  <a16:creationId xmlns:a16="http://schemas.microsoft.com/office/drawing/2014/main" id="{842BAB83-349A-A128-AAED-9A8EFB69326C}"/>
                </a:ext>
              </a:extLst>
            </p:cNvPr>
            <p:cNvPicPr>
              <a:picLocks noChangeAspect="1" noChangeArrowheads="1"/>
            </p:cNvPicPr>
            <p:nvPr/>
          </p:nvPicPr>
          <p:blipFill>
            <a:blip>
              <a:extLst>
                <a:ext uri="{96DAC541-7B7A-43D3-8B79-37D633B846F1}">
                  <asvg:svgBlip xmlns:asvg="http://schemas.microsoft.com/office/drawing/2016/SVG/main" r:embed="rId5"/>
                </a:ext>
              </a:extLst>
            </a:blip>
            <a:srcRect/>
            <a:stretch/>
          </p:blipFill>
          <p:spPr bwMode="auto">
            <a:xfrm>
              <a:off x="273020" y="5729290"/>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6" name="TextBox 35">
              <a:extLst>
                <a:ext uri="{FF2B5EF4-FFF2-40B4-BE49-F238E27FC236}">
                  <a16:creationId xmlns:a16="http://schemas.microsoft.com/office/drawing/2014/main" id="{EB465E5D-049A-08B7-439B-00FC294F77F2}"/>
                </a:ext>
              </a:extLst>
            </p:cNvPr>
            <p:cNvSpPr txBox="1"/>
            <p:nvPr/>
          </p:nvSpPr>
          <p:spPr>
            <a:xfrm>
              <a:off x="548418" y="5762371"/>
              <a:ext cx="357790"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WAF</a:t>
              </a:r>
            </a:p>
          </p:txBody>
        </p:sp>
        <p:pic>
          <p:nvPicPr>
            <p:cNvPr id="37" name="Graphic 19" descr="Amazon CloudFront service icon.">
              <a:extLst>
                <a:ext uri="{FF2B5EF4-FFF2-40B4-BE49-F238E27FC236}">
                  <a16:creationId xmlns:a16="http://schemas.microsoft.com/office/drawing/2014/main" id="{595226A9-E147-16B3-2F69-B6C8910F03FA}"/>
                </a:ext>
              </a:extLst>
            </p:cNvPr>
            <p:cNvPicPr>
              <a:picLocks noChangeAspect="1" noChangeArrowheads="1"/>
            </p:cNvPicPr>
            <p:nvPr/>
          </p:nvPicPr>
          <p:blipFill>
            <a:blip>
              <a:extLst>
                <a:ext uri="{96DAC541-7B7A-43D3-8B79-37D633B846F1}">
                  <asvg:svgBlip xmlns:asvg="http://schemas.microsoft.com/office/drawing/2016/SVG/main" r:embed="rId6"/>
                </a:ext>
              </a:extLst>
            </a:blip>
            <a:srcRect/>
            <a:stretch/>
          </p:blipFill>
          <p:spPr bwMode="auto">
            <a:xfrm>
              <a:off x="273020" y="6056039"/>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Box 37">
              <a:extLst>
                <a:ext uri="{FF2B5EF4-FFF2-40B4-BE49-F238E27FC236}">
                  <a16:creationId xmlns:a16="http://schemas.microsoft.com/office/drawing/2014/main" id="{668925AD-0DDA-E1F0-767A-F2A3AE5F009D}"/>
                </a:ext>
              </a:extLst>
            </p:cNvPr>
            <p:cNvSpPr txBox="1"/>
            <p:nvPr/>
          </p:nvSpPr>
          <p:spPr>
            <a:xfrm>
              <a:off x="548858" y="6098719"/>
              <a:ext cx="593432"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CloudFront</a:t>
              </a:r>
            </a:p>
          </p:txBody>
        </p:sp>
        <p:pic>
          <p:nvPicPr>
            <p:cNvPr id="39" name="Graphic 7" descr="Amazon API Gateway service icon.">
              <a:extLst>
                <a:ext uri="{FF2B5EF4-FFF2-40B4-BE49-F238E27FC236}">
                  <a16:creationId xmlns:a16="http://schemas.microsoft.com/office/drawing/2014/main" id="{DEEF781C-D514-DDB7-39EC-96553D7A85BE}"/>
                </a:ext>
              </a:extLst>
            </p:cNvPr>
            <p:cNvPicPr>
              <a:picLocks noChangeAspect="1" noChangeArrowheads="1"/>
            </p:cNvPicPr>
            <p:nvPr/>
          </p:nvPicPr>
          <p:blipFill>
            <a:blip>
              <a:extLst>
                <a:ext uri="{96DAC541-7B7A-43D3-8B79-37D633B846F1}">
                  <asvg:svgBlip xmlns:asvg="http://schemas.microsoft.com/office/drawing/2016/SVG/main" r:embed="rId9"/>
                </a:ext>
              </a:extLst>
            </a:blip>
            <a:srcRect/>
            <a:stretch/>
          </p:blipFill>
          <p:spPr bwMode="auto">
            <a:xfrm>
              <a:off x="273020" y="6382788"/>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Box 40">
              <a:extLst>
                <a:ext uri="{FF2B5EF4-FFF2-40B4-BE49-F238E27FC236}">
                  <a16:creationId xmlns:a16="http://schemas.microsoft.com/office/drawing/2014/main" id="{6B991A71-253F-9797-24D1-1E1601551A94}"/>
                </a:ext>
              </a:extLst>
            </p:cNvPr>
            <p:cNvSpPr txBox="1"/>
            <p:nvPr/>
          </p:nvSpPr>
          <p:spPr>
            <a:xfrm>
              <a:off x="548860" y="6423956"/>
              <a:ext cx="647934"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API Gateway</a:t>
              </a:r>
            </a:p>
          </p:txBody>
        </p:sp>
        <p:sp>
          <p:nvSpPr>
            <p:cNvPr id="42" name="TextBox 41">
              <a:extLst>
                <a:ext uri="{FF2B5EF4-FFF2-40B4-BE49-F238E27FC236}">
                  <a16:creationId xmlns:a16="http://schemas.microsoft.com/office/drawing/2014/main" id="{64687572-47D5-2004-DC68-11A011924B26}"/>
                </a:ext>
              </a:extLst>
            </p:cNvPr>
            <p:cNvSpPr txBox="1"/>
            <p:nvPr/>
          </p:nvSpPr>
          <p:spPr>
            <a:xfrm>
              <a:off x="1527497" y="5783435"/>
              <a:ext cx="325730"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SNS</a:t>
              </a:r>
            </a:p>
          </p:txBody>
        </p:sp>
        <p:sp>
          <p:nvSpPr>
            <p:cNvPr id="43" name="TextBox 42">
              <a:extLst>
                <a:ext uri="{FF2B5EF4-FFF2-40B4-BE49-F238E27FC236}">
                  <a16:creationId xmlns:a16="http://schemas.microsoft.com/office/drawing/2014/main" id="{77DD3640-FC1A-327A-F070-A2227C17FA17}"/>
                </a:ext>
              </a:extLst>
            </p:cNvPr>
            <p:cNvSpPr txBox="1"/>
            <p:nvPr/>
          </p:nvSpPr>
          <p:spPr>
            <a:xfrm>
              <a:off x="1531143" y="6092888"/>
              <a:ext cx="328936"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SQS</a:t>
              </a:r>
            </a:p>
          </p:txBody>
        </p:sp>
        <p:sp>
          <p:nvSpPr>
            <p:cNvPr id="44" name="TextBox 43">
              <a:extLst>
                <a:ext uri="{FF2B5EF4-FFF2-40B4-BE49-F238E27FC236}">
                  <a16:creationId xmlns:a16="http://schemas.microsoft.com/office/drawing/2014/main" id="{90C0F048-E28D-FA00-7181-F199D37015E3}"/>
                </a:ext>
              </a:extLst>
            </p:cNvPr>
            <p:cNvSpPr txBox="1"/>
            <p:nvPr/>
          </p:nvSpPr>
          <p:spPr>
            <a:xfrm>
              <a:off x="2481410" y="6094792"/>
              <a:ext cx="482824" cy="200055"/>
            </a:xfrm>
            <a:prstGeom prst="rect">
              <a:avLst/>
            </a:prstGeom>
            <a:noFill/>
          </p:spPr>
          <p:txBody>
            <a:bodyPr wrap="none" rtlCol="0">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Bedrock</a:t>
              </a:r>
            </a:p>
          </p:txBody>
        </p:sp>
        <p:pic>
          <p:nvPicPr>
            <p:cNvPr id="45" name="Graphic 44" descr="Endpoints resource icon for the Amazon VPC service.&#10;">
              <a:extLst>
                <a:ext uri="{FF2B5EF4-FFF2-40B4-BE49-F238E27FC236}">
                  <a16:creationId xmlns:a16="http://schemas.microsoft.com/office/drawing/2014/main" id="{4C69F412-BEBD-A1CB-539C-8A5FBC3DB1B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216552" y="6382788"/>
              <a:ext cx="274320" cy="274320"/>
            </a:xfrm>
            <a:prstGeom prst="rect">
              <a:avLst/>
            </a:prstGeom>
          </p:spPr>
        </p:pic>
        <p:sp>
          <p:nvSpPr>
            <p:cNvPr id="46" name="TextBox 45">
              <a:extLst>
                <a:ext uri="{FF2B5EF4-FFF2-40B4-BE49-F238E27FC236}">
                  <a16:creationId xmlns:a16="http://schemas.microsoft.com/office/drawing/2014/main" id="{13A60471-7428-7517-EC15-A014D6F646CB}"/>
                </a:ext>
              </a:extLst>
            </p:cNvPr>
            <p:cNvSpPr txBox="1"/>
            <p:nvPr/>
          </p:nvSpPr>
          <p:spPr>
            <a:xfrm>
              <a:off x="2477155" y="6414402"/>
              <a:ext cx="761747" cy="307777"/>
            </a:xfrm>
            <a:prstGeom prst="rect">
              <a:avLst/>
            </a:prstGeom>
            <a:noFill/>
          </p:spPr>
          <p:txBody>
            <a:bodyPr wrap="none" rtlCol="0">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VPC Endpoint &amp;</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VPC Links</a:t>
              </a:r>
            </a:p>
          </p:txBody>
        </p:sp>
        <p:sp>
          <p:nvSpPr>
            <p:cNvPr id="47" name="TextBox 46">
              <a:extLst>
                <a:ext uri="{FF2B5EF4-FFF2-40B4-BE49-F238E27FC236}">
                  <a16:creationId xmlns:a16="http://schemas.microsoft.com/office/drawing/2014/main" id="{F82D75C5-DEA3-D76D-4764-C902D7AE3842}"/>
                </a:ext>
              </a:extLst>
            </p:cNvPr>
            <p:cNvSpPr txBox="1"/>
            <p:nvPr/>
          </p:nvSpPr>
          <p:spPr>
            <a:xfrm>
              <a:off x="1561712" y="6385050"/>
              <a:ext cx="713657"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Step Function</a:t>
              </a:r>
            </a:p>
          </p:txBody>
        </p:sp>
        <p:sp>
          <p:nvSpPr>
            <p:cNvPr id="48" name="TextBox 17">
              <a:extLst>
                <a:ext uri="{FF2B5EF4-FFF2-40B4-BE49-F238E27FC236}">
                  <a16:creationId xmlns:a16="http://schemas.microsoft.com/office/drawing/2014/main" id="{1CDB1AD3-CC78-5741-58CB-05C343B0BD9C}"/>
                </a:ext>
                <a:ext uri="{C183D7F6-B498-43B3-948B-1728B52AA6E4}">
                  <adec:decorative xmlns:adec="http://schemas.microsoft.com/office/drawing/2017/decorative" val="1"/>
                </a:ext>
              </a:extLst>
            </p:cNvPr>
            <p:cNvSpPr txBox="1">
              <a:spLocks noChangeArrowheads="1"/>
            </p:cNvSpPr>
            <p:nvPr/>
          </p:nvSpPr>
          <p:spPr bwMode="auto">
            <a:xfrm>
              <a:off x="2444914" y="5772368"/>
              <a:ext cx="778042" cy="2000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en-US" sz="700" b="0" i="0" u="none" strike="noStrike" kern="1200" cap="none" spc="0" normalizeH="0" baseline="0" noProof="0" dirty="0">
                  <a:ln>
                    <a:noFill/>
                  </a:ln>
                  <a:solidFill>
                    <a:prstClr val="black"/>
                  </a:solidFill>
                  <a:effectLst/>
                  <a:uLnTx/>
                  <a:uFillTx/>
                  <a:latin typeface="Arial" panose="020B0604020202020204" pitchFamily="34" charset="0"/>
                  <a:ea typeface="Amazon Ember" panose="020B0603020204020204" pitchFamily="34" charset="0"/>
                  <a:cs typeface="Arial" panose="020B0604020202020204" pitchFamily="34" charset="0"/>
                </a:rPr>
                <a:t>Transcribe</a:t>
              </a:r>
            </a:p>
          </p:txBody>
        </p:sp>
        <p:pic>
          <p:nvPicPr>
            <p:cNvPr id="49" name="Graphic 26" descr="Amazon Simple Queue Service (Amazon SQS) service icon.">
              <a:extLst>
                <a:ext uri="{FF2B5EF4-FFF2-40B4-BE49-F238E27FC236}">
                  <a16:creationId xmlns:a16="http://schemas.microsoft.com/office/drawing/2014/main" id="{C9F351A3-74E0-83BD-1E96-0289FFACF588}"/>
                </a:ext>
              </a:extLst>
            </p:cNvPr>
            <p:cNvPicPr>
              <a:picLocks noChangeAspect="1" noChangeArrowheads="1"/>
            </p:cNvPicPr>
            <p:nvPr/>
          </p:nvPicPr>
          <p:blipFill>
            <a:blip>
              <a:extLst>
                <a:ext uri="{96DAC541-7B7A-43D3-8B79-37D633B846F1}">
                  <asvg:svgBlip xmlns:asvg="http://schemas.microsoft.com/office/drawing/2016/SVG/main" r:embed="rId12"/>
                </a:ext>
              </a:extLst>
            </a:blip>
            <a:srcRect/>
            <a:stretch/>
          </p:blipFill>
          <p:spPr bwMode="auto">
            <a:xfrm>
              <a:off x="1253177" y="6056039"/>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0" name="Graphic 24" descr="Amazon Simple Notification Service (Amazon SNS) service icon.">
              <a:extLst>
                <a:ext uri="{FF2B5EF4-FFF2-40B4-BE49-F238E27FC236}">
                  <a16:creationId xmlns:a16="http://schemas.microsoft.com/office/drawing/2014/main" id="{0097006C-4473-AA4D-4FE1-60E024638042}"/>
                </a:ext>
              </a:extLst>
            </p:cNvPr>
            <p:cNvPicPr>
              <a:picLocks noChangeAspect="1" noChangeArrowheads="1"/>
            </p:cNvPicPr>
            <p:nvPr/>
          </p:nvPicPr>
          <p:blipFill>
            <a:blip>
              <a:extLst>
                <a:ext uri="{96DAC541-7B7A-43D3-8B79-37D633B846F1}">
                  <asvg:svgBlip xmlns:asvg="http://schemas.microsoft.com/office/drawing/2016/SVG/main" r:embed="rId13"/>
                </a:ext>
              </a:extLst>
            </a:blip>
            <a:srcRect/>
            <a:stretch/>
          </p:blipFill>
          <p:spPr bwMode="auto">
            <a:xfrm>
              <a:off x="1253177" y="5729290"/>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1" name="Graphic 17" descr="AWS Step Functions service icon.">
              <a:extLst>
                <a:ext uri="{FF2B5EF4-FFF2-40B4-BE49-F238E27FC236}">
                  <a16:creationId xmlns:a16="http://schemas.microsoft.com/office/drawing/2014/main" id="{1C51DE6A-CD2A-AA07-8A43-F6E51A371726}"/>
                </a:ext>
              </a:extLst>
            </p:cNvPr>
            <p:cNvPicPr>
              <a:picLocks noChangeAspect="1" noChangeArrowheads="1"/>
            </p:cNvPicPr>
            <p:nvPr/>
          </p:nvPicPr>
          <p:blipFill>
            <a:blip>
              <a:extLst>
                <a:ext uri="{96DAC541-7B7A-43D3-8B79-37D633B846F1}">
                  <asvg:svgBlip xmlns:asvg="http://schemas.microsoft.com/office/drawing/2016/SVG/main" r:embed="rId17"/>
                </a:ext>
              </a:extLst>
            </a:blip>
            <a:srcRect/>
            <a:stretch/>
          </p:blipFill>
          <p:spPr bwMode="auto">
            <a:xfrm>
              <a:off x="1265116" y="6382788"/>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2" name="Graphic 51" descr="Amazon Bedrock service icon.">
              <a:extLst>
                <a:ext uri="{FF2B5EF4-FFF2-40B4-BE49-F238E27FC236}">
                  <a16:creationId xmlns:a16="http://schemas.microsoft.com/office/drawing/2014/main" id="{1D567AFA-C33F-5C97-A6C1-763325407087}"/>
                </a:ext>
              </a:extLst>
            </p:cNvPr>
            <p:cNvPicPr>
              <a:picLocks noChangeAspect="1"/>
            </p:cNvPicPr>
            <p:nvPr/>
          </p:nvPicPr>
          <p:blipFill>
            <a:blip>
              <a:extLst>
                <a:ext uri="{96DAC541-7B7A-43D3-8B79-37D633B846F1}">
                  <asvg:svgBlip xmlns:asvg="http://schemas.microsoft.com/office/drawing/2016/SVG/main" r:embed="rId18"/>
                </a:ext>
              </a:extLst>
            </a:blip>
            <a:srcRect/>
            <a:stretch/>
          </p:blipFill>
          <p:spPr>
            <a:xfrm>
              <a:off x="2216552" y="6056039"/>
              <a:ext cx="274320" cy="274320"/>
            </a:xfrm>
            <a:prstGeom prst="rect">
              <a:avLst/>
            </a:prstGeom>
          </p:spPr>
        </p:pic>
        <p:pic>
          <p:nvPicPr>
            <p:cNvPr id="53" name="Graphic 20" descr="Amazon Transcribe service icon.">
              <a:extLst>
                <a:ext uri="{FF2B5EF4-FFF2-40B4-BE49-F238E27FC236}">
                  <a16:creationId xmlns:a16="http://schemas.microsoft.com/office/drawing/2014/main" id="{362611C7-1AC4-3BEB-A048-94A568893E67}"/>
                </a:ext>
              </a:extLst>
            </p:cNvPr>
            <p:cNvPicPr>
              <a:picLocks noChangeAspect="1" noChangeArrowheads="1"/>
            </p:cNvPicPr>
            <p:nvPr/>
          </p:nvPicPr>
          <p:blipFill>
            <a:blip>
              <a:extLst>
                <a:ext uri="{96DAC541-7B7A-43D3-8B79-37D633B846F1}">
                  <asvg:svgBlip xmlns:asvg="http://schemas.microsoft.com/office/drawing/2016/SVG/main" r:embed="rId19"/>
                </a:ext>
              </a:extLst>
            </a:blip>
            <a:srcRect/>
            <a:stretch/>
          </p:blipFill>
          <p:spPr bwMode="auto">
            <a:xfrm>
              <a:off x="2225048" y="5729290"/>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pic>
        <p:nvPicPr>
          <p:cNvPr id="55" name="Graphic 8" descr="Amazon Simple Storage Service (Amazon S3) service icon.">
            <a:extLst>
              <a:ext uri="{FF2B5EF4-FFF2-40B4-BE49-F238E27FC236}">
                <a16:creationId xmlns:a16="http://schemas.microsoft.com/office/drawing/2014/main" id="{7E8BAB04-E0A0-98DA-1EF0-83D247B288E4}"/>
              </a:ext>
            </a:extLst>
          </p:cNvPr>
          <p:cNvPicPr>
            <a:picLocks noChangeAspect="1" noChangeArrowheads="1"/>
          </p:cNvPicPr>
          <p:nvPr/>
        </p:nvPicPr>
        <p:blipFill>
          <a:blip>
            <a:extLst>
              <a:ext uri="{96DAC541-7B7A-43D3-8B79-37D633B846F1}">
                <asvg:svgBlip xmlns:asvg="http://schemas.microsoft.com/office/drawing/2016/SVG/main" r:embed="rId15"/>
              </a:ext>
            </a:extLst>
          </a:blip>
          <a:srcRect/>
          <a:stretch/>
        </p:blipFill>
        <p:spPr bwMode="auto">
          <a:xfrm>
            <a:off x="3200949" y="4718104"/>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 name="TextBox 9">
            <a:extLst>
              <a:ext uri="{FF2B5EF4-FFF2-40B4-BE49-F238E27FC236}">
                <a16:creationId xmlns:a16="http://schemas.microsoft.com/office/drawing/2014/main" id="{8206CB76-AB7C-41A5-B570-37F8E5AC05B1}"/>
              </a:ext>
            </a:extLst>
          </p:cNvPr>
          <p:cNvSpPr txBox="1">
            <a:spLocks noChangeArrowheads="1"/>
          </p:cNvSpPr>
          <p:nvPr/>
        </p:nvSpPr>
        <p:spPr bwMode="auto">
          <a:xfrm>
            <a:off x="3111266" y="4963121"/>
            <a:ext cx="47449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S3</a:t>
            </a:r>
          </a:p>
        </p:txBody>
      </p:sp>
    </p:spTree>
    <p:extLst>
      <p:ext uri="{BB962C8B-B14F-4D97-AF65-F5344CB8AC3E}">
        <p14:creationId xmlns:p14="http://schemas.microsoft.com/office/powerpoint/2010/main" val="83868383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5BC051B-F6B5-3408-C844-5E8F15A845F6}"/>
              </a:ext>
            </a:extLst>
          </p:cNvPr>
          <p:cNvSpPr txBox="1"/>
          <p:nvPr/>
        </p:nvSpPr>
        <p:spPr>
          <a:xfrm>
            <a:off x="3740502" y="208364"/>
            <a:ext cx="4758034" cy="369332"/>
          </a:xfrm>
          <a:prstGeom prst="rect">
            <a:avLst/>
          </a:prstGeom>
          <a:noFill/>
        </p:spPr>
        <p:txBody>
          <a:bodyPr wrap="none" rtlCol="0">
            <a:spAutoFit/>
          </a:bodyPr>
          <a:lstStyle/>
          <a:p>
            <a:pPr algn="ctr"/>
            <a:r>
              <a:rPr lang="en-US" dirty="0">
                <a:solidFill>
                  <a:schemeClr val="bg1"/>
                </a:solidFill>
              </a:rPr>
              <a:t>Multi-Region Ready if the Business Case Exits</a:t>
            </a:r>
          </a:p>
        </p:txBody>
      </p:sp>
      <p:pic>
        <p:nvPicPr>
          <p:cNvPr id="4" name="Picture 3">
            <a:extLst>
              <a:ext uri="{FF2B5EF4-FFF2-40B4-BE49-F238E27FC236}">
                <a16:creationId xmlns:a16="http://schemas.microsoft.com/office/drawing/2014/main" id="{EFC6586C-5B8F-FF76-797C-D878CC432413}"/>
              </a:ext>
            </a:extLst>
          </p:cNvPr>
          <p:cNvPicPr>
            <a:picLocks noChangeAspect="1"/>
          </p:cNvPicPr>
          <p:nvPr/>
        </p:nvPicPr>
        <p:blipFill>
          <a:blip r:embed="rId2"/>
          <a:stretch>
            <a:fillRect/>
          </a:stretch>
        </p:blipFill>
        <p:spPr>
          <a:xfrm>
            <a:off x="1687704" y="707923"/>
            <a:ext cx="7988076" cy="5964430"/>
          </a:xfrm>
          <a:prstGeom prst="rect">
            <a:avLst/>
          </a:prstGeom>
        </p:spPr>
      </p:pic>
    </p:spTree>
    <p:extLst>
      <p:ext uri="{BB962C8B-B14F-4D97-AF65-F5344CB8AC3E}">
        <p14:creationId xmlns:p14="http://schemas.microsoft.com/office/powerpoint/2010/main" val="239682274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DELIVERY MODEL</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fontScale="92500"/>
          </a:bodyPr>
          <a:lstStyle/>
          <a:p>
            <a:pPr marL="0" indent="0">
              <a:buNone/>
            </a:pPr>
            <a:r>
              <a:rPr lang="en-US" sz="2950" b="1" dirty="0">
                <a:solidFill>
                  <a:srgbClr val="F5F7FA"/>
                </a:solidFill>
              </a:rPr>
              <a:t>Build approach: AI-DLC turned the idea into deployable work units</a:t>
            </a:r>
            <a:endParaRPr lang="en-US" sz="2950" dirty="0"/>
          </a:p>
        </p:txBody>
      </p:sp>
      <p:sp>
        <p:nvSpPr>
          <p:cNvPr id="4" name="Text 2"/>
          <p:cNvSpPr/>
          <p:nvPr/>
        </p:nvSpPr>
        <p:spPr>
          <a:xfrm>
            <a:off x="621792" y="1353312"/>
            <a:ext cx="10625328" cy="749808"/>
          </a:xfrm>
          <a:prstGeom prst="rect">
            <a:avLst/>
          </a:prstGeom>
          <a:noFill/>
          <a:ln/>
        </p:spPr>
        <p:txBody>
          <a:bodyPr wrap="square" lIns="254" tIns="254" rIns="254" bIns="254" rtlCol="0" anchor="t">
            <a:normAutofit/>
          </a:bodyPr>
          <a:lstStyle/>
          <a:p>
            <a:pPr marL="0" indent="0" algn="l">
              <a:buNone/>
            </a:pPr>
            <a:r>
              <a:rPr lang="en-US" sz="1720" dirty="0">
                <a:solidFill>
                  <a:srgbClr val="B2BAC8"/>
                </a:solidFill>
              </a:rPr>
              <a:t>The useful lesson is not that code was generated quickly. The useful lesson is that the work was decomposed into independently testable “bolts” with clear contracts.</a:t>
            </a:r>
            <a:endParaRPr lang="en-US" sz="1720" dirty="0"/>
          </a:p>
        </p:txBody>
      </p:sp>
      <p:sp>
        <p:nvSpPr>
          <p:cNvPr id="5" name="Text 3"/>
          <p:cNvSpPr/>
          <p:nvPr/>
        </p:nvSpPr>
        <p:spPr>
          <a:xfrm>
            <a:off x="1115568" y="2761488"/>
            <a:ext cx="2084832" cy="530352"/>
          </a:xfrm>
          <a:prstGeom prst="roundRect">
            <a:avLst>
              <a:gd name="adj" fmla="val 13793"/>
            </a:avLst>
          </a:prstGeom>
          <a:solidFill>
            <a:srgbClr val="2F9BFF"/>
          </a:solidFill>
          <a:ln w="13970">
            <a:solidFill>
              <a:srgbClr val="2F9BFF"/>
            </a:solidFill>
          </a:ln>
        </p:spPr>
        <p:txBody>
          <a:bodyPr wrap="square" lIns="1016" tIns="1016" rIns="1016" bIns="1016" rtlCol="0" anchor="ctr">
            <a:normAutofit/>
          </a:bodyPr>
          <a:lstStyle/>
          <a:p>
            <a:pPr marL="0" indent="0" algn="ctr">
              <a:buNone/>
            </a:pPr>
            <a:r>
              <a:rPr lang="en-US" sz="1220" b="1" dirty="0">
                <a:solidFill>
                  <a:srgbClr val="07111E"/>
                </a:solidFill>
              </a:rPr>
              <a:t>Frontend SPA</a:t>
            </a:r>
            <a:endParaRPr lang="en-US" sz="1220" dirty="0"/>
          </a:p>
        </p:txBody>
      </p:sp>
      <p:sp>
        <p:nvSpPr>
          <p:cNvPr id="6" name="Text 4"/>
          <p:cNvSpPr/>
          <p:nvPr/>
        </p:nvSpPr>
        <p:spPr>
          <a:xfrm>
            <a:off x="1115568" y="3419856"/>
            <a:ext cx="2084832" cy="987552"/>
          </a:xfrm>
          <a:prstGeom prst="roundRect">
            <a:avLst>
              <a:gd name="adj" fmla="val 7407"/>
            </a:avLst>
          </a:prstGeom>
          <a:solidFill>
            <a:srgbClr val="0B1828"/>
          </a:solidFill>
          <a:ln w="13970">
            <a:solidFill>
              <a:srgbClr val="2F9BFF"/>
            </a:solidFill>
          </a:ln>
        </p:spPr>
        <p:txBody>
          <a:bodyPr wrap="square" lIns="1016" tIns="1016" rIns="1016" bIns="1016" rtlCol="0" anchor="ctr">
            <a:normAutofit/>
          </a:bodyPr>
          <a:lstStyle/>
          <a:p>
            <a:pPr marL="0" indent="0" algn="ctr">
              <a:buNone/>
            </a:pPr>
            <a:r>
              <a:rPr lang="en-US" sz="1050" dirty="0">
                <a:solidFill>
                  <a:srgbClr val="B2BAC8"/>
                </a:solidFill>
              </a:rPr>
              <a:t>Auth, upload UX, responsive web app</a:t>
            </a:r>
            <a:endParaRPr lang="en-US" sz="1050" dirty="0"/>
          </a:p>
        </p:txBody>
      </p:sp>
      <p:sp>
        <p:nvSpPr>
          <p:cNvPr id="7" name="Shape 5"/>
          <p:cNvSpPr/>
          <p:nvPr/>
        </p:nvSpPr>
        <p:spPr>
          <a:xfrm>
            <a:off x="3246120" y="3904488"/>
            <a:ext cx="466344" cy="0"/>
          </a:xfrm>
          <a:prstGeom prst="line">
            <a:avLst/>
          </a:prstGeom>
          <a:noFill/>
          <a:ln w="22860">
            <a:solidFill>
              <a:srgbClr val="1B4C78"/>
            </a:solidFill>
            <a:prstDash val="solid"/>
            <a:headEnd type="none"/>
            <a:tailEnd type="triangle"/>
          </a:ln>
        </p:spPr>
        <p:txBody>
          <a:bodyPr/>
          <a:lstStyle/>
          <a:p>
            <a:endParaRPr lang="en-US"/>
          </a:p>
        </p:txBody>
      </p:sp>
      <p:sp>
        <p:nvSpPr>
          <p:cNvPr id="8" name="Text 6"/>
          <p:cNvSpPr/>
          <p:nvPr/>
        </p:nvSpPr>
        <p:spPr>
          <a:xfrm>
            <a:off x="3794760" y="2761488"/>
            <a:ext cx="2084832" cy="530352"/>
          </a:xfrm>
          <a:prstGeom prst="roundRect">
            <a:avLst>
              <a:gd name="adj" fmla="val 13793"/>
            </a:avLst>
          </a:prstGeom>
          <a:solidFill>
            <a:srgbClr val="59D08F"/>
          </a:solidFill>
          <a:ln w="13970">
            <a:solidFill>
              <a:srgbClr val="59D08F"/>
            </a:solidFill>
          </a:ln>
        </p:spPr>
        <p:txBody>
          <a:bodyPr wrap="square" lIns="1016" tIns="1016" rIns="1016" bIns="1016" rtlCol="0" anchor="ctr">
            <a:normAutofit/>
          </a:bodyPr>
          <a:lstStyle/>
          <a:p>
            <a:pPr marL="0" indent="0" algn="ctr">
              <a:buNone/>
            </a:pPr>
            <a:r>
              <a:rPr lang="en-US" sz="1220" b="1" dirty="0">
                <a:solidFill>
                  <a:srgbClr val="07111E"/>
                </a:solidFill>
              </a:rPr>
              <a:t>Upload &amp; Storage</a:t>
            </a:r>
            <a:endParaRPr lang="en-US" sz="1220" dirty="0"/>
          </a:p>
        </p:txBody>
      </p:sp>
      <p:sp>
        <p:nvSpPr>
          <p:cNvPr id="9" name="Text 7"/>
          <p:cNvSpPr/>
          <p:nvPr/>
        </p:nvSpPr>
        <p:spPr>
          <a:xfrm>
            <a:off x="3794760" y="3419856"/>
            <a:ext cx="2084832" cy="987552"/>
          </a:xfrm>
          <a:prstGeom prst="roundRect">
            <a:avLst>
              <a:gd name="adj" fmla="val 7407"/>
            </a:avLst>
          </a:prstGeom>
          <a:solidFill>
            <a:srgbClr val="0B1828"/>
          </a:solidFill>
          <a:ln w="13970">
            <a:solidFill>
              <a:srgbClr val="59D08F"/>
            </a:solidFill>
          </a:ln>
        </p:spPr>
        <p:txBody>
          <a:bodyPr wrap="square" lIns="1016" tIns="1016" rIns="1016" bIns="1016" rtlCol="0" anchor="ctr">
            <a:normAutofit/>
          </a:bodyPr>
          <a:lstStyle/>
          <a:p>
            <a:pPr marL="0" indent="0" algn="ctr">
              <a:buNone/>
            </a:pPr>
            <a:r>
              <a:rPr lang="en-US" sz="1050" dirty="0">
                <a:solidFill>
                  <a:srgbClr val="B2BAC8"/>
                </a:solidFill>
              </a:rPr>
              <a:t>Presigned S3 URL, DynamoDB record, SQS trigger</a:t>
            </a:r>
            <a:endParaRPr lang="en-US" sz="1050" dirty="0"/>
          </a:p>
        </p:txBody>
      </p:sp>
      <p:sp>
        <p:nvSpPr>
          <p:cNvPr id="10" name="Shape 8"/>
          <p:cNvSpPr/>
          <p:nvPr/>
        </p:nvSpPr>
        <p:spPr>
          <a:xfrm>
            <a:off x="5925312" y="3904488"/>
            <a:ext cx="466344" cy="0"/>
          </a:xfrm>
          <a:prstGeom prst="line">
            <a:avLst/>
          </a:prstGeom>
          <a:noFill/>
          <a:ln w="22860">
            <a:solidFill>
              <a:srgbClr val="1B4C78"/>
            </a:solidFill>
            <a:prstDash val="solid"/>
            <a:headEnd type="none"/>
            <a:tailEnd type="triangle"/>
          </a:ln>
        </p:spPr>
        <p:txBody>
          <a:bodyPr/>
          <a:lstStyle/>
          <a:p>
            <a:endParaRPr lang="en-US"/>
          </a:p>
        </p:txBody>
      </p:sp>
      <p:sp>
        <p:nvSpPr>
          <p:cNvPr id="11" name="Text 9"/>
          <p:cNvSpPr/>
          <p:nvPr/>
        </p:nvSpPr>
        <p:spPr>
          <a:xfrm>
            <a:off x="6473952" y="2761488"/>
            <a:ext cx="2084832" cy="530352"/>
          </a:xfrm>
          <a:prstGeom prst="roundRect">
            <a:avLst>
              <a:gd name="adj" fmla="val 13793"/>
            </a:avLst>
          </a:prstGeom>
          <a:solidFill>
            <a:srgbClr val="FFD65A"/>
          </a:solidFill>
          <a:ln w="13970">
            <a:solidFill>
              <a:srgbClr val="FFD65A"/>
            </a:solidFill>
          </a:ln>
        </p:spPr>
        <p:txBody>
          <a:bodyPr wrap="square" lIns="1016" tIns="1016" rIns="1016" bIns="1016" rtlCol="0" anchor="ctr">
            <a:normAutofit/>
          </a:bodyPr>
          <a:lstStyle/>
          <a:p>
            <a:pPr marL="0" indent="0" algn="ctr">
              <a:buNone/>
            </a:pPr>
            <a:r>
              <a:rPr lang="en-US" sz="1220" b="1" dirty="0">
                <a:solidFill>
                  <a:srgbClr val="07111E"/>
                </a:solidFill>
              </a:rPr>
              <a:t>Preparation Workflow</a:t>
            </a:r>
            <a:endParaRPr lang="en-US" sz="1220" dirty="0"/>
          </a:p>
        </p:txBody>
      </p:sp>
      <p:sp>
        <p:nvSpPr>
          <p:cNvPr id="12" name="Text 10"/>
          <p:cNvSpPr/>
          <p:nvPr/>
        </p:nvSpPr>
        <p:spPr>
          <a:xfrm>
            <a:off x="6473952" y="3419856"/>
            <a:ext cx="2084832" cy="987552"/>
          </a:xfrm>
          <a:prstGeom prst="roundRect">
            <a:avLst>
              <a:gd name="adj" fmla="val 7407"/>
            </a:avLst>
          </a:prstGeom>
          <a:solidFill>
            <a:srgbClr val="0B1828"/>
          </a:solidFill>
          <a:ln w="13970">
            <a:solidFill>
              <a:srgbClr val="FFD65A"/>
            </a:solidFill>
          </a:ln>
        </p:spPr>
        <p:txBody>
          <a:bodyPr wrap="square" lIns="1016" tIns="1016" rIns="1016" bIns="1016" rtlCol="0" anchor="ctr">
            <a:normAutofit/>
          </a:bodyPr>
          <a:lstStyle/>
          <a:p>
            <a:pPr marL="0" indent="0" algn="ctr">
              <a:buNone/>
            </a:pPr>
            <a:r>
              <a:rPr lang="en-US" sz="1050" dirty="0">
                <a:solidFill>
                  <a:srgbClr val="B2BAC8"/>
                </a:solidFill>
              </a:rPr>
              <a:t>Step Functions, Transcribe, chunks, embeddings</a:t>
            </a:r>
            <a:endParaRPr lang="en-US" sz="1050" dirty="0"/>
          </a:p>
        </p:txBody>
      </p:sp>
      <p:sp>
        <p:nvSpPr>
          <p:cNvPr id="13" name="Shape 11"/>
          <p:cNvSpPr/>
          <p:nvPr/>
        </p:nvSpPr>
        <p:spPr>
          <a:xfrm>
            <a:off x="8604504" y="3904488"/>
            <a:ext cx="475488" cy="0"/>
          </a:xfrm>
          <a:prstGeom prst="line">
            <a:avLst/>
          </a:prstGeom>
          <a:noFill/>
          <a:ln w="22860">
            <a:solidFill>
              <a:srgbClr val="1B4C78"/>
            </a:solidFill>
            <a:prstDash val="solid"/>
            <a:headEnd type="none"/>
            <a:tailEnd type="triangle"/>
          </a:ln>
        </p:spPr>
        <p:txBody>
          <a:bodyPr/>
          <a:lstStyle/>
          <a:p>
            <a:endParaRPr lang="en-US"/>
          </a:p>
        </p:txBody>
      </p:sp>
      <p:sp>
        <p:nvSpPr>
          <p:cNvPr id="14" name="Text 12"/>
          <p:cNvSpPr/>
          <p:nvPr/>
        </p:nvSpPr>
        <p:spPr>
          <a:xfrm>
            <a:off x="9162288" y="2761488"/>
            <a:ext cx="2084832" cy="530352"/>
          </a:xfrm>
          <a:prstGeom prst="roundRect">
            <a:avLst>
              <a:gd name="adj" fmla="val 13793"/>
            </a:avLst>
          </a:prstGeom>
          <a:solidFill>
            <a:srgbClr val="B68CFF"/>
          </a:solidFill>
          <a:ln w="13970">
            <a:solidFill>
              <a:srgbClr val="B68CFF"/>
            </a:solidFill>
          </a:ln>
        </p:spPr>
        <p:txBody>
          <a:bodyPr wrap="square" lIns="1016" tIns="1016" rIns="1016" bIns="1016" rtlCol="0" anchor="ctr">
            <a:normAutofit/>
          </a:bodyPr>
          <a:lstStyle/>
          <a:p>
            <a:pPr marL="0" indent="0" algn="ctr">
              <a:buNone/>
            </a:pPr>
            <a:r>
              <a:rPr lang="en-US" sz="1220" b="1" dirty="0">
                <a:solidFill>
                  <a:srgbClr val="07111E"/>
                </a:solidFill>
              </a:rPr>
              <a:t>Agentic Evaluation</a:t>
            </a:r>
            <a:endParaRPr lang="en-US" sz="1220" dirty="0"/>
          </a:p>
        </p:txBody>
      </p:sp>
      <p:sp>
        <p:nvSpPr>
          <p:cNvPr id="15" name="Text 13"/>
          <p:cNvSpPr/>
          <p:nvPr/>
        </p:nvSpPr>
        <p:spPr>
          <a:xfrm>
            <a:off x="9162288" y="3419856"/>
            <a:ext cx="2084832" cy="987552"/>
          </a:xfrm>
          <a:prstGeom prst="roundRect">
            <a:avLst>
              <a:gd name="adj" fmla="val 7407"/>
            </a:avLst>
          </a:prstGeom>
          <a:solidFill>
            <a:srgbClr val="0B1828"/>
          </a:solidFill>
          <a:ln w="13970">
            <a:solidFill>
              <a:srgbClr val="B68CFF"/>
            </a:solidFill>
          </a:ln>
        </p:spPr>
        <p:txBody>
          <a:bodyPr wrap="square" lIns="1016" tIns="1016" rIns="1016" bIns="1016" rtlCol="0" anchor="ctr">
            <a:normAutofit/>
          </a:bodyPr>
          <a:lstStyle/>
          <a:p>
            <a:pPr marL="0" indent="0" algn="ctr">
              <a:buNone/>
            </a:pPr>
            <a:r>
              <a:rPr lang="en-US" sz="1050" dirty="0">
                <a:solidFill>
                  <a:srgbClr val="B2BAC8"/>
                </a:solidFill>
              </a:rPr>
              <a:t>Supervisor + seven evaluators + report generator</a:t>
            </a:r>
            <a:endParaRPr lang="en-US" sz="1050" dirty="0"/>
          </a:p>
        </p:txBody>
      </p:sp>
      <p:sp>
        <p:nvSpPr>
          <p:cNvPr id="16" name="Text 14"/>
          <p:cNvSpPr/>
          <p:nvPr/>
        </p:nvSpPr>
        <p:spPr>
          <a:xfrm>
            <a:off x="1408176" y="5084064"/>
            <a:ext cx="2011680" cy="530352"/>
          </a:xfrm>
          <a:prstGeom prst="rect">
            <a:avLst/>
          </a:prstGeom>
          <a:noFill/>
          <a:ln/>
        </p:spPr>
        <p:txBody>
          <a:bodyPr wrap="square" lIns="0" tIns="0" rIns="0" bIns="0" rtlCol="0" anchor="ctr">
            <a:normAutofit/>
          </a:bodyPr>
          <a:lstStyle/>
          <a:p>
            <a:pPr marL="0" indent="0" algn="ctr">
              <a:buNone/>
            </a:pPr>
            <a:r>
              <a:rPr lang="en-US" sz="2600" b="1" dirty="0">
                <a:solidFill>
                  <a:srgbClr val="59C4FF"/>
                </a:solidFill>
              </a:rPr>
              <a:t>&lt;7 days</a:t>
            </a:r>
            <a:endParaRPr lang="en-US" sz="2600" dirty="0"/>
          </a:p>
        </p:txBody>
      </p:sp>
      <p:sp>
        <p:nvSpPr>
          <p:cNvPr id="17" name="Text 15"/>
          <p:cNvSpPr/>
          <p:nvPr/>
        </p:nvSpPr>
        <p:spPr>
          <a:xfrm>
            <a:off x="1408176" y="5669280"/>
            <a:ext cx="2011680" cy="384048"/>
          </a:xfrm>
          <a:prstGeom prst="rect">
            <a:avLst/>
          </a:prstGeom>
          <a:noFill/>
          <a:ln/>
        </p:spPr>
        <p:txBody>
          <a:bodyPr wrap="square" lIns="254" tIns="254" rIns="254" bIns="254" rtlCol="0" anchor="ctr">
            <a:normAutofit/>
          </a:bodyPr>
          <a:lstStyle/>
          <a:p>
            <a:pPr marL="0" indent="0" algn="ctr">
              <a:buNone/>
            </a:pPr>
            <a:r>
              <a:rPr lang="en-US" sz="1050" dirty="0">
                <a:solidFill>
                  <a:srgbClr val="B2BAC8"/>
                </a:solidFill>
              </a:rPr>
              <a:t>elapsed build window</a:t>
            </a:r>
            <a:endParaRPr lang="en-US" sz="1050" dirty="0"/>
          </a:p>
        </p:txBody>
      </p:sp>
      <p:sp>
        <p:nvSpPr>
          <p:cNvPr id="18" name="Text 16"/>
          <p:cNvSpPr/>
          <p:nvPr/>
        </p:nvSpPr>
        <p:spPr>
          <a:xfrm>
            <a:off x="4224528" y="5084064"/>
            <a:ext cx="1828800" cy="530352"/>
          </a:xfrm>
          <a:prstGeom prst="rect">
            <a:avLst/>
          </a:prstGeom>
          <a:noFill/>
          <a:ln/>
        </p:spPr>
        <p:txBody>
          <a:bodyPr wrap="square" lIns="0" tIns="0" rIns="0" bIns="0" rtlCol="0" anchor="ctr">
            <a:normAutofit/>
          </a:bodyPr>
          <a:lstStyle/>
          <a:p>
            <a:pPr marL="0" indent="0" algn="ctr">
              <a:buNone/>
            </a:pPr>
            <a:r>
              <a:rPr lang="en-US" sz="2600" b="1" dirty="0">
                <a:solidFill>
                  <a:srgbClr val="59D08F"/>
                </a:solidFill>
              </a:rPr>
              <a:t>9</a:t>
            </a:r>
            <a:endParaRPr lang="en-US" sz="2600" dirty="0"/>
          </a:p>
        </p:txBody>
      </p:sp>
      <p:sp>
        <p:nvSpPr>
          <p:cNvPr id="19" name="Text 17"/>
          <p:cNvSpPr/>
          <p:nvPr/>
        </p:nvSpPr>
        <p:spPr>
          <a:xfrm>
            <a:off x="4224528" y="5669280"/>
            <a:ext cx="1828800" cy="384048"/>
          </a:xfrm>
          <a:prstGeom prst="rect">
            <a:avLst/>
          </a:prstGeom>
          <a:noFill/>
          <a:ln/>
        </p:spPr>
        <p:txBody>
          <a:bodyPr wrap="square" lIns="254" tIns="254" rIns="254" bIns="254" rtlCol="0" anchor="ctr">
            <a:normAutofit/>
          </a:bodyPr>
          <a:lstStyle/>
          <a:p>
            <a:pPr marL="0" indent="0" algn="ctr">
              <a:buNone/>
            </a:pPr>
            <a:r>
              <a:rPr lang="en-US" sz="1050" dirty="0">
                <a:solidFill>
                  <a:srgbClr val="B2BAC8"/>
                </a:solidFill>
              </a:rPr>
              <a:t>CI/CD pipelines</a:t>
            </a:r>
            <a:endParaRPr lang="en-US" sz="1050" dirty="0"/>
          </a:p>
        </p:txBody>
      </p:sp>
      <p:sp>
        <p:nvSpPr>
          <p:cNvPr id="20" name="Text 18"/>
          <p:cNvSpPr/>
          <p:nvPr/>
        </p:nvSpPr>
        <p:spPr>
          <a:xfrm>
            <a:off x="6748272" y="5084064"/>
            <a:ext cx="1645920" cy="530352"/>
          </a:xfrm>
          <a:prstGeom prst="rect">
            <a:avLst/>
          </a:prstGeom>
          <a:noFill/>
          <a:ln/>
        </p:spPr>
        <p:txBody>
          <a:bodyPr wrap="square" lIns="0" tIns="0" rIns="0" bIns="0" rtlCol="0" anchor="ctr">
            <a:normAutofit/>
          </a:bodyPr>
          <a:lstStyle/>
          <a:p>
            <a:pPr marL="0" indent="0" algn="ctr">
              <a:buNone/>
            </a:pPr>
            <a:r>
              <a:rPr lang="en-US" sz="2600" b="1" dirty="0">
                <a:solidFill>
                  <a:srgbClr val="FFD65A"/>
                </a:solidFill>
              </a:rPr>
              <a:t>0</a:t>
            </a:r>
            <a:endParaRPr lang="en-US" sz="2600" dirty="0"/>
          </a:p>
        </p:txBody>
      </p:sp>
      <p:sp>
        <p:nvSpPr>
          <p:cNvPr id="21" name="Text 19"/>
          <p:cNvSpPr/>
          <p:nvPr/>
        </p:nvSpPr>
        <p:spPr>
          <a:xfrm>
            <a:off x="6748272" y="5669280"/>
            <a:ext cx="1645920" cy="384048"/>
          </a:xfrm>
          <a:prstGeom prst="rect">
            <a:avLst/>
          </a:prstGeom>
          <a:noFill/>
          <a:ln/>
        </p:spPr>
        <p:txBody>
          <a:bodyPr wrap="square" lIns="254" tIns="254" rIns="254" bIns="254" rtlCol="0" anchor="ctr">
            <a:normAutofit/>
          </a:bodyPr>
          <a:lstStyle/>
          <a:p>
            <a:pPr marL="0" indent="0" algn="ctr">
              <a:buNone/>
            </a:pPr>
            <a:r>
              <a:rPr lang="en-US" sz="1050" dirty="0">
                <a:solidFill>
                  <a:srgbClr val="B2BAC8"/>
                </a:solidFill>
              </a:rPr>
              <a:t>servers managed</a:t>
            </a:r>
            <a:endParaRPr lang="en-US" sz="1050" dirty="0"/>
          </a:p>
        </p:txBody>
      </p:sp>
      <p:sp>
        <p:nvSpPr>
          <p:cNvPr id="22" name="Text 20"/>
          <p:cNvSpPr/>
          <p:nvPr/>
        </p:nvSpPr>
        <p:spPr>
          <a:xfrm>
            <a:off x="8997696" y="5084064"/>
            <a:ext cx="2011680" cy="530352"/>
          </a:xfrm>
          <a:prstGeom prst="rect">
            <a:avLst/>
          </a:prstGeom>
          <a:noFill/>
          <a:ln/>
        </p:spPr>
        <p:txBody>
          <a:bodyPr wrap="square" lIns="0" tIns="0" rIns="0" bIns="0" rtlCol="0" anchor="ctr">
            <a:normAutofit/>
          </a:bodyPr>
          <a:lstStyle/>
          <a:p>
            <a:pPr marL="0" indent="0" algn="ctr">
              <a:buNone/>
            </a:pPr>
            <a:r>
              <a:rPr lang="en-US" sz="2600" b="1" dirty="0">
                <a:solidFill>
                  <a:srgbClr val="FF9B55"/>
                </a:solidFill>
              </a:rPr>
              <a:t>~$0</a:t>
            </a:r>
            <a:endParaRPr lang="en-US" sz="2600" dirty="0"/>
          </a:p>
        </p:txBody>
      </p:sp>
      <p:sp>
        <p:nvSpPr>
          <p:cNvPr id="23" name="Text 21"/>
          <p:cNvSpPr/>
          <p:nvPr/>
        </p:nvSpPr>
        <p:spPr>
          <a:xfrm>
            <a:off x="8997696" y="5669280"/>
            <a:ext cx="2011680" cy="384048"/>
          </a:xfrm>
          <a:prstGeom prst="rect">
            <a:avLst/>
          </a:prstGeom>
          <a:noFill/>
          <a:ln/>
        </p:spPr>
        <p:txBody>
          <a:bodyPr wrap="square" lIns="254" tIns="254" rIns="254" bIns="254" rtlCol="0" anchor="ctr">
            <a:normAutofit/>
          </a:bodyPr>
          <a:lstStyle/>
          <a:p>
            <a:pPr marL="0" indent="0" algn="ctr">
              <a:buNone/>
            </a:pPr>
            <a:r>
              <a:rPr lang="en-US" sz="1050" dirty="0">
                <a:solidFill>
                  <a:srgbClr val="B2BAC8"/>
                </a:solidFill>
              </a:rPr>
              <a:t>idle architecture cost</a:t>
            </a:r>
            <a:endParaRPr lang="en-US" sz="1050" dirty="0"/>
          </a:p>
        </p:txBody>
      </p:sp>
      <p:sp>
        <p:nvSpPr>
          <p:cNvPr id="24" name="Text 22"/>
          <p:cNvSpPr/>
          <p:nvPr/>
        </p:nvSpPr>
        <p:spPr>
          <a:xfrm>
            <a:off x="566928" y="6327648"/>
            <a:ext cx="10378440" cy="219456"/>
          </a:xfrm>
          <a:prstGeom prst="rect">
            <a:avLst/>
          </a:prstGeom>
          <a:noFill/>
          <a:ln/>
        </p:spPr>
        <p:txBody>
          <a:bodyPr wrap="square" lIns="0" tIns="0" rIns="0" bIns="0" rtlCol="0" anchor="ctr">
            <a:normAutofit/>
          </a:bodyPr>
          <a:lstStyle/>
          <a:p>
            <a:pPr marL="0" indent="0">
              <a:buNone/>
            </a:pPr>
            <a:r>
              <a:rPr lang="en-US" sz="850" dirty="0">
                <a:solidFill>
                  <a:srgbClr val="7E8796"/>
                </a:solidFill>
              </a:rPr>
              <a:t>Retrospective describes four work units, bolt-based interfaces, CI/CD pipelines, and zero-idle service selection.</a:t>
            </a:r>
            <a:endParaRPr lang="en-US" sz="8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RUNTIME FLOW</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a:bodyPr>
          <a:lstStyle/>
          <a:p>
            <a:pPr marL="0" indent="0">
              <a:buNone/>
            </a:pPr>
            <a:r>
              <a:rPr lang="en-US" sz="2950" b="1" dirty="0">
                <a:solidFill>
                  <a:srgbClr val="F5F7FA"/>
                </a:solidFill>
              </a:rPr>
              <a:t>End-to-end processing is event-driven and observable</a:t>
            </a:r>
            <a:endParaRPr lang="en-US" sz="2950" dirty="0"/>
          </a:p>
        </p:txBody>
      </p:sp>
      <p:sp>
        <p:nvSpPr>
          <p:cNvPr id="4" name="Text 2"/>
          <p:cNvSpPr/>
          <p:nvPr/>
        </p:nvSpPr>
        <p:spPr>
          <a:xfrm>
            <a:off x="502920" y="1828800"/>
            <a:ext cx="1417320" cy="512064"/>
          </a:xfrm>
          <a:prstGeom prst="roundRect">
            <a:avLst>
              <a:gd name="adj" fmla="val 14286"/>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020" b="1" dirty="0">
                <a:solidFill>
                  <a:srgbClr val="F5F7FA"/>
                </a:solidFill>
              </a:rPr>
              <a:t>Cognito + SPA</a:t>
            </a:r>
            <a:endParaRPr lang="en-US" sz="1020" dirty="0"/>
          </a:p>
        </p:txBody>
      </p:sp>
      <p:sp>
        <p:nvSpPr>
          <p:cNvPr id="5" name="Text 3"/>
          <p:cNvSpPr/>
          <p:nvPr/>
        </p:nvSpPr>
        <p:spPr>
          <a:xfrm>
            <a:off x="502920" y="2432304"/>
            <a:ext cx="1417320" cy="768096"/>
          </a:xfrm>
          <a:prstGeom prst="rect">
            <a:avLst/>
          </a:prstGeom>
          <a:noFill/>
          <a:ln/>
        </p:spPr>
        <p:txBody>
          <a:bodyPr wrap="square" lIns="254" tIns="254" rIns="254" bIns="254" rtlCol="0" anchor="t">
            <a:normAutofit/>
          </a:bodyPr>
          <a:lstStyle/>
          <a:p>
            <a:pPr marL="0" indent="0" algn="ctr">
              <a:buNone/>
            </a:pPr>
            <a:r>
              <a:rPr lang="en-US" sz="880" dirty="0">
                <a:solidFill>
                  <a:srgbClr val="B2BAC8"/>
                </a:solidFill>
              </a:rPr>
              <a:t>User signs in and submits metadata</a:t>
            </a:r>
            <a:endParaRPr lang="en-US" sz="880" dirty="0"/>
          </a:p>
        </p:txBody>
      </p:sp>
      <p:sp>
        <p:nvSpPr>
          <p:cNvPr id="6" name="Shape 4"/>
          <p:cNvSpPr/>
          <p:nvPr/>
        </p:nvSpPr>
        <p:spPr>
          <a:xfrm>
            <a:off x="1947672" y="2084832"/>
            <a:ext cx="274320" cy="0"/>
          </a:xfrm>
          <a:prstGeom prst="line">
            <a:avLst/>
          </a:prstGeom>
          <a:noFill/>
          <a:ln w="22860">
            <a:solidFill>
              <a:srgbClr val="1B4C78"/>
            </a:solidFill>
            <a:prstDash val="solid"/>
            <a:headEnd type="none"/>
            <a:tailEnd type="triangle"/>
          </a:ln>
        </p:spPr>
        <p:txBody>
          <a:bodyPr/>
          <a:lstStyle/>
          <a:p>
            <a:endParaRPr lang="en-US"/>
          </a:p>
        </p:txBody>
      </p:sp>
      <p:sp>
        <p:nvSpPr>
          <p:cNvPr id="7" name="Text 5"/>
          <p:cNvSpPr/>
          <p:nvPr/>
        </p:nvSpPr>
        <p:spPr>
          <a:xfrm>
            <a:off x="2167128" y="1828800"/>
            <a:ext cx="1417320" cy="512064"/>
          </a:xfrm>
          <a:prstGeom prst="roundRect">
            <a:avLst>
              <a:gd name="adj" fmla="val 14286"/>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020" b="1" dirty="0">
                <a:solidFill>
                  <a:srgbClr val="F5F7FA"/>
                </a:solidFill>
              </a:rPr>
              <a:t>S3 upload</a:t>
            </a:r>
            <a:endParaRPr lang="en-US" sz="1020" dirty="0"/>
          </a:p>
        </p:txBody>
      </p:sp>
      <p:sp>
        <p:nvSpPr>
          <p:cNvPr id="8" name="Text 6"/>
          <p:cNvSpPr/>
          <p:nvPr/>
        </p:nvSpPr>
        <p:spPr>
          <a:xfrm>
            <a:off x="2167128" y="2432304"/>
            <a:ext cx="1417320" cy="768096"/>
          </a:xfrm>
          <a:prstGeom prst="rect">
            <a:avLst/>
          </a:prstGeom>
          <a:noFill/>
          <a:ln/>
        </p:spPr>
        <p:txBody>
          <a:bodyPr wrap="square" lIns="254" tIns="254" rIns="254" bIns="254" rtlCol="0" anchor="t">
            <a:normAutofit/>
          </a:bodyPr>
          <a:lstStyle/>
          <a:p>
            <a:pPr marL="0" indent="0" algn="ctr">
              <a:buNone/>
            </a:pPr>
            <a:r>
              <a:rPr lang="en-US" sz="880" dirty="0">
                <a:solidFill>
                  <a:srgbClr val="B2BAC8"/>
                </a:solidFill>
              </a:rPr>
              <a:t>Client uploads directly through presigned URL</a:t>
            </a:r>
            <a:endParaRPr lang="en-US" sz="880" dirty="0"/>
          </a:p>
        </p:txBody>
      </p:sp>
      <p:sp>
        <p:nvSpPr>
          <p:cNvPr id="9" name="Shape 7"/>
          <p:cNvSpPr/>
          <p:nvPr/>
        </p:nvSpPr>
        <p:spPr>
          <a:xfrm>
            <a:off x="3611880" y="2084832"/>
            <a:ext cx="274320" cy="0"/>
          </a:xfrm>
          <a:prstGeom prst="line">
            <a:avLst/>
          </a:prstGeom>
          <a:noFill/>
          <a:ln w="22860">
            <a:solidFill>
              <a:srgbClr val="1B4C78"/>
            </a:solidFill>
            <a:prstDash val="solid"/>
            <a:headEnd type="none"/>
            <a:tailEnd type="triangle"/>
          </a:ln>
        </p:spPr>
        <p:txBody>
          <a:bodyPr/>
          <a:lstStyle/>
          <a:p>
            <a:endParaRPr lang="en-US"/>
          </a:p>
        </p:txBody>
      </p:sp>
      <p:sp>
        <p:nvSpPr>
          <p:cNvPr id="10" name="Text 8"/>
          <p:cNvSpPr/>
          <p:nvPr/>
        </p:nvSpPr>
        <p:spPr>
          <a:xfrm>
            <a:off x="3831336" y="1828800"/>
            <a:ext cx="1417320" cy="512064"/>
          </a:xfrm>
          <a:prstGeom prst="roundRect">
            <a:avLst>
              <a:gd name="adj" fmla="val 14286"/>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020" b="1" dirty="0">
                <a:solidFill>
                  <a:srgbClr val="F5F7FA"/>
                </a:solidFill>
              </a:rPr>
              <a:t>DynamoDB</a:t>
            </a:r>
            <a:endParaRPr lang="en-US" sz="1020" dirty="0"/>
          </a:p>
        </p:txBody>
      </p:sp>
      <p:sp>
        <p:nvSpPr>
          <p:cNvPr id="11" name="Text 9"/>
          <p:cNvSpPr/>
          <p:nvPr/>
        </p:nvSpPr>
        <p:spPr>
          <a:xfrm>
            <a:off x="3831336" y="2432304"/>
            <a:ext cx="1417320" cy="768096"/>
          </a:xfrm>
          <a:prstGeom prst="rect">
            <a:avLst/>
          </a:prstGeom>
          <a:noFill/>
          <a:ln/>
        </p:spPr>
        <p:txBody>
          <a:bodyPr wrap="square" lIns="254" tIns="254" rIns="254" bIns="254" rtlCol="0" anchor="t">
            <a:normAutofit/>
          </a:bodyPr>
          <a:lstStyle/>
          <a:p>
            <a:pPr marL="0" indent="0" algn="ctr">
              <a:buNone/>
            </a:pPr>
            <a:r>
              <a:rPr lang="en-US" sz="880" dirty="0">
                <a:solidFill>
                  <a:srgbClr val="B2BAC8"/>
                </a:solidFill>
              </a:rPr>
              <a:t>Submission state starts as Pending</a:t>
            </a:r>
            <a:endParaRPr lang="en-US" sz="880" dirty="0"/>
          </a:p>
        </p:txBody>
      </p:sp>
      <p:sp>
        <p:nvSpPr>
          <p:cNvPr id="12" name="Shape 10"/>
          <p:cNvSpPr/>
          <p:nvPr/>
        </p:nvSpPr>
        <p:spPr>
          <a:xfrm>
            <a:off x="5276088" y="2084832"/>
            <a:ext cx="274320" cy="0"/>
          </a:xfrm>
          <a:prstGeom prst="line">
            <a:avLst/>
          </a:prstGeom>
          <a:noFill/>
          <a:ln w="22860">
            <a:solidFill>
              <a:srgbClr val="1B4C78"/>
            </a:solidFill>
            <a:prstDash val="solid"/>
            <a:headEnd type="none"/>
            <a:tailEnd type="triangle"/>
          </a:ln>
        </p:spPr>
        <p:txBody>
          <a:bodyPr/>
          <a:lstStyle/>
          <a:p>
            <a:endParaRPr lang="en-US"/>
          </a:p>
        </p:txBody>
      </p:sp>
      <p:sp>
        <p:nvSpPr>
          <p:cNvPr id="13" name="Text 11"/>
          <p:cNvSpPr/>
          <p:nvPr/>
        </p:nvSpPr>
        <p:spPr>
          <a:xfrm>
            <a:off x="5495544" y="1828800"/>
            <a:ext cx="1417320" cy="512064"/>
          </a:xfrm>
          <a:prstGeom prst="roundRect">
            <a:avLst>
              <a:gd name="adj" fmla="val 14286"/>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020" b="1" dirty="0">
                <a:solidFill>
                  <a:srgbClr val="F5F7FA"/>
                </a:solidFill>
              </a:rPr>
              <a:t>SQS → Pipes</a:t>
            </a:r>
            <a:endParaRPr lang="en-US" sz="1020" dirty="0"/>
          </a:p>
        </p:txBody>
      </p:sp>
      <p:sp>
        <p:nvSpPr>
          <p:cNvPr id="14" name="Text 12"/>
          <p:cNvSpPr/>
          <p:nvPr/>
        </p:nvSpPr>
        <p:spPr>
          <a:xfrm>
            <a:off x="5495544" y="2432304"/>
            <a:ext cx="1417320" cy="768096"/>
          </a:xfrm>
          <a:prstGeom prst="rect">
            <a:avLst/>
          </a:prstGeom>
          <a:noFill/>
          <a:ln/>
        </p:spPr>
        <p:txBody>
          <a:bodyPr wrap="square" lIns="254" tIns="254" rIns="254" bIns="254" rtlCol="0" anchor="t">
            <a:normAutofit/>
          </a:bodyPr>
          <a:lstStyle/>
          <a:p>
            <a:pPr marL="0" indent="0" algn="ctr">
              <a:buNone/>
            </a:pPr>
            <a:r>
              <a:rPr lang="en-US" sz="880" dirty="0">
                <a:solidFill>
                  <a:srgbClr val="B2BAC8"/>
                </a:solidFill>
              </a:rPr>
              <a:t>EventBridge starts one workflow per message</a:t>
            </a:r>
            <a:endParaRPr lang="en-US" sz="880" dirty="0"/>
          </a:p>
        </p:txBody>
      </p:sp>
      <p:sp>
        <p:nvSpPr>
          <p:cNvPr id="15" name="Shape 13"/>
          <p:cNvSpPr/>
          <p:nvPr/>
        </p:nvSpPr>
        <p:spPr>
          <a:xfrm>
            <a:off x="6940296" y="2084832"/>
            <a:ext cx="274320" cy="0"/>
          </a:xfrm>
          <a:prstGeom prst="line">
            <a:avLst/>
          </a:prstGeom>
          <a:noFill/>
          <a:ln w="22860">
            <a:solidFill>
              <a:srgbClr val="1B4C78"/>
            </a:solidFill>
            <a:prstDash val="solid"/>
            <a:headEnd type="none"/>
            <a:tailEnd type="triangle"/>
          </a:ln>
        </p:spPr>
        <p:txBody>
          <a:bodyPr/>
          <a:lstStyle/>
          <a:p>
            <a:endParaRPr lang="en-US"/>
          </a:p>
        </p:txBody>
      </p:sp>
      <p:sp>
        <p:nvSpPr>
          <p:cNvPr id="16" name="Text 14"/>
          <p:cNvSpPr/>
          <p:nvPr/>
        </p:nvSpPr>
        <p:spPr>
          <a:xfrm>
            <a:off x="7159752" y="1828800"/>
            <a:ext cx="1417320" cy="512064"/>
          </a:xfrm>
          <a:prstGeom prst="roundRect">
            <a:avLst>
              <a:gd name="adj" fmla="val 14286"/>
            </a:avLst>
          </a:prstGeom>
          <a:solidFill>
            <a:srgbClr val="071A2D"/>
          </a:solidFill>
          <a:ln w="13970">
            <a:solidFill>
              <a:srgbClr val="59D08F"/>
            </a:solidFill>
          </a:ln>
        </p:spPr>
        <p:txBody>
          <a:bodyPr wrap="square" lIns="1016" tIns="1016" rIns="1016" bIns="1016" rtlCol="0" anchor="ctr">
            <a:normAutofit/>
          </a:bodyPr>
          <a:lstStyle/>
          <a:p>
            <a:pPr marL="0" indent="0" algn="ctr">
              <a:buNone/>
            </a:pPr>
            <a:r>
              <a:rPr lang="en-US" sz="1020" b="1" dirty="0">
                <a:solidFill>
                  <a:srgbClr val="F5F7FA"/>
                </a:solidFill>
              </a:rPr>
              <a:t>Step Functions</a:t>
            </a:r>
            <a:endParaRPr lang="en-US" sz="1020" dirty="0"/>
          </a:p>
        </p:txBody>
      </p:sp>
      <p:sp>
        <p:nvSpPr>
          <p:cNvPr id="17" name="Text 15"/>
          <p:cNvSpPr/>
          <p:nvPr/>
        </p:nvSpPr>
        <p:spPr>
          <a:xfrm>
            <a:off x="7159752" y="2432304"/>
            <a:ext cx="1417320" cy="768096"/>
          </a:xfrm>
          <a:prstGeom prst="rect">
            <a:avLst/>
          </a:prstGeom>
          <a:noFill/>
          <a:ln/>
        </p:spPr>
        <p:txBody>
          <a:bodyPr wrap="square" lIns="254" tIns="254" rIns="254" bIns="254" rtlCol="0" anchor="t">
            <a:normAutofit/>
          </a:bodyPr>
          <a:lstStyle/>
          <a:p>
            <a:pPr marL="0" indent="0" algn="ctr">
              <a:buNone/>
            </a:pPr>
            <a:r>
              <a:rPr lang="en-US" sz="880" dirty="0">
                <a:solidFill>
                  <a:srgbClr val="B2BAC8"/>
                </a:solidFill>
              </a:rPr>
              <a:t>Validate, transcribe, chunk, optionally embed</a:t>
            </a:r>
            <a:endParaRPr lang="en-US" sz="880" dirty="0"/>
          </a:p>
        </p:txBody>
      </p:sp>
      <p:sp>
        <p:nvSpPr>
          <p:cNvPr id="18" name="Shape 16"/>
          <p:cNvSpPr/>
          <p:nvPr/>
        </p:nvSpPr>
        <p:spPr>
          <a:xfrm>
            <a:off x="8604504" y="2084832"/>
            <a:ext cx="274320" cy="0"/>
          </a:xfrm>
          <a:prstGeom prst="line">
            <a:avLst/>
          </a:prstGeom>
          <a:noFill/>
          <a:ln w="22860">
            <a:solidFill>
              <a:srgbClr val="1B4C78"/>
            </a:solidFill>
            <a:prstDash val="solid"/>
            <a:headEnd type="none"/>
            <a:tailEnd type="triangle"/>
          </a:ln>
        </p:spPr>
        <p:txBody>
          <a:bodyPr/>
          <a:lstStyle/>
          <a:p>
            <a:endParaRPr lang="en-US"/>
          </a:p>
        </p:txBody>
      </p:sp>
      <p:sp>
        <p:nvSpPr>
          <p:cNvPr id="19" name="Text 17"/>
          <p:cNvSpPr/>
          <p:nvPr/>
        </p:nvSpPr>
        <p:spPr>
          <a:xfrm>
            <a:off x="8823960" y="1828800"/>
            <a:ext cx="1417320" cy="512064"/>
          </a:xfrm>
          <a:prstGeom prst="roundRect">
            <a:avLst>
              <a:gd name="adj" fmla="val 14286"/>
            </a:avLst>
          </a:prstGeom>
          <a:solidFill>
            <a:srgbClr val="071A2D"/>
          </a:solidFill>
          <a:ln w="13970">
            <a:solidFill>
              <a:srgbClr val="59D08F"/>
            </a:solidFill>
          </a:ln>
        </p:spPr>
        <p:txBody>
          <a:bodyPr wrap="square" lIns="1016" tIns="1016" rIns="1016" bIns="1016" rtlCol="0" anchor="ctr">
            <a:normAutofit/>
          </a:bodyPr>
          <a:lstStyle/>
          <a:p>
            <a:pPr marL="0" indent="0" algn="ctr">
              <a:buNone/>
            </a:pPr>
            <a:r>
              <a:rPr lang="en-US" sz="1020" b="1" dirty="0">
                <a:solidFill>
                  <a:srgbClr val="F5F7FA"/>
                </a:solidFill>
              </a:rPr>
              <a:t>ECS Task</a:t>
            </a:r>
            <a:endParaRPr lang="en-US" sz="1020" dirty="0"/>
          </a:p>
        </p:txBody>
      </p:sp>
      <p:sp>
        <p:nvSpPr>
          <p:cNvPr id="20" name="Text 18"/>
          <p:cNvSpPr/>
          <p:nvPr/>
        </p:nvSpPr>
        <p:spPr>
          <a:xfrm>
            <a:off x="8823960" y="2432304"/>
            <a:ext cx="1417320" cy="768096"/>
          </a:xfrm>
          <a:prstGeom prst="rect">
            <a:avLst/>
          </a:prstGeom>
          <a:noFill/>
          <a:ln/>
        </p:spPr>
        <p:txBody>
          <a:bodyPr wrap="square" lIns="254" tIns="254" rIns="254" bIns="254" rtlCol="0" anchor="t">
            <a:normAutofit/>
          </a:bodyPr>
          <a:lstStyle/>
          <a:p>
            <a:pPr marL="0" indent="0" algn="ctr">
              <a:buNone/>
            </a:pPr>
            <a:r>
              <a:rPr lang="en-US" sz="880" dirty="0">
                <a:solidFill>
                  <a:srgbClr val="B2BAC8"/>
                </a:solidFill>
              </a:rPr>
              <a:t>Supervisor Agent and other key Functions</a:t>
            </a:r>
            <a:endParaRPr lang="en-US" sz="880" dirty="0"/>
          </a:p>
        </p:txBody>
      </p:sp>
      <p:sp>
        <p:nvSpPr>
          <p:cNvPr id="21" name="Shape 19"/>
          <p:cNvSpPr/>
          <p:nvPr/>
        </p:nvSpPr>
        <p:spPr>
          <a:xfrm>
            <a:off x="10268712" y="2084832"/>
            <a:ext cx="274320" cy="0"/>
          </a:xfrm>
          <a:prstGeom prst="line">
            <a:avLst/>
          </a:prstGeom>
          <a:noFill/>
          <a:ln w="22860">
            <a:solidFill>
              <a:srgbClr val="1B4C78"/>
            </a:solidFill>
            <a:prstDash val="solid"/>
            <a:headEnd type="none"/>
            <a:tailEnd type="triangle"/>
          </a:ln>
        </p:spPr>
        <p:txBody>
          <a:bodyPr/>
          <a:lstStyle/>
          <a:p>
            <a:endParaRPr lang="en-US"/>
          </a:p>
        </p:txBody>
      </p:sp>
      <p:sp>
        <p:nvSpPr>
          <p:cNvPr id="22" name="Text 20"/>
          <p:cNvSpPr/>
          <p:nvPr/>
        </p:nvSpPr>
        <p:spPr>
          <a:xfrm>
            <a:off x="10488168" y="1828800"/>
            <a:ext cx="1417320" cy="512064"/>
          </a:xfrm>
          <a:prstGeom prst="roundRect">
            <a:avLst>
              <a:gd name="adj" fmla="val 14286"/>
            </a:avLst>
          </a:prstGeom>
          <a:solidFill>
            <a:srgbClr val="071A2D"/>
          </a:solidFill>
          <a:ln w="13970">
            <a:solidFill>
              <a:srgbClr val="59D08F"/>
            </a:solidFill>
          </a:ln>
        </p:spPr>
        <p:txBody>
          <a:bodyPr wrap="square" lIns="1016" tIns="1016" rIns="1016" bIns="1016" rtlCol="0" anchor="ctr">
            <a:normAutofit/>
          </a:bodyPr>
          <a:lstStyle/>
          <a:p>
            <a:pPr marL="0" indent="0" algn="ctr">
              <a:buNone/>
            </a:pPr>
            <a:r>
              <a:rPr lang="en-US" sz="1020" b="1" dirty="0" err="1">
                <a:solidFill>
                  <a:srgbClr val="F5F7FA"/>
                </a:solidFill>
              </a:rPr>
              <a:t>AgentCore</a:t>
            </a:r>
            <a:endParaRPr lang="en-US" sz="1020" dirty="0"/>
          </a:p>
        </p:txBody>
      </p:sp>
      <p:sp>
        <p:nvSpPr>
          <p:cNvPr id="23" name="Text 21"/>
          <p:cNvSpPr/>
          <p:nvPr/>
        </p:nvSpPr>
        <p:spPr>
          <a:xfrm>
            <a:off x="10488168" y="2432304"/>
            <a:ext cx="1417320" cy="768096"/>
          </a:xfrm>
          <a:prstGeom prst="rect">
            <a:avLst/>
          </a:prstGeom>
          <a:noFill/>
          <a:ln/>
        </p:spPr>
        <p:txBody>
          <a:bodyPr wrap="square" lIns="254" tIns="254" rIns="254" bIns="254" rtlCol="0" anchor="t">
            <a:normAutofit/>
          </a:bodyPr>
          <a:lstStyle/>
          <a:p>
            <a:pPr marL="0" indent="0" algn="ctr">
              <a:buNone/>
            </a:pPr>
            <a:r>
              <a:rPr lang="en-US" sz="880" dirty="0">
                <a:solidFill>
                  <a:srgbClr val="B2BAC8"/>
                </a:solidFill>
              </a:rPr>
              <a:t>Agents evaluate and generate report</a:t>
            </a:r>
            <a:endParaRPr lang="en-US" sz="880" dirty="0"/>
          </a:p>
        </p:txBody>
      </p:sp>
      <p:sp>
        <p:nvSpPr>
          <p:cNvPr id="24" name="Text 22"/>
          <p:cNvSpPr/>
          <p:nvPr/>
        </p:nvSpPr>
        <p:spPr>
          <a:xfrm>
            <a:off x="749808" y="4151376"/>
            <a:ext cx="6766560" cy="960120"/>
          </a:xfrm>
          <a:prstGeom prst="rect">
            <a:avLst/>
          </a:prstGeom>
          <a:noFill/>
          <a:ln/>
        </p:spPr>
        <p:txBody>
          <a:bodyPr wrap="square" lIns="254" tIns="254" rIns="254" bIns="254" rtlCol="0" anchor="t">
            <a:normAutofit/>
          </a:bodyPr>
          <a:lstStyle/>
          <a:p>
            <a:pPr marL="0" indent="0" algn="l">
              <a:buNone/>
            </a:pPr>
            <a:r>
              <a:rPr lang="en-US" sz="1550" dirty="0">
                <a:solidFill>
                  <a:srgbClr val="B2BAC8"/>
                </a:solidFill>
              </a:rPr>
              <a:t>The handoff contract matters more than the tool choice. The upload service does not know how evaluation works. The evaluator does not care how the file arrived. That keeps each boundary testable and replaceable.</a:t>
            </a:r>
            <a:endParaRPr lang="en-US" sz="1550" dirty="0"/>
          </a:p>
        </p:txBody>
      </p:sp>
      <p:sp>
        <p:nvSpPr>
          <p:cNvPr id="25" name="Text 23"/>
          <p:cNvSpPr/>
          <p:nvPr/>
        </p:nvSpPr>
        <p:spPr>
          <a:xfrm>
            <a:off x="8101584" y="3950208"/>
            <a:ext cx="2962656" cy="768096"/>
          </a:xfrm>
          <a:prstGeom prst="roundRect">
            <a:avLst>
              <a:gd name="adj" fmla="val 9524"/>
            </a:avLst>
          </a:prstGeom>
          <a:solidFill>
            <a:srgbClr val="0B1828"/>
          </a:solidFill>
          <a:ln w="13970">
            <a:solidFill>
              <a:srgbClr val="FFD65A"/>
            </a:solidFill>
          </a:ln>
        </p:spPr>
        <p:txBody>
          <a:bodyPr wrap="square" lIns="1016" tIns="1016" rIns="1016" bIns="1016" rtlCol="0" anchor="ctr">
            <a:normAutofit/>
          </a:bodyPr>
          <a:lstStyle/>
          <a:p>
            <a:pPr marL="0" indent="0" algn="ctr">
              <a:buNone/>
            </a:pPr>
            <a:r>
              <a:rPr lang="en-US" sz="1240" b="1" dirty="0">
                <a:solidFill>
                  <a:srgbClr val="F5F7FA"/>
                </a:solidFill>
              </a:rPr>
              <a:t>State transitions</a:t>
            </a:r>
            <a:endParaRPr lang="en-US" sz="1240" dirty="0"/>
          </a:p>
          <a:p>
            <a:pPr marL="0" indent="0" algn="ctr">
              <a:buNone/>
            </a:pPr>
            <a:r>
              <a:rPr lang="en-US" sz="1240" b="1" dirty="0">
                <a:solidFill>
                  <a:srgbClr val="F5F7FA"/>
                </a:solidFill>
              </a:rPr>
              <a:t>Pending → Processing → Completed</a:t>
            </a:r>
            <a:endParaRPr lang="en-US" sz="1240" dirty="0"/>
          </a:p>
          <a:p>
            <a:pPr marL="0" indent="0" algn="ctr">
              <a:buNone/>
            </a:pPr>
            <a:r>
              <a:rPr lang="en-US" sz="1240" b="1" dirty="0">
                <a:solidFill>
                  <a:srgbClr val="F5F7FA"/>
                </a:solidFill>
              </a:rPr>
              <a:t>or Failed</a:t>
            </a:r>
            <a:endParaRPr lang="en-US" sz="1240" dirty="0"/>
          </a:p>
        </p:txBody>
      </p:sp>
      <p:sp>
        <p:nvSpPr>
          <p:cNvPr id="26" name="Text 24"/>
          <p:cNvSpPr/>
          <p:nvPr/>
        </p:nvSpPr>
        <p:spPr>
          <a:xfrm>
            <a:off x="8101584" y="4974336"/>
            <a:ext cx="2962656" cy="768096"/>
          </a:xfrm>
          <a:prstGeom prst="roundRect">
            <a:avLst>
              <a:gd name="adj" fmla="val 9524"/>
            </a:avLst>
          </a:prstGeom>
          <a:solidFill>
            <a:srgbClr val="0B1828"/>
          </a:solidFill>
          <a:ln w="13970">
            <a:solidFill>
              <a:srgbClr val="FF6B6B"/>
            </a:solidFill>
          </a:ln>
        </p:spPr>
        <p:txBody>
          <a:bodyPr wrap="square" lIns="1016" tIns="1016" rIns="1016" bIns="1016" rtlCol="0" anchor="ctr">
            <a:normAutofit/>
          </a:bodyPr>
          <a:lstStyle/>
          <a:p>
            <a:pPr marL="0" indent="0" algn="ctr">
              <a:buNone/>
            </a:pPr>
            <a:r>
              <a:rPr lang="en-US" sz="1240" b="1" dirty="0">
                <a:solidFill>
                  <a:srgbClr val="F5F7FA"/>
                </a:solidFill>
              </a:rPr>
              <a:t>Failure path</a:t>
            </a:r>
            <a:endParaRPr lang="en-US" sz="1240" dirty="0"/>
          </a:p>
          <a:p>
            <a:pPr marL="0" indent="0" algn="ctr">
              <a:buNone/>
            </a:pPr>
            <a:r>
              <a:rPr lang="en-US" sz="1240" b="1" dirty="0">
                <a:solidFill>
                  <a:srgbClr val="F5F7FA"/>
                </a:solidFill>
              </a:rPr>
              <a:t>retries → HandleFailure → SNS + DLQ</a:t>
            </a:r>
            <a:endParaRPr lang="en-US" sz="1240" dirty="0"/>
          </a:p>
        </p:txBody>
      </p:sp>
      <p:sp>
        <p:nvSpPr>
          <p:cNvPr id="27" name="Text 25"/>
          <p:cNvSpPr/>
          <p:nvPr/>
        </p:nvSpPr>
        <p:spPr>
          <a:xfrm>
            <a:off x="566928" y="6327648"/>
            <a:ext cx="10378440" cy="219456"/>
          </a:xfrm>
          <a:prstGeom prst="rect">
            <a:avLst/>
          </a:prstGeom>
          <a:noFill/>
          <a:ln/>
        </p:spPr>
        <p:txBody>
          <a:bodyPr wrap="square" lIns="0" tIns="0" rIns="0" bIns="0" rtlCol="0" anchor="ctr">
            <a:normAutofit/>
          </a:bodyPr>
          <a:lstStyle/>
          <a:p>
            <a:pPr marL="0" indent="0">
              <a:buNone/>
            </a:pPr>
            <a:r>
              <a:rPr lang="en-US" sz="850" dirty="0">
                <a:solidFill>
                  <a:srgbClr val="7E8796"/>
                </a:solidFill>
              </a:rPr>
              <a:t>Flow reflects the documented happy path, state machine sequence, S3 objects, DynamoDB transitions, retries, SNS, and DLQs.</a:t>
            </a:r>
            <a:endParaRPr lang="en-US" sz="850" dirty="0"/>
          </a:p>
        </p:txBody>
      </p:sp>
      <p:sp>
        <p:nvSpPr>
          <p:cNvPr id="28"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AWS DESIGN</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a:bodyPr>
          <a:lstStyle/>
          <a:p>
            <a:pPr marL="0" indent="0">
              <a:buNone/>
            </a:pPr>
            <a:r>
              <a:rPr lang="en-US" sz="2950" b="1" dirty="0">
                <a:solidFill>
                  <a:srgbClr val="F5F7FA"/>
                </a:solidFill>
              </a:rPr>
              <a:t>Architecture, viewed like a CTO would review it</a:t>
            </a:r>
            <a:endParaRPr lang="en-US" sz="2950" dirty="0"/>
          </a:p>
        </p:txBody>
      </p:sp>
      <p:sp>
        <p:nvSpPr>
          <p:cNvPr id="4" name="Shape 2"/>
          <p:cNvSpPr/>
          <p:nvPr/>
        </p:nvSpPr>
        <p:spPr>
          <a:xfrm>
            <a:off x="1527048" y="2011680"/>
            <a:ext cx="832104" cy="0"/>
          </a:xfrm>
          <a:prstGeom prst="line">
            <a:avLst/>
          </a:prstGeom>
          <a:noFill/>
          <a:ln w="22860">
            <a:solidFill>
              <a:srgbClr val="2F9BFF"/>
            </a:solidFill>
            <a:prstDash val="solid"/>
            <a:headEnd type="none"/>
            <a:tailEnd type="triangle"/>
          </a:ln>
        </p:spPr>
        <p:txBody>
          <a:bodyPr/>
          <a:lstStyle/>
          <a:p>
            <a:endParaRPr lang="en-US"/>
          </a:p>
        </p:txBody>
      </p:sp>
      <p:sp>
        <p:nvSpPr>
          <p:cNvPr id="5" name="Shape 3"/>
          <p:cNvSpPr/>
          <p:nvPr/>
        </p:nvSpPr>
        <p:spPr>
          <a:xfrm>
            <a:off x="3547872" y="2011680"/>
            <a:ext cx="768096" cy="0"/>
          </a:xfrm>
          <a:prstGeom prst="line">
            <a:avLst/>
          </a:prstGeom>
          <a:noFill/>
          <a:ln w="22860">
            <a:solidFill>
              <a:srgbClr val="2F9BFF"/>
            </a:solidFill>
            <a:prstDash val="solid"/>
            <a:headEnd type="none"/>
            <a:tailEnd type="triangle"/>
          </a:ln>
        </p:spPr>
        <p:txBody>
          <a:bodyPr/>
          <a:lstStyle/>
          <a:p>
            <a:endParaRPr lang="en-US"/>
          </a:p>
        </p:txBody>
      </p:sp>
      <p:sp>
        <p:nvSpPr>
          <p:cNvPr id="6" name="Shape 4"/>
          <p:cNvSpPr/>
          <p:nvPr/>
        </p:nvSpPr>
        <p:spPr>
          <a:xfrm>
            <a:off x="5486400" y="2011680"/>
            <a:ext cx="713232" cy="0"/>
          </a:xfrm>
          <a:prstGeom prst="line">
            <a:avLst/>
          </a:prstGeom>
          <a:noFill/>
          <a:ln w="22860">
            <a:solidFill>
              <a:srgbClr val="59D08F"/>
            </a:solidFill>
            <a:prstDash val="solid"/>
            <a:headEnd type="none"/>
            <a:tailEnd type="triangle"/>
          </a:ln>
        </p:spPr>
        <p:txBody>
          <a:bodyPr/>
          <a:lstStyle/>
          <a:p>
            <a:endParaRPr lang="en-US"/>
          </a:p>
        </p:txBody>
      </p:sp>
      <p:sp>
        <p:nvSpPr>
          <p:cNvPr id="7" name="Shape 5"/>
          <p:cNvSpPr/>
          <p:nvPr/>
        </p:nvSpPr>
        <p:spPr>
          <a:xfrm>
            <a:off x="7360920" y="2011680"/>
            <a:ext cx="704088" cy="0"/>
          </a:xfrm>
          <a:prstGeom prst="line">
            <a:avLst/>
          </a:prstGeom>
          <a:noFill/>
          <a:ln w="22860">
            <a:solidFill>
              <a:srgbClr val="59D08F"/>
            </a:solidFill>
            <a:prstDash val="solid"/>
            <a:headEnd type="none"/>
            <a:tailEnd type="triangle"/>
          </a:ln>
        </p:spPr>
        <p:txBody>
          <a:bodyPr/>
          <a:lstStyle/>
          <a:p>
            <a:endParaRPr lang="en-US"/>
          </a:p>
        </p:txBody>
      </p:sp>
      <p:sp>
        <p:nvSpPr>
          <p:cNvPr id="8" name="Shape 6"/>
          <p:cNvSpPr/>
          <p:nvPr/>
        </p:nvSpPr>
        <p:spPr>
          <a:xfrm>
            <a:off x="9281160" y="2011680"/>
            <a:ext cx="704088" cy="0"/>
          </a:xfrm>
          <a:prstGeom prst="line">
            <a:avLst/>
          </a:prstGeom>
          <a:noFill/>
          <a:ln w="22860">
            <a:solidFill>
              <a:srgbClr val="B68CFF"/>
            </a:solidFill>
            <a:prstDash val="solid"/>
            <a:headEnd type="none"/>
            <a:tailEnd type="triangle"/>
          </a:ln>
        </p:spPr>
        <p:txBody>
          <a:bodyPr/>
          <a:lstStyle/>
          <a:p>
            <a:endParaRPr lang="en-US"/>
          </a:p>
        </p:txBody>
      </p:sp>
      <p:sp>
        <p:nvSpPr>
          <p:cNvPr id="9" name="Shape 7"/>
          <p:cNvSpPr/>
          <p:nvPr/>
        </p:nvSpPr>
        <p:spPr>
          <a:xfrm>
            <a:off x="5596128" y="4050792"/>
            <a:ext cx="822960" cy="0"/>
          </a:xfrm>
          <a:prstGeom prst="line">
            <a:avLst/>
          </a:prstGeom>
          <a:noFill/>
          <a:ln w="22860">
            <a:solidFill>
              <a:srgbClr val="FFD65A"/>
            </a:solidFill>
            <a:prstDash val="solid"/>
            <a:headEnd type="none"/>
            <a:tailEnd type="triangle"/>
          </a:ln>
        </p:spPr>
        <p:txBody>
          <a:bodyPr/>
          <a:lstStyle/>
          <a:p>
            <a:endParaRPr lang="en-US"/>
          </a:p>
        </p:txBody>
      </p:sp>
      <p:sp>
        <p:nvSpPr>
          <p:cNvPr id="10" name="Text 8"/>
          <p:cNvSpPr/>
          <p:nvPr/>
        </p:nvSpPr>
        <p:spPr>
          <a:xfrm>
            <a:off x="621792" y="1536192"/>
            <a:ext cx="1261872" cy="932688"/>
          </a:xfrm>
          <a:prstGeom prst="roundRect">
            <a:avLst>
              <a:gd name="adj" fmla="val 7843"/>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100" b="1" dirty="0">
                <a:solidFill>
                  <a:srgbClr val="F5F7FA"/>
                </a:solidFill>
              </a:rPr>
              <a:t>Edge</a:t>
            </a:r>
            <a:endParaRPr lang="en-US" sz="1100" dirty="0"/>
          </a:p>
          <a:p>
            <a:pPr marL="0" indent="0" algn="ctr">
              <a:buNone/>
            </a:pPr>
            <a:r>
              <a:rPr lang="en-US" sz="1100" b="1" dirty="0">
                <a:solidFill>
                  <a:srgbClr val="F5F7FA"/>
                </a:solidFill>
              </a:rPr>
              <a:t>CloudFront + WAF</a:t>
            </a:r>
            <a:endParaRPr lang="en-US" sz="1100" dirty="0"/>
          </a:p>
        </p:txBody>
      </p:sp>
      <p:sp>
        <p:nvSpPr>
          <p:cNvPr id="11" name="Text 9"/>
          <p:cNvSpPr/>
          <p:nvPr/>
        </p:nvSpPr>
        <p:spPr>
          <a:xfrm>
            <a:off x="2267712" y="1536192"/>
            <a:ext cx="1389888" cy="932688"/>
          </a:xfrm>
          <a:prstGeom prst="roundRect">
            <a:avLst>
              <a:gd name="adj" fmla="val 7843"/>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100" b="1" dirty="0">
                <a:solidFill>
                  <a:srgbClr val="F5F7FA"/>
                </a:solidFill>
              </a:rPr>
              <a:t>Identity</a:t>
            </a:r>
            <a:endParaRPr lang="en-US" sz="1100" dirty="0"/>
          </a:p>
          <a:p>
            <a:pPr marL="0" indent="0" algn="ctr">
              <a:buNone/>
            </a:pPr>
            <a:r>
              <a:rPr lang="en-US" sz="1100" b="1" dirty="0">
                <a:solidFill>
                  <a:srgbClr val="F5F7FA"/>
                </a:solidFill>
              </a:rPr>
              <a:t>Cognito hosted UI</a:t>
            </a:r>
            <a:endParaRPr lang="en-US" sz="1100" dirty="0"/>
          </a:p>
        </p:txBody>
      </p:sp>
      <p:sp>
        <p:nvSpPr>
          <p:cNvPr id="12" name="Text 10"/>
          <p:cNvSpPr/>
          <p:nvPr/>
        </p:nvSpPr>
        <p:spPr>
          <a:xfrm>
            <a:off x="4142232" y="1536192"/>
            <a:ext cx="1426464" cy="932688"/>
          </a:xfrm>
          <a:prstGeom prst="roundRect">
            <a:avLst>
              <a:gd name="adj" fmla="val 7843"/>
            </a:avLst>
          </a:prstGeom>
          <a:solidFill>
            <a:srgbClr val="071A2D"/>
          </a:solidFill>
          <a:ln w="13970">
            <a:solidFill>
              <a:srgbClr val="59D08F"/>
            </a:solidFill>
          </a:ln>
        </p:spPr>
        <p:txBody>
          <a:bodyPr wrap="square" lIns="1016" tIns="1016" rIns="1016" bIns="1016" rtlCol="0" anchor="ctr">
            <a:normAutofit/>
          </a:bodyPr>
          <a:lstStyle/>
          <a:p>
            <a:pPr marL="0" indent="0" algn="ctr">
              <a:buNone/>
            </a:pPr>
            <a:r>
              <a:rPr lang="en-US" sz="1100" b="1" dirty="0">
                <a:solidFill>
                  <a:srgbClr val="F5F7FA"/>
                </a:solidFill>
              </a:rPr>
              <a:t>API</a:t>
            </a:r>
            <a:endParaRPr lang="en-US" sz="1100" dirty="0"/>
          </a:p>
          <a:p>
            <a:pPr marL="0" indent="0" algn="ctr">
              <a:buNone/>
            </a:pPr>
            <a:r>
              <a:rPr lang="en-US" sz="1100" b="1" dirty="0">
                <a:solidFill>
                  <a:srgbClr val="F5F7FA"/>
                </a:solidFill>
              </a:rPr>
              <a:t>Gateway + Lambda</a:t>
            </a:r>
            <a:endParaRPr lang="en-US" sz="1100" dirty="0"/>
          </a:p>
        </p:txBody>
      </p:sp>
      <p:sp>
        <p:nvSpPr>
          <p:cNvPr id="13" name="Text 11"/>
          <p:cNvSpPr/>
          <p:nvPr/>
        </p:nvSpPr>
        <p:spPr>
          <a:xfrm>
            <a:off x="6053328" y="1536192"/>
            <a:ext cx="1444752" cy="932688"/>
          </a:xfrm>
          <a:prstGeom prst="roundRect">
            <a:avLst>
              <a:gd name="adj" fmla="val 7843"/>
            </a:avLst>
          </a:prstGeom>
          <a:solidFill>
            <a:srgbClr val="071A2D"/>
          </a:solidFill>
          <a:ln w="13970">
            <a:solidFill>
              <a:srgbClr val="59D08F"/>
            </a:solidFill>
          </a:ln>
        </p:spPr>
        <p:txBody>
          <a:bodyPr wrap="square" lIns="1016" tIns="1016" rIns="1016" bIns="1016" rtlCol="0" anchor="ctr">
            <a:normAutofit/>
          </a:bodyPr>
          <a:lstStyle/>
          <a:p>
            <a:pPr marL="0" indent="0" algn="ctr">
              <a:buNone/>
            </a:pPr>
            <a:r>
              <a:rPr lang="en-US" sz="1100" b="1" dirty="0">
                <a:solidFill>
                  <a:srgbClr val="F5F7FA"/>
                </a:solidFill>
              </a:rPr>
              <a:t>Storage</a:t>
            </a:r>
            <a:endParaRPr lang="en-US" sz="1100" dirty="0"/>
          </a:p>
          <a:p>
            <a:pPr marL="0" indent="0" algn="ctr">
              <a:buNone/>
            </a:pPr>
            <a:r>
              <a:rPr lang="en-US" sz="1100" b="1" dirty="0">
                <a:solidFill>
                  <a:srgbClr val="F5F7FA"/>
                </a:solidFill>
              </a:rPr>
              <a:t>S3 + DynamoDB</a:t>
            </a:r>
            <a:endParaRPr lang="en-US" sz="1100" dirty="0"/>
          </a:p>
        </p:txBody>
      </p:sp>
      <p:sp>
        <p:nvSpPr>
          <p:cNvPr id="14" name="Text 12"/>
          <p:cNvSpPr/>
          <p:nvPr/>
        </p:nvSpPr>
        <p:spPr>
          <a:xfrm>
            <a:off x="7882128" y="1536192"/>
            <a:ext cx="1444752" cy="932688"/>
          </a:xfrm>
          <a:prstGeom prst="roundRect">
            <a:avLst>
              <a:gd name="adj" fmla="val 7843"/>
            </a:avLst>
          </a:prstGeom>
          <a:solidFill>
            <a:srgbClr val="071A2D"/>
          </a:solidFill>
          <a:ln w="13970">
            <a:solidFill>
              <a:srgbClr val="FFD65A"/>
            </a:solidFill>
          </a:ln>
        </p:spPr>
        <p:txBody>
          <a:bodyPr wrap="square" lIns="1016" tIns="1016" rIns="1016" bIns="1016" rtlCol="0" anchor="ctr">
            <a:normAutofit/>
          </a:bodyPr>
          <a:lstStyle/>
          <a:p>
            <a:pPr marL="0" indent="0" algn="ctr">
              <a:buNone/>
            </a:pPr>
            <a:r>
              <a:rPr lang="en-US" sz="1100" b="1" dirty="0">
                <a:solidFill>
                  <a:srgbClr val="F5F7FA"/>
                </a:solidFill>
              </a:rPr>
              <a:t>Prep</a:t>
            </a:r>
            <a:endParaRPr lang="en-US" sz="1100" dirty="0"/>
          </a:p>
          <a:p>
            <a:pPr marL="0" indent="0" algn="ctr">
              <a:buNone/>
            </a:pPr>
            <a:r>
              <a:rPr lang="en-US" sz="1100" b="1" dirty="0">
                <a:solidFill>
                  <a:srgbClr val="F5F7FA"/>
                </a:solidFill>
              </a:rPr>
              <a:t>Step Functions</a:t>
            </a:r>
            <a:endParaRPr lang="en-US" sz="1100" dirty="0"/>
          </a:p>
        </p:txBody>
      </p:sp>
      <p:sp>
        <p:nvSpPr>
          <p:cNvPr id="15" name="Text 13"/>
          <p:cNvSpPr/>
          <p:nvPr/>
        </p:nvSpPr>
        <p:spPr>
          <a:xfrm>
            <a:off x="9765792" y="1536192"/>
            <a:ext cx="1554480" cy="932688"/>
          </a:xfrm>
          <a:prstGeom prst="roundRect">
            <a:avLst>
              <a:gd name="adj" fmla="val 7843"/>
            </a:avLst>
          </a:prstGeom>
          <a:solidFill>
            <a:srgbClr val="071A2D"/>
          </a:solidFill>
          <a:ln w="13970">
            <a:solidFill>
              <a:srgbClr val="B68CFF"/>
            </a:solidFill>
          </a:ln>
        </p:spPr>
        <p:txBody>
          <a:bodyPr wrap="square" lIns="1016" tIns="1016" rIns="1016" bIns="1016" rtlCol="0" anchor="ctr">
            <a:normAutofit/>
          </a:bodyPr>
          <a:lstStyle/>
          <a:p>
            <a:pPr marL="0" indent="0" algn="ctr">
              <a:buNone/>
            </a:pPr>
            <a:r>
              <a:rPr lang="en-US" sz="1100" b="1" dirty="0">
                <a:solidFill>
                  <a:srgbClr val="F5F7FA"/>
                </a:solidFill>
              </a:rPr>
              <a:t>AI</a:t>
            </a:r>
            <a:endParaRPr lang="en-US" sz="1100" dirty="0"/>
          </a:p>
          <a:p>
            <a:pPr marL="0" indent="0" algn="ctr">
              <a:buNone/>
            </a:pPr>
            <a:r>
              <a:rPr lang="en-US" sz="1100" b="1" dirty="0">
                <a:solidFill>
                  <a:srgbClr val="F5F7FA"/>
                </a:solidFill>
              </a:rPr>
              <a:t>Bedrock + Transcribe</a:t>
            </a:r>
            <a:endParaRPr lang="en-US" sz="1100" dirty="0"/>
          </a:p>
        </p:txBody>
      </p:sp>
      <p:sp>
        <p:nvSpPr>
          <p:cNvPr id="16" name="Text 14"/>
          <p:cNvSpPr/>
          <p:nvPr/>
        </p:nvSpPr>
        <p:spPr>
          <a:xfrm>
            <a:off x="3968496" y="3584448"/>
            <a:ext cx="1627632" cy="932688"/>
          </a:xfrm>
          <a:prstGeom prst="roundRect">
            <a:avLst>
              <a:gd name="adj" fmla="val 7843"/>
            </a:avLst>
          </a:prstGeom>
          <a:solidFill>
            <a:srgbClr val="0B1828"/>
          </a:solidFill>
          <a:ln w="13970">
            <a:solidFill>
              <a:srgbClr val="FFD65A"/>
            </a:solidFill>
          </a:ln>
        </p:spPr>
        <p:txBody>
          <a:bodyPr wrap="square" lIns="1016" tIns="1016" rIns="1016" bIns="1016" rtlCol="0" anchor="ctr">
            <a:normAutofit/>
          </a:bodyPr>
          <a:lstStyle/>
          <a:p>
            <a:pPr marL="0" indent="0" algn="ctr">
              <a:buNone/>
            </a:pPr>
            <a:r>
              <a:rPr lang="en-US" sz="1100" b="1" dirty="0">
                <a:solidFill>
                  <a:srgbClr val="F5F7FA"/>
                </a:solidFill>
              </a:rPr>
              <a:t>Queues</a:t>
            </a:r>
            <a:endParaRPr lang="en-US" sz="1100" dirty="0"/>
          </a:p>
          <a:p>
            <a:pPr marL="0" indent="0" algn="ctr">
              <a:buNone/>
            </a:pPr>
            <a:r>
              <a:rPr lang="en-US" sz="1100" b="1" dirty="0">
                <a:solidFill>
                  <a:srgbClr val="F5F7FA"/>
                </a:solidFill>
              </a:rPr>
              <a:t>SQS FIFO + DLQ</a:t>
            </a:r>
            <a:endParaRPr lang="en-US" sz="1100" dirty="0"/>
          </a:p>
        </p:txBody>
      </p:sp>
      <p:sp>
        <p:nvSpPr>
          <p:cNvPr id="17" name="Text 15"/>
          <p:cNvSpPr/>
          <p:nvPr/>
        </p:nvSpPr>
        <p:spPr>
          <a:xfrm>
            <a:off x="6400800" y="3584448"/>
            <a:ext cx="1783080" cy="932688"/>
          </a:xfrm>
          <a:prstGeom prst="roundRect">
            <a:avLst>
              <a:gd name="adj" fmla="val 7843"/>
            </a:avLst>
          </a:prstGeom>
          <a:solidFill>
            <a:srgbClr val="0B1828"/>
          </a:solidFill>
          <a:ln w="13970">
            <a:solidFill>
              <a:srgbClr val="B68CFF"/>
            </a:solidFill>
          </a:ln>
        </p:spPr>
        <p:txBody>
          <a:bodyPr wrap="square" lIns="1016" tIns="1016" rIns="1016" bIns="1016" rtlCol="0" anchor="ctr">
            <a:normAutofit/>
          </a:bodyPr>
          <a:lstStyle/>
          <a:p>
            <a:pPr marL="0" indent="0" algn="ctr">
              <a:buNone/>
            </a:pPr>
            <a:r>
              <a:rPr lang="en-US" sz="1100" b="1" dirty="0">
                <a:solidFill>
                  <a:srgbClr val="F5F7FA"/>
                </a:solidFill>
              </a:rPr>
              <a:t>Evaluation</a:t>
            </a:r>
            <a:endParaRPr lang="en-US" sz="1100" dirty="0"/>
          </a:p>
          <a:p>
            <a:pPr marL="0" indent="0" algn="ctr">
              <a:buNone/>
            </a:pPr>
            <a:r>
              <a:rPr lang="en-US" sz="1100" b="1" dirty="0">
                <a:solidFill>
                  <a:srgbClr val="F5F7FA"/>
                </a:solidFill>
              </a:rPr>
              <a:t>ECS Fargate Spot and </a:t>
            </a:r>
            <a:r>
              <a:rPr lang="en-US" sz="1100" b="1" dirty="0" err="1">
                <a:solidFill>
                  <a:srgbClr val="F5F7FA"/>
                </a:solidFill>
              </a:rPr>
              <a:t>AgentCore</a:t>
            </a:r>
            <a:endParaRPr lang="en-US" sz="1100" dirty="0"/>
          </a:p>
        </p:txBody>
      </p:sp>
      <p:sp>
        <p:nvSpPr>
          <p:cNvPr id="18" name="Text 16"/>
          <p:cNvSpPr/>
          <p:nvPr/>
        </p:nvSpPr>
        <p:spPr>
          <a:xfrm>
            <a:off x="8979408" y="3584448"/>
            <a:ext cx="1645920" cy="932688"/>
          </a:xfrm>
          <a:prstGeom prst="roundRect">
            <a:avLst>
              <a:gd name="adj" fmla="val 7843"/>
            </a:avLst>
          </a:prstGeom>
          <a:solidFill>
            <a:srgbClr val="0B1828"/>
          </a:solidFill>
          <a:ln w="13970">
            <a:solidFill>
              <a:srgbClr val="59D08F"/>
            </a:solidFill>
          </a:ln>
        </p:spPr>
        <p:txBody>
          <a:bodyPr wrap="square" lIns="1016" tIns="1016" rIns="1016" bIns="1016" rtlCol="0" anchor="ctr">
            <a:normAutofit/>
          </a:bodyPr>
          <a:lstStyle/>
          <a:p>
            <a:pPr marL="0" indent="0" algn="ctr">
              <a:buNone/>
            </a:pPr>
            <a:r>
              <a:rPr lang="en-US" sz="1100" b="1" dirty="0">
                <a:solidFill>
                  <a:srgbClr val="F5F7FA"/>
                </a:solidFill>
              </a:rPr>
              <a:t>Output</a:t>
            </a:r>
            <a:endParaRPr lang="en-US" sz="1100" dirty="0"/>
          </a:p>
          <a:p>
            <a:pPr marL="0" indent="0" algn="ctr">
              <a:buNone/>
            </a:pPr>
            <a:r>
              <a:rPr lang="en-US" sz="1100" b="1" dirty="0">
                <a:solidFill>
                  <a:srgbClr val="F5F7FA"/>
                </a:solidFill>
              </a:rPr>
              <a:t>PDF report in S3</a:t>
            </a:r>
            <a:endParaRPr lang="en-US" sz="1100" dirty="0"/>
          </a:p>
        </p:txBody>
      </p:sp>
      <p:sp>
        <p:nvSpPr>
          <p:cNvPr id="19" name="Shape 17"/>
          <p:cNvSpPr/>
          <p:nvPr/>
        </p:nvSpPr>
        <p:spPr>
          <a:xfrm>
            <a:off x="8183880" y="4050792"/>
            <a:ext cx="795528" cy="0"/>
          </a:xfrm>
          <a:prstGeom prst="line">
            <a:avLst/>
          </a:prstGeom>
          <a:noFill/>
          <a:ln w="22860">
            <a:solidFill>
              <a:srgbClr val="B68CFF"/>
            </a:solidFill>
            <a:prstDash val="solid"/>
            <a:headEnd type="none"/>
            <a:tailEnd type="triangle"/>
          </a:ln>
        </p:spPr>
        <p:txBody>
          <a:bodyPr/>
          <a:lstStyle/>
          <a:p>
            <a:endParaRPr lang="en-US"/>
          </a:p>
        </p:txBody>
      </p:sp>
      <p:sp>
        <p:nvSpPr>
          <p:cNvPr id="20" name="Text 18"/>
          <p:cNvSpPr/>
          <p:nvPr/>
        </p:nvSpPr>
        <p:spPr>
          <a:xfrm>
            <a:off x="731520" y="5065776"/>
            <a:ext cx="3383280" cy="329184"/>
          </a:xfrm>
          <a:prstGeom prst="rect">
            <a:avLst/>
          </a:prstGeom>
          <a:noFill/>
          <a:ln/>
        </p:spPr>
        <p:txBody>
          <a:bodyPr wrap="square" lIns="254" tIns="254" rIns="254" bIns="254" rtlCol="0" anchor="t">
            <a:normAutofit/>
          </a:bodyPr>
          <a:lstStyle/>
          <a:p>
            <a:pPr marL="0" indent="0" algn="l">
              <a:buNone/>
            </a:pPr>
            <a:r>
              <a:rPr lang="en-US" sz="1350" b="1" dirty="0">
                <a:solidFill>
                  <a:srgbClr val="59C4FF"/>
                </a:solidFill>
              </a:rPr>
              <a:t>Why this is a good MVP architecture</a:t>
            </a:r>
            <a:endParaRPr lang="en-US" sz="1350" dirty="0"/>
          </a:p>
        </p:txBody>
      </p:sp>
      <p:sp>
        <p:nvSpPr>
          <p:cNvPr id="21" name="Text 19"/>
          <p:cNvSpPr/>
          <p:nvPr/>
        </p:nvSpPr>
        <p:spPr>
          <a:xfrm>
            <a:off x="731520" y="5431536"/>
            <a:ext cx="4663440" cy="749808"/>
          </a:xfrm>
          <a:prstGeom prst="rect">
            <a:avLst/>
          </a:prstGeom>
          <a:noFill/>
          <a:ln/>
        </p:spPr>
        <p:txBody>
          <a:bodyPr wrap="square" lIns="635" tIns="635" rIns="635" bIns="635" rtlCol="0" anchor="ctr">
            <a:normAutofit fontScale="77500" lnSpcReduction="20000"/>
          </a:bodyPr>
          <a:lstStyle/>
          <a:p>
            <a:r>
              <a:rPr lang="en-US" sz="1080" dirty="0">
                <a:solidFill>
                  <a:srgbClr val="B2BAC8"/>
                </a:solidFill>
              </a:rPr>
              <a:t>Files never pass through Lambda
</a:t>
            </a:r>
            <a:endParaRPr lang="en-US" sz="1080" dirty="0"/>
          </a:p>
          <a:p>
            <a:r>
              <a:rPr lang="en-US" sz="1080" dirty="0">
                <a:solidFill>
                  <a:srgbClr val="B2BAC8"/>
                </a:solidFill>
              </a:rPr>
              <a:t>Async processing gives back-pressure
</a:t>
            </a:r>
            <a:endParaRPr lang="en-US" sz="1080" dirty="0"/>
          </a:p>
          <a:p>
            <a:r>
              <a:rPr lang="en-US" sz="1080" dirty="0">
                <a:solidFill>
                  <a:srgbClr val="B2BAC8"/>
                </a:solidFill>
              </a:rPr>
              <a:t>Feature flags allow runtime tuning
</a:t>
            </a:r>
            <a:endParaRPr lang="en-US" sz="1080" dirty="0"/>
          </a:p>
          <a:p>
            <a:r>
              <a:rPr lang="en-US" sz="1080" dirty="0">
                <a:solidFill>
                  <a:srgbClr val="B2BAC8"/>
                </a:solidFill>
              </a:rPr>
              <a:t>Least-privilege IAM can be reviewed per work unit</a:t>
            </a:r>
            <a:endParaRPr lang="en-US" sz="1080" dirty="0"/>
          </a:p>
        </p:txBody>
      </p:sp>
      <p:sp>
        <p:nvSpPr>
          <p:cNvPr id="22" name="Text 20"/>
          <p:cNvSpPr/>
          <p:nvPr/>
        </p:nvSpPr>
        <p:spPr>
          <a:xfrm>
            <a:off x="5833872" y="5065776"/>
            <a:ext cx="3840480" cy="329184"/>
          </a:xfrm>
          <a:prstGeom prst="rect">
            <a:avLst/>
          </a:prstGeom>
          <a:noFill/>
          <a:ln/>
        </p:spPr>
        <p:txBody>
          <a:bodyPr wrap="square" lIns="254" tIns="254" rIns="254" bIns="254" rtlCol="0" anchor="t">
            <a:normAutofit/>
          </a:bodyPr>
          <a:lstStyle/>
          <a:p>
            <a:pPr marL="0" indent="0" algn="l">
              <a:buNone/>
            </a:pPr>
            <a:r>
              <a:rPr lang="en-US" sz="1350" b="1" dirty="0">
                <a:solidFill>
                  <a:srgbClr val="FFD65A"/>
                </a:solidFill>
              </a:rPr>
              <a:t>What I would challenge before production</a:t>
            </a:r>
            <a:endParaRPr lang="en-US" sz="1350" dirty="0"/>
          </a:p>
        </p:txBody>
      </p:sp>
      <p:sp>
        <p:nvSpPr>
          <p:cNvPr id="23" name="Text 21"/>
          <p:cNvSpPr/>
          <p:nvPr/>
        </p:nvSpPr>
        <p:spPr>
          <a:xfrm>
            <a:off x="5833872" y="5431536"/>
            <a:ext cx="4937760" cy="749808"/>
          </a:xfrm>
          <a:prstGeom prst="rect">
            <a:avLst/>
          </a:prstGeom>
          <a:noFill/>
          <a:ln/>
        </p:spPr>
        <p:txBody>
          <a:bodyPr wrap="square" lIns="635" tIns="635" rIns="635" bIns="635" rtlCol="0" anchor="ctr">
            <a:normAutofit fontScale="77500" lnSpcReduction="20000"/>
          </a:bodyPr>
          <a:lstStyle/>
          <a:p>
            <a:r>
              <a:rPr lang="en-US" sz="1080" dirty="0">
                <a:solidFill>
                  <a:srgbClr val="B2BAC8"/>
                </a:solidFill>
              </a:rPr>
              <a:t>Model quotas and throttling behavior
</a:t>
            </a:r>
            <a:endParaRPr lang="en-US" sz="1080" dirty="0"/>
          </a:p>
          <a:p>
            <a:r>
              <a:rPr lang="en-US" sz="1080" dirty="0">
                <a:solidFill>
                  <a:srgbClr val="B2BAC8"/>
                </a:solidFill>
              </a:rPr>
              <a:t>Regional failure stance and user-pool strategy
</a:t>
            </a:r>
            <a:endParaRPr lang="en-US" sz="1080" dirty="0"/>
          </a:p>
          <a:p>
            <a:r>
              <a:rPr lang="en-US" sz="1080" dirty="0">
                <a:solidFill>
                  <a:srgbClr val="B2BAC8"/>
                </a:solidFill>
              </a:rPr>
              <a:t>PII retention and report lifecycle policy
</a:t>
            </a:r>
            <a:endParaRPr lang="en-US" sz="1080" dirty="0"/>
          </a:p>
          <a:p>
            <a:r>
              <a:rPr lang="en-US" sz="1080" dirty="0">
                <a:solidFill>
                  <a:srgbClr val="B2BAC8"/>
                </a:solidFill>
              </a:rPr>
              <a:t>Evaluation result explainability and traceability</a:t>
            </a:r>
            <a:endParaRPr lang="en-US" sz="1080" dirty="0"/>
          </a:p>
        </p:txBody>
      </p:sp>
      <p:sp>
        <p:nvSpPr>
          <p:cNvPr id="24" name="Text 22"/>
          <p:cNvSpPr/>
          <p:nvPr/>
        </p:nvSpPr>
        <p:spPr>
          <a:xfrm>
            <a:off x="566928" y="6327648"/>
            <a:ext cx="10378440" cy="219456"/>
          </a:xfrm>
          <a:prstGeom prst="rect">
            <a:avLst/>
          </a:prstGeom>
          <a:noFill/>
          <a:ln/>
        </p:spPr>
        <p:txBody>
          <a:bodyPr wrap="square" lIns="0" tIns="0" rIns="0" bIns="0" rtlCol="0" anchor="ctr">
            <a:normAutofit/>
          </a:bodyPr>
          <a:lstStyle/>
          <a:p>
            <a:pPr marL="0" indent="0">
              <a:buNone/>
            </a:pPr>
            <a:r>
              <a:rPr lang="en-US" sz="850" dirty="0">
                <a:solidFill>
                  <a:srgbClr val="7E8796"/>
                </a:solidFill>
              </a:rPr>
              <a:t>Architecture summarizes services described in project overview, flow, and retrospective.</a:t>
            </a:r>
            <a:endParaRPr lang="en-US" sz="8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a:effectLst/>
      </p:bgPr>
    </p:bg>
    <p:spTree>
      <p:nvGrpSpPr>
        <p:cNvPr id="1" name=""/>
        <p:cNvGrpSpPr/>
        <p:nvPr/>
      </p:nvGrpSpPr>
      <p:grpSpPr>
        <a:xfrm>
          <a:off x="0" y="0"/>
          <a:ext cx="0" cy="0"/>
          <a:chOff x="0" y="0"/>
          <a:chExt cx="0" cy="0"/>
        </a:xfrm>
      </p:grpSpPr>
      <p:sp>
        <p:nvSpPr>
          <p:cNvPr id="39" name="Oval 38">
            <a:extLst>
              <a:ext uri="{FF2B5EF4-FFF2-40B4-BE49-F238E27FC236}">
                <a16:creationId xmlns:a16="http://schemas.microsoft.com/office/drawing/2014/main" id="{EDEBE3A7-B248-1C7B-1EEF-80BB730D8A0F}"/>
              </a:ext>
            </a:extLst>
          </p:cNvPr>
          <p:cNvSpPr/>
          <p:nvPr/>
        </p:nvSpPr>
        <p:spPr>
          <a:xfrm>
            <a:off x="3295964" y="2737463"/>
            <a:ext cx="5478152" cy="3096589"/>
          </a:xfrm>
          <a:prstGeom prst="ellipse">
            <a:avLst/>
          </a:prstGeom>
          <a:noFill/>
          <a:ln w="762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AI EVALUATION</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a:bodyPr>
          <a:lstStyle/>
          <a:p>
            <a:pPr marL="0" indent="0">
              <a:buNone/>
            </a:pPr>
            <a:r>
              <a:rPr lang="en-US" sz="2950" b="1" dirty="0">
                <a:solidFill>
                  <a:srgbClr val="F5F7FA"/>
                </a:solidFill>
              </a:rPr>
              <a:t>The agentic layer is composable by design</a:t>
            </a:r>
            <a:endParaRPr lang="en-US" sz="2950" dirty="0"/>
          </a:p>
        </p:txBody>
      </p:sp>
      <p:sp>
        <p:nvSpPr>
          <p:cNvPr id="4" name="Text 2"/>
          <p:cNvSpPr/>
          <p:nvPr/>
        </p:nvSpPr>
        <p:spPr>
          <a:xfrm>
            <a:off x="621792" y="1234440"/>
            <a:ext cx="9784080" cy="475488"/>
          </a:xfrm>
          <a:prstGeom prst="rect">
            <a:avLst/>
          </a:prstGeom>
          <a:noFill/>
          <a:ln/>
        </p:spPr>
        <p:txBody>
          <a:bodyPr wrap="square" lIns="254" tIns="254" rIns="254" bIns="254" rtlCol="0" anchor="t">
            <a:normAutofit lnSpcReduction="10000"/>
          </a:bodyPr>
          <a:lstStyle/>
          <a:p>
            <a:pPr marL="0" indent="0" algn="l">
              <a:buNone/>
            </a:pPr>
            <a:r>
              <a:rPr lang="en-US" sz="1640" dirty="0">
                <a:solidFill>
                  <a:srgbClr val="B2BAC8"/>
                </a:solidFill>
              </a:rPr>
              <a:t>This is the part that justifies an agentic approach. The value comes from multiple independent lenses reviewing the same asset, not from one big prompt pretending to be a committee.</a:t>
            </a:r>
            <a:endParaRPr lang="en-US" sz="1640" dirty="0"/>
          </a:p>
        </p:txBody>
      </p:sp>
      <p:sp>
        <p:nvSpPr>
          <p:cNvPr id="5" name="Text 3"/>
          <p:cNvSpPr/>
          <p:nvPr/>
        </p:nvSpPr>
        <p:spPr>
          <a:xfrm>
            <a:off x="5048025" y="3740794"/>
            <a:ext cx="2029968" cy="932688"/>
          </a:xfrm>
          <a:prstGeom prst="roundRect">
            <a:avLst>
              <a:gd name="adj" fmla="val 7843"/>
            </a:avLst>
          </a:prstGeom>
          <a:solidFill>
            <a:srgbClr val="2F9BFF"/>
          </a:solidFill>
          <a:ln w="13970">
            <a:solidFill>
              <a:srgbClr val="2F9BFF"/>
            </a:solidFill>
          </a:ln>
        </p:spPr>
        <p:txBody>
          <a:bodyPr wrap="square" lIns="1016" tIns="1016" rIns="1016" bIns="1016" rtlCol="0" anchor="ctr">
            <a:normAutofit/>
          </a:bodyPr>
          <a:lstStyle/>
          <a:p>
            <a:pPr algn="ctr"/>
            <a:r>
              <a:rPr lang="en-US" sz="1600" b="1" dirty="0">
                <a:solidFill>
                  <a:srgbClr val="03101D"/>
                </a:solidFill>
              </a:rPr>
              <a:t>Coaching</a:t>
            </a:r>
          </a:p>
          <a:p>
            <a:pPr algn="ctr"/>
            <a:r>
              <a:rPr lang="en-US" sz="1600" b="1" dirty="0">
                <a:solidFill>
                  <a:srgbClr val="03101D"/>
                </a:solidFill>
              </a:rPr>
              <a:t>Supervisor</a:t>
            </a:r>
          </a:p>
        </p:txBody>
      </p:sp>
      <p:sp>
        <p:nvSpPr>
          <p:cNvPr id="6" name="Text 4"/>
          <p:cNvSpPr/>
          <p:nvPr/>
        </p:nvSpPr>
        <p:spPr>
          <a:xfrm>
            <a:off x="3026664" y="3311025"/>
            <a:ext cx="1444752" cy="621792"/>
          </a:xfrm>
          <a:prstGeom prst="roundRect">
            <a:avLst>
              <a:gd name="adj" fmla="val 11765"/>
            </a:avLst>
          </a:prstGeom>
          <a:solidFill>
            <a:srgbClr val="0B1828"/>
          </a:solidFill>
          <a:ln w="13970">
            <a:solidFill>
              <a:srgbClr val="59C4FF"/>
            </a:solidFill>
          </a:ln>
        </p:spPr>
        <p:txBody>
          <a:bodyPr wrap="square" lIns="1016" tIns="1016" rIns="1016" bIns="1016" rtlCol="0" anchor="ctr">
            <a:normAutofit/>
          </a:bodyPr>
          <a:lstStyle/>
          <a:p>
            <a:pPr marL="0" indent="0" algn="ctr">
              <a:buNone/>
            </a:pPr>
            <a:r>
              <a:rPr lang="en-US" sz="1050" b="1" dirty="0">
                <a:solidFill>
                  <a:srgbClr val="F5F7FA"/>
                </a:solidFill>
              </a:rPr>
              <a:t>Delivery</a:t>
            </a:r>
            <a:endParaRPr lang="en-US" sz="1050" dirty="0"/>
          </a:p>
        </p:txBody>
      </p:sp>
      <p:sp>
        <p:nvSpPr>
          <p:cNvPr id="7" name="Text 5"/>
          <p:cNvSpPr/>
          <p:nvPr/>
        </p:nvSpPr>
        <p:spPr>
          <a:xfrm>
            <a:off x="2921508" y="4633230"/>
            <a:ext cx="1444752" cy="621792"/>
          </a:xfrm>
          <a:prstGeom prst="roundRect">
            <a:avLst>
              <a:gd name="adj" fmla="val 11765"/>
            </a:avLst>
          </a:prstGeom>
          <a:solidFill>
            <a:srgbClr val="0B1828"/>
          </a:solidFill>
          <a:ln w="13970">
            <a:solidFill>
              <a:srgbClr val="59D08F"/>
            </a:solidFill>
          </a:ln>
        </p:spPr>
        <p:txBody>
          <a:bodyPr wrap="square" lIns="1016" tIns="1016" rIns="1016" bIns="1016" rtlCol="0" anchor="ctr">
            <a:normAutofit/>
          </a:bodyPr>
          <a:lstStyle/>
          <a:p>
            <a:pPr marL="0" indent="0" algn="ctr">
              <a:buNone/>
            </a:pPr>
            <a:r>
              <a:rPr lang="en-US" sz="1050" b="1" dirty="0">
                <a:solidFill>
                  <a:srgbClr val="F5F7FA"/>
                </a:solidFill>
              </a:rPr>
              <a:t>Structure</a:t>
            </a:r>
            <a:endParaRPr lang="en-US" sz="1050" dirty="0"/>
          </a:p>
        </p:txBody>
      </p:sp>
      <p:sp>
        <p:nvSpPr>
          <p:cNvPr id="8" name="Text 6"/>
          <p:cNvSpPr/>
          <p:nvPr/>
        </p:nvSpPr>
        <p:spPr>
          <a:xfrm>
            <a:off x="4590288" y="5663543"/>
            <a:ext cx="1444752" cy="621792"/>
          </a:xfrm>
          <a:prstGeom prst="roundRect">
            <a:avLst>
              <a:gd name="adj" fmla="val 11765"/>
            </a:avLst>
          </a:prstGeom>
          <a:solidFill>
            <a:srgbClr val="0B1828"/>
          </a:solidFill>
          <a:ln w="13970">
            <a:solidFill>
              <a:srgbClr val="FFD65A"/>
            </a:solidFill>
          </a:ln>
        </p:spPr>
        <p:txBody>
          <a:bodyPr wrap="square" lIns="1016" tIns="1016" rIns="1016" bIns="1016" rtlCol="0" anchor="ctr">
            <a:normAutofit/>
          </a:bodyPr>
          <a:lstStyle/>
          <a:p>
            <a:pPr marL="0" indent="0" algn="ctr">
              <a:buNone/>
            </a:pPr>
            <a:r>
              <a:rPr lang="en-US" sz="1050" b="1" dirty="0">
                <a:solidFill>
                  <a:srgbClr val="F5F7FA"/>
                </a:solidFill>
              </a:rPr>
              <a:t>Exec</a:t>
            </a:r>
            <a:endParaRPr lang="en-US" sz="1050" dirty="0"/>
          </a:p>
          <a:p>
            <a:pPr marL="0" indent="0" algn="ctr">
              <a:buNone/>
            </a:pPr>
            <a:r>
              <a:rPr lang="en-US" sz="1050" b="1" dirty="0">
                <a:solidFill>
                  <a:srgbClr val="F5F7FA"/>
                </a:solidFill>
              </a:rPr>
              <a:t>Presence</a:t>
            </a:r>
            <a:endParaRPr lang="en-US" sz="1050" dirty="0"/>
          </a:p>
        </p:txBody>
      </p:sp>
      <p:sp>
        <p:nvSpPr>
          <p:cNvPr id="9" name="Text 7"/>
          <p:cNvSpPr/>
          <p:nvPr/>
        </p:nvSpPr>
        <p:spPr>
          <a:xfrm>
            <a:off x="6583680" y="5663543"/>
            <a:ext cx="1444752" cy="621792"/>
          </a:xfrm>
          <a:prstGeom prst="roundRect">
            <a:avLst>
              <a:gd name="adj" fmla="val 11765"/>
            </a:avLst>
          </a:prstGeom>
          <a:solidFill>
            <a:srgbClr val="0B1828"/>
          </a:solidFill>
          <a:ln w="13970">
            <a:solidFill>
              <a:srgbClr val="FF9B55"/>
            </a:solidFill>
          </a:ln>
        </p:spPr>
        <p:txBody>
          <a:bodyPr wrap="square" lIns="1016" tIns="1016" rIns="1016" bIns="1016" rtlCol="0" anchor="ctr">
            <a:normAutofit/>
          </a:bodyPr>
          <a:lstStyle/>
          <a:p>
            <a:pPr marL="0" indent="0" algn="ctr">
              <a:buNone/>
            </a:pPr>
            <a:r>
              <a:rPr lang="en-US" sz="1050" b="1" dirty="0">
                <a:solidFill>
                  <a:srgbClr val="F5F7FA"/>
                </a:solidFill>
              </a:rPr>
              <a:t>Technical</a:t>
            </a:r>
            <a:endParaRPr lang="en-US" sz="1050" dirty="0"/>
          </a:p>
          <a:p>
            <a:pPr marL="0" indent="0" algn="ctr">
              <a:buNone/>
            </a:pPr>
            <a:r>
              <a:rPr lang="en-US" sz="1050" b="1" dirty="0">
                <a:solidFill>
                  <a:srgbClr val="F5F7FA"/>
                </a:solidFill>
              </a:rPr>
              <a:t>Communication</a:t>
            </a:r>
            <a:endParaRPr lang="en-US" sz="1050" dirty="0"/>
          </a:p>
        </p:txBody>
      </p:sp>
      <p:sp>
        <p:nvSpPr>
          <p:cNvPr id="10" name="Text 8"/>
          <p:cNvSpPr/>
          <p:nvPr/>
        </p:nvSpPr>
        <p:spPr>
          <a:xfrm>
            <a:off x="8028432" y="4633230"/>
            <a:ext cx="1444752" cy="621792"/>
          </a:xfrm>
          <a:prstGeom prst="roundRect">
            <a:avLst>
              <a:gd name="adj" fmla="val 11765"/>
            </a:avLst>
          </a:prstGeom>
          <a:solidFill>
            <a:srgbClr val="0B1828"/>
          </a:solidFill>
          <a:ln w="13970">
            <a:solidFill>
              <a:srgbClr val="B68CFF"/>
            </a:solidFill>
          </a:ln>
        </p:spPr>
        <p:txBody>
          <a:bodyPr wrap="square" lIns="1016" tIns="1016" rIns="1016" bIns="1016" rtlCol="0" anchor="ctr">
            <a:normAutofit/>
          </a:bodyPr>
          <a:lstStyle/>
          <a:p>
            <a:pPr marL="0" indent="0" algn="ctr">
              <a:buNone/>
            </a:pPr>
            <a:r>
              <a:rPr lang="en-US" sz="1050" b="1" dirty="0">
                <a:solidFill>
                  <a:srgbClr val="F5F7FA"/>
                </a:solidFill>
              </a:rPr>
              <a:t>Audience</a:t>
            </a:r>
            <a:endParaRPr lang="en-US" sz="1050" dirty="0"/>
          </a:p>
          <a:p>
            <a:pPr marL="0" indent="0" algn="ctr">
              <a:buNone/>
            </a:pPr>
            <a:r>
              <a:rPr lang="en-US" sz="1050" b="1" dirty="0">
                <a:solidFill>
                  <a:srgbClr val="F5F7FA"/>
                </a:solidFill>
              </a:rPr>
              <a:t>Engagement</a:t>
            </a:r>
            <a:endParaRPr lang="en-US" sz="1050" dirty="0"/>
          </a:p>
        </p:txBody>
      </p:sp>
      <p:sp>
        <p:nvSpPr>
          <p:cNvPr id="11" name="Text 9"/>
          <p:cNvSpPr/>
          <p:nvPr/>
        </p:nvSpPr>
        <p:spPr>
          <a:xfrm>
            <a:off x="7667334" y="3235811"/>
            <a:ext cx="1444752" cy="621792"/>
          </a:xfrm>
          <a:prstGeom prst="roundRect">
            <a:avLst>
              <a:gd name="adj" fmla="val 11765"/>
            </a:avLst>
          </a:prstGeom>
          <a:solidFill>
            <a:srgbClr val="0B1828"/>
          </a:solidFill>
          <a:ln w="13970">
            <a:solidFill>
              <a:srgbClr val="59C4FF"/>
            </a:solidFill>
          </a:ln>
        </p:spPr>
        <p:txBody>
          <a:bodyPr wrap="square" lIns="1016" tIns="1016" rIns="1016" bIns="1016" rtlCol="0" anchor="ctr">
            <a:normAutofit/>
          </a:bodyPr>
          <a:lstStyle/>
          <a:p>
            <a:pPr marL="0" indent="0" algn="ctr">
              <a:buNone/>
            </a:pPr>
            <a:r>
              <a:rPr lang="en-US" sz="1050" b="1" dirty="0">
                <a:solidFill>
                  <a:srgbClr val="F5F7FA"/>
                </a:solidFill>
              </a:rPr>
              <a:t>Pacing</a:t>
            </a:r>
            <a:endParaRPr lang="en-US" sz="1050" dirty="0"/>
          </a:p>
        </p:txBody>
      </p:sp>
      <p:sp>
        <p:nvSpPr>
          <p:cNvPr id="12" name="Text 10"/>
          <p:cNvSpPr/>
          <p:nvPr/>
        </p:nvSpPr>
        <p:spPr>
          <a:xfrm>
            <a:off x="5376672" y="2527151"/>
            <a:ext cx="1444752" cy="621792"/>
          </a:xfrm>
          <a:prstGeom prst="roundRect">
            <a:avLst>
              <a:gd name="adj" fmla="val 11765"/>
            </a:avLst>
          </a:prstGeom>
          <a:solidFill>
            <a:srgbClr val="0B1828"/>
          </a:solidFill>
          <a:ln w="13970">
            <a:solidFill>
              <a:srgbClr val="59D08F"/>
            </a:solidFill>
          </a:ln>
        </p:spPr>
        <p:txBody>
          <a:bodyPr wrap="square" lIns="1016" tIns="1016" rIns="1016" bIns="1016" rtlCol="0" anchor="ctr">
            <a:normAutofit/>
          </a:bodyPr>
          <a:lstStyle/>
          <a:p>
            <a:pPr marL="0" indent="0" algn="ctr">
              <a:buNone/>
            </a:pPr>
            <a:r>
              <a:rPr lang="en-US" sz="1050" b="1" dirty="0">
                <a:solidFill>
                  <a:srgbClr val="F5F7FA"/>
                </a:solidFill>
              </a:rPr>
              <a:t>Persuasion</a:t>
            </a:r>
            <a:endParaRPr lang="en-US" sz="1050" dirty="0"/>
          </a:p>
        </p:txBody>
      </p:sp>
      <p:sp>
        <p:nvSpPr>
          <p:cNvPr id="13" name="Text 11"/>
          <p:cNvSpPr/>
          <p:nvPr/>
        </p:nvSpPr>
        <p:spPr>
          <a:xfrm>
            <a:off x="1120140" y="1793927"/>
            <a:ext cx="3108960" cy="731520"/>
          </a:xfrm>
          <a:prstGeom prst="roundRect">
            <a:avLst>
              <a:gd name="adj" fmla="val 10000"/>
            </a:avLst>
          </a:prstGeom>
          <a:solidFill>
            <a:srgbClr val="0B1828"/>
          </a:solidFill>
          <a:ln w="13970">
            <a:solidFill>
              <a:srgbClr val="2F9BFF"/>
            </a:solidFill>
          </a:ln>
        </p:spPr>
        <p:txBody>
          <a:bodyPr wrap="square" lIns="1016" tIns="1016" rIns="1016" bIns="1016" rtlCol="0" anchor="ctr">
            <a:normAutofit/>
          </a:bodyPr>
          <a:lstStyle/>
          <a:p>
            <a:pPr marL="0" indent="0" algn="ctr">
              <a:buNone/>
            </a:pPr>
            <a:r>
              <a:rPr lang="en-US" sz="1150" dirty="0">
                <a:solidFill>
                  <a:srgbClr val="B2BAC8"/>
                </a:solidFill>
              </a:rPr>
              <a:t>Agent definitions live in a JSON manifest and can be enabled or disabled without code changes.</a:t>
            </a:r>
            <a:endParaRPr lang="en-US" sz="1150" dirty="0"/>
          </a:p>
        </p:txBody>
      </p:sp>
      <p:sp>
        <p:nvSpPr>
          <p:cNvPr id="14" name="Text 12"/>
          <p:cNvSpPr/>
          <p:nvPr/>
        </p:nvSpPr>
        <p:spPr>
          <a:xfrm>
            <a:off x="8247888" y="1786396"/>
            <a:ext cx="2697480" cy="731520"/>
          </a:xfrm>
          <a:prstGeom prst="roundRect">
            <a:avLst>
              <a:gd name="adj" fmla="val 10000"/>
            </a:avLst>
          </a:prstGeom>
          <a:solidFill>
            <a:srgbClr val="0B1828"/>
          </a:solidFill>
          <a:ln w="13970">
            <a:solidFill>
              <a:srgbClr val="59D08F"/>
            </a:solidFill>
          </a:ln>
        </p:spPr>
        <p:txBody>
          <a:bodyPr wrap="square" lIns="1016" tIns="1016" rIns="1016" bIns="1016" rtlCol="0" anchor="ctr">
            <a:normAutofit/>
          </a:bodyPr>
          <a:lstStyle/>
          <a:p>
            <a:pPr marL="0" indent="0" algn="ctr">
              <a:buNone/>
            </a:pPr>
            <a:r>
              <a:rPr lang="en-US" sz="1150" dirty="0">
                <a:solidFill>
                  <a:srgbClr val="B2BAC8"/>
                </a:solidFill>
              </a:rPr>
              <a:t>The report generator assembles structured results into a 10-18 page PDF coaching report.</a:t>
            </a:r>
            <a:endParaRPr lang="en-US" sz="11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COST AND SCALE</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a:bodyPr>
          <a:lstStyle/>
          <a:p>
            <a:pPr marL="0" indent="0">
              <a:buNone/>
            </a:pPr>
            <a:r>
              <a:rPr lang="en-US" sz="2950" b="1" dirty="0">
                <a:solidFill>
                  <a:srgbClr val="F5F7FA"/>
                </a:solidFill>
              </a:rPr>
              <a:t>The economics are exactly why serverless fits</a:t>
            </a:r>
            <a:endParaRPr lang="en-US" sz="2950" dirty="0"/>
          </a:p>
        </p:txBody>
      </p:sp>
      <p:sp>
        <p:nvSpPr>
          <p:cNvPr id="4" name="Text 2"/>
          <p:cNvSpPr/>
          <p:nvPr/>
        </p:nvSpPr>
        <p:spPr>
          <a:xfrm>
            <a:off x="621792" y="1325880"/>
            <a:ext cx="10506456" cy="640080"/>
          </a:xfrm>
          <a:prstGeom prst="rect">
            <a:avLst/>
          </a:prstGeom>
          <a:noFill/>
          <a:ln/>
        </p:spPr>
        <p:txBody>
          <a:bodyPr wrap="square" lIns="254" tIns="254" rIns="254" bIns="254" rtlCol="0" anchor="t">
            <a:noAutofit/>
          </a:bodyPr>
          <a:lstStyle/>
          <a:p>
            <a:pPr marL="0" indent="0" algn="l">
              <a:buNone/>
            </a:pPr>
            <a:r>
              <a:rPr lang="en-US" sz="1650" dirty="0">
                <a:solidFill>
                  <a:srgbClr val="B2BAC8"/>
                </a:solidFill>
              </a:rPr>
              <a:t>For spiky, early-stage usage, the cost goal is not “cheapest at theoretical peak.” It is “do not pay for infrastructure while product-market fit is still loading” but will scale economically as usage takes off.</a:t>
            </a:r>
            <a:endParaRPr lang="en-US" sz="1650" dirty="0"/>
          </a:p>
        </p:txBody>
      </p:sp>
      <p:sp>
        <p:nvSpPr>
          <p:cNvPr id="5" name="Text 3"/>
          <p:cNvSpPr/>
          <p:nvPr/>
        </p:nvSpPr>
        <p:spPr>
          <a:xfrm>
            <a:off x="868680" y="2705116"/>
            <a:ext cx="1508760" cy="256032"/>
          </a:xfrm>
          <a:prstGeom prst="rect">
            <a:avLst/>
          </a:prstGeom>
          <a:noFill/>
          <a:ln/>
        </p:spPr>
        <p:txBody>
          <a:bodyPr wrap="square" lIns="254" tIns="254" rIns="254" bIns="254" rtlCol="0" anchor="t">
            <a:normAutofit/>
          </a:bodyPr>
          <a:lstStyle/>
          <a:p>
            <a:pPr marL="0" indent="0" algn="l">
              <a:buNone/>
            </a:pPr>
            <a:r>
              <a:rPr lang="en-US" sz="1080" b="1" dirty="0">
                <a:solidFill>
                  <a:srgbClr val="F5F7FA"/>
                </a:solidFill>
              </a:rPr>
              <a:t>Demo / PoC</a:t>
            </a:r>
            <a:endParaRPr lang="en-US" sz="1080" dirty="0"/>
          </a:p>
        </p:txBody>
      </p:sp>
      <p:sp>
        <p:nvSpPr>
          <p:cNvPr id="6" name="Text 4"/>
          <p:cNvSpPr/>
          <p:nvPr/>
        </p:nvSpPr>
        <p:spPr>
          <a:xfrm>
            <a:off x="868680" y="2988580"/>
            <a:ext cx="1508760" cy="201168"/>
          </a:xfrm>
          <a:prstGeom prst="rect">
            <a:avLst/>
          </a:prstGeom>
          <a:noFill/>
          <a:ln/>
        </p:spPr>
        <p:txBody>
          <a:bodyPr wrap="square" lIns="254" tIns="254" rIns="254" bIns="254" rtlCol="0" anchor="t">
            <a:normAutofit/>
          </a:bodyPr>
          <a:lstStyle/>
          <a:p>
            <a:pPr marL="0" indent="0" algn="l">
              <a:buNone/>
            </a:pPr>
            <a:r>
              <a:rPr lang="en-US" sz="830" dirty="0">
                <a:solidFill>
                  <a:srgbClr val="7E8796"/>
                </a:solidFill>
              </a:rPr>
              <a:t>10/month</a:t>
            </a:r>
            <a:endParaRPr lang="en-US" sz="830" dirty="0"/>
          </a:p>
        </p:txBody>
      </p:sp>
      <p:sp>
        <p:nvSpPr>
          <p:cNvPr id="7" name="Shape 5"/>
          <p:cNvSpPr/>
          <p:nvPr/>
        </p:nvSpPr>
        <p:spPr>
          <a:xfrm>
            <a:off x="2423160" y="2750836"/>
            <a:ext cx="100584" cy="292608"/>
          </a:xfrm>
          <a:prstGeom prst="rect">
            <a:avLst/>
          </a:prstGeom>
          <a:solidFill>
            <a:srgbClr val="2F9BFF"/>
          </a:solidFill>
          <a:ln w="12700">
            <a:solidFill>
              <a:srgbClr val="2F9BFF">
                <a:alpha val="0"/>
              </a:srgbClr>
            </a:solidFill>
            <a:prstDash val="solid"/>
          </a:ln>
        </p:spPr>
        <p:txBody>
          <a:bodyPr/>
          <a:lstStyle/>
          <a:p>
            <a:endParaRPr lang="en-US"/>
          </a:p>
        </p:txBody>
      </p:sp>
      <p:sp>
        <p:nvSpPr>
          <p:cNvPr id="8" name="Text 6"/>
          <p:cNvSpPr/>
          <p:nvPr/>
        </p:nvSpPr>
        <p:spPr>
          <a:xfrm>
            <a:off x="2596896" y="2723404"/>
            <a:ext cx="749808" cy="256032"/>
          </a:xfrm>
          <a:prstGeom prst="rect">
            <a:avLst/>
          </a:prstGeom>
          <a:noFill/>
          <a:ln/>
        </p:spPr>
        <p:txBody>
          <a:bodyPr wrap="square" lIns="254" tIns="254" rIns="254" bIns="254" rtlCol="0" anchor="t">
            <a:normAutofit/>
          </a:bodyPr>
          <a:lstStyle/>
          <a:p>
            <a:pPr marL="0" indent="0" algn="l">
              <a:buNone/>
            </a:pPr>
            <a:r>
              <a:rPr lang="en-US" sz="1050" b="1" dirty="0">
                <a:solidFill>
                  <a:srgbClr val="59C4FF"/>
                </a:solidFill>
              </a:rPr>
              <a:t>$0.35</a:t>
            </a:r>
            <a:endParaRPr lang="en-US" sz="1050" dirty="0"/>
          </a:p>
        </p:txBody>
      </p:sp>
      <p:sp>
        <p:nvSpPr>
          <p:cNvPr id="9" name="Text 7"/>
          <p:cNvSpPr/>
          <p:nvPr/>
        </p:nvSpPr>
        <p:spPr>
          <a:xfrm>
            <a:off x="868680" y="3528076"/>
            <a:ext cx="1508760" cy="256032"/>
          </a:xfrm>
          <a:prstGeom prst="rect">
            <a:avLst/>
          </a:prstGeom>
          <a:noFill/>
          <a:ln/>
        </p:spPr>
        <p:txBody>
          <a:bodyPr wrap="square" lIns="254" tIns="254" rIns="254" bIns="254" rtlCol="0" anchor="t">
            <a:normAutofit/>
          </a:bodyPr>
          <a:lstStyle/>
          <a:p>
            <a:pPr marL="0" indent="0" algn="l">
              <a:buNone/>
            </a:pPr>
            <a:r>
              <a:rPr lang="en-US" sz="1080" b="1" dirty="0">
                <a:solidFill>
                  <a:srgbClr val="F5F7FA"/>
                </a:solidFill>
              </a:rPr>
              <a:t>Regular use</a:t>
            </a:r>
            <a:endParaRPr lang="en-US" sz="1080" dirty="0"/>
          </a:p>
        </p:txBody>
      </p:sp>
      <p:sp>
        <p:nvSpPr>
          <p:cNvPr id="10" name="Text 8"/>
          <p:cNvSpPr/>
          <p:nvPr/>
        </p:nvSpPr>
        <p:spPr>
          <a:xfrm>
            <a:off x="868680" y="3811540"/>
            <a:ext cx="1508760" cy="201168"/>
          </a:xfrm>
          <a:prstGeom prst="rect">
            <a:avLst/>
          </a:prstGeom>
          <a:noFill/>
          <a:ln/>
        </p:spPr>
        <p:txBody>
          <a:bodyPr wrap="square" lIns="254" tIns="254" rIns="254" bIns="254" rtlCol="0" anchor="t">
            <a:normAutofit/>
          </a:bodyPr>
          <a:lstStyle/>
          <a:p>
            <a:pPr marL="0" indent="0" algn="l">
              <a:buNone/>
            </a:pPr>
            <a:r>
              <a:rPr lang="en-US" sz="830" dirty="0">
                <a:solidFill>
                  <a:srgbClr val="7E8796"/>
                </a:solidFill>
              </a:rPr>
              <a:t>500/month</a:t>
            </a:r>
            <a:endParaRPr lang="en-US" sz="830" dirty="0"/>
          </a:p>
        </p:txBody>
      </p:sp>
      <p:sp>
        <p:nvSpPr>
          <p:cNvPr id="11" name="Shape 9"/>
          <p:cNvSpPr/>
          <p:nvPr/>
        </p:nvSpPr>
        <p:spPr>
          <a:xfrm>
            <a:off x="2423160" y="3573796"/>
            <a:ext cx="306178" cy="292608"/>
          </a:xfrm>
          <a:prstGeom prst="rect">
            <a:avLst/>
          </a:prstGeom>
          <a:solidFill>
            <a:srgbClr val="2F9BFF"/>
          </a:solidFill>
          <a:ln w="12700">
            <a:solidFill>
              <a:srgbClr val="2F9BFF">
                <a:alpha val="0"/>
              </a:srgbClr>
            </a:solidFill>
            <a:prstDash val="solid"/>
          </a:ln>
        </p:spPr>
        <p:txBody>
          <a:bodyPr/>
          <a:lstStyle/>
          <a:p>
            <a:endParaRPr lang="en-US"/>
          </a:p>
        </p:txBody>
      </p:sp>
      <p:sp>
        <p:nvSpPr>
          <p:cNvPr id="12" name="Text 10"/>
          <p:cNvSpPr/>
          <p:nvPr/>
        </p:nvSpPr>
        <p:spPr>
          <a:xfrm>
            <a:off x="2802490" y="3546364"/>
            <a:ext cx="749808" cy="256032"/>
          </a:xfrm>
          <a:prstGeom prst="rect">
            <a:avLst/>
          </a:prstGeom>
          <a:noFill/>
          <a:ln/>
        </p:spPr>
        <p:txBody>
          <a:bodyPr wrap="square" lIns="254" tIns="254" rIns="254" bIns="254" rtlCol="0" anchor="t">
            <a:normAutofit/>
          </a:bodyPr>
          <a:lstStyle/>
          <a:p>
            <a:pPr marL="0" indent="0" algn="l">
              <a:buNone/>
            </a:pPr>
            <a:r>
              <a:rPr lang="en-US" sz="1050" b="1" dirty="0">
                <a:solidFill>
                  <a:srgbClr val="59C4FF"/>
                </a:solidFill>
              </a:rPr>
              <a:t>$18</a:t>
            </a:r>
          </a:p>
          <a:p>
            <a:pPr marL="0" indent="0" algn="l">
              <a:buNone/>
            </a:pPr>
            <a:endParaRPr lang="en-US" sz="1050" dirty="0"/>
          </a:p>
        </p:txBody>
      </p:sp>
      <p:sp>
        <p:nvSpPr>
          <p:cNvPr id="13" name="Text 11"/>
          <p:cNvSpPr/>
          <p:nvPr/>
        </p:nvSpPr>
        <p:spPr>
          <a:xfrm>
            <a:off x="868680" y="4351036"/>
            <a:ext cx="1508760" cy="256032"/>
          </a:xfrm>
          <a:prstGeom prst="rect">
            <a:avLst/>
          </a:prstGeom>
          <a:noFill/>
          <a:ln/>
        </p:spPr>
        <p:txBody>
          <a:bodyPr wrap="square" lIns="254" tIns="254" rIns="254" bIns="254" rtlCol="0" anchor="t">
            <a:normAutofit/>
          </a:bodyPr>
          <a:lstStyle/>
          <a:p>
            <a:pPr marL="0" indent="0" algn="l">
              <a:buNone/>
            </a:pPr>
            <a:r>
              <a:rPr lang="en-US" sz="1080" b="1" dirty="0">
                <a:solidFill>
                  <a:srgbClr val="F5F7FA"/>
                </a:solidFill>
              </a:rPr>
              <a:t>Conference spike</a:t>
            </a:r>
            <a:endParaRPr lang="en-US" sz="1080" dirty="0"/>
          </a:p>
        </p:txBody>
      </p:sp>
      <p:sp>
        <p:nvSpPr>
          <p:cNvPr id="14" name="Text 12"/>
          <p:cNvSpPr/>
          <p:nvPr/>
        </p:nvSpPr>
        <p:spPr>
          <a:xfrm>
            <a:off x="868680" y="4634500"/>
            <a:ext cx="1508760" cy="201168"/>
          </a:xfrm>
          <a:prstGeom prst="rect">
            <a:avLst/>
          </a:prstGeom>
          <a:noFill/>
          <a:ln/>
        </p:spPr>
        <p:txBody>
          <a:bodyPr wrap="square" lIns="254" tIns="254" rIns="254" bIns="254" rtlCol="0" anchor="t">
            <a:normAutofit/>
          </a:bodyPr>
          <a:lstStyle/>
          <a:p>
            <a:pPr marL="0" indent="0" algn="l">
              <a:buNone/>
            </a:pPr>
            <a:r>
              <a:rPr lang="en-US" sz="830" dirty="0">
                <a:solidFill>
                  <a:srgbClr val="7E8796"/>
                </a:solidFill>
              </a:rPr>
              <a:t>10,000/week</a:t>
            </a:r>
            <a:endParaRPr lang="en-US" sz="830" dirty="0"/>
          </a:p>
        </p:txBody>
      </p:sp>
      <p:sp>
        <p:nvSpPr>
          <p:cNvPr id="15" name="Shape 13"/>
          <p:cNvSpPr/>
          <p:nvPr/>
        </p:nvSpPr>
        <p:spPr>
          <a:xfrm>
            <a:off x="2423160" y="4396756"/>
            <a:ext cx="5806440" cy="292608"/>
          </a:xfrm>
          <a:prstGeom prst="rect">
            <a:avLst/>
          </a:prstGeom>
          <a:solidFill>
            <a:srgbClr val="FF9B55"/>
          </a:solidFill>
          <a:ln w="12700">
            <a:solidFill>
              <a:srgbClr val="2F9BFF">
                <a:alpha val="0"/>
              </a:srgbClr>
            </a:solidFill>
            <a:prstDash val="solid"/>
          </a:ln>
        </p:spPr>
        <p:txBody>
          <a:bodyPr/>
          <a:lstStyle/>
          <a:p>
            <a:endParaRPr lang="en-US"/>
          </a:p>
        </p:txBody>
      </p:sp>
      <p:sp>
        <p:nvSpPr>
          <p:cNvPr id="16" name="Text 14"/>
          <p:cNvSpPr/>
          <p:nvPr/>
        </p:nvSpPr>
        <p:spPr>
          <a:xfrm>
            <a:off x="8302752" y="4369324"/>
            <a:ext cx="749808" cy="256032"/>
          </a:xfrm>
          <a:prstGeom prst="rect">
            <a:avLst/>
          </a:prstGeom>
          <a:noFill/>
          <a:ln/>
        </p:spPr>
        <p:txBody>
          <a:bodyPr wrap="square" lIns="254" tIns="254" rIns="254" bIns="254" rtlCol="0" anchor="t">
            <a:normAutofit/>
          </a:bodyPr>
          <a:lstStyle/>
          <a:p>
            <a:pPr marL="0" indent="0" algn="l">
              <a:buNone/>
            </a:pPr>
            <a:r>
              <a:rPr lang="en-US" sz="1050" b="1" dirty="0">
                <a:solidFill>
                  <a:srgbClr val="FF9B55"/>
                </a:solidFill>
              </a:rPr>
              <a:t>$350</a:t>
            </a:r>
            <a:endParaRPr lang="en-US" sz="1050" dirty="0"/>
          </a:p>
        </p:txBody>
      </p:sp>
      <p:sp>
        <p:nvSpPr>
          <p:cNvPr id="17" name="Text 15"/>
          <p:cNvSpPr/>
          <p:nvPr/>
        </p:nvSpPr>
        <p:spPr>
          <a:xfrm>
            <a:off x="868680" y="5173996"/>
            <a:ext cx="1508760" cy="256032"/>
          </a:xfrm>
          <a:prstGeom prst="rect">
            <a:avLst/>
          </a:prstGeom>
          <a:noFill/>
          <a:ln/>
        </p:spPr>
        <p:txBody>
          <a:bodyPr wrap="square" lIns="254" tIns="254" rIns="254" bIns="254" rtlCol="0" anchor="t">
            <a:normAutofit/>
          </a:bodyPr>
          <a:lstStyle/>
          <a:p>
            <a:pPr marL="0" indent="0" algn="l">
              <a:buNone/>
            </a:pPr>
            <a:r>
              <a:rPr lang="en-US" sz="1080" b="1" dirty="0">
                <a:solidFill>
                  <a:srgbClr val="F5F7FA"/>
                </a:solidFill>
              </a:rPr>
              <a:t>Quiet after spike</a:t>
            </a:r>
            <a:endParaRPr lang="en-US" sz="1080" dirty="0"/>
          </a:p>
        </p:txBody>
      </p:sp>
      <p:sp>
        <p:nvSpPr>
          <p:cNvPr id="18" name="Text 16"/>
          <p:cNvSpPr/>
          <p:nvPr/>
        </p:nvSpPr>
        <p:spPr>
          <a:xfrm>
            <a:off x="868680" y="5457460"/>
            <a:ext cx="1508760" cy="201168"/>
          </a:xfrm>
          <a:prstGeom prst="rect">
            <a:avLst/>
          </a:prstGeom>
          <a:noFill/>
          <a:ln/>
        </p:spPr>
        <p:txBody>
          <a:bodyPr wrap="square" lIns="254" tIns="254" rIns="254" bIns="254" rtlCol="0" anchor="t">
            <a:normAutofit/>
          </a:bodyPr>
          <a:lstStyle/>
          <a:p>
            <a:pPr marL="0" indent="0" algn="l">
              <a:buNone/>
            </a:pPr>
            <a:r>
              <a:rPr lang="en-US" sz="830" dirty="0">
                <a:solidFill>
                  <a:srgbClr val="7E8796"/>
                </a:solidFill>
              </a:rPr>
              <a:t>following month</a:t>
            </a:r>
            <a:endParaRPr lang="en-US" sz="830" dirty="0"/>
          </a:p>
        </p:txBody>
      </p:sp>
      <p:sp>
        <p:nvSpPr>
          <p:cNvPr id="19" name="Shape 17"/>
          <p:cNvSpPr/>
          <p:nvPr/>
        </p:nvSpPr>
        <p:spPr>
          <a:xfrm>
            <a:off x="2423160" y="5219716"/>
            <a:ext cx="100584" cy="292608"/>
          </a:xfrm>
          <a:prstGeom prst="rect">
            <a:avLst/>
          </a:prstGeom>
          <a:solidFill>
            <a:srgbClr val="2F9BFF"/>
          </a:solidFill>
          <a:ln w="12700">
            <a:solidFill>
              <a:srgbClr val="2F9BFF">
                <a:alpha val="0"/>
              </a:srgbClr>
            </a:solidFill>
            <a:prstDash val="solid"/>
          </a:ln>
        </p:spPr>
        <p:txBody>
          <a:bodyPr/>
          <a:lstStyle/>
          <a:p>
            <a:endParaRPr lang="en-US"/>
          </a:p>
        </p:txBody>
      </p:sp>
      <p:sp>
        <p:nvSpPr>
          <p:cNvPr id="20" name="Text 18"/>
          <p:cNvSpPr/>
          <p:nvPr/>
        </p:nvSpPr>
        <p:spPr>
          <a:xfrm>
            <a:off x="2596896" y="5192284"/>
            <a:ext cx="749808" cy="256032"/>
          </a:xfrm>
          <a:prstGeom prst="rect">
            <a:avLst/>
          </a:prstGeom>
          <a:noFill/>
          <a:ln/>
        </p:spPr>
        <p:txBody>
          <a:bodyPr wrap="square" lIns="254" tIns="254" rIns="254" bIns="254" rtlCol="0" anchor="t">
            <a:normAutofit/>
          </a:bodyPr>
          <a:lstStyle/>
          <a:p>
            <a:pPr marL="0" indent="0" algn="l">
              <a:buNone/>
            </a:pPr>
            <a:r>
              <a:rPr lang="en-US" sz="1050" b="1" dirty="0">
                <a:solidFill>
                  <a:srgbClr val="59C4FF"/>
                </a:solidFill>
              </a:rPr>
              <a:t>$3.55</a:t>
            </a:r>
            <a:endParaRPr lang="en-US" sz="1050" dirty="0"/>
          </a:p>
        </p:txBody>
      </p:sp>
      <p:sp>
        <p:nvSpPr>
          <p:cNvPr id="21" name="Text 19"/>
          <p:cNvSpPr/>
          <p:nvPr/>
        </p:nvSpPr>
        <p:spPr>
          <a:xfrm>
            <a:off x="9491472" y="2010925"/>
            <a:ext cx="2029968" cy="804672"/>
          </a:xfrm>
          <a:prstGeom prst="roundRect">
            <a:avLst>
              <a:gd name="adj" fmla="val 9091"/>
            </a:avLst>
          </a:prstGeom>
          <a:solidFill>
            <a:srgbClr val="0B1828"/>
          </a:solidFill>
          <a:ln w="13970">
            <a:solidFill>
              <a:srgbClr val="FF9B55"/>
            </a:solidFill>
          </a:ln>
        </p:spPr>
        <p:txBody>
          <a:bodyPr wrap="square" lIns="1016" tIns="1016" rIns="1016" bIns="1016" rtlCol="0" anchor="ctr">
            <a:normAutofit/>
          </a:bodyPr>
          <a:lstStyle/>
          <a:p>
            <a:pPr marL="0" indent="0" algn="ctr">
              <a:buNone/>
            </a:pPr>
            <a:r>
              <a:rPr lang="en-US" sz="1300" b="1" dirty="0">
                <a:solidFill>
                  <a:srgbClr val="F5F7FA"/>
                </a:solidFill>
              </a:rPr>
              <a:t>Bedrock dominates</a:t>
            </a:r>
            <a:endParaRPr lang="en-US" sz="1300" dirty="0"/>
          </a:p>
          <a:p>
            <a:pPr marL="0" indent="0" algn="ctr">
              <a:buNone/>
            </a:pPr>
            <a:r>
              <a:rPr lang="en-US" sz="1300" b="1" dirty="0">
                <a:solidFill>
                  <a:srgbClr val="F5F7FA"/>
                </a:solidFill>
              </a:rPr>
              <a:t>the bill at scale</a:t>
            </a:r>
            <a:endParaRPr lang="en-US" sz="1300" dirty="0"/>
          </a:p>
        </p:txBody>
      </p:sp>
      <p:sp>
        <p:nvSpPr>
          <p:cNvPr id="22" name="Text 20"/>
          <p:cNvSpPr/>
          <p:nvPr/>
        </p:nvSpPr>
        <p:spPr>
          <a:xfrm>
            <a:off x="9491472" y="3071629"/>
            <a:ext cx="2029968" cy="1078992"/>
          </a:xfrm>
          <a:prstGeom prst="roundRect">
            <a:avLst>
              <a:gd name="adj" fmla="val 6780"/>
            </a:avLst>
          </a:prstGeom>
          <a:solidFill>
            <a:srgbClr val="0B1828"/>
          </a:solidFill>
          <a:ln w="13970">
            <a:solidFill>
              <a:srgbClr val="59D08F"/>
            </a:solidFill>
          </a:ln>
        </p:spPr>
        <p:txBody>
          <a:bodyPr wrap="square" lIns="1016" tIns="1016" rIns="1016" bIns="1016" rtlCol="0" anchor="ctr">
            <a:normAutofit/>
          </a:bodyPr>
          <a:lstStyle/>
          <a:p>
            <a:pPr marL="0" indent="0" algn="ctr">
              <a:buNone/>
            </a:pPr>
            <a:r>
              <a:rPr lang="en-US" sz="1150" b="1" dirty="0">
                <a:solidFill>
                  <a:srgbClr val="F5F7FA"/>
                </a:solidFill>
              </a:rPr>
              <a:t>Zero idle</a:t>
            </a:r>
            <a:endParaRPr lang="en-US" sz="1150" dirty="0"/>
          </a:p>
          <a:p>
            <a:pPr marL="0" indent="0" algn="ctr">
              <a:buNone/>
            </a:pPr>
            <a:r>
              <a:rPr lang="en-US" sz="1150" b="1" dirty="0">
                <a:solidFill>
                  <a:srgbClr val="F5F7FA"/>
                </a:solidFill>
              </a:rPr>
              <a:t>for Lambda, API Gateway, Step Functions, SQS, SNS, Bedrock</a:t>
            </a:r>
            <a:endParaRPr lang="en-US" sz="1150" dirty="0"/>
          </a:p>
        </p:txBody>
      </p:sp>
      <p:sp>
        <p:nvSpPr>
          <p:cNvPr id="23" name="Text 21"/>
          <p:cNvSpPr/>
          <p:nvPr/>
        </p:nvSpPr>
        <p:spPr>
          <a:xfrm>
            <a:off x="9491472" y="4461517"/>
            <a:ext cx="2029968" cy="804672"/>
          </a:xfrm>
          <a:prstGeom prst="roundRect">
            <a:avLst>
              <a:gd name="adj" fmla="val 9091"/>
            </a:avLst>
          </a:prstGeom>
          <a:solidFill>
            <a:srgbClr val="0B1828"/>
          </a:solidFill>
          <a:ln w="13970">
            <a:solidFill>
              <a:srgbClr val="2F9BFF"/>
            </a:solidFill>
          </a:ln>
        </p:spPr>
        <p:txBody>
          <a:bodyPr wrap="square" lIns="1016" tIns="1016" rIns="1016" bIns="1016" rtlCol="0" anchor="ctr">
            <a:normAutofit/>
          </a:bodyPr>
          <a:lstStyle/>
          <a:p>
            <a:pPr marL="0" indent="0" algn="ctr">
              <a:buNone/>
            </a:pPr>
            <a:r>
              <a:rPr lang="en-US" sz="1200" b="1" dirty="0">
                <a:solidFill>
                  <a:srgbClr val="F5F7FA"/>
                </a:solidFill>
              </a:rPr>
              <a:t>S3 vector store</a:t>
            </a:r>
            <a:endParaRPr lang="en-US" sz="1200" dirty="0"/>
          </a:p>
          <a:p>
            <a:pPr marL="0" indent="0" algn="ctr">
              <a:buNone/>
            </a:pPr>
            <a:r>
              <a:rPr lang="en-US" sz="1200" b="1" dirty="0">
                <a:solidFill>
                  <a:srgbClr val="F5F7FA"/>
                </a:solidFill>
              </a:rPr>
              <a:t>keeps MVP cost near zero</a:t>
            </a:r>
            <a:endParaRPr lang="en-US" sz="1200" dirty="0"/>
          </a:p>
        </p:txBody>
      </p:sp>
      <p:sp>
        <p:nvSpPr>
          <p:cNvPr id="24" name="Text 22"/>
          <p:cNvSpPr/>
          <p:nvPr/>
        </p:nvSpPr>
        <p:spPr>
          <a:xfrm>
            <a:off x="566928" y="6327648"/>
            <a:ext cx="10378440" cy="219456"/>
          </a:xfrm>
          <a:prstGeom prst="rect">
            <a:avLst/>
          </a:prstGeom>
          <a:noFill/>
          <a:ln/>
        </p:spPr>
        <p:txBody>
          <a:bodyPr wrap="square" lIns="0" tIns="0" rIns="0" bIns="0" rtlCol="0" anchor="ctr">
            <a:normAutofit/>
          </a:bodyPr>
          <a:lstStyle/>
          <a:p>
            <a:pPr marL="0" indent="0">
              <a:buNone/>
            </a:pPr>
            <a:r>
              <a:rPr lang="en-US" sz="850" dirty="0">
                <a:solidFill>
                  <a:srgbClr val="7E8796"/>
                </a:solidFill>
              </a:rPr>
              <a:t>Cost scenarios and zero-idle principle come from project retrospective cost analysis.</a:t>
            </a:r>
            <a:endParaRPr lang="en-US" sz="8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28</a:t>
            </a:fld>
            <a:endParaRPr lang="en-US"/>
          </a:p>
        </p:txBody>
      </p:sp>
      <p:sp>
        <p:nvSpPr>
          <p:cNvPr id="26" name="TextBox 25">
            <a:extLst>
              <a:ext uri="{FF2B5EF4-FFF2-40B4-BE49-F238E27FC236}">
                <a16:creationId xmlns:a16="http://schemas.microsoft.com/office/drawing/2014/main" id="{F7AC91D0-748C-F4ED-345A-5602635F7B51}"/>
              </a:ext>
            </a:extLst>
          </p:cNvPr>
          <p:cNvSpPr txBox="1"/>
          <p:nvPr/>
        </p:nvSpPr>
        <p:spPr>
          <a:xfrm>
            <a:off x="621792" y="2039112"/>
            <a:ext cx="8353313" cy="579120"/>
          </a:xfrm>
          <a:prstGeom prst="rect">
            <a:avLst/>
          </a:prstGeom>
          <a:noFill/>
          <a:ln/>
        </p:spPr>
        <p:txBody>
          <a:bodyPr wrap="square" lIns="254" tIns="254" rIns="254" bIns="254" rtlCol="0" anchor="t">
            <a:noAutofit/>
          </a:bodyPr>
          <a:lstStyle>
            <a:lvl1pPr indent="0">
              <a:buNone/>
              <a:defRPr sz="1650">
                <a:solidFill>
                  <a:srgbClr val="B2BAC8"/>
                </a:solidFill>
              </a:defRPr>
            </a:lvl1pPr>
          </a:lstStyle>
          <a:p>
            <a:r>
              <a:rPr lang="en-US" dirty="0"/>
              <a:t>LLM selection must be evaluated and optimized. Costs and output quality differ for LLMs such as Claude Sonnet 4.6 vs Amazon Nova Pro and need to be evaluated.</a:t>
            </a:r>
          </a:p>
        </p:txBody>
      </p:sp>
      <p:sp>
        <p:nvSpPr>
          <p:cNvPr id="28" name="Text 21">
            <a:extLst>
              <a:ext uri="{FF2B5EF4-FFF2-40B4-BE49-F238E27FC236}">
                <a16:creationId xmlns:a16="http://schemas.microsoft.com/office/drawing/2014/main" id="{17E9A415-328C-242B-C7B6-44FF0341E3A8}"/>
              </a:ext>
            </a:extLst>
          </p:cNvPr>
          <p:cNvSpPr/>
          <p:nvPr/>
        </p:nvSpPr>
        <p:spPr>
          <a:xfrm>
            <a:off x="9501747" y="5526024"/>
            <a:ext cx="2029968" cy="804672"/>
          </a:xfrm>
          <a:prstGeom prst="roundRect">
            <a:avLst>
              <a:gd name="adj" fmla="val 9091"/>
            </a:avLst>
          </a:prstGeom>
          <a:solidFill>
            <a:srgbClr val="071A2D"/>
          </a:solidFill>
          <a:ln w="13970">
            <a:solidFill>
              <a:srgbClr val="B68CFF"/>
            </a:solidFill>
          </a:ln>
        </p:spPr>
        <p:txBody>
          <a:bodyPr wrap="square" lIns="1016" tIns="1016" rIns="1016" bIns="1016" rtlCol="0" anchor="ctr">
            <a:normAutofit/>
          </a:bodyPr>
          <a:lstStyle/>
          <a:p>
            <a:pPr algn="ctr"/>
            <a:r>
              <a:rPr lang="en-US" sz="1100" b="1" dirty="0">
                <a:solidFill>
                  <a:srgbClr val="F5F7FA"/>
                </a:solidFill>
              </a:rPr>
              <a:t>S3 vector store</a:t>
            </a:r>
          </a:p>
          <a:p>
            <a:pPr algn="ctr"/>
            <a:r>
              <a:rPr lang="en-US" sz="1100" b="1" dirty="0">
                <a:solidFill>
                  <a:srgbClr val="F5F7FA"/>
                </a:solidFill>
              </a:rPr>
              <a:t>keeps MVP cost near zero</a:t>
            </a:r>
          </a:p>
        </p:txBody>
      </p:sp>
      <p:sp>
        <p:nvSpPr>
          <p:cNvPr id="30" name="Text 2">
            <a:extLst>
              <a:ext uri="{FF2B5EF4-FFF2-40B4-BE49-F238E27FC236}">
                <a16:creationId xmlns:a16="http://schemas.microsoft.com/office/drawing/2014/main" id="{D2862B14-E8EA-A091-B5CD-68854CAECD61}"/>
              </a:ext>
            </a:extLst>
          </p:cNvPr>
          <p:cNvSpPr/>
          <p:nvPr/>
        </p:nvSpPr>
        <p:spPr>
          <a:xfrm>
            <a:off x="899692" y="5815584"/>
            <a:ext cx="8269291" cy="438912"/>
          </a:xfrm>
          <a:prstGeom prst="rect">
            <a:avLst/>
          </a:prstGeom>
          <a:noFill/>
          <a:ln/>
        </p:spPr>
        <p:txBody>
          <a:bodyPr wrap="square" lIns="254" tIns="254" rIns="254" bIns="254" rtlCol="0" anchor="t">
            <a:noAutofit/>
          </a:bodyPr>
          <a:lstStyle/>
          <a:p>
            <a:pPr marL="0" indent="0" algn="l">
              <a:buNone/>
            </a:pPr>
            <a:r>
              <a:rPr lang="en-US" sz="1200" dirty="0">
                <a:solidFill>
                  <a:schemeClr val="accent2"/>
                </a:solidFill>
              </a:rPr>
              <a:t>Infrastructure only: LLM costs must be determined; cost and output will vary by LLM.</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COST DECISION</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a:bodyPr>
          <a:lstStyle/>
          <a:p>
            <a:pPr marL="0" indent="0">
              <a:buNone/>
            </a:pPr>
            <a:r>
              <a:rPr lang="en-US" sz="2950" b="1" dirty="0">
                <a:solidFill>
                  <a:srgbClr val="F5F7FA"/>
                </a:solidFill>
              </a:rPr>
              <a:t>S3 as the first vector store is the right kind of cheap</a:t>
            </a:r>
            <a:endParaRPr lang="en-US" sz="2950" dirty="0"/>
          </a:p>
        </p:txBody>
      </p:sp>
      <p:sp>
        <p:nvSpPr>
          <p:cNvPr id="4" name="Text 2"/>
          <p:cNvSpPr/>
          <p:nvPr/>
        </p:nvSpPr>
        <p:spPr>
          <a:xfrm>
            <a:off x="621792" y="1325880"/>
            <a:ext cx="10216537" cy="713232"/>
          </a:xfrm>
          <a:prstGeom prst="rect">
            <a:avLst/>
          </a:prstGeom>
          <a:noFill/>
          <a:ln/>
        </p:spPr>
        <p:txBody>
          <a:bodyPr wrap="square" lIns="254" tIns="254" rIns="254" bIns="254" rtlCol="0" anchor="t">
            <a:normAutofit/>
          </a:bodyPr>
          <a:lstStyle/>
          <a:p>
            <a:pPr marL="0" indent="0" algn="l">
              <a:buNone/>
            </a:pPr>
            <a:r>
              <a:rPr lang="en-US" sz="1600" dirty="0">
                <a:solidFill>
                  <a:srgbClr val="B2BAC8"/>
                </a:solidFill>
              </a:rPr>
              <a:t>This is one of those choices where CTO discipline matters. For the MVP, S3 is not the “best vector database.” It is the best way to avoid paying for one before the workload proves it deserves one; it is </a:t>
            </a:r>
            <a:r>
              <a:rPr lang="en-US" sz="1600" b="1" dirty="0">
                <a:solidFill>
                  <a:srgbClr val="B2BAC8"/>
                </a:solidFill>
              </a:rPr>
              <a:t>fit to purpose </a:t>
            </a:r>
            <a:r>
              <a:rPr lang="en-US" sz="1600" dirty="0">
                <a:solidFill>
                  <a:srgbClr val="B2BAC8"/>
                </a:solidFill>
              </a:rPr>
              <a:t>engineering.</a:t>
            </a:r>
            <a:endParaRPr lang="en-US" sz="1600" dirty="0"/>
          </a:p>
        </p:txBody>
      </p:sp>
      <p:sp>
        <p:nvSpPr>
          <p:cNvPr id="5" name="Text 3"/>
          <p:cNvSpPr/>
          <p:nvPr/>
        </p:nvSpPr>
        <p:spPr>
          <a:xfrm>
            <a:off x="2511910" y="2395728"/>
            <a:ext cx="2743200" cy="310896"/>
          </a:xfrm>
          <a:prstGeom prst="rect">
            <a:avLst/>
          </a:prstGeom>
          <a:noFill/>
          <a:ln/>
        </p:spPr>
        <p:txBody>
          <a:bodyPr wrap="square" lIns="254" tIns="254" rIns="254" bIns="254" rtlCol="0" anchor="t">
            <a:normAutofit/>
          </a:bodyPr>
          <a:lstStyle/>
          <a:p>
            <a:pPr marL="0" indent="0" algn="ctr">
              <a:buNone/>
            </a:pPr>
            <a:r>
              <a:rPr lang="en-US" sz="1400" b="1" dirty="0">
                <a:solidFill>
                  <a:srgbClr val="59C4FF"/>
                </a:solidFill>
              </a:rPr>
              <a:t>S3 JSON embeddings</a:t>
            </a:r>
            <a:endParaRPr lang="en-US" sz="1400" dirty="0"/>
          </a:p>
        </p:txBody>
      </p:sp>
      <p:sp>
        <p:nvSpPr>
          <p:cNvPr id="6" name="Text 4"/>
          <p:cNvSpPr/>
          <p:nvPr/>
        </p:nvSpPr>
        <p:spPr>
          <a:xfrm>
            <a:off x="6460863" y="2395728"/>
            <a:ext cx="3063240" cy="310896"/>
          </a:xfrm>
          <a:prstGeom prst="rect">
            <a:avLst/>
          </a:prstGeom>
          <a:noFill/>
          <a:ln/>
        </p:spPr>
        <p:txBody>
          <a:bodyPr wrap="square" lIns="254" tIns="254" rIns="254" bIns="254" rtlCol="0" anchor="t">
            <a:normAutofit/>
          </a:bodyPr>
          <a:lstStyle/>
          <a:p>
            <a:pPr marL="0" indent="0" algn="ctr">
              <a:buNone/>
            </a:pPr>
            <a:r>
              <a:rPr lang="en-US" sz="1400" b="1" dirty="0">
                <a:solidFill>
                  <a:srgbClr val="FFD65A"/>
                </a:solidFill>
              </a:rPr>
              <a:t>OpenSearch Serverless / pgvector</a:t>
            </a:r>
            <a:endParaRPr lang="en-US" sz="1400" dirty="0"/>
          </a:p>
        </p:txBody>
      </p:sp>
      <p:sp>
        <p:nvSpPr>
          <p:cNvPr id="7" name="Text 5"/>
          <p:cNvSpPr/>
          <p:nvPr/>
        </p:nvSpPr>
        <p:spPr>
          <a:xfrm>
            <a:off x="822960" y="2834640"/>
            <a:ext cx="1508760" cy="347472"/>
          </a:xfrm>
          <a:prstGeom prst="roundRect">
            <a:avLst>
              <a:gd name="adj" fmla="val 13158"/>
            </a:avLst>
          </a:prstGeom>
          <a:solidFill>
            <a:srgbClr val="1C2430"/>
          </a:solidFill>
          <a:ln>
            <a:solidFill>
              <a:srgbClr val="1C2430">
                <a:alpha val="0"/>
              </a:srgbClr>
            </a:solidFill>
          </a:ln>
        </p:spPr>
        <p:txBody>
          <a:bodyPr wrap="square" lIns="635" tIns="635" rIns="635" bIns="635" rtlCol="0" anchor="ctr">
            <a:normAutofit/>
          </a:bodyPr>
          <a:lstStyle/>
          <a:p>
            <a:pPr marL="0" indent="0" algn="ctr">
              <a:buNone/>
            </a:pPr>
            <a:r>
              <a:rPr lang="en-US" sz="950" b="1" dirty="0">
                <a:solidFill>
                  <a:srgbClr val="B2BAC8"/>
                </a:solidFill>
              </a:rPr>
              <a:t>Idle cost</a:t>
            </a:r>
            <a:endParaRPr lang="en-US" sz="950" dirty="0"/>
          </a:p>
        </p:txBody>
      </p:sp>
      <p:sp>
        <p:nvSpPr>
          <p:cNvPr id="8" name="Text 6"/>
          <p:cNvSpPr/>
          <p:nvPr/>
        </p:nvSpPr>
        <p:spPr>
          <a:xfrm>
            <a:off x="2450592" y="2779776"/>
            <a:ext cx="2743200" cy="457200"/>
          </a:xfrm>
          <a:prstGeom prst="roundRect">
            <a:avLst>
              <a:gd name="adj" fmla="val 16000"/>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080" dirty="0">
                <a:solidFill>
                  <a:srgbClr val="F5F7FA"/>
                </a:solidFill>
              </a:rPr>
              <a:t>$0 storage only</a:t>
            </a:r>
            <a:endParaRPr lang="en-US" sz="1080" dirty="0"/>
          </a:p>
        </p:txBody>
      </p:sp>
      <p:sp>
        <p:nvSpPr>
          <p:cNvPr id="9" name="Text 7"/>
          <p:cNvSpPr/>
          <p:nvPr/>
        </p:nvSpPr>
        <p:spPr>
          <a:xfrm>
            <a:off x="6428232" y="2779776"/>
            <a:ext cx="3154680" cy="457200"/>
          </a:xfrm>
          <a:prstGeom prst="roundRect">
            <a:avLst>
              <a:gd name="adj" fmla="val 16000"/>
            </a:avLst>
          </a:prstGeom>
          <a:solidFill>
            <a:srgbClr val="071A2D"/>
          </a:solidFill>
          <a:ln w="13970">
            <a:solidFill>
              <a:srgbClr val="FFD65A"/>
            </a:solidFill>
          </a:ln>
        </p:spPr>
        <p:txBody>
          <a:bodyPr wrap="square" lIns="1016" tIns="1016" rIns="1016" bIns="1016" rtlCol="0" anchor="ctr">
            <a:normAutofit/>
          </a:bodyPr>
          <a:lstStyle/>
          <a:p>
            <a:pPr marL="0" indent="0" algn="ctr">
              <a:buNone/>
            </a:pPr>
            <a:r>
              <a:rPr lang="en-US" sz="1080" dirty="0">
                <a:solidFill>
                  <a:srgbClr val="F5F7FA"/>
                </a:solidFill>
              </a:rPr>
              <a:t>~$175/month minimum</a:t>
            </a:r>
            <a:endParaRPr lang="en-US" sz="1080" dirty="0"/>
          </a:p>
        </p:txBody>
      </p:sp>
      <p:sp>
        <p:nvSpPr>
          <p:cNvPr id="10" name="Text 8"/>
          <p:cNvSpPr/>
          <p:nvPr/>
        </p:nvSpPr>
        <p:spPr>
          <a:xfrm>
            <a:off x="822960" y="3493008"/>
            <a:ext cx="1508760" cy="347472"/>
          </a:xfrm>
          <a:prstGeom prst="roundRect">
            <a:avLst>
              <a:gd name="adj" fmla="val 13158"/>
            </a:avLst>
          </a:prstGeom>
          <a:solidFill>
            <a:srgbClr val="1C2430"/>
          </a:solidFill>
          <a:ln>
            <a:solidFill>
              <a:srgbClr val="1C2430">
                <a:alpha val="0"/>
              </a:srgbClr>
            </a:solidFill>
          </a:ln>
        </p:spPr>
        <p:txBody>
          <a:bodyPr wrap="square" lIns="635" tIns="635" rIns="635" bIns="635" rtlCol="0" anchor="ctr">
            <a:normAutofit/>
          </a:bodyPr>
          <a:lstStyle/>
          <a:p>
            <a:pPr marL="0" indent="0" algn="ctr">
              <a:buNone/>
            </a:pPr>
            <a:r>
              <a:rPr lang="en-US" sz="950" b="1" dirty="0">
                <a:solidFill>
                  <a:srgbClr val="B2BAC8"/>
                </a:solidFill>
              </a:rPr>
              <a:t>Read pattern</a:t>
            </a:r>
            <a:endParaRPr lang="en-US" sz="950" dirty="0"/>
          </a:p>
        </p:txBody>
      </p:sp>
      <p:sp>
        <p:nvSpPr>
          <p:cNvPr id="11" name="Text 9"/>
          <p:cNvSpPr/>
          <p:nvPr/>
        </p:nvSpPr>
        <p:spPr>
          <a:xfrm>
            <a:off x="2450592" y="3438144"/>
            <a:ext cx="2743200" cy="457200"/>
          </a:xfrm>
          <a:prstGeom prst="roundRect">
            <a:avLst>
              <a:gd name="adj" fmla="val 16000"/>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080" dirty="0">
                <a:solidFill>
                  <a:srgbClr val="F5F7FA"/>
                </a:solidFill>
              </a:rPr>
              <a:t>Per-submission retrieval</a:t>
            </a:r>
            <a:endParaRPr lang="en-US" sz="1080" dirty="0"/>
          </a:p>
        </p:txBody>
      </p:sp>
      <p:sp>
        <p:nvSpPr>
          <p:cNvPr id="12" name="Text 10"/>
          <p:cNvSpPr/>
          <p:nvPr/>
        </p:nvSpPr>
        <p:spPr>
          <a:xfrm>
            <a:off x="6428232" y="3438144"/>
            <a:ext cx="3154680" cy="457200"/>
          </a:xfrm>
          <a:prstGeom prst="roundRect">
            <a:avLst>
              <a:gd name="adj" fmla="val 16000"/>
            </a:avLst>
          </a:prstGeom>
          <a:solidFill>
            <a:srgbClr val="071A2D"/>
          </a:solidFill>
          <a:ln w="13970">
            <a:solidFill>
              <a:srgbClr val="FFD65A"/>
            </a:solidFill>
          </a:ln>
        </p:spPr>
        <p:txBody>
          <a:bodyPr wrap="square" lIns="1016" tIns="1016" rIns="1016" bIns="1016" rtlCol="0" anchor="ctr">
            <a:normAutofit/>
          </a:bodyPr>
          <a:lstStyle/>
          <a:p>
            <a:pPr marL="0" indent="0" algn="ctr">
              <a:buNone/>
            </a:pPr>
            <a:r>
              <a:rPr lang="en-US" sz="1080" dirty="0">
                <a:solidFill>
                  <a:srgbClr val="F5F7FA"/>
                </a:solidFill>
              </a:rPr>
              <a:t>Similarity search across corpora</a:t>
            </a:r>
            <a:endParaRPr lang="en-US" sz="1080" dirty="0"/>
          </a:p>
        </p:txBody>
      </p:sp>
      <p:sp>
        <p:nvSpPr>
          <p:cNvPr id="13" name="Text 11"/>
          <p:cNvSpPr/>
          <p:nvPr/>
        </p:nvSpPr>
        <p:spPr>
          <a:xfrm>
            <a:off x="822960" y="4151376"/>
            <a:ext cx="1508760" cy="347472"/>
          </a:xfrm>
          <a:prstGeom prst="roundRect">
            <a:avLst>
              <a:gd name="adj" fmla="val 13158"/>
            </a:avLst>
          </a:prstGeom>
          <a:solidFill>
            <a:srgbClr val="1C2430"/>
          </a:solidFill>
          <a:ln>
            <a:solidFill>
              <a:srgbClr val="1C2430">
                <a:alpha val="0"/>
              </a:srgbClr>
            </a:solidFill>
          </a:ln>
        </p:spPr>
        <p:txBody>
          <a:bodyPr wrap="square" lIns="635" tIns="635" rIns="635" bIns="635" rtlCol="0" anchor="ctr">
            <a:normAutofit/>
          </a:bodyPr>
          <a:lstStyle/>
          <a:p>
            <a:pPr marL="0" indent="0" algn="ctr">
              <a:buNone/>
            </a:pPr>
            <a:r>
              <a:rPr lang="en-US" sz="950" b="1" dirty="0">
                <a:solidFill>
                  <a:srgbClr val="B2BAC8"/>
                </a:solidFill>
              </a:rPr>
              <a:t>Latency</a:t>
            </a:r>
            <a:endParaRPr lang="en-US" sz="950" dirty="0"/>
          </a:p>
        </p:txBody>
      </p:sp>
      <p:sp>
        <p:nvSpPr>
          <p:cNvPr id="14" name="Text 12"/>
          <p:cNvSpPr/>
          <p:nvPr/>
        </p:nvSpPr>
        <p:spPr>
          <a:xfrm>
            <a:off x="2450592" y="4096512"/>
            <a:ext cx="2743200" cy="457200"/>
          </a:xfrm>
          <a:prstGeom prst="roundRect">
            <a:avLst>
              <a:gd name="adj" fmla="val 16000"/>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080" dirty="0">
                <a:solidFill>
                  <a:srgbClr val="F5F7FA"/>
                </a:solidFill>
              </a:rPr>
              <a:t>~50-100 ms per file</a:t>
            </a:r>
            <a:endParaRPr lang="en-US" sz="1080" dirty="0"/>
          </a:p>
        </p:txBody>
      </p:sp>
      <p:sp>
        <p:nvSpPr>
          <p:cNvPr id="15" name="Text 13"/>
          <p:cNvSpPr/>
          <p:nvPr/>
        </p:nvSpPr>
        <p:spPr>
          <a:xfrm>
            <a:off x="6428232" y="4096512"/>
            <a:ext cx="3154680" cy="457200"/>
          </a:xfrm>
          <a:prstGeom prst="roundRect">
            <a:avLst>
              <a:gd name="adj" fmla="val 16000"/>
            </a:avLst>
          </a:prstGeom>
          <a:solidFill>
            <a:srgbClr val="071A2D"/>
          </a:solidFill>
          <a:ln w="13970">
            <a:solidFill>
              <a:srgbClr val="FFD65A"/>
            </a:solidFill>
          </a:ln>
        </p:spPr>
        <p:txBody>
          <a:bodyPr wrap="square" lIns="1016" tIns="1016" rIns="1016" bIns="1016" rtlCol="0" anchor="ctr">
            <a:normAutofit/>
          </a:bodyPr>
          <a:lstStyle/>
          <a:p>
            <a:pPr marL="0" indent="0" algn="ctr">
              <a:buNone/>
            </a:pPr>
            <a:r>
              <a:rPr lang="en-US" sz="1080" dirty="0">
                <a:solidFill>
                  <a:srgbClr val="F5F7FA"/>
                </a:solidFill>
              </a:rPr>
              <a:t>~10 ms query path</a:t>
            </a:r>
            <a:endParaRPr lang="en-US" sz="1080" dirty="0"/>
          </a:p>
        </p:txBody>
      </p:sp>
      <p:sp>
        <p:nvSpPr>
          <p:cNvPr id="16" name="Text 14"/>
          <p:cNvSpPr/>
          <p:nvPr/>
        </p:nvSpPr>
        <p:spPr>
          <a:xfrm>
            <a:off x="822960" y="4809744"/>
            <a:ext cx="1508760" cy="347472"/>
          </a:xfrm>
          <a:prstGeom prst="roundRect">
            <a:avLst>
              <a:gd name="adj" fmla="val 13158"/>
            </a:avLst>
          </a:prstGeom>
          <a:solidFill>
            <a:srgbClr val="1C2430"/>
          </a:solidFill>
          <a:ln>
            <a:solidFill>
              <a:srgbClr val="1C2430">
                <a:alpha val="0"/>
              </a:srgbClr>
            </a:solidFill>
          </a:ln>
        </p:spPr>
        <p:txBody>
          <a:bodyPr wrap="square" lIns="635" tIns="635" rIns="635" bIns="635" rtlCol="0" anchor="ctr">
            <a:normAutofit/>
          </a:bodyPr>
          <a:lstStyle/>
          <a:p>
            <a:pPr marL="0" indent="0" algn="ctr">
              <a:buNone/>
            </a:pPr>
            <a:r>
              <a:rPr lang="en-US" sz="950" b="1" dirty="0">
                <a:solidFill>
                  <a:srgbClr val="B2BAC8"/>
                </a:solidFill>
              </a:rPr>
              <a:t>Move when</a:t>
            </a:r>
            <a:endParaRPr lang="en-US" sz="950" dirty="0"/>
          </a:p>
        </p:txBody>
      </p:sp>
      <p:sp>
        <p:nvSpPr>
          <p:cNvPr id="17" name="Text 15"/>
          <p:cNvSpPr/>
          <p:nvPr/>
        </p:nvSpPr>
        <p:spPr>
          <a:xfrm>
            <a:off x="2450592" y="4754880"/>
            <a:ext cx="2743200" cy="457200"/>
          </a:xfrm>
          <a:prstGeom prst="roundRect">
            <a:avLst>
              <a:gd name="adj" fmla="val 16000"/>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080" dirty="0">
                <a:solidFill>
                  <a:srgbClr val="F5F7FA"/>
                </a:solidFill>
              </a:rPr>
              <a:t>MVP and variable load</a:t>
            </a:r>
            <a:endParaRPr lang="en-US" sz="1080" dirty="0"/>
          </a:p>
        </p:txBody>
      </p:sp>
      <p:sp>
        <p:nvSpPr>
          <p:cNvPr id="18" name="Text 16"/>
          <p:cNvSpPr/>
          <p:nvPr/>
        </p:nvSpPr>
        <p:spPr>
          <a:xfrm>
            <a:off x="6428232" y="4754880"/>
            <a:ext cx="3154680" cy="457200"/>
          </a:xfrm>
          <a:prstGeom prst="roundRect">
            <a:avLst>
              <a:gd name="adj" fmla="val 16000"/>
            </a:avLst>
          </a:prstGeom>
          <a:solidFill>
            <a:srgbClr val="071A2D"/>
          </a:solidFill>
          <a:ln w="13970">
            <a:solidFill>
              <a:srgbClr val="FFD65A"/>
            </a:solidFill>
          </a:ln>
        </p:spPr>
        <p:txBody>
          <a:bodyPr wrap="square" lIns="1016" tIns="1016" rIns="1016" bIns="1016" rtlCol="0" anchor="ctr">
            <a:normAutofit/>
          </a:bodyPr>
          <a:lstStyle/>
          <a:p>
            <a:pPr marL="0" indent="0" algn="ctr">
              <a:buNone/>
            </a:pPr>
            <a:r>
              <a:rPr lang="en-US" sz="1080" dirty="0">
                <a:solidFill>
                  <a:srgbClr val="F5F7FA"/>
                </a:solidFill>
              </a:rPr>
              <a:t>&gt;50K presentations/month or cross-submission search</a:t>
            </a:r>
            <a:endParaRPr lang="en-US" sz="1080" dirty="0"/>
          </a:p>
        </p:txBody>
      </p:sp>
      <p:sp>
        <p:nvSpPr>
          <p:cNvPr id="19" name="Text 17"/>
          <p:cNvSpPr/>
          <p:nvPr/>
        </p:nvSpPr>
        <p:spPr>
          <a:xfrm>
            <a:off x="2926080" y="5669280"/>
            <a:ext cx="6309360" cy="566928"/>
          </a:xfrm>
          <a:prstGeom prst="roundRect">
            <a:avLst>
              <a:gd name="adj" fmla="val 12903"/>
            </a:avLst>
          </a:prstGeom>
          <a:solidFill>
            <a:srgbClr val="0B1828"/>
          </a:solidFill>
          <a:ln w="13970">
            <a:solidFill>
              <a:srgbClr val="59D08F"/>
            </a:solidFill>
          </a:ln>
        </p:spPr>
        <p:txBody>
          <a:bodyPr wrap="square" lIns="1016" tIns="1016" rIns="1016" bIns="1016" rtlCol="0" anchor="ctr">
            <a:normAutofit/>
          </a:bodyPr>
          <a:lstStyle/>
          <a:p>
            <a:pPr marL="0" indent="0" algn="ctr">
              <a:buNone/>
            </a:pPr>
            <a:r>
              <a:rPr lang="en-US" sz="1250" dirty="0">
                <a:solidFill>
                  <a:srgbClr val="B2BAC8"/>
                </a:solidFill>
              </a:rPr>
              <a:t>Design win: vector-store-type and vector-store-endpoint are SSM parameters, so the upgrade path is operationally clean.</a:t>
            </a:r>
            <a:endParaRPr lang="en-US" sz="1250" dirty="0"/>
          </a:p>
        </p:txBody>
      </p:sp>
      <p:sp>
        <p:nvSpPr>
          <p:cNvPr id="20" name="Text 18"/>
          <p:cNvSpPr/>
          <p:nvPr/>
        </p:nvSpPr>
        <p:spPr>
          <a:xfrm>
            <a:off x="566928" y="6327648"/>
            <a:ext cx="10378440" cy="219456"/>
          </a:xfrm>
          <a:prstGeom prst="rect">
            <a:avLst/>
          </a:prstGeom>
          <a:noFill/>
          <a:ln/>
        </p:spPr>
        <p:txBody>
          <a:bodyPr wrap="square" lIns="0" tIns="0" rIns="0" bIns="0" rtlCol="0" anchor="ctr">
            <a:normAutofit/>
          </a:bodyPr>
          <a:lstStyle/>
          <a:p>
            <a:pPr marL="0" indent="0">
              <a:buNone/>
            </a:pPr>
            <a:r>
              <a:rPr lang="en-US" sz="850" dirty="0">
                <a:solidFill>
                  <a:srgbClr val="7E8796"/>
                </a:solidFill>
              </a:rPr>
              <a:t>S3 vs OpenSearch cost and upgrade guidance come from the retrospective cost analysis.</a:t>
            </a:r>
            <a:endParaRPr lang="en-US" sz="8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RESILIENCE</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fontScale="70000" lnSpcReduction="20000"/>
          </a:bodyPr>
          <a:lstStyle/>
          <a:p>
            <a:pPr marL="0" indent="0">
              <a:buNone/>
            </a:pPr>
            <a:r>
              <a:rPr lang="en-US" sz="2950" b="1" dirty="0">
                <a:solidFill>
                  <a:srgbClr val="F5F7FA"/>
                </a:solidFill>
              </a:rPr>
              <a:t>Operational resilience is solid for MVP and launch, but the regional stance is a decision</a:t>
            </a:r>
            <a:endParaRPr lang="en-US" sz="2950" dirty="0"/>
          </a:p>
        </p:txBody>
      </p:sp>
      <p:sp>
        <p:nvSpPr>
          <p:cNvPr id="4" name="Text 2"/>
          <p:cNvSpPr/>
          <p:nvPr/>
        </p:nvSpPr>
        <p:spPr>
          <a:xfrm>
            <a:off x="621792" y="1298448"/>
            <a:ext cx="9875520" cy="713232"/>
          </a:xfrm>
          <a:prstGeom prst="rect">
            <a:avLst/>
          </a:prstGeom>
          <a:noFill/>
          <a:ln/>
        </p:spPr>
        <p:txBody>
          <a:bodyPr wrap="square" lIns="254" tIns="254" rIns="254" bIns="254" rtlCol="0" anchor="t">
            <a:normAutofit lnSpcReduction="10000"/>
          </a:bodyPr>
          <a:lstStyle/>
          <a:p>
            <a:pPr marL="0" indent="0" algn="l">
              <a:buNone/>
            </a:pPr>
            <a:r>
              <a:rPr lang="en-US" sz="1620" dirty="0">
                <a:solidFill>
                  <a:srgbClr val="B2BAC8"/>
                </a:solidFill>
              </a:rPr>
              <a:t>Current state is single-region in us-east-1 and multi-AZ compatible by design and construction. </a:t>
            </a:r>
          </a:p>
          <a:p>
            <a:pPr marL="0" indent="0" algn="l">
              <a:buNone/>
            </a:pPr>
            <a:r>
              <a:rPr lang="en-US" sz="1620" dirty="0">
                <a:solidFill>
                  <a:srgbClr val="B2BAC8"/>
                </a:solidFill>
              </a:rPr>
              <a:t>Single Region is acceptable for an MVP, but production requires an explicit answer to how much regional failure the business will to tolerate. Multi-region is cost effective and does not require re-</a:t>
            </a:r>
            <a:r>
              <a:rPr lang="en-US" sz="1620" dirty="0" err="1">
                <a:solidFill>
                  <a:srgbClr val="B2BAC8"/>
                </a:solidFill>
              </a:rPr>
              <a:t>architecure</a:t>
            </a:r>
            <a:r>
              <a:rPr lang="en-US" sz="1620" dirty="0">
                <a:solidFill>
                  <a:srgbClr val="B2BAC8"/>
                </a:solidFill>
              </a:rPr>
              <a:t> work.</a:t>
            </a:r>
            <a:endParaRPr lang="en-US" sz="1620" dirty="0"/>
          </a:p>
        </p:txBody>
      </p:sp>
      <p:sp>
        <p:nvSpPr>
          <p:cNvPr id="5" name="Text 3"/>
          <p:cNvSpPr/>
          <p:nvPr/>
        </p:nvSpPr>
        <p:spPr>
          <a:xfrm>
            <a:off x="914400" y="2514600"/>
            <a:ext cx="1828800" cy="822960"/>
          </a:xfrm>
          <a:prstGeom prst="roundRect">
            <a:avLst>
              <a:gd name="adj" fmla="val 8889"/>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400" b="1" dirty="0">
                <a:solidFill>
                  <a:srgbClr val="F5F7FA"/>
                </a:solidFill>
              </a:rPr>
              <a:t>Current</a:t>
            </a:r>
            <a:endParaRPr lang="en-US" sz="1400" dirty="0"/>
          </a:p>
          <a:p>
            <a:pPr marL="0" indent="0" algn="ctr">
              <a:buNone/>
            </a:pPr>
            <a:r>
              <a:rPr lang="en-US" sz="1400" b="1" dirty="0">
                <a:solidFill>
                  <a:srgbClr val="F5F7FA"/>
                </a:solidFill>
              </a:rPr>
              <a:t>Single region</a:t>
            </a:r>
            <a:endParaRPr lang="en-US" sz="1400" dirty="0"/>
          </a:p>
        </p:txBody>
      </p:sp>
      <p:sp>
        <p:nvSpPr>
          <p:cNvPr id="6" name="Text 4"/>
          <p:cNvSpPr/>
          <p:nvPr/>
        </p:nvSpPr>
        <p:spPr>
          <a:xfrm>
            <a:off x="914400" y="3611880"/>
            <a:ext cx="1828800" cy="749808"/>
          </a:xfrm>
          <a:prstGeom prst="roundRect">
            <a:avLst>
              <a:gd name="adj" fmla="val 9756"/>
            </a:avLst>
          </a:prstGeom>
          <a:solidFill>
            <a:srgbClr val="0B1828"/>
          </a:solidFill>
          <a:ln w="13970">
            <a:solidFill>
              <a:srgbClr val="2F9BFF"/>
            </a:solidFill>
          </a:ln>
        </p:spPr>
        <p:txBody>
          <a:bodyPr wrap="square" lIns="1016" tIns="1016" rIns="1016" bIns="1016" rtlCol="0" anchor="ctr">
            <a:normAutofit/>
          </a:bodyPr>
          <a:lstStyle/>
          <a:p>
            <a:pPr marL="0" indent="0" algn="ctr">
              <a:buNone/>
            </a:pPr>
            <a:r>
              <a:rPr lang="en-US" sz="1150" dirty="0">
                <a:solidFill>
                  <a:srgbClr val="B2BAC8"/>
                </a:solidFill>
              </a:rPr>
              <a:t>Good for</a:t>
            </a:r>
            <a:endParaRPr lang="en-US" sz="1150" dirty="0"/>
          </a:p>
          <a:p>
            <a:pPr marL="0" indent="0" algn="ctr">
              <a:buNone/>
            </a:pPr>
            <a:r>
              <a:rPr lang="en-US" sz="1150" dirty="0">
                <a:solidFill>
                  <a:srgbClr val="B2BAC8"/>
                </a:solidFill>
              </a:rPr>
              <a:t>MVP, pilots, controlled demos</a:t>
            </a:r>
            <a:endParaRPr lang="en-US" sz="1150" dirty="0"/>
          </a:p>
        </p:txBody>
      </p:sp>
      <p:sp>
        <p:nvSpPr>
          <p:cNvPr id="7" name="Shape 5"/>
          <p:cNvSpPr/>
          <p:nvPr/>
        </p:nvSpPr>
        <p:spPr>
          <a:xfrm>
            <a:off x="2743200" y="2944368"/>
            <a:ext cx="1005840" cy="0"/>
          </a:xfrm>
          <a:prstGeom prst="line">
            <a:avLst/>
          </a:prstGeom>
          <a:ln w="38100" cap="flat" cmpd="sng" algn="ctr">
            <a:solidFill>
              <a:schemeClr val="accent5"/>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en-US"/>
          </a:p>
        </p:txBody>
      </p:sp>
      <p:sp>
        <p:nvSpPr>
          <p:cNvPr id="8" name="Text 6"/>
          <p:cNvSpPr/>
          <p:nvPr/>
        </p:nvSpPr>
        <p:spPr>
          <a:xfrm>
            <a:off x="3749040" y="2514600"/>
            <a:ext cx="2011680" cy="822960"/>
          </a:xfrm>
          <a:prstGeom prst="roundRect">
            <a:avLst>
              <a:gd name="adj" fmla="val 8889"/>
            </a:avLst>
          </a:prstGeom>
          <a:solidFill>
            <a:srgbClr val="071A2D"/>
          </a:solidFill>
          <a:ln w="13970">
            <a:solidFill>
              <a:srgbClr val="59D08F"/>
            </a:solidFill>
          </a:ln>
        </p:spPr>
        <p:txBody>
          <a:bodyPr wrap="square" lIns="1016" tIns="1016" rIns="1016" bIns="1016" rtlCol="0" anchor="ctr">
            <a:normAutofit/>
          </a:bodyPr>
          <a:lstStyle/>
          <a:p>
            <a:pPr marL="0" indent="0" algn="ctr">
              <a:buNone/>
            </a:pPr>
            <a:r>
              <a:rPr lang="en-US" sz="1400" b="1" dirty="0">
                <a:solidFill>
                  <a:srgbClr val="F5F7FA"/>
                </a:solidFill>
              </a:rPr>
              <a:t>Next</a:t>
            </a:r>
            <a:endParaRPr lang="en-US" sz="1400" dirty="0"/>
          </a:p>
          <a:p>
            <a:pPr marL="0" indent="0" algn="ctr">
              <a:buNone/>
            </a:pPr>
            <a:r>
              <a:rPr lang="en-US" sz="1400" b="1" dirty="0">
                <a:solidFill>
                  <a:srgbClr val="F5F7FA"/>
                </a:solidFill>
              </a:rPr>
              <a:t>Active-passive</a:t>
            </a:r>
            <a:endParaRPr lang="en-US" sz="1400" dirty="0"/>
          </a:p>
        </p:txBody>
      </p:sp>
      <p:sp>
        <p:nvSpPr>
          <p:cNvPr id="9" name="Text 7"/>
          <p:cNvSpPr/>
          <p:nvPr/>
        </p:nvSpPr>
        <p:spPr>
          <a:xfrm>
            <a:off x="3749040" y="3611880"/>
            <a:ext cx="2011680" cy="749808"/>
          </a:xfrm>
          <a:prstGeom prst="roundRect">
            <a:avLst>
              <a:gd name="adj" fmla="val 9756"/>
            </a:avLst>
          </a:prstGeom>
          <a:solidFill>
            <a:srgbClr val="0B1828"/>
          </a:solidFill>
          <a:ln w="13970">
            <a:solidFill>
              <a:srgbClr val="59D08F"/>
            </a:solidFill>
          </a:ln>
        </p:spPr>
        <p:txBody>
          <a:bodyPr wrap="square" lIns="1016" tIns="1016" rIns="1016" bIns="1016" rtlCol="0" anchor="ctr">
            <a:normAutofit/>
          </a:bodyPr>
          <a:lstStyle/>
          <a:p>
            <a:pPr marL="0" indent="0" algn="ctr">
              <a:buNone/>
            </a:pPr>
            <a:r>
              <a:rPr lang="en-US" sz="1150" dirty="0">
                <a:solidFill>
                  <a:srgbClr val="B2BAC8"/>
                </a:solidFill>
              </a:rPr>
              <a:t>1-2 days</a:t>
            </a:r>
            <a:endParaRPr lang="en-US" sz="1150" dirty="0"/>
          </a:p>
          <a:p>
            <a:pPr marL="0" indent="0" algn="ctr">
              <a:buNone/>
            </a:pPr>
            <a:r>
              <a:rPr lang="en-US" sz="1150" dirty="0">
                <a:solidFill>
                  <a:srgbClr val="B2BAC8"/>
                </a:solidFill>
              </a:rPr>
              <a:t>secondary region + failover path</a:t>
            </a:r>
            <a:endParaRPr lang="en-US" sz="1150" dirty="0"/>
          </a:p>
        </p:txBody>
      </p:sp>
      <p:sp>
        <p:nvSpPr>
          <p:cNvPr id="10" name="Shape 8"/>
          <p:cNvSpPr/>
          <p:nvPr/>
        </p:nvSpPr>
        <p:spPr>
          <a:xfrm>
            <a:off x="5760720" y="2944368"/>
            <a:ext cx="987552" cy="0"/>
          </a:xfrm>
          <a:prstGeom prst="line">
            <a:avLst/>
          </a:prstGeom>
          <a:ln w="38100" cap="flat" cmpd="sng" algn="ctr">
            <a:solidFill>
              <a:schemeClr val="accent5"/>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en-US"/>
          </a:p>
        </p:txBody>
      </p:sp>
      <p:sp>
        <p:nvSpPr>
          <p:cNvPr id="11" name="Text 9"/>
          <p:cNvSpPr/>
          <p:nvPr/>
        </p:nvSpPr>
        <p:spPr>
          <a:xfrm>
            <a:off x="6748272" y="2514600"/>
            <a:ext cx="1965960" cy="822960"/>
          </a:xfrm>
          <a:prstGeom prst="roundRect">
            <a:avLst>
              <a:gd name="adj" fmla="val 8889"/>
            </a:avLst>
          </a:prstGeom>
          <a:solidFill>
            <a:srgbClr val="071A2D"/>
          </a:solidFill>
          <a:ln w="13970">
            <a:solidFill>
              <a:srgbClr val="FFD65A"/>
            </a:solidFill>
          </a:ln>
        </p:spPr>
        <p:txBody>
          <a:bodyPr wrap="square" lIns="1016" tIns="1016" rIns="1016" bIns="1016" rtlCol="0" anchor="ctr">
            <a:normAutofit/>
          </a:bodyPr>
          <a:lstStyle/>
          <a:p>
            <a:pPr marL="0" indent="0" algn="ctr">
              <a:buNone/>
            </a:pPr>
            <a:r>
              <a:rPr lang="en-US" sz="1400" b="1" dirty="0">
                <a:solidFill>
                  <a:srgbClr val="F5F7FA"/>
                </a:solidFill>
              </a:rPr>
              <a:t>Later</a:t>
            </a:r>
            <a:endParaRPr lang="en-US" sz="1400" dirty="0"/>
          </a:p>
          <a:p>
            <a:pPr marL="0" indent="0" algn="ctr">
              <a:buNone/>
            </a:pPr>
            <a:r>
              <a:rPr lang="en-US" sz="1400" b="1" dirty="0">
                <a:solidFill>
                  <a:srgbClr val="F5F7FA"/>
                </a:solidFill>
              </a:rPr>
              <a:t>Active-active</a:t>
            </a:r>
            <a:endParaRPr lang="en-US" sz="1400" dirty="0"/>
          </a:p>
        </p:txBody>
      </p:sp>
      <p:sp>
        <p:nvSpPr>
          <p:cNvPr id="12" name="Text 10"/>
          <p:cNvSpPr/>
          <p:nvPr/>
        </p:nvSpPr>
        <p:spPr>
          <a:xfrm>
            <a:off x="6748272" y="3611880"/>
            <a:ext cx="1965960" cy="749808"/>
          </a:xfrm>
          <a:prstGeom prst="roundRect">
            <a:avLst>
              <a:gd name="adj" fmla="val 9756"/>
            </a:avLst>
          </a:prstGeom>
          <a:solidFill>
            <a:srgbClr val="0B1828"/>
          </a:solidFill>
          <a:ln w="13970">
            <a:solidFill>
              <a:srgbClr val="FFD65A"/>
            </a:solidFill>
          </a:ln>
        </p:spPr>
        <p:txBody>
          <a:bodyPr wrap="square" lIns="1016" tIns="1016" rIns="1016" bIns="1016" rtlCol="0" anchor="ctr">
            <a:normAutofit/>
          </a:bodyPr>
          <a:lstStyle/>
          <a:p>
            <a:pPr marL="0" indent="0" algn="ctr">
              <a:buNone/>
            </a:pPr>
            <a:r>
              <a:rPr lang="en-US" sz="1150" dirty="0">
                <a:solidFill>
                  <a:srgbClr val="B2BAC8"/>
                </a:solidFill>
              </a:rPr>
              <a:t>1-2 weeks</a:t>
            </a:r>
            <a:endParaRPr lang="en-US" sz="1150" dirty="0"/>
          </a:p>
          <a:p>
            <a:pPr marL="0" indent="0" algn="ctr">
              <a:buNone/>
            </a:pPr>
            <a:r>
              <a:rPr lang="en-US" sz="1150" dirty="0">
                <a:solidFill>
                  <a:srgbClr val="B2BAC8"/>
                </a:solidFill>
              </a:rPr>
              <a:t>conflict strategy + region affinity</a:t>
            </a:r>
            <a:endParaRPr lang="en-US" sz="1150" dirty="0"/>
          </a:p>
        </p:txBody>
      </p:sp>
      <p:sp>
        <p:nvSpPr>
          <p:cNvPr id="13" name="Text 11"/>
          <p:cNvSpPr/>
          <p:nvPr/>
        </p:nvSpPr>
        <p:spPr>
          <a:xfrm>
            <a:off x="9372600" y="2487168"/>
            <a:ext cx="1920240" cy="1965960"/>
          </a:xfrm>
          <a:prstGeom prst="roundRect">
            <a:avLst>
              <a:gd name="adj" fmla="val 3810"/>
            </a:avLst>
          </a:prstGeom>
          <a:solidFill>
            <a:srgbClr val="0B1828"/>
          </a:solidFill>
          <a:ln w="13970">
            <a:solidFill>
              <a:srgbClr val="FF9B55"/>
            </a:solidFill>
          </a:ln>
        </p:spPr>
        <p:txBody>
          <a:bodyPr wrap="square" lIns="1016" tIns="1016" rIns="1016" bIns="1016" rtlCol="0" anchor="ctr">
            <a:normAutofit/>
          </a:bodyPr>
          <a:lstStyle/>
          <a:p>
            <a:pPr marL="0" indent="0" algn="ctr">
              <a:buNone/>
            </a:pPr>
            <a:r>
              <a:rPr lang="en-US" sz="1120" b="1" dirty="0">
                <a:solidFill>
                  <a:srgbClr val="F5F7FA"/>
                </a:solidFill>
              </a:rPr>
              <a:t>CTO question</a:t>
            </a:r>
            <a:endParaRPr lang="en-US" sz="1120" dirty="0"/>
          </a:p>
          <a:p>
            <a:pPr marL="0" indent="0" algn="ctr">
              <a:buNone/>
            </a:pPr>
            <a:r>
              <a:rPr lang="en-US" sz="1120" b="1" dirty="0">
                <a:solidFill>
                  <a:srgbClr val="F5F7FA"/>
                </a:solidFill>
              </a:rPr>
              <a:t>Does coaching report availability justify multi-region complexity now, or after revenue proves demand?</a:t>
            </a:r>
            <a:endParaRPr lang="en-US" sz="1120" dirty="0"/>
          </a:p>
        </p:txBody>
      </p:sp>
      <p:sp>
        <p:nvSpPr>
          <p:cNvPr id="14" name="Text 12"/>
          <p:cNvSpPr/>
          <p:nvPr/>
        </p:nvSpPr>
        <p:spPr>
          <a:xfrm>
            <a:off x="914400" y="5193792"/>
            <a:ext cx="9829800" cy="457200"/>
          </a:xfrm>
          <a:prstGeom prst="rect">
            <a:avLst/>
          </a:prstGeom>
          <a:noFill/>
          <a:ln/>
        </p:spPr>
        <p:txBody>
          <a:bodyPr wrap="square" lIns="254" tIns="254" rIns="254" bIns="254" rtlCol="0" anchor="t">
            <a:normAutofit/>
          </a:bodyPr>
          <a:lstStyle/>
          <a:p>
            <a:pPr marL="0" indent="0" algn="ctr">
              <a:buNone/>
            </a:pPr>
            <a:r>
              <a:rPr lang="en-US" sz="1350" dirty="0">
                <a:solidFill>
                  <a:srgbClr val="B2BAC8"/>
                </a:solidFill>
              </a:rPr>
              <a:t>Low-friction upgrades to multi-region resilience: DynamoDB Global Tables, S3 CRR, second regional API Gateway, replicated Step Functions and Lambda stacks, CloudFront origin routing.</a:t>
            </a:r>
            <a:endParaRPr lang="en-US" sz="1350" dirty="0"/>
          </a:p>
        </p:txBody>
      </p:sp>
      <p:sp>
        <p:nvSpPr>
          <p:cNvPr id="15" name="Text 13"/>
          <p:cNvSpPr/>
          <p:nvPr/>
        </p:nvSpPr>
        <p:spPr>
          <a:xfrm>
            <a:off x="566928" y="6327648"/>
            <a:ext cx="10378440" cy="219456"/>
          </a:xfrm>
          <a:prstGeom prst="rect">
            <a:avLst/>
          </a:prstGeom>
          <a:noFill/>
          <a:ln/>
        </p:spPr>
        <p:txBody>
          <a:bodyPr wrap="square" lIns="0" tIns="0" rIns="0" bIns="0" rtlCol="0" anchor="ctr">
            <a:normAutofit/>
          </a:bodyPr>
          <a:lstStyle/>
          <a:p>
            <a:pPr marL="0" indent="0">
              <a:buNone/>
            </a:pPr>
            <a:r>
              <a:rPr lang="en-US" sz="850" dirty="0">
                <a:solidFill>
                  <a:srgbClr val="7E8796"/>
                </a:solidFill>
              </a:rPr>
              <a:t>Multi-region path and estimated effort come from the retrospective.</a:t>
            </a:r>
            <a:endParaRPr lang="en-US" sz="8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RISK REGISTER</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fontScale="92500"/>
          </a:bodyPr>
          <a:lstStyle/>
          <a:p>
            <a:pPr marL="0" indent="0">
              <a:buNone/>
            </a:pPr>
            <a:r>
              <a:rPr lang="en-US" sz="2950" b="1" dirty="0">
                <a:solidFill>
                  <a:srgbClr val="F5F7FA"/>
                </a:solidFill>
              </a:rPr>
              <a:t>The production-hardening backlog is manageable, not mysterious</a:t>
            </a:r>
            <a:endParaRPr lang="en-US" sz="2950" dirty="0"/>
          </a:p>
        </p:txBody>
      </p:sp>
      <p:sp>
        <p:nvSpPr>
          <p:cNvPr id="4" name="Text 2"/>
          <p:cNvSpPr/>
          <p:nvPr/>
        </p:nvSpPr>
        <p:spPr>
          <a:xfrm>
            <a:off x="621792" y="1298448"/>
            <a:ext cx="9875520" cy="713232"/>
          </a:xfrm>
          <a:prstGeom prst="rect">
            <a:avLst/>
          </a:prstGeom>
          <a:noFill/>
          <a:ln/>
        </p:spPr>
        <p:txBody>
          <a:bodyPr wrap="square" lIns="254" tIns="254" rIns="254" bIns="254" rtlCol="0" anchor="t">
            <a:normAutofit/>
          </a:bodyPr>
          <a:lstStyle/>
          <a:p>
            <a:pPr marL="0" indent="0" algn="l">
              <a:buNone/>
            </a:pPr>
            <a:r>
              <a:rPr lang="en-US" sz="1620" dirty="0">
                <a:solidFill>
                  <a:srgbClr val="B2BAC8"/>
                </a:solidFill>
              </a:rPr>
              <a:t>The system is deployed and the end-to-end pipeline runs. The remaining work is application-level correctness plus the usual enterprise-grade hardening. Good news: no smoke machine required.</a:t>
            </a:r>
            <a:endParaRPr lang="en-US" sz="1620" dirty="0"/>
          </a:p>
        </p:txBody>
      </p:sp>
      <p:sp>
        <p:nvSpPr>
          <p:cNvPr id="5" name="Text 3"/>
          <p:cNvSpPr/>
          <p:nvPr/>
        </p:nvSpPr>
        <p:spPr>
          <a:xfrm>
            <a:off x="822960" y="2249424"/>
            <a:ext cx="1920240" cy="438912"/>
          </a:xfrm>
          <a:prstGeom prst="roundRect">
            <a:avLst>
              <a:gd name="adj" fmla="val 16667"/>
            </a:avLst>
          </a:prstGeom>
          <a:solidFill>
            <a:srgbClr val="FF6B6B"/>
          </a:solidFill>
          <a:ln w="13970">
            <a:solidFill>
              <a:srgbClr val="FF6B6B"/>
            </a:solidFill>
          </a:ln>
        </p:spPr>
        <p:txBody>
          <a:bodyPr wrap="square" lIns="1016" tIns="1016" rIns="1016" bIns="1016" rtlCol="0" anchor="ctr">
            <a:normAutofit/>
          </a:bodyPr>
          <a:lstStyle/>
          <a:p>
            <a:pPr marL="0" indent="0" algn="ctr">
              <a:buNone/>
            </a:pPr>
            <a:r>
              <a:rPr lang="en-US" sz="1100" b="1" dirty="0">
                <a:solidFill>
                  <a:srgbClr val="07111E"/>
                </a:solidFill>
              </a:rPr>
              <a:t>Known app fixes</a:t>
            </a:r>
            <a:endParaRPr lang="en-US" sz="1100" dirty="0"/>
          </a:p>
        </p:txBody>
      </p:sp>
      <p:sp>
        <p:nvSpPr>
          <p:cNvPr id="6" name="Text 4"/>
          <p:cNvSpPr/>
          <p:nvPr/>
        </p:nvSpPr>
        <p:spPr>
          <a:xfrm>
            <a:off x="2944368" y="2267712"/>
            <a:ext cx="7818120" cy="384048"/>
          </a:xfrm>
          <a:prstGeom prst="rect">
            <a:avLst/>
          </a:prstGeom>
          <a:noFill/>
          <a:ln/>
        </p:spPr>
        <p:txBody>
          <a:bodyPr wrap="square" lIns="254" tIns="254" rIns="254" bIns="254" rtlCol="0" anchor="t">
            <a:normAutofit/>
          </a:bodyPr>
          <a:lstStyle/>
          <a:p>
            <a:pPr marL="0" indent="0" algn="l">
              <a:buNone/>
            </a:pPr>
            <a:r>
              <a:rPr lang="en-US" sz="1130" dirty="0">
                <a:solidFill>
                  <a:srgbClr val="B2BAC8"/>
                </a:solidFill>
              </a:rPr>
              <a:t>Use Web Sockets instead of polling for Submissions page while a presentation is processing.</a:t>
            </a:r>
            <a:endParaRPr lang="en-US" sz="1130" dirty="0"/>
          </a:p>
        </p:txBody>
      </p:sp>
      <p:sp>
        <p:nvSpPr>
          <p:cNvPr id="7" name="Text 5"/>
          <p:cNvSpPr/>
          <p:nvPr/>
        </p:nvSpPr>
        <p:spPr>
          <a:xfrm>
            <a:off x="822960" y="2962656"/>
            <a:ext cx="1920240" cy="438912"/>
          </a:xfrm>
          <a:prstGeom prst="roundRect">
            <a:avLst>
              <a:gd name="adj" fmla="val 16667"/>
            </a:avLst>
          </a:prstGeom>
          <a:solidFill>
            <a:srgbClr val="FF9B55"/>
          </a:solidFill>
          <a:ln w="13970">
            <a:solidFill>
              <a:srgbClr val="FF9B55"/>
            </a:solidFill>
          </a:ln>
        </p:spPr>
        <p:txBody>
          <a:bodyPr wrap="square" lIns="1016" tIns="1016" rIns="1016" bIns="1016" rtlCol="0" anchor="ctr">
            <a:normAutofit/>
          </a:bodyPr>
          <a:lstStyle/>
          <a:p>
            <a:pPr marL="0" indent="0" algn="ctr">
              <a:buNone/>
            </a:pPr>
            <a:r>
              <a:rPr lang="en-US" sz="1100" b="1" dirty="0">
                <a:solidFill>
                  <a:srgbClr val="07111E"/>
                </a:solidFill>
              </a:rPr>
              <a:t>Security</a:t>
            </a:r>
            <a:endParaRPr lang="en-US" sz="1100" dirty="0"/>
          </a:p>
        </p:txBody>
      </p:sp>
      <p:sp>
        <p:nvSpPr>
          <p:cNvPr id="8" name="Text 6"/>
          <p:cNvSpPr/>
          <p:nvPr/>
        </p:nvSpPr>
        <p:spPr>
          <a:xfrm>
            <a:off x="2944368" y="2980944"/>
            <a:ext cx="7818120" cy="384048"/>
          </a:xfrm>
          <a:prstGeom prst="rect">
            <a:avLst/>
          </a:prstGeom>
          <a:noFill/>
          <a:ln/>
        </p:spPr>
        <p:txBody>
          <a:bodyPr wrap="square" lIns="254" tIns="254" rIns="254" bIns="254" rtlCol="0" anchor="t">
            <a:normAutofit/>
          </a:bodyPr>
          <a:lstStyle/>
          <a:p>
            <a:pPr marL="0" indent="0" algn="l">
              <a:buNone/>
            </a:pPr>
            <a:r>
              <a:rPr lang="en-US" sz="1130" dirty="0">
                <a:solidFill>
                  <a:srgbClr val="B2BAC8"/>
                </a:solidFill>
              </a:rPr>
              <a:t>Add additional guardrails, add admin approvals for new users, enhance WAF rules, define data retention policies.</a:t>
            </a:r>
            <a:endParaRPr lang="en-US" sz="1130" dirty="0"/>
          </a:p>
        </p:txBody>
      </p:sp>
      <p:sp>
        <p:nvSpPr>
          <p:cNvPr id="9" name="Text 7"/>
          <p:cNvSpPr/>
          <p:nvPr/>
        </p:nvSpPr>
        <p:spPr>
          <a:xfrm>
            <a:off x="822960" y="3675888"/>
            <a:ext cx="1920240" cy="438912"/>
          </a:xfrm>
          <a:prstGeom prst="roundRect">
            <a:avLst>
              <a:gd name="adj" fmla="val 16667"/>
            </a:avLst>
          </a:prstGeom>
          <a:solidFill>
            <a:srgbClr val="FFD65A"/>
          </a:solidFill>
          <a:ln w="13970">
            <a:solidFill>
              <a:srgbClr val="FFD65A"/>
            </a:solidFill>
          </a:ln>
        </p:spPr>
        <p:txBody>
          <a:bodyPr wrap="square" lIns="1016" tIns="1016" rIns="1016" bIns="1016" rtlCol="0" anchor="ctr">
            <a:normAutofit/>
          </a:bodyPr>
          <a:lstStyle/>
          <a:p>
            <a:pPr marL="0" indent="0" algn="ctr">
              <a:buNone/>
            </a:pPr>
            <a:r>
              <a:rPr lang="en-US" sz="1100" b="1" dirty="0">
                <a:solidFill>
                  <a:srgbClr val="07111E"/>
                </a:solidFill>
              </a:rPr>
              <a:t>Reliability</a:t>
            </a:r>
            <a:endParaRPr lang="en-US" sz="1100" dirty="0"/>
          </a:p>
        </p:txBody>
      </p:sp>
      <p:sp>
        <p:nvSpPr>
          <p:cNvPr id="10" name="Text 8"/>
          <p:cNvSpPr/>
          <p:nvPr/>
        </p:nvSpPr>
        <p:spPr>
          <a:xfrm>
            <a:off x="2944368" y="3694176"/>
            <a:ext cx="7818120" cy="384048"/>
          </a:xfrm>
          <a:prstGeom prst="rect">
            <a:avLst/>
          </a:prstGeom>
          <a:noFill/>
          <a:ln/>
        </p:spPr>
        <p:txBody>
          <a:bodyPr wrap="square" lIns="254" tIns="254" rIns="254" bIns="254" rtlCol="0" anchor="t">
            <a:normAutofit/>
          </a:bodyPr>
          <a:lstStyle/>
          <a:p>
            <a:pPr marL="0" indent="0" algn="l">
              <a:buNone/>
            </a:pPr>
            <a:r>
              <a:rPr lang="en-US" sz="1130" dirty="0">
                <a:solidFill>
                  <a:srgbClr val="B2BAC8"/>
                </a:solidFill>
              </a:rPr>
              <a:t>Refine throttling policy by user and entire system, ECS Spot interruption handling, DLQ message runbooks, retry budgets, test idempotency fully.</a:t>
            </a:r>
            <a:endParaRPr lang="en-US" sz="1130" dirty="0"/>
          </a:p>
        </p:txBody>
      </p:sp>
      <p:sp>
        <p:nvSpPr>
          <p:cNvPr id="11" name="Text 9"/>
          <p:cNvSpPr/>
          <p:nvPr/>
        </p:nvSpPr>
        <p:spPr>
          <a:xfrm>
            <a:off x="822960" y="4389120"/>
            <a:ext cx="1920240" cy="438912"/>
          </a:xfrm>
          <a:prstGeom prst="roundRect">
            <a:avLst>
              <a:gd name="adj" fmla="val 16667"/>
            </a:avLst>
          </a:prstGeom>
          <a:solidFill>
            <a:srgbClr val="59D08F"/>
          </a:solidFill>
          <a:ln w="13970">
            <a:solidFill>
              <a:srgbClr val="59D08F"/>
            </a:solidFill>
          </a:ln>
        </p:spPr>
        <p:txBody>
          <a:bodyPr wrap="square" lIns="1016" tIns="1016" rIns="1016" bIns="1016" rtlCol="0" anchor="ctr">
            <a:normAutofit/>
          </a:bodyPr>
          <a:lstStyle/>
          <a:p>
            <a:pPr marL="0" indent="0" algn="ctr">
              <a:buNone/>
            </a:pPr>
            <a:r>
              <a:rPr lang="en-US" sz="1100" b="1" dirty="0">
                <a:solidFill>
                  <a:srgbClr val="07111E"/>
                </a:solidFill>
              </a:rPr>
              <a:t>Observability</a:t>
            </a:r>
            <a:endParaRPr lang="en-US" sz="1100" dirty="0"/>
          </a:p>
        </p:txBody>
      </p:sp>
      <p:sp>
        <p:nvSpPr>
          <p:cNvPr id="12" name="Text 10"/>
          <p:cNvSpPr/>
          <p:nvPr/>
        </p:nvSpPr>
        <p:spPr>
          <a:xfrm>
            <a:off x="2944368" y="4407408"/>
            <a:ext cx="7818120" cy="384048"/>
          </a:xfrm>
          <a:prstGeom prst="rect">
            <a:avLst/>
          </a:prstGeom>
          <a:noFill/>
          <a:ln/>
        </p:spPr>
        <p:txBody>
          <a:bodyPr wrap="square" lIns="254" tIns="254" rIns="254" bIns="254" rtlCol="0" anchor="t">
            <a:normAutofit/>
          </a:bodyPr>
          <a:lstStyle/>
          <a:p>
            <a:pPr marL="0" indent="0" algn="l">
              <a:buNone/>
            </a:pPr>
            <a:r>
              <a:rPr lang="en-US" sz="1130" dirty="0">
                <a:solidFill>
                  <a:srgbClr val="B2BAC8"/>
                </a:solidFill>
              </a:rPr>
              <a:t>Add Correlation Id and additional logging to trace a submission across Cognito, API, S3, Step Functions, queues, ECS, Bedrock, and report generation.</a:t>
            </a:r>
            <a:endParaRPr lang="en-US" sz="1130" dirty="0"/>
          </a:p>
        </p:txBody>
      </p:sp>
      <p:sp>
        <p:nvSpPr>
          <p:cNvPr id="13" name="Text 11"/>
          <p:cNvSpPr/>
          <p:nvPr/>
        </p:nvSpPr>
        <p:spPr>
          <a:xfrm>
            <a:off x="822960" y="5102352"/>
            <a:ext cx="1920240" cy="438912"/>
          </a:xfrm>
          <a:prstGeom prst="roundRect">
            <a:avLst>
              <a:gd name="adj" fmla="val 16667"/>
            </a:avLst>
          </a:prstGeom>
          <a:solidFill>
            <a:srgbClr val="2F9BFF"/>
          </a:solidFill>
          <a:ln w="13970">
            <a:solidFill>
              <a:srgbClr val="2F9BFF"/>
            </a:solidFill>
          </a:ln>
        </p:spPr>
        <p:txBody>
          <a:bodyPr wrap="square" lIns="1016" tIns="1016" rIns="1016" bIns="1016" rtlCol="0" anchor="ctr">
            <a:normAutofit/>
          </a:bodyPr>
          <a:lstStyle/>
          <a:p>
            <a:pPr marL="0" indent="0" algn="ctr">
              <a:buNone/>
            </a:pPr>
            <a:r>
              <a:rPr lang="en-US" sz="1100" b="1" dirty="0">
                <a:solidFill>
                  <a:srgbClr val="07111E"/>
                </a:solidFill>
              </a:rPr>
              <a:t>FinOps</a:t>
            </a:r>
            <a:endParaRPr lang="en-US" sz="1100" dirty="0"/>
          </a:p>
        </p:txBody>
      </p:sp>
      <p:sp>
        <p:nvSpPr>
          <p:cNvPr id="14" name="Text 12"/>
          <p:cNvSpPr/>
          <p:nvPr/>
        </p:nvSpPr>
        <p:spPr>
          <a:xfrm>
            <a:off x="2944368" y="5120640"/>
            <a:ext cx="7818120" cy="384048"/>
          </a:xfrm>
          <a:prstGeom prst="rect">
            <a:avLst/>
          </a:prstGeom>
          <a:noFill/>
          <a:ln/>
        </p:spPr>
        <p:txBody>
          <a:bodyPr wrap="square" lIns="254" tIns="254" rIns="254" bIns="254" rtlCol="0" anchor="t">
            <a:normAutofit/>
          </a:bodyPr>
          <a:lstStyle/>
          <a:p>
            <a:pPr marL="0" indent="0" algn="l">
              <a:buNone/>
            </a:pPr>
            <a:r>
              <a:rPr lang="en-US" sz="1130" dirty="0">
                <a:solidFill>
                  <a:srgbClr val="B2BAC8"/>
                </a:solidFill>
              </a:rPr>
              <a:t>Refine budgets, Bedrock spend alarms, lifecycle policies, model-choice controls, chargeback by user or tenant.</a:t>
            </a:r>
            <a:endParaRPr lang="en-US" sz="1130" dirty="0"/>
          </a:p>
        </p:txBody>
      </p:sp>
      <p:sp>
        <p:nvSpPr>
          <p:cNvPr id="15" name="Text 13"/>
          <p:cNvSpPr/>
          <p:nvPr/>
        </p:nvSpPr>
        <p:spPr>
          <a:xfrm>
            <a:off x="3063240" y="5833872"/>
            <a:ext cx="6217920" cy="493776"/>
          </a:xfrm>
          <a:prstGeom prst="roundRect">
            <a:avLst>
              <a:gd name="adj" fmla="val 14815"/>
            </a:avLst>
          </a:prstGeom>
          <a:solidFill>
            <a:srgbClr val="0B1828"/>
          </a:solidFill>
          <a:ln w="13970">
            <a:solidFill>
              <a:srgbClr val="2F9BFF"/>
            </a:solidFill>
          </a:ln>
        </p:spPr>
        <p:txBody>
          <a:bodyPr wrap="square" lIns="1016" tIns="1016" rIns="1016" bIns="1016" rtlCol="0" anchor="ctr">
            <a:normAutofit/>
          </a:bodyPr>
          <a:lstStyle/>
          <a:p>
            <a:pPr marL="0" indent="0" algn="ctr">
              <a:buNone/>
            </a:pPr>
            <a:r>
              <a:rPr lang="en-US" sz="1220" dirty="0">
                <a:solidFill>
                  <a:srgbClr val="B2BAC8"/>
                </a:solidFill>
              </a:rPr>
              <a:t>Evaluate items and prioritize: </a:t>
            </a:r>
          </a:p>
          <a:p>
            <a:pPr marL="0" indent="0" algn="ctr">
              <a:buNone/>
            </a:pPr>
            <a:r>
              <a:rPr lang="en-US" sz="1220" dirty="0">
                <a:solidFill>
                  <a:srgbClr val="B2BAC8"/>
                </a:solidFill>
              </a:rPr>
              <a:t>In this case the Security and Reliability issues have the highest priority</a:t>
            </a:r>
            <a:endParaRPr lang="en-US" sz="1220" dirty="0"/>
          </a:p>
        </p:txBody>
      </p:sp>
      <p:sp>
        <p:nvSpPr>
          <p:cNvPr id="16" name="Text 14"/>
          <p:cNvSpPr/>
          <p:nvPr/>
        </p:nvSpPr>
        <p:spPr>
          <a:xfrm>
            <a:off x="566928" y="6327648"/>
            <a:ext cx="10378440" cy="219456"/>
          </a:xfrm>
          <a:prstGeom prst="rect">
            <a:avLst/>
          </a:prstGeom>
          <a:noFill/>
          <a:ln/>
        </p:spPr>
        <p:txBody>
          <a:bodyPr wrap="square" lIns="0" tIns="0" rIns="0" bIns="0" rtlCol="0" anchor="ctr">
            <a:normAutofit/>
          </a:bodyPr>
          <a:lstStyle/>
          <a:p>
            <a:pPr marL="0" indent="0">
              <a:buNone/>
            </a:pPr>
            <a:r>
              <a:rPr lang="en-US" sz="850" dirty="0">
                <a:solidFill>
                  <a:srgbClr val="7E8796"/>
                </a:solidFill>
              </a:rPr>
              <a:t>Known application issues come from project overview and source deck. Hardening items are CTO recommendations derived from the architecture.</a:t>
            </a:r>
            <a:endParaRPr lang="en-US" sz="8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a:effectLst/>
      </p:bgPr>
    </p:bg>
    <p:spTree>
      <p:nvGrpSpPr>
        <p:cNvPr id="1" name=""/>
        <p:cNvGrpSpPr/>
        <p:nvPr/>
      </p:nvGrpSpPr>
      <p:grpSpPr>
        <a:xfrm>
          <a:off x="0" y="0"/>
          <a:ext cx="0" cy="0"/>
          <a:chOff x="0" y="0"/>
          <a:chExt cx="0" cy="0"/>
        </a:xfrm>
      </p:grpSpPr>
      <p:sp>
        <p:nvSpPr>
          <p:cNvPr id="17" name="Oval 16">
            <a:extLst>
              <a:ext uri="{FF2B5EF4-FFF2-40B4-BE49-F238E27FC236}">
                <a16:creationId xmlns:a16="http://schemas.microsoft.com/office/drawing/2014/main" id="{4FA0F618-326A-9608-98AC-C6FBE3608DC3}"/>
              </a:ext>
            </a:extLst>
          </p:cNvPr>
          <p:cNvSpPr/>
          <p:nvPr/>
        </p:nvSpPr>
        <p:spPr>
          <a:xfrm>
            <a:off x="2628900" y="2048256"/>
            <a:ext cx="6729984" cy="3666744"/>
          </a:xfrm>
          <a:prstGeom prst="ellipse">
            <a:avLst/>
          </a:prstGeom>
          <a:noFill/>
          <a:ln w="762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WHERE I WOULD SPEND TIME</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a:bodyPr>
          <a:lstStyle/>
          <a:p>
            <a:pPr marL="0" indent="0">
              <a:buNone/>
            </a:pPr>
            <a:r>
              <a:rPr lang="en-US" sz="2950" b="1" dirty="0">
                <a:solidFill>
                  <a:srgbClr val="F5F7FA"/>
                </a:solidFill>
              </a:rPr>
              <a:t>CTO decision radar</a:t>
            </a:r>
            <a:endParaRPr lang="en-US" sz="2950" dirty="0"/>
          </a:p>
        </p:txBody>
      </p:sp>
      <p:sp>
        <p:nvSpPr>
          <p:cNvPr id="4" name="Text 2"/>
          <p:cNvSpPr/>
          <p:nvPr/>
        </p:nvSpPr>
        <p:spPr>
          <a:xfrm>
            <a:off x="621792" y="1243584"/>
            <a:ext cx="8549640" cy="493776"/>
          </a:xfrm>
          <a:prstGeom prst="rect">
            <a:avLst/>
          </a:prstGeom>
          <a:noFill/>
          <a:ln/>
        </p:spPr>
        <p:txBody>
          <a:bodyPr wrap="square" lIns="254" tIns="254" rIns="254" bIns="254" rtlCol="0" anchor="t">
            <a:normAutofit lnSpcReduction="10000"/>
          </a:bodyPr>
          <a:lstStyle/>
          <a:p>
            <a:pPr marL="0" indent="0" algn="l">
              <a:buNone/>
            </a:pPr>
            <a:r>
              <a:rPr lang="en-US" sz="1700" dirty="0">
                <a:solidFill>
                  <a:srgbClr val="B2BAC8"/>
                </a:solidFill>
              </a:rPr>
              <a:t>The architecture is good enough to advance. The discussion should move from “can this work?” to “what operating posture do we want?”</a:t>
            </a:r>
            <a:endParaRPr lang="en-US" sz="1700" dirty="0"/>
          </a:p>
        </p:txBody>
      </p:sp>
      <p:sp>
        <p:nvSpPr>
          <p:cNvPr id="5" name="Text 3"/>
          <p:cNvSpPr/>
          <p:nvPr/>
        </p:nvSpPr>
        <p:spPr>
          <a:xfrm>
            <a:off x="5074920" y="3255264"/>
            <a:ext cx="2011680" cy="1005840"/>
          </a:xfrm>
          <a:prstGeom prst="roundRect">
            <a:avLst>
              <a:gd name="adj" fmla="val 7273"/>
            </a:avLst>
          </a:prstGeom>
          <a:solidFill>
            <a:srgbClr val="2F9BFF"/>
          </a:solidFill>
          <a:ln w="13970">
            <a:solidFill>
              <a:srgbClr val="2F9BFF"/>
            </a:solidFill>
          </a:ln>
        </p:spPr>
        <p:txBody>
          <a:bodyPr wrap="square" lIns="1016" tIns="1016" rIns="1016" bIns="1016" rtlCol="0" anchor="ctr">
            <a:normAutofit/>
          </a:bodyPr>
          <a:lstStyle/>
          <a:p>
            <a:pPr marL="0" indent="0" algn="ctr">
              <a:buNone/>
            </a:pPr>
            <a:r>
              <a:rPr lang="en-US" sz="1600" b="1" dirty="0">
                <a:solidFill>
                  <a:srgbClr val="03101D"/>
                </a:solidFill>
              </a:rPr>
              <a:t>CTO</a:t>
            </a:r>
            <a:endParaRPr lang="en-US" sz="1600" dirty="0"/>
          </a:p>
          <a:p>
            <a:pPr marL="0" indent="0" algn="ctr">
              <a:buNone/>
            </a:pPr>
            <a:r>
              <a:rPr lang="en-US" sz="1600" b="1" dirty="0">
                <a:solidFill>
                  <a:srgbClr val="03101D"/>
                </a:solidFill>
              </a:rPr>
              <a:t>Operating</a:t>
            </a:r>
            <a:endParaRPr lang="en-US" sz="1600" dirty="0"/>
          </a:p>
          <a:p>
            <a:pPr marL="0" indent="0" algn="ctr">
              <a:buNone/>
            </a:pPr>
            <a:r>
              <a:rPr lang="en-US" sz="1600" b="1" dirty="0">
                <a:solidFill>
                  <a:srgbClr val="03101D"/>
                </a:solidFill>
              </a:rPr>
              <a:t>Posture</a:t>
            </a:r>
            <a:endParaRPr lang="en-US" sz="1600" dirty="0"/>
          </a:p>
        </p:txBody>
      </p:sp>
      <p:sp>
        <p:nvSpPr>
          <p:cNvPr id="6" name="Text 4"/>
          <p:cNvSpPr/>
          <p:nvPr/>
        </p:nvSpPr>
        <p:spPr>
          <a:xfrm>
            <a:off x="4828032" y="1938528"/>
            <a:ext cx="2057400" cy="457200"/>
          </a:xfrm>
          <a:prstGeom prst="roundRect">
            <a:avLst>
              <a:gd name="adj" fmla="val 16000"/>
            </a:avLst>
          </a:prstGeom>
          <a:solidFill>
            <a:srgbClr val="0B1828"/>
          </a:solidFill>
          <a:ln w="13970">
            <a:solidFill>
              <a:srgbClr val="2F9BFF"/>
            </a:solidFill>
          </a:ln>
        </p:spPr>
        <p:txBody>
          <a:bodyPr wrap="square" lIns="1016" tIns="1016" rIns="1016" bIns="1016" rtlCol="0" anchor="ctr">
            <a:normAutofit/>
          </a:bodyPr>
          <a:lstStyle/>
          <a:p>
            <a:pPr marL="0" indent="0" algn="ctr">
              <a:buNone/>
            </a:pPr>
            <a:r>
              <a:rPr lang="en-US" sz="1070" b="1" dirty="0">
                <a:solidFill>
                  <a:srgbClr val="F5F7FA"/>
                </a:solidFill>
              </a:rPr>
              <a:t>Ship MVP transcript-first</a:t>
            </a:r>
            <a:endParaRPr lang="en-US" sz="1070" dirty="0"/>
          </a:p>
        </p:txBody>
      </p:sp>
      <p:sp>
        <p:nvSpPr>
          <p:cNvPr id="7" name="Text 5"/>
          <p:cNvSpPr/>
          <p:nvPr/>
        </p:nvSpPr>
        <p:spPr>
          <a:xfrm>
            <a:off x="4919472" y="2459736"/>
            <a:ext cx="1874520" cy="420624"/>
          </a:xfrm>
          <a:prstGeom prst="rect">
            <a:avLst/>
          </a:prstGeom>
          <a:solidFill>
            <a:srgbClr val="1C2430"/>
          </a:solidFill>
          <a:ln/>
        </p:spPr>
        <p:txBody>
          <a:bodyPr wrap="square" lIns="254" tIns="254" rIns="254" bIns="254" rtlCol="0" anchor="t">
            <a:normAutofit/>
          </a:bodyPr>
          <a:lstStyle/>
          <a:p>
            <a:pPr marL="0" indent="0" algn="ctr">
              <a:buNone/>
            </a:pPr>
            <a:r>
              <a:rPr lang="en-US" sz="840" dirty="0">
                <a:solidFill>
                  <a:srgbClr val="7E8796"/>
                </a:solidFill>
              </a:rPr>
              <a:t>Embeddings remain feature-flagged until retrieval is fixed and value is proven.</a:t>
            </a:r>
            <a:endParaRPr lang="en-US" sz="840" dirty="0"/>
          </a:p>
        </p:txBody>
      </p:sp>
      <p:sp>
        <p:nvSpPr>
          <p:cNvPr id="8" name="Text 6"/>
          <p:cNvSpPr/>
          <p:nvPr/>
        </p:nvSpPr>
        <p:spPr>
          <a:xfrm>
            <a:off x="8083296" y="3136392"/>
            <a:ext cx="2057400" cy="457200"/>
          </a:xfrm>
          <a:prstGeom prst="roundRect">
            <a:avLst>
              <a:gd name="adj" fmla="val 16000"/>
            </a:avLst>
          </a:prstGeom>
          <a:solidFill>
            <a:srgbClr val="0B1828"/>
          </a:solidFill>
          <a:ln w="13970">
            <a:solidFill>
              <a:srgbClr val="59D08F"/>
            </a:solidFill>
          </a:ln>
        </p:spPr>
        <p:txBody>
          <a:bodyPr wrap="square" lIns="1016" tIns="1016" rIns="1016" bIns="1016" rtlCol="0" anchor="ctr">
            <a:normAutofit/>
          </a:bodyPr>
          <a:lstStyle/>
          <a:p>
            <a:pPr marL="0" indent="0" algn="ctr">
              <a:buNone/>
            </a:pPr>
            <a:r>
              <a:rPr lang="en-US" sz="1070" b="1" dirty="0">
                <a:solidFill>
                  <a:srgbClr val="F5F7FA"/>
                </a:solidFill>
              </a:rPr>
              <a:t>Keep S3 vectors for now</a:t>
            </a:r>
            <a:endParaRPr lang="en-US" sz="1070" dirty="0"/>
          </a:p>
        </p:txBody>
      </p:sp>
      <p:sp>
        <p:nvSpPr>
          <p:cNvPr id="9" name="Text 7"/>
          <p:cNvSpPr/>
          <p:nvPr/>
        </p:nvSpPr>
        <p:spPr>
          <a:xfrm>
            <a:off x="8174736" y="3657600"/>
            <a:ext cx="1874520" cy="420624"/>
          </a:xfrm>
          <a:prstGeom prst="rect">
            <a:avLst/>
          </a:prstGeom>
          <a:solidFill>
            <a:srgbClr val="1C2430"/>
          </a:solidFill>
          <a:ln/>
        </p:spPr>
        <p:txBody>
          <a:bodyPr wrap="square" lIns="254" tIns="254" rIns="254" bIns="254" rtlCol="0" anchor="t">
            <a:normAutofit/>
          </a:bodyPr>
          <a:lstStyle/>
          <a:p>
            <a:pPr marL="0" indent="0" algn="ctr">
              <a:buNone/>
            </a:pPr>
            <a:r>
              <a:rPr lang="en-US" sz="840" dirty="0">
                <a:solidFill>
                  <a:srgbClr val="7E8796"/>
                </a:solidFill>
              </a:rPr>
              <a:t>Move to OpenSearch or pgvector when cross-submission similarity becomes real.</a:t>
            </a:r>
            <a:endParaRPr lang="en-US" sz="840" dirty="0"/>
          </a:p>
        </p:txBody>
      </p:sp>
      <p:sp>
        <p:nvSpPr>
          <p:cNvPr id="10" name="Text 8"/>
          <p:cNvSpPr/>
          <p:nvPr/>
        </p:nvSpPr>
        <p:spPr>
          <a:xfrm>
            <a:off x="7360920" y="4974336"/>
            <a:ext cx="2057400" cy="457200"/>
          </a:xfrm>
          <a:prstGeom prst="roundRect">
            <a:avLst>
              <a:gd name="adj" fmla="val 16000"/>
            </a:avLst>
          </a:prstGeom>
          <a:solidFill>
            <a:srgbClr val="0B1828"/>
          </a:solidFill>
          <a:ln w="13970">
            <a:solidFill>
              <a:srgbClr val="FFD65A"/>
            </a:solidFill>
          </a:ln>
        </p:spPr>
        <p:txBody>
          <a:bodyPr wrap="square" lIns="1016" tIns="1016" rIns="1016" bIns="1016" rtlCol="0" anchor="ctr">
            <a:normAutofit/>
          </a:bodyPr>
          <a:lstStyle/>
          <a:p>
            <a:pPr marL="0" indent="0" algn="ctr">
              <a:buNone/>
            </a:pPr>
            <a:r>
              <a:rPr lang="en-US" sz="1070" b="1" dirty="0">
                <a:solidFill>
                  <a:srgbClr val="F5F7FA"/>
                </a:solidFill>
              </a:rPr>
              <a:t>Fargate Spot is fine</a:t>
            </a:r>
            <a:endParaRPr lang="en-US" sz="1070" dirty="0"/>
          </a:p>
        </p:txBody>
      </p:sp>
      <p:sp>
        <p:nvSpPr>
          <p:cNvPr id="11" name="Text 9"/>
          <p:cNvSpPr/>
          <p:nvPr/>
        </p:nvSpPr>
        <p:spPr>
          <a:xfrm>
            <a:off x="7452360" y="5495544"/>
            <a:ext cx="1874520" cy="420624"/>
          </a:xfrm>
          <a:prstGeom prst="rect">
            <a:avLst/>
          </a:prstGeom>
          <a:solidFill>
            <a:srgbClr val="1C2430"/>
          </a:solidFill>
          <a:ln/>
        </p:spPr>
        <p:txBody>
          <a:bodyPr wrap="square" lIns="254" tIns="254" rIns="254" bIns="254" rtlCol="0" anchor="t">
            <a:normAutofit/>
          </a:bodyPr>
          <a:lstStyle/>
          <a:p>
            <a:pPr marL="0" indent="0" algn="ctr">
              <a:buNone/>
            </a:pPr>
            <a:r>
              <a:rPr lang="en-US" sz="840" dirty="0">
                <a:solidFill>
                  <a:srgbClr val="7E8796"/>
                </a:solidFill>
              </a:rPr>
              <a:t>For low sustained volume, Spot tasks with DLQ and retries are a smart cost choice.</a:t>
            </a:r>
            <a:endParaRPr lang="en-US" sz="840" dirty="0"/>
          </a:p>
        </p:txBody>
      </p:sp>
      <p:sp>
        <p:nvSpPr>
          <p:cNvPr id="12" name="Text 10"/>
          <p:cNvSpPr/>
          <p:nvPr/>
        </p:nvSpPr>
        <p:spPr>
          <a:xfrm>
            <a:off x="3227832" y="4974336"/>
            <a:ext cx="2057400" cy="457200"/>
          </a:xfrm>
          <a:prstGeom prst="roundRect">
            <a:avLst>
              <a:gd name="adj" fmla="val 16000"/>
            </a:avLst>
          </a:prstGeom>
          <a:solidFill>
            <a:srgbClr val="0B1828"/>
          </a:solidFill>
          <a:ln w="13970">
            <a:solidFill>
              <a:srgbClr val="FF9B55"/>
            </a:solidFill>
          </a:ln>
        </p:spPr>
        <p:txBody>
          <a:bodyPr wrap="square" lIns="1016" tIns="1016" rIns="1016" bIns="1016" rtlCol="0" anchor="ctr">
            <a:normAutofit/>
          </a:bodyPr>
          <a:lstStyle/>
          <a:p>
            <a:pPr marL="0" indent="0" algn="ctr">
              <a:buNone/>
            </a:pPr>
            <a:r>
              <a:rPr lang="en-US" sz="1070" b="1" dirty="0">
                <a:solidFill>
                  <a:srgbClr val="F5F7FA"/>
                </a:solidFill>
              </a:rPr>
              <a:t>Define regional intent</a:t>
            </a:r>
            <a:endParaRPr lang="en-US" sz="1070" dirty="0"/>
          </a:p>
        </p:txBody>
      </p:sp>
      <p:sp>
        <p:nvSpPr>
          <p:cNvPr id="13" name="Text 11"/>
          <p:cNvSpPr/>
          <p:nvPr/>
        </p:nvSpPr>
        <p:spPr>
          <a:xfrm>
            <a:off x="3319272" y="5495544"/>
            <a:ext cx="1874520" cy="420624"/>
          </a:xfrm>
          <a:prstGeom prst="rect">
            <a:avLst/>
          </a:prstGeom>
          <a:solidFill>
            <a:srgbClr val="1C2430"/>
          </a:solidFill>
          <a:ln/>
        </p:spPr>
        <p:txBody>
          <a:bodyPr wrap="square" lIns="254" tIns="254" rIns="254" bIns="254" rtlCol="0" anchor="t">
            <a:normAutofit/>
          </a:bodyPr>
          <a:lstStyle/>
          <a:p>
            <a:pPr marL="0" indent="0" algn="ctr">
              <a:buNone/>
            </a:pPr>
            <a:r>
              <a:rPr lang="en-US" sz="840" dirty="0">
                <a:solidFill>
                  <a:srgbClr val="7E8796"/>
                </a:solidFill>
              </a:rPr>
              <a:t>Single region is fine for pilot. Production needs a written RTO/RPO answer.</a:t>
            </a:r>
            <a:endParaRPr lang="en-US" sz="840" dirty="0"/>
          </a:p>
        </p:txBody>
      </p:sp>
      <p:sp>
        <p:nvSpPr>
          <p:cNvPr id="14" name="Text 12"/>
          <p:cNvSpPr/>
          <p:nvPr/>
        </p:nvSpPr>
        <p:spPr>
          <a:xfrm>
            <a:off x="1956816" y="3127248"/>
            <a:ext cx="2057400" cy="457200"/>
          </a:xfrm>
          <a:prstGeom prst="roundRect">
            <a:avLst>
              <a:gd name="adj" fmla="val 16000"/>
            </a:avLst>
          </a:prstGeom>
          <a:solidFill>
            <a:srgbClr val="0B1828"/>
          </a:solidFill>
          <a:ln w="13970">
            <a:solidFill>
              <a:srgbClr val="B68CFF"/>
            </a:solidFill>
          </a:ln>
        </p:spPr>
        <p:txBody>
          <a:bodyPr wrap="square" lIns="1016" tIns="1016" rIns="1016" bIns="1016" rtlCol="0" anchor="ctr">
            <a:normAutofit/>
          </a:bodyPr>
          <a:lstStyle/>
          <a:p>
            <a:pPr marL="0" indent="0" algn="ctr">
              <a:buNone/>
            </a:pPr>
            <a:r>
              <a:rPr lang="en-US" sz="1070" b="1" dirty="0">
                <a:solidFill>
                  <a:srgbClr val="F5F7FA"/>
                </a:solidFill>
              </a:rPr>
              <a:t>Instrument the AI path</a:t>
            </a:r>
            <a:endParaRPr lang="en-US" sz="1070" dirty="0"/>
          </a:p>
        </p:txBody>
      </p:sp>
      <p:sp>
        <p:nvSpPr>
          <p:cNvPr id="15" name="Text 13"/>
          <p:cNvSpPr/>
          <p:nvPr/>
        </p:nvSpPr>
        <p:spPr>
          <a:xfrm>
            <a:off x="2048256" y="3648456"/>
            <a:ext cx="1874520" cy="420624"/>
          </a:xfrm>
          <a:prstGeom prst="rect">
            <a:avLst/>
          </a:prstGeom>
          <a:solidFill>
            <a:srgbClr val="1C2430"/>
          </a:solidFill>
          <a:ln/>
        </p:spPr>
        <p:txBody>
          <a:bodyPr wrap="square" lIns="254" tIns="254" rIns="254" bIns="254" rtlCol="0" anchor="t">
            <a:normAutofit/>
          </a:bodyPr>
          <a:lstStyle/>
          <a:p>
            <a:pPr marL="0" indent="0" algn="ctr">
              <a:buNone/>
            </a:pPr>
            <a:r>
              <a:rPr lang="en-US" sz="840" dirty="0">
                <a:solidFill>
                  <a:srgbClr val="7E8796"/>
                </a:solidFill>
              </a:rPr>
              <a:t>Token cost, model latency, prompt version, agent output, parser failure, and report traceability.</a:t>
            </a:r>
            <a:endParaRPr lang="en-US" sz="840" dirty="0"/>
          </a:p>
        </p:txBody>
      </p:sp>
      <p:sp>
        <p:nvSpPr>
          <p:cNvPr id="16" name="Text 14"/>
          <p:cNvSpPr/>
          <p:nvPr/>
        </p:nvSpPr>
        <p:spPr>
          <a:xfrm>
            <a:off x="566928" y="6327648"/>
            <a:ext cx="10378440" cy="219456"/>
          </a:xfrm>
          <a:prstGeom prst="rect">
            <a:avLst/>
          </a:prstGeom>
          <a:noFill/>
          <a:ln/>
        </p:spPr>
        <p:txBody>
          <a:bodyPr wrap="square" lIns="0" tIns="0" rIns="0" bIns="0" rtlCol="0" anchor="ctr">
            <a:normAutofit/>
          </a:bodyPr>
          <a:lstStyle/>
          <a:p>
            <a:pPr marL="0" indent="0">
              <a:buNone/>
            </a:pPr>
            <a:r>
              <a:rPr lang="en-US" sz="850" dirty="0">
                <a:solidFill>
                  <a:srgbClr val="7E8796"/>
                </a:solidFill>
              </a:rPr>
              <a:t>This slide distills CTO decisions from the supplied architecture, flow, cost, and current-state documents.</a:t>
            </a:r>
            <a:endParaRPr lang="en-US" sz="8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NEXT MOVES</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a:bodyPr>
          <a:lstStyle/>
          <a:p>
            <a:pPr marL="0" indent="0">
              <a:buNone/>
            </a:pPr>
            <a:r>
              <a:rPr lang="en-US" sz="2950" b="1" dirty="0">
                <a:solidFill>
                  <a:srgbClr val="F5F7FA"/>
                </a:solidFill>
              </a:rPr>
              <a:t>A Practical 15/30/60 Day Path to Production</a:t>
            </a:r>
            <a:endParaRPr lang="en-US" sz="2950" dirty="0"/>
          </a:p>
        </p:txBody>
      </p:sp>
      <p:sp>
        <p:nvSpPr>
          <p:cNvPr id="4" name="Text 2"/>
          <p:cNvSpPr/>
          <p:nvPr/>
        </p:nvSpPr>
        <p:spPr>
          <a:xfrm>
            <a:off x="621792" y="1316736"/>
            <a:ext cx="9784080" cy="658368"/>
          </a:xfrm>
          <a:prstGeom prst="rect">
            <a:avLst/>
          </a:prstGeom>
          <a:noFill/>
          <a:ln/>
        </p:spPr>
        <p:txBody>
          <a:bodyPr wrap="square" lIns="254" tIns="254" rIns="254" bIns="254" rtlCol="0" anchor="t">
            <a:normAutofit/>
          </a:bodyPr>
          <a:lstStyle/>
          <a:p>
            <a:pPr marL="0" indent="0" algn="l">
              <a:buNone/>
            </a:pPr>
            <a:r>
              <a:rPr lang="en-US" sz="1650" dirty="0">
                <a:solidFill>
                  <a:srgbClr val="B2BAC8"/>
                </a:solidFill>
              </a:rPr>
              <a:t>Do not boil the architecture ocean. Fix the known seams, prove the evaluator quality, then harden only the parts that have a user or revenue reason to exist.</a:t>
            </a:r>
            <a:endParaRPr lang="en-US" sz="1650" dirty="0"/>
          </a:p>
        </p:txBody>
      </p:sp>
      <p:sp>
        <p:nvSpPr>
          <p:cNvPr id="5" name="Text 3"/>
          <p:cNvSpPr/>
          <p:nvPr/>
        </p:nvSpPr>
        <p:spPr>
          <a:xfrm>
            <a:off x="822960" y="2286000"/>
            <a:ext cx="2377440" cy="530352"/>
          </a:xfrm>
          <a:prstGeom prst="roundRect">
            <a:avLst>
              <a:gd name="adj" fmla="val 13793"/>
            </a:avLst>
          </a:prstGeom>
          <a:solidFill>
            <a:srgbClr val="2F9BFF"/>
          </a:solidFill>
          <a:ln w="13970">
            <a:solidFill>
              <a:srgbClr val="2F9BFF"/>
            </a:solidFill>
          </a:ln>
        </p:spPr>
        <p:txBody>
          <a:bodyPr wrap="square" lIns="1016" tIns="1016" rIns="1016" bIns="1016" rtlCol="0" anchor="ctr">
            <a:normAutofit/>
          </a:bodyPr>
          <a:lstStyle/>
          <a:p>
            <a:pPr marL="0" indent="0" algn="ctr">
              <a:buNone/>
            </a:pPr>
            <a:r>
              <a:rPr lang="en-US" sz="1400" b="1" dirty="0">
                <a:solidFill>
                  <a:srgbClr val="07111E"/>
                </a:solidFill>
              </a:rPr>
              <a:t>15 days</a:t>
            </a:r>
            <a:endParaRPr lang="en-US" sz="1400" dirty="0"/>
          </a:p>
        </p:txBody>
      </p:sp>
      <p:sp>
        <p:nvSpPr>
          <p:cNvPr id="6" name="Text 4"/>
          <p:cNvSpPr/>
          <p:nvPr/>
        </p:nvSpPr>
        <p:spPr>
          <a:xfrm>
            <a:off x="822960" y="2907792"/>
            <a:ext cx="2377440" cy="274320"/>
          </a:xfrm>
          <a:prstGeom prst="rect">
            <a:avLst/>
          </a:prstGeom>
          <a:noFill/>
          <a:ln/>
        </p:spPr>
        <p:txBody>
          <a:bodyPr wrap="square" lIns="254" tIns="254" rIns="254" bIns="254" rtlCol="0" anchor="t">
            <a:normAutofit/>
          </a:bodyPr>
          <a:lstStyle/>
          <a:p>
            <a:pPr marL="0" indent="0" algn="ctr">
              <a:buNone/>
            </a:pPr>
            <a:r>
              <a:rPr lang="en-US" sz="1250" b="1" dirty="0">
                <a:solidFill>
                  <a:srgbClr val="59C4FF"/>
                </a:solidFill>
              </a:rPr>
              <a:t>Stabilize MVP</a:t>
            </a:r>
            <a:endParaRPr lang="en-US" sz="1250" dirty="0"/>
          </a:p>
        </p:txBody>
      </p:sp>
      <p:sp>
        <p:nvSpPr>
          <p:cNvPr id="7" name="Text 5"/>
          <p:cNvSpPr/>
          <p:nvPr/>
        </p:nvSpPr>
        <p:spPr>
          <a:xfrm>
            <a:off x="868680" y="3310128"/>
            <a:ext cx="2926080" cy="1444752"/>
          </a:xfrm>
          <a:prstGeom prst="rect">
            <a:avLst/>
          </a:prstGeom>
          <a:noFill/>
          <a:ln/>
        </p:spPr>
        <p:txBody>
          <a:bodyPr wrap="square" lIns="635" tIns="635" rIns="635" bIns="635" rtlCol="0" anchor="t">
            <a:noAutofit/>
          </a:bodyPr>
          <a:lstStyle/>
          <a:p>
            <a:r>
              <a:rPr lang="en-US" sz="1100" dirty="0">
                <a:solidFill>
                  <a:srgbClr val="B2BAC8"/>
                </a:solidFill>
              </a:rPr>
              <a:t>Observability and monitoring enhancement </a:t>
            </a:r>
          </a:p>
          <a:p>
            <a:endParaRPr lang="en-US" sz="1100" dirty="0">
              <a:solidFill>
                <a:srgbClr val="B2BAC8"/>
              </a:solidFill>
            </a:endParaRPr>
          </a:p>
          <a:p>
            <a:r>
              <a:rPr lang="en-US" sz="1100" dirty="0">
                <a:solidFill>
                  <a:srgbClr val="B2BAC8"/>
                </a:solidFill>
              </a:rPr>
              <a:t>Administrator Menus </a:t>
            </a:r>
          </a:p>
          <a:p>
            <a:endParaRPr lang="en-US" sz="1100" dirty="0">
              <a:solidFill>
                <a:srgbClr val="B2BAC8"/>
              </a:solidFill>
            </a:endParaRPr>
          </a:p>
          <a:p>
            <a:r>
              <a:rPr lang="en-US" sz="1100" dirty="0">
                <a:solidFill>
                  <a:srgbClr val="B2BAC8"/>
                </a:solidFill>
              </a:rPr>
              <a:t>Refine throttling policy</a:t>
            </a:r>
          </a:p>
          <a:p>
            <a:endParaRPr lang="en-US" sz="1100" dirty="0">
              <a:solidFill>
                <a:srgbClr val="B2BAC8"/>
              </a:solidFill>
            </a:endParaRPr>
          </a:p>
          <a:p>
            <a:r>
              <a:rPr lang="en-US" sz="1100" dirty="0">
                <a:solidFill>
                  <a:srgbClr val="B2BAC8"/>
                </a:solidFill>
              </a:rPr>
              <a:t>ECS Spot interruption handling, </a:t>
            </a:r>
          </a:p>
          <a:p>
            <a:endParaRPr lang="en-US" sz="1060" dirty="0">
              <a:solidFill>
                <a:srgbClr val="B2BAC8"/>
              </a:solidFill>
            </a:endParaRPr>
          </a:p>
          <a:p>
            <a:r>
              <a:rPr lang="en-US" sz="1060" dirty="0">
                <a:solidFill>
                  <a:srgbClr val="B2BAC8"/>
                </a:solidFill>
              </a:rPr>
              <a:t>Budget alarms on Bedrock usage</a:t>
            </a:r>
            <a:endParaRPr lang="en-US" sz="1060" dirty="0"/>
          </a:p>
        </p:txBody>
      </p:sp>
      <p:sp>
        <p:nvSpPr>
          <p:cNvPr id="8" name="Text 6"/>
          <p:cNvSpPr/>
          <p:nvPr/>
        </p:nvSpPr>
        <p:spPr>
          <a:xfrm>
            <a:off x="4617720" y="2286000"/>
            <a:ext cx="2377440" cy="530352"/>
          </a:xfrm>
          <a:prstGeom prst="roundRect">
            <a:avLst>
              <a:gd name="adj" fmla="val 13793"/>
            </a:avLst>
          </a:prstGeom>
          <a:solidFill>
            <a:srgbClr val="59D08F"/>
          </a:solidFill>
          <a:ln w="13970">
            <a:solidFill>
              <a:srgbClr val="59D08F"/>
            </a:solidFill>
          </a:ln>
        </p:spPr>
        <p:txBody>
          <a:bodyPr wrap="square" lIns="1016" tIns="1016" rIns="1016" bIns="1016" rtlCol="0" anchor="ctr">
            <a:normAutofit/>
          </a:bodyPr>
          <a:lstStyle/>
          <a:p>
            <a:pPr marL="0" indent="0" algn="ctr">
              <a:buNone/>
            </a:pPr>
            <a:r>
              <a:rPr lang="en-US" sz="1400" b="1" dirty="0">
                <a:solidFill>
                  <a:srgbClr val="07111E"/>
                </a:solidFill>
              </a:rPr>
              <a:t>30 days</a:t>
            </a:r>
            <a:endParaRPr lang="en-US" sz="1400" dirty="0"/>
          </a:p>
        </p:txBody>
      </p:sp>
      <p:sp>
        <p:nvSpPr>
          <p:cNvPr id="9" name="Text 7"/>
          <p:cNvSpPr/>
          <p:nvPr/>
        </p:nvSpPr>
        <p:spPr>
          <a:xfrm>
            <a:off x="4617720" y="2907792"/>
            <a:ext cx="2377440" cy="274320"/>
          </a:xfrm>
          <a:prstGeom prst="rect">
            <a:avLst/>
          </a:prstGeom>
          <a:noFill/>
          <a:ln/>
        </p:spPr>
        <p:txBody>
          <a:bodyPr wrap="square" lIns="254" tIns="254" rIns="254" bIns="254" rtlCol="0" anchor="t">
            <a:normAutofit/>
          </a:bodyPr>
          <a:lstStyle/>
          <a:p>
            <a:pPr marL="0" indent="0" algn="ctr">
              <a:buNone/>
            </a:pPr>
            <a:r>
              <a:rPr lang="en-US" sz="1250" b="1" dirty="0">
                <a:solidFill>
                  <a:srgbClr val="59D08F"/>
                </a:solidFill>
              </a:rPr>
              <a:t>Prove quality</a:t>
            </a:r>
            <a:endParaRPr lang="en-US" sz="1250" dirty="0"/>
          </a:p>
        </p:txBody>
      </p:sp>
      <p:sp>
        <p:nvSpPr>
          <p:cNvPr id="10" name="Text 8"/>
          <p:cNvSpPr/>
          <p:nvPr/>
        </p:nvSpPr>
        <p:spPr>
          <a:xfrm>
            <a:off x="4663440" y="3310128"/>
            <a:ext cx="2926080" cy="1444752"/>
          </a:xfrm>
          <a:prstGeom prst="rect">
            <a:avLst/>
          </a:prstGeom>
          <a:noFill/>
          <a:ln/>
        </p:spPr>
        <p:txBody>
          <a:bodyPr wrap="square" lIns="635" tIns="635" rIns="635" bIns="635" rtlCol="0" anchor="t">
            <a:noAutofit/>
          </a:bodyPr>
          <a:lstStyle/>
          <a:p>
            <a:r>
              <a:rPr lang="en-US" sz="1060" dirty="0">
                <a:solidFill>
                  <a:srgbClr val="B2BAC8"/>
                </a:solidFill>
              </a:rPr>
              <a:t>Golden set for coaching quality
</a:t>
            </a:r>
            <a:endParaRPr lang="en-US" sz="1060" dirty="0"/>
          </a:p>
          <a:p>
            <a:r>
              <a:rPr lang="en-US" sz="1060" dirty="0">
                <a:solidFill>
                  <a:srgbClr val="B2BAC8"/>
                </a:solidFill>
              </a:rPr>
              <a:t>Prompt and model versioning
</a:t>
            </a:r>
            <a:endParaRPr lang="en-US" sz="1060" dirty="0"/>
          </a:p>
          <a:p>
            <a:r>
              <a:rPr lang="en-US" sz="1060" dirty="0">
                <a:solidFill>
                  <a:srgbClr val="B2BAC8"/>
                </a:solidFill>
              </a:rPr>
              <a:t>Agent output schema enforcement
</a:t>
            </a:r>
            <a:endParaRPr lang="en-US" sz="1060" dirty="0"/>
          </a:p>
          <a:p>
            <a:r>
              <a:rPr lang="en-US" sz="1060" dirty="0">
                <a:solidFill>
                  <a:srgbClr val="B2BAC8"/>
                </a:solidFill>
              </a:rPr>
              <a:t>Report scoring calibration</a:t>
            </a:r>
            <a:endParaRPr lang="en-US" sz="1060" dirty="0"/>
          </a:p>
        </p:txBody>
      </p:sp>
      <p:sp>
        <p:nvSpPr>
          <p:cNvPr id="11" name="Text 9"/>
          <p:cNvSpPr/>
          <p:nvPr/>
        </p:nvSpPr>
        <p:spPr>
          <a:xfrm>
            <a:off x="8412480" y="2286000"/>
            <a:ext cx="2377440" cy="530352"/>
          </a:xfrm>
          <a:prstGeom prst="roundRect">
            <a:avLst>
              <a:gd name="adj" fmla="val 13793"/>
            </a:avLst>
          </a:prstGeom>
          <a:solidFill>
            <a:srgbClr val="FFD65A"/>
          </a:solidFill>
          <a:ln w="13970">
            <a:solidFill>
              <a:srgbClr val="FFD65A"/>
            </a:solidFill>
          </a:ln>
        </p:spPr>
        <p:txBody>
          <a:bodyPr wrap="square" lIns="1016" tIns="1016" rIns="1016" bIns="1016" rtlCol="0" anchor="ctr">
            <a:normAutofit/>
          </a:bodyPr>
          <a:lstStyle/>
          <a:p>
            <a:pPr marL="0" indent="0" algn="ctr">
              <a:buNone/>
            </a:pPr>
            <a:r>
              <a:rPr lang="en-US" sz="1400" b="1" dirty="0">
                <a:solidFill>
                  <a:srgbClr val="07111E"/>
                </a:solidFill>
              </a:rPr>
              <a:t>60 days</a:t>
            </a:r>
            <a:endParaRPr lang="en-US" sz="1400" dirty="0"/>
          </a:p>
        </p:txBody>
      </p:sp>
      <p:sp>
        <p:nvSpPr>
          <p:cNvPr id="12" name="Text 10"/>
          <p:cNvSpPr/>
          <p:nvPr/>
        </p:nvSpPr>
        <p:spPr>
          <a:xfrm>
            <a:off x="8412480" y="2907792"/>
            <a:ext cx="2377440" cy="274320"/>
          </a:xfrm>
          <a:prstGeom prst="rect">
            <a:avLst/>
          </a:prstGeom>
          <a:noFill/>
          <a:ln/>
        </p:spPr>
        <p:txBody>
          <a:bodyPr wrap="square" lIns="254" tIns="254" rIns="254" bIns="254" rtlCol="0" anchor="t">
            <a:normAutofit/>
          </a:bodyPr>
          <a:lstStyle/>
          <a:p>
            <a:pPr marL="0" indent="0" algn="ctr">
              <a:buNone/>
            </a:pPr>
            <a:r>
              <a:rPr lang="en-US" sz="1250" b="1" dirty="0">
                <a:solidFill>
                  <a:srgbClr val="FFD65A"/>
                </a:solidFill>
              </a:rPr>
              <a:t>Prepare production posture</a:t>
            </a:r>
            <a:endParaRPr lang="en-US" sz="1250" dirty="0"/>
          </a:p>
        </p:txBody>
      </p:sp>
      <p:sp>
        <p:nvSpPr>
          <p:cNvPr id="13" name="Text 11"/>
          <p:cNvSpPr/>
          <p:nvPr/>
        </p:nvSpPr>
        <p:spPr>
          <a:xfrm>
            <a:off x="8458200" y="3310128"/>
            <a:ext cx="2926080" cy="1444752"/>
          </a:xfrm>
          <a:prstGeom prst="rect">
            <a:avLst/>
          </a:prstGeom>
          <a:noFill/>
          <a:ln/>
        </p:spPr>
        <p:txBody>
          <a:bodyPr wrap="square" lIns="635" tIns="635" rIns="635" bIns="635" rtlCol="0" anchor="t">
            <a:noAutofit/>
          </a:bodyPr>
          <a:lstStyle/>
          <a:p>
            <a:r>
              <a:rPr lang="en-US" sz="1060" dirty="0">
                <a:solidFill>
                  <a:srgbClr val="B2BAC8"/>
                </a:solidFill>
              </a:rPr>
              <a:t>Retention and PII controls
</a:t>
            </a:r>
          </a:p>
          <a:p>
            <a:r>
              <a:rPr lang="en-US" sz="1060" dirty="0">
                <a:solidFill>
                  <a:srgbClr val="B2BAC8"/>
                </a:solidFill>
              </a:rPr>
              <a:t>Other Responsible AI controls</a:t>
            </a:r>
          </a:p>
          <a:p>
            <a:endParaRPr lang="en-US" sz="1060" dirty="0"/>
          </a:p>
          <a:p>
            <a:r>
              <a:rPr lang="en-US" sz="1060" dirty="0">
                <a:solidFill>
                  <a:srgbClr val="B2BAC8"/>
                </a:solidFill>
              </a:rPr>
              <a:t>RTO/RPO decisions
</a:t>
            </a:r>
            <a:endParaRPr lang="en-US" sz="1060" dirty="0"/>
          </a:p>
          <a:p>
            <a:r>
              <a:rPr lang="en-US" sz="1060" dirty="0">
                <a:solidFill>
                  <a:srgbClr val="B2BAC8"/>
                </a:solidFill>
              </a:rPr>
              <a:t>Quotas and load test
</a:t>
            </a:r>
            <a:endParaRPr lang="en-US" sz="1060" dirty="0"/>
          </a:p>
          <a:p>
            <a:r>
              <a:rPr lang="en-US" sz="1060" dirty="0">
                <a:solidFill>
                  <a:srgbClr val="B2BAC8"/>
                </a:solidFill>
              </a:rPr>
              <a:t>Tenant or user-level cost attribution</a:t>
            </a:r>
            <a:endParaRPr lang="en-US" sz="1060" dirty="0"/>
          </a:p>
        </p:txBody>
      </p:sp>
      <p:sp>
        <p:nvSpPr>
          <p:cNvPr id="14" name="Text 12"/>
          <p:cNvSpPr/>
          <p:nvPr/>
        </p:nvSpPr>
        <p:spPr>
          <a:xfrm>
            <a:off x="2606040" y="5210286"/>
            <a:ext cx="7040880" cy="676656"/>
          </a:xfrm>
          <a:prstGeom prst="roundRect">
            <a:avLst>
              <a:gd name="adj" fmla="val 10811"/>
            </a:avLst>
          </a:prstGeom>
          <a:solidFill>
            <a:srgbClr val="0B1828"/>
          </a:solidFill>
          <a:ln w="13970">
            <a:solidFill>
              <a:srgbClr val="2F9BFF"/>
            </a:solidFill>
          </a:ln>
        </p:spPr>
        <p:txBody>
          <a:bodyPr wrap="square" lIns="1016" tIns="1016" rIns="1016" bIns="1016" rtlCol="0" anchor="ctr">
            <a:normAutofit/>
          </a:bodyPr>
          <a:lstStyle/>
          <a:p>
            <a:pPr marL="0" indent="0" algn="ctr">
              <a:buNone/>
            </a:pPr>
            <a:r>
              <a:rPr lang="en-US" sz="1260" dirty="0">
                <a:solidFill>
                  <a:srgbClr val="B2BAC8"/>
                </a:solidFill>
              </a:rPr>
              <a:t>Exit criteria</a:t>
            </a:r>
            <a:endParaRPr lang="en-US" sz="1260" dirty="0"/>
          </a:p>
          <a:p>
            <a:pPr marL="0" indent="0" algn="ctr">
              <a:buNone/>
            </a:pPr>
            <a:r>
              <a:rPr lang="en-US" sz="1260" dirty="0">
                <a:solidFill>
                  <a:srgbClr val="B2BAC8"/>
                </a:solidFill>
              </a:rPr>
              <a:t>A CTO should be able to trace one submission from upload to report, explain one agent’s score, and predict the cost of the next 1,000 runs.</a:t>
            </a:r>
            <a:endParaRPr lang="en-US" sz="1260" dirty="0"/>
          </a:p>
        </p:txBody>
      </p:sp>
      <p:sp>
        <p:nvSpPr>
          <p:cNvPr id="15" name="Text 13"/>
          <p:cNvSpPr/>
          <p:nvPr/>
        </p:nvSpPr>
        <p:spPr>
          <a:xfrm>
            <a:off x="566928" y="6327648"/>
            <a:ext cx="10378440" cy="219456"/>
          </a:xfrm>
          <a:prstGeom prst="rect">
            <a:avLst/>
          </a:prstGeom>
          <a:noFill/>
          <a:ln/>
        </p:spPr>
        <p:txBody>
          <a:bodyPr wrap="square" lIns="0" tIns="0" rIns="0" bIns="0" rtlCol="0" anchor="ctr">
            <a:normAutofit/>
          </a:bodyPr>
          <a:lstStyle/>
          <a:p>
            <a:pPr marL="0" indent="0">
              <a:buNone/>
            </a:pPr>
            <a:r>
              <a:rPr lang="en-US" sz="850" dirty="0">
                <a:solidFill>
                  <a:srgbClr val="7E8796"/>
                </a:solidFill>
              </a:rPr>
              <a:t>Path is a recommendation built from the documented current state and CTO operating concerns.</a:t>
            </a:r>
            <a:endParaRPr lang="en-US" sz="8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CLOSE</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a:bodyPr>
          <a:lstStyle/>
          <a:p>
            <a:pPr marL="0" indent="0">
              <a:buNone/>
            </a:pPr>
            <a:r>
              <a:rPr lang="en-US" sz="2950" b="1" dirty="0">
                <a:solidFill>
                  <a:srgbClr val="F5F7FA"/>
                </a:solidFill>
              </a:rPr>
              <a:t>The CTO-to-CTO takeaway</a:t>
            </a:r>
            <a:endParaRPr lang="en-US" sz="2950" dirty="0"/>
          </a:p>
        </p:txBody>
      </p:sp>
      <p:sp>
        <p:nvSpPr>
          <p:cNvPr id="4" name="Text 2"/>
          <p:cNvSpPr/>
          <p:nvPr/>
        </p:nvSpPr>
        <p:spPr>
          <a:xfrm>
            <a:off x="749808" y="1481328"/>
            <a:ext cx="10241280" cy="822960"/>
          </a:xfrm>
          <a:prstGeom prst="rect">
            <a:avLst/>
          </a:prstGeom>
          <a:noFill/>
          <a:ln/>
        </p:spPr>
        <p:txBody>
          <a:bodyPr wrap="square" lIns="254" tIns="254" rIns="254" bIns="254" rtlCol="0" anchor="t">
            <a:normAutofit lnSpcReduction="10000"/>
          </a:bodyPr>
          <a:lstStyle/>
          <a:p>
            <a:pPr marL="0" indent="0" algn="l">
              <a:buNone/>
            </a:pPr>
            <a:r>
              <a:rPr lang="en-US" sz="1820" b="1" dirty="0">
                <a:solidFill>
                  <a:srgbClr val="F5F7FA"/>
                </a:solidFill>
              </a:rPr>
              <a:t>PresCoach is a strong pattern because it combines three things that usually get separated: a useful product experience, an AWS-native cost model, and an AI-DLC delivery method that keeps architecture boundaries visible.</a:t>
            </a:r>
            <a:endParaRPr lang="en-US" sz="1820" dirty="0"/>
          </a:p>
        </p:txBody>
      </p:sp>
      <p:sp>
        <p:nvSpPr>
          <p:cNvPr id="5" name="Text 3"/>
          <p:cNvSpPr/>
          <p:nvPr/>
        </p:nvSpPr>
        <p:spPr>
          <a:xfrm>
            <a:off x="914400" y="2788920"/>
            <a:ext cx="2907792" cy="1234440"/>
          </a:xfrm>
          <a:prstGeom prst="roundRect">
            <a:avLst>
              <a:gd name="adj" fmla="val 5926"/>
            </a:avLst>
          </a:prstGeom>
          <a:solidFill>
            <a:srgbClr val="0B1828"/>
          </a:solidFill>
          <a:ln w="13970">
            <a:solidFill>
              <a:srgbClr val="59D08F"/>
            </a:solidFill>
          </a:ln>
        </p:spPr>
        <p:txBody>
          <a:bodyPr wrap="square" lIns="1016" tIns="1016" rIns="1016" bIns="1016" rtlCol="0" anchor="ctr">
            <a:normAutofit/>
          </a:bodyPr>
          <a:lstStyle/>
          <a:p>
            <a:pPr marL="0" indent="0" algn="ctr">
              <a:buNone/>
            </a:pPr>
            <a:r>
              <a:rPr lang="en-US" sz="1220" b="1" dirty="0">
                <a:solidFill>
                  <a:schemeClr val="bg1"/>
                </a:solidFill>
              </a:rPr>
              <a:t>What is working</a:t>
            </a:r>
          </a:p>
          <a:p>
            <a:pPr marL="0" indent="0" algn="ctr">
              <a:buNone/>
            </a:pPr>
            <a:r>
              <a:rPr lang="en-US" sz="1220" dirty="0">
                <a:solidFill>
                  <a:srgbClr val="B2BAC8"/>
                </a:solidFill>
              </a:rPr>
              <a:t>Clear work-unit boundaries, async flow, managed services, zero idle cost, composable agents.</a:t>
            </a:r>
            <a:endParaRPr lang="en-US" sz="1220" dirty="0"/>
          </a:p>
        </p:txBody>
      </p:sp>
      <p:sp>
        <p:nvSpPr>
          <p:cNvPr id="6" name="Text 4"/>
          <p:cNvSpPr/>
          <p:nvPr/>
        </p:nvSpPr>
        <p:spPr>
          <a:xfrm>
            <a:off x="4645152" y="2788920"/>
            <a:ext cx="2907792" cy="1234440"/>
          </a:xfrm>
          <a:prstGeom prst="roundRect">
            <a:avLst>
              <a:gd name="adj" fmla="val 5926"/>
            </a:avLst>
          </a:prstGeom>
          <a:solidFill>
            <a:srgbClr val="0B1828"/>
          </a:solidFill>
          <a:ln w="13970">
            <a:solidFill>
              <a:srgbClr val="FFD65A"/>
            </a:solidFill>
          </a:ln>
        </p:spPr>
        <p:txBody>
          <a:bodyPr wrap="square" lIns="1016" tIns="1016" rIns="1016" bIns="1016" rtlCol="0" anchor="ctr">
            <a:normAutofit/>
          </a:bodyPr>
          <a:lstStyle/>
          <a:p>
            <a:pPr marL="0" indent="0" algn="ctr">
              <a:buNone/>
            </a:pPr>
            <a:r>
              <a:rPr lang="en-US" sz="1220" b="1" dirty="0">
                <a:solidFill>
                  <a:schemeClr val="bg1"/>
                </a:solidFill>
              </a:rPr>
              <a:t>What to fix</a:t>
            </a:r>
          </a:p>
          <a:p>
            <a:pPr marL="0" indent="0" algn="ctr">
              <a:buNone/>
            </a:pPr>
            <a:r>
              <a:rPr lang="en-US" sz="1220" dirty="0">
                <a:solidFill>
                  <a:srgbClr val="B2BAC8"/>
                </a:solidFill>
              </a:rPr>
              <a:t>Retrieval, parser handling, traceability, hardening of AI and data controls.</a:t>
            </a:r>
            <a:endParaRPr lang="en-US" sz="1220" dirty="0"/>
          </a:p>
        </p:txBody>
      </p:sp>
      <p:sp>
        <p:nvSpPr>
          <p:cNvPr id="7" name="Text 5"/>
          <p:cNvSpPr/>
          <p:nvPr/>
        </p:nvSpPr>
        <p:spPr>
          <a:xfrm>
            <a:off x="8375904" y="2788920"/>
            <a:ext cx="2907792" cy="1234440"/>
          </a:xfrm>
          <a:prstGeom prst="roundRect">
            <a:avLst>
              <a:gd name="adj" fmla="val 5926"/>
            </a:avLst>
          </a:prstGeom>
          <a:solidFill>
            <a:srgbClr val="0B1828"/>
          </a:solidFill>
          <a:ln w="13970">
            <a:solidFill>
              <a:srgbClr val="2F9BFF"/>
            </a:solidFill>
          </a:ln>
        </p:spPr>
        <p:txBody>
          <a:bodyPr wrap="square" lIns="1016" tIns="1016" rIns="1016" bIns="1016" rtlCol="0" anchor="ctr">
            <a:normAutofit/>
          </a:bodyPr>
          <a:lstStyle/>
          <a:p>
            <a:pPr marL="0" indent="0" algn="ctr">
              <a:buNone/>
            </a:pPr>
            <a:r>
              <a:rPr lang="en-US" sz="1220" b="1" dirty="0">
                <a:solidFill>
                  <a:schemeClr val="bg1"/>
                </a:solidFill>
              </a:rPr>
              <a:t>What to decide</a:t>
            </a:r>
          </a:p>
          <a:p>
            <a:pPr marL="0" indent="0" algn="ctr">
              <a:buNone/>
            </a:pPr>
            <a:r>
              <a:rPr lang="en-US" sz="1220" dirty="0">
                <a:solidFill>
                  <a:srgbClr val="B2BAC8"/>
                </a:solidFill>
              </a:rPr>
              <a:t>Regional posture, vector store timing, quality gates, model spend controls, production-readiness threshold.</a:t>
            </a:r>
            <a:endParaRPr lang="en-US" sz="1220" dirty="0"/>
          </a:p>
        </p:txBody>
      </p:sp>
      <p:sp>
        <p:nvSpPr>
          <p:cNvPr id="8" name="Text 6"/>
          <p:cNvSpPr/>
          <p:nvPr/>
        </p:nvSpPr>
        <p:spPr>
          <a:xfrm>
            <a:off x="960120" y="5138928"/>
            <a:ext cx="9966960" cy="566928"/>
          </a:xfrm>
          <a:prstGeom prst="rect">
            <a:avLst/>
          </a:prstGeom>
          <a:noFill/>
          <a:ln/>
        </p:spPr>
        <p:txBody>
          <a:bodyPr wrap="square" lIns="254" tIns="254" rIns="254" bIns="254" rtlCol="0" anchor="t">
            <a:normAutofit/>
          </a:bodyPr>
          <a:lstStyle/>
          <a:p>
            <a:pPr marL="0" indent="0" algn="ctr">
              <a:buNone/>
            </a:pPr>
            <a:r>
              <a:rPr lang="en-US" sz="1730" b="1" dirty="0">
                <a:solidFill>
                  <a:srgbClr val="59C4FF"/>
                </a:solidFill>
              </a:rPr>
              <a:t>Bottom line: advance it but make the next phase </a:t>
            </a:r>
            <a:r>
              <a:rPr lang="en-US" sz="1730" b="1" i="1" dirty="0">
                <a:solidFill>
                  <a:srgbClr val="59C4FF"/>
                </a:solidFill>
              </a:rPr>
              <a:t>boring</a:t>
            </a:r>
            <a:r>
              <a:rPr lang="en-US" sz="1730" b="1" dirty="0">
                <a:solidFill>
                  <a:srgbClr val="59C4FF"/>
                </a:solidFill>
              </a:rPr>
              <a:t> in the best possible enterprise way. Boring is where systems go to become dependable.</a:t>
            </a:r>
            <a:endParaRPr lang="en-US" sz="1730" dirty="0"/>
          </a:p>
        </p:txBody>
      </p:sp>
      <p:sp>
        <p:nvSpPr>
          <p:cNvPr id="9" name="Text 7"/>
          <p:cNvSpPr/>
          <p:nvPr/>
        </p:nvSpPr>
        <p:spPr>
          <a:xfrm>
            <a:off x="566928" y="6327648"/>
            <a:ext cx="10378440" cy="219456"/>
          </a:xfrm>
          <a:prstGeom prst="rect">
            <a:avLst/>
          </a:prstGeom>
          <a:noFill/>
          <a:ln/>
        </p:spPr>
        <p:txBody>
          <a:bodyPr wrap="square" lIns="0" tIns="0" rIns="0" bIns="0" rtlCol="0" anchor="ctr">
            <a:normAutofit/>
          </a:bodyPr>
          <a:lstStyle/>
          <a:p>
            <a:pPr marL="0" indent="0">
              <a:buNone/>
            </a:pPr>
            <a:r>
              <a:rPr lang="en-US" sz="850" dirty="0">
                <a:solidFill>
                  <a:srgbClr val="7E8796"/>
                </a:solidFill>
              </a:rPr>
              <a:t>Prepared from the source PowerPoint and three supporting PDFs.</a:t>
            </a:r>
            <a:endParaRPr lang="en-US" sz="8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C8156AC-8223-9AA1-ABAB-9A9687FE2C16}"/>
              </a:ext>
            </a:extLst>
          </p:cNvPr>
          <p:cNvSpPr txBox="1"/>
          <p:nvPr/>
        </p:nvSpPr>
        <p:spPr>
          <a:xfrm>
            <a:off x="3727210" y="2563905"/>
            <a:ext cx="4737579" cy="769441"/>
          </a:xfrm>
          <a:prstGeom prst="rect">
            <a:avLst/>
          </a:prstGeom>
          <a:noFill/>
        </p:spPr>
        <p:txBody>
          <a:bodyPr wrap="none" rtlCol="0">
            <a:spAutoFit/>
          </a:bodyPr>
          <a:lstStyle/>
          <a:p>
            <a:pPr algn="ctr"/>
            <a:r>
              <a:rPr lang="en-US" sz="4400" dirty="0">
                <a:solidFill>
                  <a:schemeClr val="bg1"/>
                </a:solidFill>
              </a:rPr>
              <a:t>Appendix Material</a:t>
            </a:r>
          </a:p>
        </p:txBody>
      </p:sp>
    </p:spTree>
    <p:extLst>
      <p:ext uri="{BB962C8B-B14F-4D97-AF65-F5344CB8AC3E}">
        <p14:creationId xmlns:p14="http://schemas.microsoft.com/office/powerpoint/2010/main" val="2487847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40505B83-FABA-FFE5-68AF-BE1DB8239A67}"/>
              </a:ext>
            </a:extLst>
          </p:cNvPr>
          <p:cNvSpPr txBox="1"/>
          <p:nvPr/>
        </p:nvSpPr>
        <p:spPr>
          <a:xfrm>
            <a:off x="2594118" y="2563905"/>
            <a:ext cx="7003777" cy="769441"/>
          </a:xfrm>
          <a:prstGeom prst="rect">
            <a:avLst/>
          </a:prstGeom>
          <a:noFill/>
        </p:spPr>
        <p:txBody>
          <a:bodyPr wrap="none" rtlCol="0">
            <a:spAutoFit/>
          </a:bodyPr>
          <a:lstStyle/>
          <a:p>
            <a:pPr algn="ctr"/>
            <a:r>
              <a:rPr lang="en-US" sz="4400" dirty="0">
                <a:solidFill>
                  <a:schemeClr val="bg1"/>
                </a:solidFill>
              </a:rPr>
              <a:t>Architecture Flow Diagrams</a:t>
            </a:r>
          </a:p>
        </p:txBody>
      </p:sp>
    </p:spTree>
    <p:extLst>
      <p:ext uri="{BB962C8B-B14F-4D97-AF65-F5344CB8AC3E}">
        <p14:creationId xmlns:p14="http://schemas.microsoft.com/office/powerpoint/2010/main" val="107577453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phic 2">
            <a:extLst>
              <a:ext uri="{FF2B5EF4-FFF2-40B4-BE49-F238E27FC236}">
                <a16:creationId xmlns:a16="http://schemas.microsoft.com/office/drawing/2014/main" id="{A32F4CC8-D3D6-738E-7824-DE62B6BB84F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09600" y="137873"/>
            <a:ext cx="10972800" cy="6858000"/>
          </a:xfrm>
          <a:prstGeom prst="rect">
            <a:avLst/>
          </a:prstGeom>
        </p:spPr>
      </p:pic>
    </p:spTree>
    <p:extLst>
      <p:ext uri="{BB962C8B-B14F-4D97-AF65-F5344CB8AC3E}">
        <p14:creationId xmlns:p14="http://schemas.microsoft.com/office/powerpoint/2010/main" val="231495738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3C1CA9C8-F26D-AC50-DFE1-764F86FC03F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81789" y="0"/>
            <a:ext cx="10828421" cy="6858000"/>
          </a:xfrm>
          <a:prstGeom prst="rect">
            <a:avLst/>
          </a:prstGeom>
        </p:spPr>
      </p:pic>
    </p:spTree>
    <p:extLst>
      <p:ext uri="{BB962C8B-B14F-4D97-AF65-F5344CB8AC3E}">
        <p14:creationId xmlns:p14="http://schemas.microsoft.com/office/powerpoint/2010/main" val="306920559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957F5EC3-C126-09B7-8657-447C304DE68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71500" y="0"/>
            <a:ext cx="11049000" cy="6858000"/>
          </a:xfrm>
          <a:prstGeom prst="rect">
            <a:avLst/>
          </a:prstGeom>
        </p:spPr>
      </p:pic>
    </p:spTree>
    <p:extLst>
      <p:ext uri="{BB962C8B-B14F-4D97-AF65-F5344CB8AC3E}">
        <p14:creationId xmlns:p14="http://schemas.microsoft.com/office/powerpoint/2010/main" val="83618598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phic 2">
            <a:extLst>
              <a:ext uri="{FF2B5EF4-FFF2-40B4-BE49-F238E27FC236}">
                <a16:creationId xmlns:a16="http://schemas.microsoft.com/office/drawing/2014/main" id="{E25BF99C-49C9-29BD-EF7A-35B19BA0979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391460" y="365598"/>
            <a:ext cx="8572500" cy="1905000"/>
          </a:xfrm>
          <a:prstGeom prst="rect">
            <a:avLst/>
          </a:prstGeom>
        </p:spPr>
      </p:pic>
    </p:spTree>
    <p:extLst>
      <p:ext uri="{BB962C8B-B14F-4D97-AF65-F5344CB8AC3E}">
        <p14:creationId xmlns:p14="http://schemas.microsoft.com/office/powerpoint/2010/main" val="59170781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phic 2">
            <a:extLst>
              <a:ext uri="{FF2B5EF4-FFF2-40B4-BE49-F238E27FC236}">
                <a16:creationId xmlns:a16="http://schemas.microsoft.com/office/drawing/2014/main" id="{CB443F74-4D50-BC18-55E6-FD095FF7258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46529" y="0"/>
            <a:ext cx="11698941" cy="6858000"/>
          </a:xfrm>
          <a:prstGeom prst="rect">
            <a:avLst/>
          </a:prstGeom>
        </p:spPr>
      </p:pic>
    </p:spTree>
    <p:extLst>
      <p:ext uri="{BB962C8B-B14F-4D97-AF65-F5344CB8AC3E}">
        <p14:creationId xmlns:p14="http://schemas.microsoft.com/office/powerpoint/2010/main" val="258824211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FF067-AA9C-3FF2-D920-2762A56875AC}"/>
            </a:ext>
          </a:extLst>
        </p:cNvPr>
        <p:cNvGrpSpPr/>
        <p:nvPr/>
      </p:nvGrpSpPr>
      <p:grpSpPr>
        <a:xfrm>
          <a:off x="0" y="0"/>
          <a:ext cx="0" cy="0"/>
          <a:chOff x="0" y="0"/>
          <a:chExt cx="0" cy="0"/>
        </a:xfrm>
      </p:grpSpPr>
      <p:sp>
        <p:nvSpPr>
          <p:cNvPr id="158" name="Rectangle 157">
            <a:extLst>
              <a:ext uri="{FF2B5EF4-FFF2-40B4-BE49-F238E27FC236}">
                <a16:creationId xmlns:a16="http://schemas.microsoft.com/office/drawing/2014/main" id="{CC7FBE37-A2F4-EAF7-B615-5614DAAD0C0D}"/>
              </a:ext>
            </a:extLst>
          </p:cNvPr>
          <p:cNvSpPr/>
          <p:nvPr/>
        </p:nvSpPr>
        <p:spPr>
          <a:xfrm>
            <a:off x="9404684" y="1900157"/>
            <a:ext cx="1913021" cy="208630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 name="Rectangle: Rounded Corners 150">
            <a:extLst>
              <a:ext uri="{FF2B5EF4-FFF2-40B4-BE49-F238E27FC236}">
                <a16:creationId xmlns:a16="http://schemas.microsoft.com/office/drawing/2014/main" id="{5BB975B7-5E7B-093C-838A-A91A8CF2FA75}"/>
              </a:ext>
            </a:extLst>
          </p:cNvPr>
          <p:cNvSpPr/>
          <p:nvPr/>
        </p:nvSpPr>
        <p:spPr>
          <a:xfrm>
            <a:off x="9518904" y="3638217"/>
            <a:ext cx="1694528" cy="282898"/>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Summary Creation</a:t>
            </a:r>
          </a:p>
        </p:txBody>
      </p:sp>
      <p:grpSp>
        <p:nvGrpSpPr>
          <p:cNvPr id="7" name="AZGroup" descr="Group for availability zone, inside the AWS Cloud grouping.">
            <a:extLst>
              <a:ext uri="{FF2B5EF4-FFF2-40B4-BE49-F238E27FC236}">
                <a16:creationId xmlns:a16="http://schemas.microsoft.com/office/drawing/2014/main" id="{C0851031-C2F4-27C6-E72E-F60FCD3D5648}"/>
              </a:ext>
            </a:extLst>
          </p:cNvPr>
          <p:cNvGrpSpPr/>
          <p:nvPr/>
        </p:nvGrpSpPr>
        <p:grpSpPr>
          <a:xfrm>
            <a:off x="2749959" y="919950"/>
            <a:ext cx="8786265" cy="4616711"/>
            <a:chOff x="4188315" y="1576360"/>
            <a:chExt cx="8394391" cy="2984265"/>
          </a:xfrm>
        </p:grpSpPr>
        <p:sp>
          <p:nvSpPr>
            <p:cNvPr id="8" name="Rectangle 7" descr="AZ group border">
              <a:extLst>
                <a:ext uri="{FF2B5EF4-FFF2-40B4-BE49-F238E27FC236}">
                  <a16:creationId xmlns:a16="http://schemas.microsoft.com/office/drawing/2014/main" id="{D9A1F930-8DE6-E5E4-43AF-9931CC2BB015}"/>
                </a:ext>
              </a:extLst>
            </p:cNvPr>
            <p:cNvSpPr/>
            <p:nvPr/>
          </p:nvSpPr>
          <p:spPr>
            <a:xfrm>
              <a:off x="4188315" y="1576360"/>
              <a:ext cx="8394391" cy="2984265"/>
            </a:xfrm>
            <a:prstGeom prst="rect">
              <a:avLst/>
            </a:prstGeom>
            <a:noFill/>
            <a:ln w="15875">
              <a:solidFill>
                <a:srgbClr val="00A4A6"/>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srgbClr val="A5A5A5"/>
                </a:solidFill>
                <a:effectLst/>
                <a:uLnTx/>
                <a:uFillTx/>
                <a:latin typeface="Calibri" panose="020F0502020204030204"/>
                <a:ea typeface="+mn-ea"/>
                <a:cs typeface="+mn-cs"/>
              </a:endParaRPr>
            </a:p>
          </p:txBody>
        </p:sp>
        <p:sp>
          <p:nvSpPr>
            <p:cNvPr id="9" name="Rectangle 37">
              <a:extLst>
                <a:ext uri="{FF2B5EF4-FFF2-40B4-BE49-F238E27FC236}">
                  <a16:creationId xmlns:a16="http://schemas.microsoft.com/office/drawing/2014/main" id="{A227BE9D-4734-A0CD-1A0B-C0974124D523}"/>
                </a:ext>
              </a:extLst>
            </p:cNvPr>
            <p:cNvSpPr>
              <a:spLocks noChangeArrowheads="1"/>
            </p:cNvSpPr>
            <p:nvPr/>
          </p:nvSpPr>
          <p:spPr bwMode="auto">
            <a:xfrm>
              <a:off x="4328036" y="1576639"/>
              <a:ext cx="591223" cy="1564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700" b="1" i="0" u="none" strike="noStrike" kern="1200" cap="none" spc="0" normalizeH="0" baseline="0" noProof="0" dirty="0">
                  <a:ln>
                    <a:noFill/>
                  </a:ln>
                  <a:solidFill>
                    <a:srgbClr val="00A4A6"/>
                  </a:solidFill>
                  <a:effectLst/>
                  <a:uLnTx/>
                  <a:uFillTx/>
                  <a:latin typeface="Arial" panose="020B0604020202020204" pitchFamily="34" charset="0"/>
                  <a:ea typeface="+mn-ea"/>
                  <a:cs typeface="Arial" panose="020B0604020202020204" pitchFamily="34" charset="0"/>
                </a:rPr>
                <a:t>us-east-1 </a:t>
              </a:r>
            </a:p>
          </p:txBody>
        </p:sp>
      </p:grpSp>
      <p:pic>
        <p:nvPicPr>
          <p:cNvPr id="10" name="Graphic 9" descr="Region group icon.">
            <a:extLst>
              <a:ext uri="{FF2B5EF4-FFF2-40B4-BE49-F238E27FC236}">
                <a16:creationId xmlns:a16="http://schemas.microsoft.com/office/drawing/2014/main" id="{746BF37F-EE89-8934-0ACC-70F1FFB1705D}"/>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2759516" y="915579"/>
            <a:ext cx="181666" cy="181666"/>
          </a:xfrm>
          <a:prstGeom prst="rect">
            <a:avLst/>
          </a:prstGeom>
        </p:spPr>
      </p:pic>
      <p:sp>
        <p:nvSpPr>
          <p:cNvPr id="11" name="Rectangle 10">
            <a:extLst>
              <a:ext uri="{FF2B5EF4-FFF2-40B4-BE49-F238E27FC236}">
                <a16:creationId xmlns:a16="http://schemas.microsoft.com/office/drawing/2014/main" id="{23018FBF-440C-FAB1-673B-200872FEEFDD}"/>
              </a:ext>
              <a:ext uri="{C183D7F6-B498-43B3-948B-1728B52AA6E4}">
                <adec:decorative xmlns:adec="http://schemas.microsoft.com/office/drawing/2017/decorative" val="1"/>
              </a:ext>
            </a:extLst>
          </p:cNvPr>
          <p:cNvSpPr/>
          <p:nvPr/>
        </p:nvSpPr>
        <p:spPr bwMode="auto">
          <a:xfrm>
            <a:off x="3445586" y="1020727"/>
            <a:ext cx="8020990" cy="3410142"/>
          </a:xfrm>
          <a:prstGeom prst="rect">
            <a:avLst/>
          </a:prstGeom>
          <a:noFill/>
          <a:ln w="15875">
            <a:solidFill>
              <a:srgbClr val="8C4FFF"/>
            </a:solidFill>
          </a:ln>
        </p:spPr>
        <p:style>
          <a:lnRef idx="2">
            <a:schemeClr val="accent1">
              <a:shade val="50000"/>
            </a:schemeClr>
          </a:lnRef>
          <a:fillRef idx="1">
            <a:schemeClr val="accent1"/>
          </a:fillRef>
          <a:effectRef idx="0">
            <a:schemeClr val="accent1"/>
          </a:effectRef>
          <a:fontRef idx="minor">
            <a:schemeClr val="lt1"/>
          </a:fontRef>
        </p:style>
        <p:txBody>
          <a:bodyPr lIns="502920" tIns="9144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w="0"/>
              <a:solidFill>
                <a:prstClr val="black"/>
              </a:solidFill>
              <a:effectLst/>
              <a:uLnTx/>
              <a:uFillTx/>
              <a:latin typeface="Arial" panose="020B0604020202020204" pitchFamily="34" charset="0"/>
              <a:ea typeface="+mn-ea"/>
              <a:cs typeface="Arial" panose="020B0604020202020204" pitchFamily="34" charset="0"/>
            </a:endParaRPr>
          </a:p>
        </p:txBody>
      </p:sp>
      <p:pic>
        <p:nvPicPr>
          <p:cNvPr id="12" name="Graphic 11" descr="VPC group icon.">
            <a:extLst>
              <a:ext uri="{FF2B5EF4-FFF2-40B4-BE49-F238E27FC236}">
                <a16:creationId xmlns:a16="http://schemas.microsoft.com/office/drawing/2014/main" id="{DF054ACD-1323-AA37-84D6-D1F4C42A1E11}"/>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3449672" y="1028241"/>
            <a:ext cx="159014" cy="159014"/>
          </a:xfrm>
          <a:prstGeom prst="rect">
            <a:avLst/>
          </a:prstGeom>
        </p:spPr>
      </p:pic>
      <p:sp>
        <p:nvSpPr>
          <p:cNvPr id="13" name="Rectangle 37">
            <a:extLst>
              <a:ext uri="{FF2B5EF4-FFF2-40B4-BE49-F238E27FC236}">
                <a16:creationId xmlns:a16="http://schemas.microsoft.com/office/drawing/2014/main" id="{20B28456-5F2B-0A01-2227-D0C122225610}"/>
              </a:ext>
            </a:extLst>
          </p:cNvPr>
          <p:cNvSpPr>
            <a:spLocks noChangeArrowheads="1"/>
          </p:cNvSpPr>
          <p:nvPr/>
        </p:nvSpPr>
        <p:spPr bwMode="auto">
          <a:xfrm>
            <a:off x="3548707" y="1008918"/>
            <a:ext cx="367409" cy="2000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700" b="1" i="0" u="none" strike="noStrike" kern="1200" cap="none" spc="0" normalizeH="0" baseline="0" noProof="0" dirty="0">
                <a:ln>
                  <a:noFill/>
                </a:ln>
                <a:solidFill>
                  <a:srgbClr val="8C4FFF"/>
                </a:solidFill>
                <a:effectLst/>
                <a:uLnTx/>
                <a:uFillTx/>
                <a:latin typeface="Arial" panose="020B0604020202020204" pitchFamily="34" charset="0"/>
                <a:ea typeface="+mn-ea"/>
                <a:cs typeface="Arial" panose="020B0604020202020204" pitchFamily="34" charset="0"/>
              </a:rPr>
              <a:t>VPC</a:t>
            </a:r>
          </a:p>
        </p:txBody>
      </p:sp>
      <p:cxnSp>
        <p:nvCxnSpPr>
          <p:cNvPr id="14" name="Straight Arrow Connector 13">
            <a:extLst>
              <a:ext uri="{FF2B5EF4-FFF2-40B4-BE49-F238E27FC236}">
                <a16:creationId xmlns:a16="http://schemas.microsoft.com/office/drawing/2014/main" id="{740BE12B-56B5-AD2C-7F67-7481F4B78C91}"/>
              </a:ext>
            </a:extLst>
          </p:cNvPr>
          <p:cNvCxnSpPr>
            <a:cxnSpLocks/>
            <a:stCxn id="29" idx="3"/>
            <a:endCxn id="26" idx="1"/>
          </p:cNvCxnSpPr>
          <p:nvPr/>
        </p:nvCxnSpPr>
        <p:spPr>
          <a:xfrm flipV="1">
            <a:off x="3202073" y="3899331"/>
            <a:ext cx="295531" cy="3124"/>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cxnSp>
        <p:nvCxnSpPr>
          <p:cNvPr id="15" name="Straight Arrow Connector 14">
            <a:extLst>
              <a:ext uri="{FF2B5EF4-FFF2-40B4-BE49-F238E27FC236}">
                <a16:creationId xmlns:a16="http://schemas.microsoft.com/office/drawing/2014/main" id="{A2D6B98D-BDBF-399E-F8F9-92DA2EBAB5DF}"/>
              </a:ext>
            </a:extLst>
          </p:cNvPr>
          <p:cNvCxnSpPr>
            <a:cxnSpLocks/>
            <a:stCxn id="26" idx="3"/>
            <a:endCxn id="68" idx="1"/>
          </p:cNvCxnSpPr>
          <p:nvPr/>
        </p:nvCxnSpPr>
        <p:spPr>
          <a:xfrm flipV="1">
            <a:off x="3771924" y="3891145"/>
            <a:ext cx="864209" cy="8186"/>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sp>
        <p:nvSpPr>
          <p:cNvPr id="17" name="TextBox 16">
            <a:extLst>
              <a:ext uri="{FF2B5EF4-FFF2-40B4-BE49-F238E27FC236}">
                <a16:creationId xmlns:a16="http://schemas.microsoft.com/office/drawing/2014/main" id="{C2CF7CFA-8F2A-087D-E31B-5462F455CE09}"/>
              </a:ext>
            </a:extLst>
          </p:cNvPr>
          <p:cNvSpPr txBox="1"/>
          <p:nvPr/>
        </p:nvSpPr>
        <p:spPr>
          <a:xfrm>
            <a:off x="661177" y="3932828"/>
            <a:ext cx="729687" cy="40011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HTTP API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Traffic</a:t>
            </a:r>
          </a:p>
        </p:txBody>
      </p:sp>
      <p:cxnSp>
        <p:nvCxnSpPr>
          <p:cNvPr id="18" name="Straight Arrow Connector 17">
            <a:extLst>
              <a:ext uri="{FF2B5EF4-FFF2-40B4-BE49-F238E27FC236}">
                <a16:creationId xmlns:a16="http://schemas.microsoft.com/office/drawing/2014/main" id="{55088193-0070-397B-BFE8-B15C22958EB1}"/>
              </a:ext>
            </a:extLst>
          </p:cNvPr>
          <p:cNvCxnSpPr>
            <a:cxnSpLocks/>
            <a:stCxn id="23" idx="3"/>
            <a:endCxn id="21" idx="1"/>
          </p:cNvCxnSpPr>
          <p:nvPr/>
        </p:nvCxnSpPr>
        <p:spPr>
          <a:xfrm flipV="1">
            <a:off x="1392066" y="4854173"/>
            <a:ext cx="797588" cy="13729"/>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grpSp>
        <p:nvGrpSpPr>
          <p:cNvPr id="19" name="Group 18">
            <a:extLst>
              <a:ext uri="{FF2B5EF4-FFF2-40B4-BE49-F238E27FC236}">
                <a16:creationId xmlns:a16="http://schemas.microsoft.com/office/drawing/2014/main" id="{41822E9C-463C-6E6C-539B-47029EE49269}"/>
              </a:ext>
            </a:extLst>
          </p:cNvPr>
          <p:cNvGrpSpPr/>
          <p:nvPr/>
        </p:nvGrpSpPr>
        <p:grpSpPr>
          <a:xfrm>
            <a:off x="2148404" y="4404685"/>
            <a:ext cx="330849" cy="637914"/>
            <a:chOff x="2021255" y="5606297"/>
            <a:chExt cx="330849" cy="637914"/>
          </a:xfrm>
        </p:grpSpPr>
        <p:pic>
          <p:nvPicPr>
            <p:cNvPr id="20" name="Graphic 8" descr="AWS WAF service icon.">
              <a:extLst>
                <a:ext uri="{FF2B5EF4-FFF2-40B4-BE49-F238E27FC236}">
                  <a16:creationId xmlns:a16="http://schemas.microsoft.com/office/drawing/2014/main" id="{014D1E09-EF75-9A42-BB1E-F64C71B6F99F}"/>
                </a:ext>
              </a:extLst>
            </p:cNvPr>
            <p:cNvPicPr>
              <a:picLocks noChangeAspect="1" noChangeArrowheads="1"/>
            </p:cNvPicPr>
            <p:nvPr/>
          </p:nvPicPr>
          <p:blipFill>
            <a:blip>
              <a:extLst>
                <a:ext uri="{96DAC541-7B7A-43D3-8B79-37D633B846F1}">
                  <asvg:svgBlip xmlns:asvg="http://schemas.microsoft.com/office/drawing/2016/SVG/main" r:embed="rId4"/>
                </a:ext>
              </a:extLst>
            </a:blip>
            <a:srcRect/>
            <a:stretch/>
          </p:blipFill>
          <p:spPr bwMode="auto">
            <a:xfrm>
              <a:off x="2061331" y="5633576"/>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1" name="Graphic 19" descr="Amazon CloudFront service icon.">
              <a:extLst>
                <a:ext uri="{FF2B5EF4-FFF2-40B4-BE49-F238E27FC236}">
                  <a16:creationId xmlns:a16="http://schemas.microsoft.com/office/drawing/2014/main" id="{E289536B-47E6-C0AE-C6B0-1B1BDB0058D9}"/>
                </a:ext>
              </a:extLst>
            </p:cNvPr>
            <p:cNvPicPr>
              <a:picLocks noChangeAspect="1" noChangeArrowheads="1"/>
            </p:cNvPicPr>
            <p:nvPr/>
          </p:nvPicPr>
          <p:blipFill>
            <a:blip>
              <a:extLst>
                <a:ext uri="{96DAC541-7B7A-43D3-8B79-37D633B846F1}">
                  <asvg:svgBlip xmlns:asvg="http://schemas.microsoft.com/office/drawing/2016/SVG/main" r:embed="rId5"/>
                </a:ext>
              </a:extLst>
            </a:blip>
            <a:srcRect/>
            <a:stretch/>
          </p:blipFill>
          <p:spPr bwMode="auto">
            <a:xfrm>
              <a:off x="2062505" y="591862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Rectangle 21" descr="Availability Zone group.">
              <a:extLst>
                <a:ext uri="{FF2B5EF4-FFF2-40B4-BE49-F238E27FC236}">
                  <a16:creationId xmlns:a16="http://schemas.microsoft.com/office/drawing/2014/main" id="{1A26D869-7764-6D0F-52E3-8A931567F523}"/>
                </a:ext>
              </a:extLst>
            </p:cNvPr>
            <p:cNvSpPr/>
            <p:nvPr/>
          </p:nvSpPr>
          <p:spPr>
            <a:xfrm>
              <a:off x="2021255" y="5606297"/>
              <a:ext cx="330849" cy="637914"/>
            </a:xfrm>
            <a:prstGeom prst="rect">
              <a:avLst/>
            </a:prstGeom>
            <a:noFill/>
            <a:ln w="15875" cap="flat" cmpd="sng" algn="ctr">
              <a:solidFill>
                <a:schemeClr val="tx1"/>
              </a:solidFill>
              <a:prstDash val="dash"/>
              <a:miter lim="800000"/>
            </a:ln>
            <a:effectLst/>
          </p:spPr>
          <p:txBody>
            <a:bodyPr tIns="9144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endParaRPr>
            </a:p>
          </p:txBody>
        </p:sp>
      </p:grpSp>
      <p:sp>
        <p:nvSpPr>
          <p:cNvPr id="23" name="TextBox 22">
            <a:extLst>
              <a:ext uri="{FF2B5EF4-FFF2-40B4-BE49-F238E27FC236}">
                <a16:creationId xmlns:a16="http://schemas.microsoft.com/office/drawing/2014/main" id="{37420444-2F72-6C7D-F6E1-0C327D402424}"/>
              </a:ext>
            </a:extLst>
          </p:cNvPr>
          <p:cNvSpPr txBox="1"/>
          <p:nvPr/>
        </p:nvSpPr>
        <p:spPr>
          <a:xfrm>
            <a:off x="655967" y="4667847"/>
            <a:ext cx="736099" cy="40011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SPA Web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Traffic</a:t>
            </a:r>
          </a:p>
        </p:txBody>
      </p:sp>
      <p:pic>
        <p:nvPicPr>
          <p:cNvPr id="24" name="Graphic 8" descr="Amazon Simple Storage Service (Amazon S3) service icon.">
            <a:extLst>
              <a:ext uri="{FF2B5EF4-FFF2-40B4-BE49-F238E27FC236}">
                <a16:creationId xmlns:a16="http://schemas.microsoft.com/office/drawing/2014/main" id="{1741BD43-3441-AA6A-0AA7-A4FB9D680F30}"/>
              </a:ext>
            </a:extLst>
          </p:cNvPr>
          <p:cNvPicPr>
            <a:picLocks noChangeAspect="1" noChangeArrowheads="1"/>
          </p:cNvPicPr>
          <p:nvPr/>
        </p:nvPicPr>
        <p:blipFill>
          <a:blip>
            <a:extLst>
              <a:ext uri="{96DAC541-7B7A-43D3-8B79-37D633B846F1}">
                <asvg:svgBlip xmlns:asvg="http://schemas.microsoft.com/office/drawing/2016/SVG/main" r:embed="rId6"/>
              </a:ext>
            </a:extLst>
          </a:blip>
          <a:srcRect/>
          <a:stretch/>
        </p:blipFill>
        <p:spPr bwMode="auto">
          <a:xfrm>
            <a:off x="3846409" y="4718104"/>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25" name="Connector: Elbow 24">
            <a:extLst>
              <a:ext uri="{FF2B5EF4-FFF2-40B4-BE49-F238E27FC236}">
                <a16:creationId xmlns:a16="http://schemas.microsoft.com/office/drawing/2014/main" id="{26D9C0C8-C9F1-DB2B-4B49-A7C69F1A2E2A}"/>
              </a:ext>
            </a:extLst>
          </p:cNvPr>
          <p:cNvCxnSpPr>
            <a:cxnSpLocks/>
            <a:stCxn id="21" idx="3"/>
            <a:endCxn id="24" idx="1"/>
          </p:cNvCxnSpPr>
          <p:nvPr/>
        </p:nvCxnSpPr>
        <p:spPr>
          <a:xfrm>
            <a:off x="2463974" y="4854173"/>
            <a:ext cx="1382435" cy="1091"/>
          </a:xfrm>
          <a:prstGeom prst="bentConnector3">
            <a:avLst>
              <a:gd name="adj1" fmla="val 50000"/>
            </a:avLst>
          </a:prstGeom>
          <a:ln>
            <a:headEnd type="triangle" w="med" len="med"/>
            <a:tailEnd type="none" w="med" len="med"/>
          </a:ln>
        </p:spPr>
        <p:style>
          <a:lnRef idx="2">
            <a:schemeClr val="accent2"/>
          </a:lnRef>
          <a:fillRef idx="0">
            <a:schemeClr val="accent2"/>
          </a:fillRef>
          <a:effectRef idx="1">
            <a:schemeClr val="accent2"/>
          </a:effectRef>
          <a:fontRef idx="minor">
            <a:schemeClr val="tx1"/>
          </a:fontRef>
        </p:style>
      </p:cxnSp>
      <p:pic>
        <p:nvPicPr>
          <p:cNvPr id="26" name="Graphic 25" descr="Endpoints resource icon for the Amazon VPC service.&#10;">
            <a:extLst>
              <a:ext uri="{FF2B5EF4-FFF2-40B4-BE49-F238E27FC236}">
                <a16:creationId xmlns:a16="http://schemas.microsoft.com/office/drawing/2014/main" id="{B192770A-E56C-053A-ADE2-DBEBE7C467A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497604" y="3762171"/>
            <a:ext cx="274320" cy="274320"/>
          </a:xfrm>
          <a:prstGeom prst="rect">
            <a:avLst/>
          </a:prstGeom>
        </p:spPr>
      </p:pic>
      <p:pic>
        <p:nvPicPr>
          <p:cNvPr id="27" name="Graphic 21" descr="Amazon Route 53 service icon.">
            <a:extLst>
              <a:ext uri="{FF2B5EF4-FFF2-40B4-BE49-F238E27FC236}">
                <a16:creationId xmlns:a16="http://schemas.microsoft.com/office/drawing/2014/main" id="{B41DDC29-9C33-441A-7DC2-2C94CAEB0970}"/>
              </a:ext>
            </a:extLst>
          </p:cNvPr>
          <p:cNvPicPr>
            <a:picLocks noChangeAspect="1" noChangeArrowheads="1"/>
          </p:cNvPicPr>
          <p:nvPr/>
        </p:nvPicPr>
        <p:blipFill>
          <a:blip>
            <a:extLst>
              <a:ext uri="{96DAC541-7B7A-43D3-8B79-37D633B846F1}">
                <asvg:svgBlip xmlns:asvg="http://schemas.microsoft.com/office/drawing/2016/SVG/main" r:embed="rId8"/>
              </a:ext>
            </a:extLst>
          </a:blip>
          <a:srcRect/>
          <a:stretch/>
        </p:blipFill>
        <p:spPr bwMode="auto">
          <a:xfrm>
            <a:off x="2026407" y="1388197"/>
            <a:ext cx="274320" cy="2668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9" name="Graphic 7" descr="Amazon API Gateway service icon.">
            <a:extLst>
              <a:ext uri="{FF2B5EF4-FFF2-40B4-BE49-F238E27FC236}">
                <a16:creationId xmlns:a16="http://schemas.microsoft.com/office/drawing/2014/main" id="{442C1524-125F-FDF5-6C95-0281FE62A06C}"/>
              </a:ext>
            </a:extLst>
          </p:cNvPr>
          <p:cNvPicPr>
            <a:picLocks noChangeAspect="1" noChangeArrowheads="1"/>
          </p:cNvPicPr>
          <p:nvPr/>
        </p:nvPicPr>
        <p:blipFill>
          <a:blip>
            <a:extLst>
              <a:ext uri="{96DAC541-7B7A-43D3-8B79-37D633B846F1}">
                <asvg:svgBlip xmlns:asvg="http://schemas.microsoft.com/office/drawing/2016/SVG/main" r:embed="rId9"/>
              </a:ext>
            </a:extLst>
          </a:blip>
          <a:srcRect/>
          <a:stretch/>
        </p:blipFill>
        <p:spPr bwMode="auto">
          <a:xfrm>
            <a:off x="2927753" y="376529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30" name="Connector: Elbow 29">
            <a:extLst>
              <a:ext uri="{FF2B5EF4-FFF2-40B4-BE49-F238E27FC236}">
                <a16:creationId xmlns:a16="http://schemas.microsoft.com/office/drawing/2014/main" id="{292F2157-9D2B-6B6D-5F5E-E6064FE38DA5}"/>
              </a:ext>
            </a:extLst>
          </p:cNvPr>
          <p:cNvCxnSpPr>
            <a:cxnSpLocks/>
            <a:stCxn id="17" idx="3"/>
            <a:endCxn id="29" idx="1"/>
          </p:cNvCxnSpPr>
          <p:nvPr/>
        </p:nvCxnSpPr>
        <p:spPr>
          <a:xfrm flipV="1">
            <a:off x="1390864" y="3902455"/>
            <a:ext cx="1536889" cy="230428"/>
          </a:xfrm>
          <a:prstGeom prst="bentConnector3">
            <a:avLst>
              <a:gd name="adj1" fmla="val 50000"/>
            </a:avLst>
          </a:prstGeom>
          <a:ln>
            <a:solidFill>
              <a:schemeClr val="accent1"/>
            </a:solidFill>
            <a:tailEnd type="triangle"/>
          </a:ln>
        </p:spPr>
        <p:style>
          <a:lnRef idx="2">
            <a:schemeClr val="accent1"/>
          </a:lnRef>
          <a:fillRef idx="0">
            <a:schemeClr val="accent1"/>
          </a:fillRef>
          <a:effectRef idx="1">
            <a:schemeClr val="accent1"/>
          </a:effectRef>
          <a:fontRef idx="minor">
            <a:schemeClr val="tx1"/>
          </a:fontRef>
        </p:style>
      </p:cxnSp>
      <p:pic>
        <p:nvPicPr>
          <p:cNvPr id="64" name="Graphic 17" descr="Amazon Cognito service icon.">
            <a:extLst>
              <a:ext uri="{FF2B5EF4-FFF2-40B4-BE49-F238E27FC236}">
                <a16:creationId xmlns:a16="http://schemas.microsoft.com/office/drawing/2014/main" id="{9F6CD574-24F4-AB2F-6712-CAE55495F9E4}"/>
              </a:ext>
            </a:extLst>
          </p:cNvPr>
          <p:cNvPicPr>
            <a:picLocks noChangeAspect="1" noChangeArrowheads="1"/>
          </p:cNvPicPr>
          <p:nvPr/>
        </p:nvPicPr>
        <p:blipFill>
          <a:blip>
            <a:extLst>
              <a:ext uri="{96DAC541-7B7A-43D3-8B79-37D633B846F1}">
                <asvg:svgBlip xmlns:asvg="http://schemas.microsoft.com/office/drawing/2016/SVG/main" r:embed="rId10"/>
              </a:ext>
            </a:extLst>
          </a:blip>
          <a:srcRect/>
          <a:stretch/>
        </p:blipFill>
        <p:spPr bwMode="auto">
          <a:xfrm>
            <a:off x="2901721" y="1900157"/>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lambda" descr="Lambda service icon.">
            <a:extLst>
              <a:ext uri="{FF2B5EF4-FFF2-40B4-BE49-F238E27FC236}">
                <a16:creationId xmlns:a16="http://schemas.microsoft.com/office/drawing/2014/main" id="{942C712A-54A9-5F42-711E-D3EBC3F70419}"/>
              </a:ext>
            </a:extLst>
          </p:cNvPr>
          <p:cNvPicPr>
            <a:picLocks noChangeAspect="1" noChangeArrowheads="1"/>
          </p:cNvPicPr>
          <p:nvPr/>
        </p:nvPicPr>
        <p:blipFill>
          <a:blip>
            <a:extLst>
              <a:ext uri="{96DAC541-7B7A-43D3-8B79-37D633B846F1}">
                <asvg:svgBlip xmlns:asvg="http://schemas.microsoft.com/office/drawing/2016/SVG/main" r:embed="rId11"/>
              </a:ext>
            </a:extLst>
          </a:blip>
          <a:srcRect/>
          <a:stretch/>
        </p:blipFill>
        <p:spPr bwMode="auto">
          <a:xfrm>
            <a:off x="4636133" y="375398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9" name="Graphic 68" descr="Endpoints resource icon for the Amazon VPC service.&#10;">
            <a:extLst>
              <a:ext uri="{FF2B5EF4-FFF2-40B4-BE49-F238E27FC236}">
                <a16:creationId xmlns:a16="http://schemas.microsoft.com/office/drawing/2014/main" id="{8F9A1FF1-72A5-D378-7495-09FFE169F70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091487" y="3753985"/>
            <a:ext cx="274320" cy="274320"/>
          </a:xfrm>
          <a:prstGeom prst="rect">
            <a:avLst/>
          </a:prstGeom>
        </p:spPr>
      </p:pic>
      <p:cxnSp>
        <p:nvCxnSpPr>
          <p:cNvPr id="70" name="Connector: Elbow 69">
            <a:extLst>
              <a:ext uri="{FF2B5EF4-FFF2-40B4-BE49-F238E27FC236}">
                <a16:creationId xmlns:a16="http://schemas.microsoft.com/office/drawing/2014/main" id="{42FA2C58-5160-92DB-2098-F20D8A62E036}"/>
              </a:ext>
            </a:extLst>
          </p:cNvPr>
          <p:cNvCxnSpPr>
            <a:cxnSpLocks/>
            <a:stCxn id="69" idx="2"/>
            <a:endCxn id="67" idx="0"/>
          </p:cNvCxnSpPr>
          <p:nvPr/>
        </p:nvCxnSpPr>
        <p:spPr>
          <a:xfrm rot="5400000">
            <a:off x="4466852" y="4020618"/>
            <a:ext cx="754109" cy="769482"/>
          </a:xfrm>
          <a:prstGeom prst="bentConnector3">
            <a:avLst>
              <a:gd name="adj1" fmla="val 20949"/>
            </a:avLst>
          </a:prstGeom>
          <a:ln w="28575">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71" name="Connector: Elbow 70">
            <a:extLst>
              <a:ext uri="{FF2B5EF4-FFF2-40B4-BE49-F238E27FC236}">
                <a16:creationId xmlns:a16="http://schemas.microsoft.com/office/drawing/2014/main" id="{D5584AA8-AE1C-3C77-DBC7-B938690EBE63}"/>
              </a:ext>
            </a:extLst>
          </p:cNvPr>
          <p:cNvCxnSpPr>
            <a:cxnSpLocks/>
            <a:stCxn id="69" idx="2"/>
            <a:endCxn id="66" idx="0"/>
          </p:cNvCxnSpPr>
          <p:nvPr/>
        </p:nvCxnSpPr>
        <p:spPr>
          <a:xfrm rot="16200000" flipH="1">
            <a:off x="4885129" y="4371822"/>
            <a:ext cx="729821" cy="42785"/>
          </a:xfrm>
          <a:prstGeom prst="bentConnector3">
            <a:avLst>
              <a:gd name="adj1" fmla="val 21288"/>
            </a:avLst>
          </a:prstGeom>
          <a:ln w="28575">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72" name="TextBox 71">
            <a:extLst>
              <a:ext uri="{FF2B5EF4-FFF2-40B4-BE49-F238E27FC236}">
                <a16:creationId xmlns:a16="http://schemas.microsoft.com/office/drawing/2014/main" id="{505B4F95-297F-77A0-E8EE-4385739B97DF}"/>
              </a:ext>
            </a:extLst>
          </p:cNvPr>
          <p:cNvSpPr txBox="1"/>
          <p:nvPr/>
        </p:nvSpPr>
        <p:spPr>
          <a:xfrm>
            <a:off x="5292471" y="3706479"/>
            <a:ext cx="896399" cy="369332"/>
          </a:xfrm>
          <a:prstGeom prst="rect">
            <a:avLst/>
          </a:prstGeom>
          <a:noFill/>
        </p:spPr>
        <p:txBody>
          <a:bodyPr wrap="none" rtlCol="0">
            <a:spAutoFit/>
          </a:bodyPr>
          <a:lstStyle/>
          <a:p>
            <a:pPr algn="ctr"/>
            <a:r>
              <a:rPr lang="en-US" sz="900" dirty="0">
                <a:solidFill>
                  <a:schemeClr val="bg1"/>
                </a:solidFill>
              </a:rPr>
              <a:t>Interface VPC </a:t>
            </a:r>
          </a:p>
          <a:p>
            <a:pPr algn="ctr"/>
            <a:r>
              <a:rPr lang="en-US" sz="900" dirty="0">
                <a:solidFill>
                  <a:schemeClr val="bg1"/>
                </a:solidFill>
              </a:rPr>
              <a:t>Endpoint</a:t>
            </a:r>
          </a:p>
        </p:txBody>
      </p:sp>
      <p:cxnSp>
        <p:nvCxnSpPr>
          <p:cNvPr id="73" name="Straight Arrow Connector 72">
            <a:extLst>
              <a:ext uri="{FF2B5EF4-FFF2-40B4-BE49-F238E27FC236}">
                <a16:creationId xmlns:a16="http://schemas.microsoft.com/office/drawing/2014/main" id="{E3FD3D41-A8A1-69A8-323F-576FB572DB64}"/>
              </a:ext>
            </a:extLst>
          </p:cNvPr>
          <p:cNvCxnSpPr>
            <a:cxnSpLocks/>
            <a:stCxn id="68" idx="3"/>
          </p:cNvCxnSpPr>
          <p:nvPr/>
        </p:nvCxnSpPr>
        <p:spPr>
          <a:xfrm>
            <a:off x="4910453" y="3891145"/>
            <a:ext cx="223819" cy="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pic>
        <p:nvPicPr>
          <p:cNvPr id="83" name="Graphic 26" descr="Amazon Simple Queue Service (Amazon SQS) service icon.">
            <a:extLst>
              <a:ext uri="{FF2B5EF4-FFF2-40B4-BE49-F238E27FC236}">
                <a16:creationId xmlns:a16="http://schemas.microsoft.com/office/drawing/2014/main" id="{537E93D8-0FB6-2AE1-18E4-03B709D8A56B}"/>
              </a:ext>
            </a:extLst>
          </p:cNvPr>
          <p:cNvPicPr>
            <a:picLocks noChangeAspect="1" noChangeArrowheads="1"/>
          </p:cNvPicPr>
          <p:nvPr/>
        </p:nvPicPr>
        <p:blipFill>
          <a:blip>
            <a:extLst>
              <a:ext uri="{96DAC541-7B7A-43D3-8B79-37D633B846F1}">
                <asvg:svgBlip xmlns:asvg="http://schemas.microsoft.com/office/drawing/2016/SVG/main" r:embed="rId12"/>
              </a:ext>
            </a:extLst>
          </a:blip>
          <a:srcRect/>
          <a:stretch/>
        </p:blipFill>
        <p:spPr bwMode="auto">
          <a:xfrm>
            <a:off x="4892478" y="3044803"/>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1" name="Graphic 24" descr="Amazon Simple Notification Service (Amazon SNS) service icon.">
            <a:extLst>
              <a:ext uri="{FF2B5EF4-FFF2-40B4-BE49-F238E27FC236}">
                <a16:creationId xmlns:a16="http://schemas.microsoft.com/office/drawing/2014/main" id="{B7AD6944-6E57-E149-BC8A-FB5AFBB6DD4F}"/>
              </a:ext>
            </a:extLst>
          </p:cNvPr>
          <p:cNvPicPr>
            <a:picLocks noChangeAspect="1" noChangeArrowheads="1"/>
          </p:cNvPicPr>
          <p:nvPr/>
        </p:nvPicPr>
        <p:blipFill>
          <a:blip>
            <a:extLst>
              <a:ext uri="{96DAC541-7B7A-43D3-8B79-37D633B846F1}">
                <asvg:svgBlip xmlns:asvg="http://schemas.microsoft.com/office/drawing/2016/SVG/main" r:embed="rId13"/>
              </a:ext>
            </a:extLst>
          </a:blip>
          <a:srcRect/>
          <a:stretch/>
        </p:blipFill>
        <p:spPr bwMode="auto">
          <a:xfrm>
            <a:off x="4328159" y="304616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95" name="Connector: Elbow 94">
            <a:extLst>
              <a:ext uri="{FF2B5EF4-FFF2-40B4-BE49-F238E27FC236}">
                <a16:creationId xmlns:a16="http://schemas.microsoft.com/office/drawing/2014/main" id="{CDA1727B-E953-C596-3DFE-8BE17A46120A}"/>
              </a:ext>
            </a:extLst>
          </p:cNvPr>
          <p:cNvCxnSpPr>
            <a:cxnSpLocks/>
            <a:stCxn id="68" idx="0"/>
            <a:endCxn id="83" idx="2"/>
          </p:cNvCxnSpPr>
          <p:nvPr/>
        </p:nvCxnSpPr>
        <p:spPr>
          <a:xfrm rot="5400000" flipH="1" flipV="1">
            <a:off x="4684034" y="3408382"/>
            <a:ext cx="434862" cy="256345"/>
          </a:xfrm>
          <a:prstGeom prst="bentConnector3">
            <a:avLst>
              <a:gd name="adj1" fmla="val 50000"/>
            </a:avLst>
          </a:prstGeom>
          <a:ln w="28575">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Connector: Elbow 99">
            <a:extLst>
              <a:ext uri="{FF2B5EF4-FFF2-40B4-BE49-F238E27FC236}">
                <a16:creationId xmlns:a16="http://schemas.microsoft.com/office/drawing/2014/main" id="{731583AF-E740-CA76-9B59-A0D9A9899863}"/>
              </a:ext>
            </a:extLst>
          </p:cNvPr>
          <p:cNvCxnSpPr>
            <a:cxnSpLocks/>
            <a:stCxn id="68" idx="0"/>
            <a:endCxn id="91" idx="2"/>
          </p:cNvCxnSpPr>
          <p:nvPr/>
        </p:nvCxnSpPr>
        <p:spPr>
          <a:xfrm rot="16200000" flipV="1">
            <a:off x="4402556" y="3383248"/>
            <a:ext cx="433500" cy="307974"/>
          </a:xfrm>
          <a:prstGeom prst="bentConnector3">
            <a:avLst>
              <a:gd name="adj1" fmla="val 50000"/>
            </a:avLst>
          </a:prstGeom>
          <a:ln w="28575">
            <a:solidFill>
              <a:schemeClr val="accent2"/>
            </a:solidFill>
            <a:tailEnd type="triangle"/>
          </a:ln>
        </p:spPr>
        <p:style>
          <a:lnRef idx="2">
            <a:schemeClr val="accent1"/>
          </a:lnRef>
          <a:fillRef idx="0">
            <a:schemeClr val="accent1"/>
          </a:fillRef>
          <a:effectRef idx="1">
            <a:schemeClr val="accent1"/>
          </a:effectRef>
          <a:fontRef idx="minor">
            <a:schemeClr val="tx1"/>
          </a:fontRef>
        </p:style>
      </p:cxnSp>
      <p:grpSp>
        <p:nvGrpSpPr>
          <p:cNvPr id="78" name="Group 77">
            <a:extLst>
              <a:ext uri="{FF2B5EF4-FFF2-40B4-BE49-F238E27FC236}">
                <a16:creationId xmlns:a16="http://schemas.microsoft.com/office/drawing/2014/main" id="{CBB01567-67C3-F78A-056D-8B999FD8ADC3}"/>
              </a:ext>
            </a:extLst>
          </p:cNvPr>
          <p:cNvGrpSpPr/>
          <p:nvPr/>
        </p:nvGrpSpPr>
        <p:grpSpPr>
          <a:xfrm>
            <a:off x="3991747" y="4782414"/>
            <a:ext cx="934836" cy="491345"/>
            <a:chOff x="3991747" y="4782414"/>
            <a:chExt cx="934836" cy="491345"/>
          </a:xfrm>
        </p:grpSpPr>
        <p:pic>
          <p:nvPicPr>
            <p:cNvPr id="67" name="Graphic 23" descr="Amazon DynamoDB service icon.">
              <a:extLst>
                <a:ext uri="{FF2B5EF4-FFF2-40B4-BE49-F238E27FC236}">
                  <a16:creationId xmlns:a16="http://schemas.microsoft.com/office/drawing/2014/main" id="{45405CCE-5A8E-186F-401B-01C96C4E1D80}"/>
                </a:ext>
              </a:extLst>
            </p:cNvPr>
            <p:cNvPicPr>
              <a:picLocks noChangeAspect="1" noChangeArrowheads="1"/>
            </p:cNvPicPr>
            <p:nvPr/>
          </p:nvPicPr>
          <p:blipFill>
            <a:blip>
              <a:extLst>
                <a:ext uri="{96DAC541-7B7A-43D3-8B79-37D633B846F1}">
                  <asvg:svgBlip xmlns:asvg="http://schemas.microsoft.com/office/drawing/2016/SVG/main" r:embed="rId14"/>
                </a:ext>
              </a:extLst>
            </a:blip>
            <a:srcRect/>
            <a:stretch/>
          </p:blipFill>
          <p:spPr bwMode="auto">
            <a:xfrm>
              <a:off x="4322005" y="4782414"/>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11">
              <a:extLst>
                <a:ext uri="{FF2B5EF4-FFF2-40B4-BE49-F238E27FC236}">
                  <a16:creationId xmlns:a16="http://schemas.microsoft.com/office/drawing/2014/main" id="{84532511-C722-CEA0-6D77-FF3C295CCD9C}"/>
                </a:ext>
              </a:extLst>
            </p:cNvPr>
            <p:cNvSpPr txBox="1">
              <a:spLocks noChangeArrowheads="1"/>
            </p:cNvSpPr>
            <p:nvPr/>
          </p:nvSpPr>
          <p:spPr bwMode="auto">
            <a:xfrm>
              <a:off x="3991747" y="5027538"/>
              <a:ext cx="93483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DynamoDB</a:t>
              </a:r>
            </a:p>
          </p:txBody>
        </p:sp>
      </p:grpSp>
      <p:grpSp>
        <p:nvGrpSpPr>
          <p:cNvPr id="79" name="Group 78">
            <a:extLst>
              <a:ext uri="{FF2B5EF4-FFF2-40B4-BE49-F238E27FC236}">
                <a16:creationId xmlns:a16="http://schemas.microsoft.com/office/drawing/2014/main" id="{DE3ACCF1-02D2-D245-47AB-339163AC4409}"/>
              </a:ext>
            </a:extLst>
          </p:cNvPr>
          <p:cNvGrpSpPr/>
          <p:nvPr/>
        </p:nvGrpSpPr>
        <p:grpSpPr>
          <a:xfrm>
            <a:off x="5039124" y="4758126"/>
            <a:ext cx="474496" cy="479772"/>
            <a:chOff x="5039124" y="4758126"/>
            <a:chExt cx="474496" cy="479772"/>
          </a:xfrm>
        </p:grpSpPr>
        <p:pic>
          <p:nvPicPr>
            <p:cNvPr id="66" name="Graphic 8" descr="Amazon Simple Storage Service (Amazon S3) service icon.">
              <a:extLst>
                <a:ext uri="{FF2B5EF4-FFF2-40B4-BE49-F238E27FC236}">
                  <a16:creationId xmlns:a16="http://schemas.microsoft.com/office/drawing/2014/main" id="{F32CD279-7CB6-6F16-7E22-3BD6040AFE80}"/>
                </a:ext>
              </a:extLst>
            </p:cNvPr>
            <p:cNvPicPr>
              <a:picLocks noChangeAspect="1" noChangeArrowheads="1"/>
            </p:cNvPicPr>
            <p:nvPr/>
          </p:nvPicPr>
          <p:blipFill>
            <a:blip>
              <a:extLst>
                <a:ext uri="{96DAC541-7B7A-43D3-8B79-37D633B846F1}">
                  <asvg:svgBlip xmlns:asvg="http://schemas.microsoft.com/office/drawing/2016/SVG/main" r:embed="rId6"/>
                </a:ext>
              </a:extLst>
            </a:blip>
            <a:srcRect/>
            <a:stretch/>
          </p:blipFill>
          <p:spPr bwMode="auto">
            <a:xfrm>
              <a:off x="5134272" y="4758126"/>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 name="TextBox 9">
              <a:extLst>
                <a:ext uri="{FF2B5EF4-FFF2-40B4-BE49-F238E27FC236}">
                  <a16:creationId xmlns:a16="http://schemas.microsoft.com/office/drawing/2014/main" id="{26D9C482-0A43-EF48-DFAC-A45BFD9A39CE}"/>
                </a:ext>
              </a:extLst>
            </p:cNvPr>
            <p:cNvSpPr txBox="1">
              <a:spLocks noChangeArrowheads="1"/>
            </p:cNvSpPr>
            <p:nvPr/>
          </p:nvSpPr>
          <p:spPr bwMode="auto">
            <a:xfrm>
              <a:off x="5039124" y="4991677"/>
              <a:ext cx="47449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S3</a:t>
              </a:r>
            </a:p>
          </p:txBody>
        </p:sp>
      </p:grpSp>
      <p:sp>
        <p:nvSpPr>
          <p:cNvPr id="63" name="TextBox 9">
            <a:extLst>
              <a:ext uri="{FF2B5EF4-FFF2-40B4-BE49-F238E27FC236}">
                <a16:creationId xmlns:a16="http://schemas.microsoft.com/office/drawing/2014/main" id="{195BA550-C231-8349-5834-EC0B5E657267}"/>
              </a:ext>
            </a:extLst>
          </p:cNvPr>
          <p:cNvSpPr txBox="1">
            <a:spLocks noChangeArrowheads="1"/>
          </p:cNvSpPr>
          <p:nvPr/>
        </p:nvSpPr>
        <p:spPr bwMode="auto">
          <a:xfrm>
            <a:off x="1824680" y="4978595"/>
            <a:ext cx="931832"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CloudFront</a:t>
            </a:r>
          </a:p>
        </p:txBody>
      </p:sp>
      <p:sp>
        <p:nvSpPr>
          <p:cNvPr id="75" name="TextBox 9">
            <a:extLst>
              <a:ext uri="{FF2B5EF4-FFF2-40B4-BE49-F238E27FC236}">
                <a16:creationId xmlns:a16="http://schemas.microsoft.com/office/drawing/2014/main" id="{81944782-B615-F8DD-CCB1-A3238547A600}"/>
              </a:ext>
            </a:extLst>
          </p:cNvPr>
          <p:cNvSpPr txBox="1">
            <a:spLocks noChangeArrowheads="1"/>
          </p:cNvSpPr>
          <p:nvPr/>
        </p:nvSpPr>
        <p:spPr bwMode="auto">
          <a:xfrm>
            <a:off x="1866528" y="4218053"/>
            <a:ext cx="931832"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WAF</a:t>
            </a:r>
          </a:p>
        </p:txBody>
      </p:sp>
      <p:sp>
        <p:nvSpPr>
          <p:cNvPr id="77" name="TextBox 9">
            <a:extLst>
              <a:ext uri="{FF2B5EF4-FFF2-40B4-BE49-F238E27FC236}">
                <a16:creationId xmlns:a16="http://schemas.microsoft.com/office/drawing/2014/main" id="{7EF9940F-06B5-652E-FF8E-C96C9F997B14}"/>
              </a:ext>
            </a:extLst>
          </p:cNvPr>
          <p:cNvSpPr txBox="1">
            <a:spLocks noChangeArrowheads="1"/>
          </p:cNvSpPr>
          <p:nvPr/>
        </p:nvSpPr>
        <p:spPr bwMode="auto">
          <a:xfrm>
            <a:off x="2591210" y="3362260"/>
            <a:ext cx="931832"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API </a:t>
            </a:r>
          </a:p>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Gateway</a:t>
            </a:r>
          </a:p>
        </p:txBody>
      </p:sp>
      <p:grpSp>
        <p:nvGrpSpPr>
          <p:cNvPr id="76" name="Group 75">
            <a:extLst>
              <a:ext uri="{FF2B5EF4-FFF2-40B4-BE49-F238E27FC236}">
                <a16:creationId xmlns:a16="http://schemas.microsoft.com/office/drawing/2014/main" id="{FF3B8703-0CD0-523D-066A-9C7F8CEC70BD}"/>
              </a:ext>
            </a:extLst>
          </p:cNvPr>
          <p:cNvGrpSpPr/>
          <p:nvPr/>
        </p:nvGrpSpPr>
        <p:grpSpPr>
          <a:xfrm>
            <a:off x="5258530" y="3040239"/>
            <a:ext cx="910254" cy="667961"/>
            <a:chOff x="5635046" y="2699578"/>
            <a:chExt cx="910254" cy="667961"/>
          </a:xfrm>
        </p:grpSpPr>
        <p:pic>
          <p:nvPicPr>
            <p:cNvPr id="62" name="Graphic 61" descr="Pipes resource icon for the Amazon EventBridge service.">
              <a:extLst>
                <a:ext uri="{FF2B5EF4-FFF2-40B4-BE49-F238E27FC236}">
                  <a16:creationId xmlns:a16="http://schemas.microsoft.com/office/drawing/2014/main" id="{CA5DC46E-9601-55CE-ECDF-A73313819383}"/>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5950828" y="2699578"/>
              <a:ext cx="274320" cy="274320"/>
            </a:xfrm>
            <a:prstGeom prst="rect">
              <a:avLst/>
            </a:prstGeom>
          </p:spPr>
        </p:pic>
        <p:sp>
          <p:nvSpPr>
            <p:cNvPr id="74" name="TextBox 22">
              <a:extLst>
                <a:ext uri="{FF2B5EF4-FFF2-40B4-BE49-F238E27FC236}">
                  <a16:creationId xmlns:a16="http://schemas.microsoft.com/office/drawing/2014/main" id="{7E649085-2D98-12A1-2479-807950BA5A22}"/>
                </a:ext>
              </a:extLst>
            </p:cNvPr>
            <p:cNvSpPr txBox="1">
              <a:spLocks noChangeArrowheads="1"/>
            </p:cNvSpPr>
            <p:nvPr/>
          </p:nvSpPr>
          <p:spPr bwMode="auto">
            <a:xfrm>
              <a:off x="5635046" y="2967429"/>
              <a:ext cx="91025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fontAlgn="base">
                <a:spcBef>
                  <a:spcPct val="0"/>
                </a:spcBef>
                <a:spcAft>
                  <a:spcPct val="0"/>
                </a:spcAft>
              </a:pPr>
              <a:r>
                <a:rPr lang="en-US" altLang="en-US" sz="1000" dirty="0" err="1">
                  <a:solidFill>
                    <a:schemeClr val="bg1"/>
                  </a:solidFill>
                </a:rPr>
                <a:t>Eventbridge</a:t>
              </a:r>
              <a:r>
                <a:rPr lang="en-US" altLang="en-US" sz="1000" dirty="0">
                  <a:solidFill>
                    <a:schemeClr val="bg1"/>
                  </a:solidFill>
                </a:rPr>
                <a:t> Pipes </a:t>
              </a:r>
              <a:endPar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endParaRPr>
            </a:p>
          </p:txBody>
        </p:sp>
      </p:grpSp>
      <p:cxnSp>
        <p:nvCxnSpPr>
          <p:cNvPr id="84" name="Straight Arrow Connector 83">
            <a:extLst>
              <a:ext uri="{FF2B5EF4-FFF2-40B4-BE49-F238E27FC236}">
                <a16:creationId xmlns:a16="http://schemas.microsoft.com/office/drawing/2014/main" id="{B90BDF1C-7463-D92B-07E6-B159B6B3B621}"/>
              </a:ext>
            </a:extLst>
          </p:cNvPr>
          <p:cNvCxnSpPr>
            <a:cxnSpLocks/>
            <a:stCxn id="83" idx="3"/>
            <a:endCxn id="62" idx="1"/>
          </p:cNvCxnSpPr>
          <p:nvPr/>
        </p:nvCxnSpPr>
        <p:spPr>
          <a:xfrm flipV="1">
            <a:off x="5166798" y="3177399"/>
            <a:ext cx="407514" cy="4564"/>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pic>
        <p:nvPicPr>
          <p:cNvPr id="89" name="Graphic 17" descr="AWS Step Functions service icon.">
            <a:extLst>
              <a:ext uri="{FF2B5EF4-FFF2-40B4-BE49-F238E27FC236}">
                <a16:creationId xmlns:a16="http://schemas.microsoft.com/office/drawing/2014/main" id="{8C46670D-7E5A-85D6-387B-840D91E36018}"/>
              </a:ext>
            </a:extLst>
          </p:cNvPr>
          <p:cNvPicPr>
            <a:picLocks noChangeAspect="1" noChangeArrowheads="1"/>
          </p:cNvPicPr>
          <p:nvPr/>
        </p:nvPicPr>
        <p:blipFill>
          <a:blip>
            <a:extLst>
              <a:ext uri="{96DAC541-7B7A-43D3-8B79-37D633B846F1}">
                <asvg:svgBlip xmlns:asvg="http://schemas.microsoft.com/office/drawing/2016/SVG/main" r:embed="rId16"/>
              </a:ext>
            </a:extLst>
          </a:blip>
          <a:srcRect/>
          <a:stretch/>
        </p:blipFill>
        <p:spPr bwMode="auto">
          <a:xfrm>
            <a:off x="6313683" y="3040771"/>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94" name="Straight Arrow Connector 93">
            <a:extLst>
              <a:ext uri="{FF2B5EF4-FFF2-40B4-BE49-F238E27FC236}">
                <a16:creationId xmlns:a16="http://schemas.microsoft.com/office/drawing/2014/main" id="{6E8DF963-35F5-DFBA-D06C-6C3DCB992153}"/>
              </a:ext>
            </a:extLst>
          </p:cNvPr>
          <p:cNvCxnSpPr>
            <a:cxnSpLocks/>
            <a:stCxn id="62" idx="3"/>
            <a:endCxn id="89" idx="1"/>
          </p:cNvCxnSpPr>
          <p:nvPr/>
        </p:nvCxnSpPr>
        <p:spPr>
          <a:xfrm>
            <a:off x="5848632" y="3177399"/>
            <a:ext cx="465051" cy="532"/>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cxnSp>
        <p:nvCxnSpPr>
          <p:cNvPr id="88" name="Connector: Elbow 87">
            <a:extLst>
              <a:ext uri="{FF2B5EF4-FFF2-40B4-BE49-F238E27FC236}">
                <a16:creationId xmlns:a16="http://schemas.microsoft.com/office/drawing/2014/main" id="{960620A5-9E47-B5CD-7C27-8ACA91734DED}"/>
              </a:ext>
            </a:extLst>
          </p:cNvPr>
          <p:cNvCxnSpPr>
            <a:cxnSpLocks/>
            <a:stCxn id="89" idx="0"/>
            <a:endCxn id="91" idx="0"/>
          </p:cNvCxnSpPr>
          <p:nvPr/>
        </p:nvCxnSpPr>
        <p:spPr>
          <a:xfrm rot="16200000" flipH="1" flipV="1">
            <a:off x="5455384" y="2050706"/>
            <a:ext cx="5394" cy="1985524"/>
          </a:xfrm>
          <a:prstGeom prst="bentConnector3">
            <a:avLst>
              <a:gd name="adj1" fmla="val -4238042"/>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98" name="Connector: Elbow 97">
            <a:extLst>
              <a:ext uri="{FF2B5EF4-FFF2-40B4-BE49-F238E27FC236}">
                <a16:creationId xmlns:a16="http://schemas.microsoft.com/office/drawing/2014/main" id="{C5BDEFFA-F7A6-9750-EBEF-1B8CB14458B0}"/>
              </a:ext>
            </a:extLst>
          </p:cNvPr>
          <p:cNvCxnSpPr>
            <a:cxnSpLocks/>
            <a:stCxn id="89" idx="0"/>
            <a:endCxn id="83" idx="0"/>
          </p:cNvCxnSpPr>
          <p:nvPr/>
        </p:nvCxnSpPr>
        <p:spPr>
          <a:xfrm rot="16200000" flipH="1" flipV="1">
            <a:off x="5738225" y="2332184"/>
            <a:ext cx="4032" cy="1421205"/>
          </a:xfrm>
          <a:prstGeom prst="bentConnector3">
            <a:avLst>
              <a:gd name="adj1" fmla="val -5669643"/>
            </a:avLst>
          </a:prstGeom>
          <a:ln w="28575">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05" name="Connector: Elbow 104">
            <a:extLst>
              <a:ext uri="{FF2B5EF4-FFF2-40B4-BE49-F238E27FC236}">
                <a16:creationId xmlns:a16="http://schemas.microsoft.com/office/drawing/2014/main" id="{8820AA28-358A-5026-D4C7-09113CE91E4A}"/>
              </a:ext>
            </a:extLst>
          </p:cNvPr>
          <p:cNvCxnSpPr>
            <a:cxnSpLocks/>
            <a:endCxn id="67" idx="3"/>
          </p:cNvCxnSpPr>
          <p:nvPr/>
        </p:nvCxnSpPr>
        <p:spPr>
          <a:xfrm rot="16200000" flipH="1" flipV="1">
            <a:off x="4723142" y="3205673"/>
            <a:ext cx="1587083" cy="1840717"/>
          </a:xfrm>
          <a:prstGeom prst="bentConnector4">
            <a:avLst>
              <a:gd name="adj1" fmla="val 119467"/>
              <a:gd name="adj2" fmla="val 83773"/>
            </a:avLst>
          </a:prstGeom>
          <a:ln w="28575">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Connector: Elbow 112">
            <a:extLst>
              <a:ext uri="{FF2B5EF4-FFF2-40B4-BE49-F238E27FC236}">
                <a16:creationId xmlns:a16="http://schemas.microsoft.com/office/drawing/2014/main" id="{BBA16313-1F69-7313-2285-29DBAE654B20}"/>
              </a:ext>
            </a:extLst>
          </p:cNvPr>
          <p:cNvCxnSpPr>
            <a:cxnSpLocks/>
            <a:endCxn id="66" idx="3"/>
          </p:cNvCxnSpPr>
          <p:nvPr/>
        </p:nvCxnSpPr>
        <p:spPr>
          <a:xfrm rot="16200000" flipH="1" flipV="1">
            <a:off x="5141419" y="3599663"/>
            <a:ext cx="1562795" cy="1028450"/>
          </a:xfrm>
          <a:prstGeom prst="bentConnector4">
            <a:avLst>
              <a:gd name="adj1" fmla="val 99927"/>
              <a:gd name="adj2" fmla="val 76452"/>
            </a:avLst>
          </a:prstGeom>
          <a:ln w="28575">
            <a:solidFill>
              <a:schemeClr val="accent6"/>
            </a:solidFill>
            <a:tailEnd type="triangle"/>
          </a:ln>
        </p:spPr>
        <p:style>
          <a:lnRef idx="1">
            <a:schemeClr val="accent1"/>
          </a:lnRef>
          <a:fillRef idx="0">
            <a:schemeClr val="accent1"/>
          </a:fillRef>
          <a:effectRef idx="0">
            <a:schemeClr val="accent1"/>
          </a:effectRef>
          <a:fontRef idx="minor">
            <a:schemeClr val="tx1"/>
          </a:fontRef>
        </p:style>
      </p:cxnSp>
      <p:grpSp>
        <p:nvGrpSpPr>
          <p:cNvPr id="126" name="Group 125">
            <a:extLst>
              <a:ext uri="{FF2B5EF4-FFF2-40B4-BE49-F238E27FC236}">
                <a16:creationId xmlns:a16="http://schemas.microsoft.com/office/drawing/2014/main" id="{0D669FBE-E69A-5F79-D949-DF857F7BEDFB}"/>
              </a:ext>
            </a:extLst>
          </p:cNvPr>
          <p:cNvGrpSpPr/>
          <p:nvPr/>
        </p:nvGrpSpPr>
        <p:grpSpPr>
          <a:xfrm>
            <a:off x="5963190" y="1610102"/>
            <a:ext cx="742690" cy="644137"/>
            <a:chOff x="9572846" y="213792"/>
            <a:chExt cx="742690" cy="644137"/>
          </a:xfrm>
        </p:grpSpPr>
        <p:pic>
          <p:nvPicPr>
            <p:cNvPr id="118" name="Graphic 117" descr="Amazon Bedrock service icon.">
              <a:extLst>
                <a:ext uri="{FF2B5EF4-FFF2-40B4-BE49-F238E27FC236}">
                  <a16:creationId xmlns:a16="http://schemas.microsoft.com/office/drawing/2014/main" id="{5B3EECFE-2A96-3D33-657B-ECABA9A27DBA}"/>
                </a:ext>
              </a:extLst>
            </p:cNvPr>
            <p:cNvPicPr>
              <a:picLocks noChangeAspect="1"/>
            </p:cNvPicPr>
            <p:nvPr/>
          </p:nvPicPr>
          <p:blipFill>
            <a:blip>
              <a:extLst>
                <a:ext uri="{96DAC541-7B7A-43D3-8B79-37D633B846F1}">
                  <asvg:svgBlip xmlns:asvg="http://schemas.microsoft.com/office/drawing/2016/SVG/main" r:embed="rId17"/>
                </a:ext>
              </a:extLst>
            </a:blip>
            <a:srcRect/>
            <a:stretch/>
          </p:blipFill>
          <p:spPr>
            <a:xfrm>
              <a:off x="9814596" y="583609"/>
              <a:ext cx="274320" cy="274320"/>
            </a:xfrm>
            <a:prstGeom prst="rect">
              <a:avLst/>
            </a:prstGeom>
          </p:spPr>
        </p:pic>
        <p:sp>
          <p:nvSpPr>
            <p:cNvPr id="120" name="TextBox 12">
              <a:extLst>
                <a:ext uri="{FF2B5EF4-FFF2-40B4-BE49-F238E27FC236}">
                  <a16:creationId xmlns:a16="http://schemas.microsoft.com/office/drawing/2014/main" id="{A692BD19-EA63-6170-1430-F78348618F5B}"/>
                </a:ext>
              </a:extLst>
            </p:cNvPr>
            <p:cNvSpPr txBox="1">
              <a:spLocks noChangeArrowheads="1"/>
            </p:cNvSpPr>
            <p:nvPr/>
          </p:nvSpPr>
          <p:spPr bwMode="auto">
            <a:xfrm>
              <a:off x="9572846" y="213792"/>
              <a:ext cx="742690"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Amazon Bedrock</a:t>
              </a:r>
            </a:p>
          </p:txBody>
        </p:sp>
      </p:grpSp>
      <p:grpSp>
        <p:nvGrpSpPr>
          <p:cNvPr id="125" name="Group 124">
            <a:extLst>
              <a:ext uri="{FF2B5EF4-FFF2-40B4-BE49-F238E27FC236}">
                <a16:creationId xmlns:a16="http://schemas.microsoft.com/office/drawing/2014/main" id="{36CABF53-AB76-C72A-CABC-A2A20C78DD5C}"/>
              </a:ext>
            </a:extLst>
          </p:cNvPr>
          <p:cNvGrpSpPr/>
          <p:nvPr/>
        </p:nvGrpSpPr>
        <p:grpSpPr>
          <a:xfrm>
            <a:off x="5158572" y="1601942"/>
            <a:ext cx="919174" cy="652297"/>
            <a:chOff x="9289741" y="1506741"/>
            <a:chExt cx="919174" cy="652297"/>
          </a:xfrm>
        </p:grpSpPr>
        <p:pic>
          <p:nvPicPr>
            <p:cNvPr id="122" name="Graphic 20" descr="Amazon Transcribe service icon.">
              <a:extLst>
                <a:ext uri="{FF2B5EF4-FFF2-40B4-BE49-F238E27FC236}">
                  <a16:creationId xmlns:a16="http://schemas.microsoft.com/office/drawing/2014/main" id="{50AE38E6-E9AF-A5AB-9ACF-9D7FB1D66846}"/>
                </a:ext>
              </a:extLst>
            </p:cNvPr>
            <p:cNvPicPr>
              <a:picLocks noChangeAspect="1" noChangeArrowheads="1"/>
            </p:cNvPicPr>
            <p:nvPr/>
          </p:nvPicPr>
          <p:blipFill>
            <a:blip>
              <a:extLst>
                <a:ext uri="{96DAC541-7B7A-43D3-8B79-37D633B846F1}">
                  <asvg:svgBlip xmlns:asvg="http://schemas.microsoft.com/office/drawing/2016/SVG/main" r:embed="rId18"/>
                </a:ext>
              </a:extLst>
            </a:blip>
            <a:srcRect/>
            <a:stretch/>
          </p:blipFill>
          <p:spPr bwMode="auto">
            <a:xfrm>
              <a:off x="9620664" y="1884718"/>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4" name="TextBox 12">
              <a:extLst>
                <a:ext uri="{FF2B5EF4-FFF2-40B4-BE49-F238E27FC236}">
                  <a16:creationId xmlns:a16="http://schemas.microsoft.com/office/drawing/2014/main" id="{D488E62B-08FA-228E-E3A0-3123FD8DC1C3}"/>
                </a:ext>
              </a:extLst>
            </p:cNvPr>
            <p:cNvSpPr txBox="1">
              <a:spLocks noChangeArrowheads="1"/>
            </p:cNvSpPr>
            <p:nvPr/>
          </p:nvSpPr>
          <p:spPr bwMode="auto">
            <a:xfrm>
              <a:off x="9289741" y="1506741"/>
              <a:ext cx="91917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Amazon Transcribe</a:t>
              </a:r>
            </a:p>
          </p:txBody>
        </p:sp>
      </p:grpSp>
      <p:cxnSp>
        <p:nvCxnSpPr>
          <p:cNvPr id="128" name="Connector: Elbow 127">
            <a:extLst>
              <a:ext uri="{FF2B5EF4-FFF2-40B4-BE49-F238E27FC236}">
                <a16:creationId xmlns:a16="http://schemas.microsoft.com/office/drawing/2014/main" id="{7623060B-A1F0-7BB0-4995-44EDB373A93B}"/>
              </a:ext>
            </a:extLst>
          </p:cNvPr>
          <p:cNvCxnSpPr>
            <a:stCxn id="89" idx="0"/>
            <a:endCxn id="122" idx="2"/>
          </p:cNvCxnSpPr>
          <p:nvPr/>
        </p:nvCxnSpPr>
        <p:spPr>
          <a:xfrm rot="16200000" flipV="1">
            <a:off x="5645483" y="2235411"/>
            <a:ext cx="786532" cy="824188"/>
          </a:xfrm>
          <a:prstGeom prst="bentConnector3">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30" name="Connector: Elbow 129">
            <a:extLst>
              <a:ext uri="{FF2B5EF4-FFF2-40B4-BE49-F238E27FC236}">
                <a16:creationId xmlns:a16="http://schemas.microsoft.com/office/drawing/2014/main" id="{947A1619-C914-A201-FBD2-234226E77C79}"/>
              </a:ext>
            </a:extLst>
          </p:cNvPr>
          <p:cNvCxnSpPr>
            <a:endCxn id="118" idx="2"/>
          </p:cNvCxnSpPr>
          <p:nvPr/>
        </p:nvCxnSpPr>
        <p:spPr>
          <a:xfrm rot="16200000" flipV="1">
            <a:off x="6003472" y="2592867"/>
            <a:ext cx="786000" cy="108743"/>
          </a:xfrm>
          <a:prstGeom prst="bentConnector3">
            <a:avLst/>
          </a:prstGeom>
          <a:ln w="28575">
            <a:tailEnd type="triangle"/>
          </a:ln>
        </p:spPr>
        <p:style>
          <a:lnRef idx="1">
            <a:schemeClr val="accent1"/>
          </a:lnRef>
          <a:fillRef idx="0">
            <a:schemeClr val="accent1"/>
          </a:fillRef>
          <a:effectRef idx="0">
            <a:schemeClr val="accent1"/>
          </a:effectRef>
          <a:fontRef idx="minor">
            <a:schemeClr val="tx1"/>
          </a:fontRef>
        </p:style>
      </p:cxnSp>
      <p:pic>
        <p:nvPicPr>
          <p:cNvPr id="132" name="Graphic 26" descr="Amazon Simple Queue Service (Amazon SQS) service icon.">
            <a:extLst>
              <a:ext uri="{FF2B5EF4-FFF2-40B4-BE49-F238E27FC236}">
                <a16:creationId xmlns:a16="http://schemas.microsoft.com/office/drawing/2014/main" id="{6A43C615-9FE5-FDD6-6251-5FC49E21FEC8}"/>
              </a:ext>
            </a:extLst>
          </p:cNvPr>
          <p:cNvPicPr>
            <a:picLocks noChangeAspect="1" noChangeArrowheads="1"/>
          </p:cNvPicPr>
          <p:nvPr/>
        </p:nvPicPr>
        <p:blipFill>
          <a:blip>
            <a:extLst>
              <a:ext uri="{96DAC541-7B7A-43D3-8B79-37D633B846F1}">
                <asvg:svgBlip xmlns:asvg="http://schemas.microsoft.com/office/drawing/2016/SVG/main" r:embed="rId12"/>
              </a:ext>
            </a:extLst>
          </a:blip>
          <a:srcRect/>
          <a:stretch/>
        </p:blipFill>
        <p:spPr bwMode="auto">
          <a:xfrm>
            <a:off x="7069149" y="3035139"/>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34" name="Straight Arrow Connector 133">
            <a:extLst>
              <a:ext uri="{FF2B5EF4-FFF2-40B4-BE49-F238E27FC236}">
                <a16:creationId xmlns:a16="http://schemas.microsoft.com/office/drawing/2014/main" id="{84C78552-59DE-2064-E0E2-B002A72666FC}"/>
              </a:ext>
            </a:extLst>
          </p:cNvPr>
          <p:cNvCxnSpPr>
            <a:cxnSpLocks/>
            <a:stCxn id="89" idx="3"/>
            <a:endCxn id="132" idx="1"/>
          </p:cNvCxnSpPr>
          <p:nvPr/>
        </p:nvCxnSpPr>
        <p:spPr>
          <a:xfrm flipV="1">
            <a:off x="6588003" y="3172299"/>
            <a:ext cx="481146" cy="5632"/>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grpSp>
        <p:nvGrpSpPr>
          <p:cNvPr id="80" name="Group 79">
            <a:extLst>
              <a:ext uri="{FF2B5EF4-FFF2-40B4-BE49-F238E27FC236}">
                <a16:creationId xmlns:a16="http://schemas.microsoft.com/office/drawing/2014/main" id="{C6AE716C-30FC-8E35-57DD-BC9F86639BA4}"/>
              </a:ext>
            </a:extLst>
          </p:cNvPr>
          <p:cNvGrpSpPr/>
          <p:nvPr/>
        </p:nvGrpSpPr>
        <p:grpSpPr>
          <a:xfrm>
            <a:off x="7312466" y="3029288"/>
            <a:ext cx="910254" cy="667961"/>
            <a:chOff x="5635046" y="2699578"/>
            <a:chExt cx="910254" cy="667961"/>
          </a:xfrm>
        </p:grpSpPr>
        <p:pic>
          <p:nvPicPr>
            <p:cNvPr id="81" name="Graphic 80" descr="Pipes resource icon for the Amazon EventBridge service.">
              <a:extLst>
                <a:ext uri="{FF2B5EF4-FFF2-40B4-BE49-F238E27FC236}">
                  <a16:creationId xmlns:a16="http://schemas.microsoft.com/office/drawing/2014/main" id="{F6C2A328-F94F-3C9E-974E-896718A97F47}"/>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5950828" y="2699578"/>
              <a:ext cx="274320" cy="274320"/>
            </a:xfrm>
            <a:prstGeom prst="rect">
              <a:avLst/>
            </a:prstGeom>
          </p:spPr>
        </p:pic>
        <p:sp>
          <p:nvSpPr>
            <p:cNvPr id="82" name="TextBox 22">
              <a:extLst>
                <a:ext uri="{FF2B5EF4-FFF2-40B4-BE49-F238E27FC236}">
                  <a16:creationId xmlns:a16="http://schemas.microsoft.com/office/drawing/2014/main" id="{65F6150D-64D4-16BE-8AD7-C95DC5D17933}"/>
                </a:ext>
              </a:extLst>
            </p:cNvPr>
            <p:cNvSpPr txBox="1">
              <a:spLocks noChangeArrowheads="1"/>
            </p:cNvSpPr>
            <p:nvPr/>
          </p:nvSpPr>
          <p:spPr bwMode="auto">
            <a:xfrm>
              <a:off x="5635046" y="2967429"/>
              <a:ext cx="91025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fontAlgn="base">
                <a:spcBef>
                  <a:spcPct val="0"/>
                </a:spcBef>
                <a:spcAft>
                  <a:spcPct val="0"/>
                </a:spcAft>
              </a:pPr>
              <a:r>
                <a:rPr lang="en-US" altLang="en-US" sz="1000" dirty="0" err="1">
                  <a:solidFill>
                    <a:schemeClr val="bg1"/>
                  </a:solidFill>
                </a:rPr>
                <a:t>Eventbridge</a:t>
              </a:r>
              <a:r>
                <a:rPr lang="en-US" altLang="en-US" sz="1000" dirty="0">
                  <a:solidFill>
                    <a:schemeClr val="bg1"/>
                  </a:solidFill>
                </a:rPr>
                <a:t> Pipes </a:t>
              </a:r>
              <a:endPar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endParaRPr>
            </a:p>
          </p:txBody>
        </p:sp>
      </p:grpSp>
      <p:cxnSp>
        <p:nvCxnSpPr>
          <p:cNvPr id="86" name="Straight Arrow Connector 85">
            <a:extLst>
              <a:ext uri="{FF2B5EF4-FFF2-40B4-BE49-F238E27FC236}">
                <a16:creationId xmlns:a16="http://schemas.microsoft.com/office/drawing/2014/main" id="{B820CB97-BAAA-EAE7-D0DD-01A1EB2A5D5B}"/>
              </a:ext>
            </a:extLst>
          </p:cNvPr>
          <p:cNvCxnSpPr>
            <a:cxnSpLocks/>
            <a:stCxn id="132" idx="3"/>
            <a:endCxn id="81" idx="1"/>
          </p:cNvCxnSpPr>
          <p:nvPr/>
        </p:nvCxnSpPr>
        <p:spPr>
          <a:xfrm flipV="1">
            <a:off x="7343469" y="3166448"/>
            <a:ext cx="284779" cy="5851"/>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grpSp>
        <p:nvGrpSpPr>
          <p:cNvPr id="103" name="Group 102">
            <a:extLst>
              <a:ext uri="{FF2B5EF4-FFF2-40B4-BE49-F238E27FC236}">
                <a16:creationId xmlns:a16="http://schemas.microsoft.com/office/drawing/2014/main" id="{263F9649-FB51-EFB9-B68F-141A00568A37}"/>
              </a:ext>
            </a:extLst>
          </p:cNvPr>
          <p:cNvGrpSpPr/>
          <p:nvPr/>
        </p:nvGrpSpPr>
        <p:grpSpPr>
          <a:xfrm>
            <a:off x="8187347" y="3031588"/>
            <a:ext cx="505380" cy="478891"/>
            <a:chOff x="7421920" y="1184275"/>
            <a:chExt cx="505380" cy="478891"/>
          </a:xfrm>
        </p:grpSpPr>
        <p:pic>
          <p:nvPicPr>
            <p:cNvPr id="99" name="Graphic 18" descr="Amazon Elastic Container Service (Amazon ECS) service icon.">
              <a:extLst>
                <a:ext uri="{FF2B5EF4-FFF2-40B4-BE49-F238E27FC236}">
                  <a16:creationId xmlns:a16="http://schemas.microsoft.com/office/drawing/2014/main" id="{DD629F68-EA09-4D71-DFB4-6822A2B7BAD0}"/>
                </a:ext>
              </a:extLst>
            </p:cNvPr>
            <p:cNvPicPr>
              <a:picLocks noChangeAspect="1" noChangeArrowheads="1"/>
            </p:cNvPicPr>
            <p:nvPr/>
          </p:nvPicPr>
          <p:blipFill>
            <a:blip>
              <a:extLst>
                <a:ext uri="{96DAC541-7B7A-43D3-8B79-37D633B846F1}">
                  <asvg:svgBlip xmlns:asvg="http://schemas.microsoft.com/office/drawing/2016/SVG/main" r:embed="rId19"/>
                </a:ext>
              </a:extLst>
            </a:blip>
            <a:srcRect/>
            <a:stretch/>
          </p:blipFill>
          <p:spPr bwMode="auto">
            <a:xfrm>
              <a:off x="7537450" y="118427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 name="TextBox 24">
              <a:extLst>
                <a:ext uri="{FF2B5EF4-FFF2-40B4-BE49-F238E27FC236}">
                  <a16:creationId xmlns:a16="http://schemas.microsoft.com/office/drawing/2014/main" id="{1A02C4A0-EE2D-0735-1CBC-971D2B692DA5}"/>
                </a:ext>
              </a:extLst>
            </p:cNvPr>
            <p:cNvSpPr txBox="1">
              <a:spLocks noChangeArrowheads="1"/>
            </p:cNvSpPr>
            <p:nvPr/>
          </p:nvSpPr>
          <p:spPr bwMode="auto">
            <a:xfrm>
              <a:off x="7421920" y="1416945"/>
              <a:ext cx="50538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ECS</a:t>
              </a:r>
            </a:p>
          </p:txBody>
        </p:sp>
      </p:grpSp>
      <p:cxnSp>
        <p:nvCxnSpPr>
          <p:cNvPr id="106" name="Straight Arrow Connector 105">
            <a:extLst>
              <a:ext uri="{FF2B5EF4-FFF2-40B4-BE49-F238E27FC236}">
                <a16:creationId xmlns:a16="http://schemas.microsoft.com/office/drawing/2014/main" id="{7FF4494C-549A-2715-7F68-FF6CDA222F25}"/>
              </a:ext>
            </a:extLst>
          </p:cNvPr>
          <p:cNvCxnSpPr>
            <a:cxnSpLocks/>
            <a:stCxn id="81" idx="3"/>
            <a:endCxn id="99" idx="1"/>
          </p:cNvCxnSpPr>
          <p:nvPr/>
        </p:nvCxnSpPr>
        <p:spPr>
          <a:xfrm>
            <a:off x="7902568" y="3166448"/>
            <a:ext cx="400309" cy="2300"/>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sp>
        <p:nvSpPr>
          <p:cNvPr id="112" name="Rectangle 111" descr="Generic group.">
            <a:extLst>
              <a:ext uri="{FF2B5EF4-FFF2-40B4-BE49-F238E27FC236}">
                <a16:creationId xmlns:a16="http://schemas.microsoft.com/office/drawing/2014/main" id="{657395FE-6180-11E6-C9F7-CEF7FC31C05E}"/>
              </a:ext>
            </a:extLst>
          </p:cNvPr>
          <p:cNvSpPr/>
          <p:nvPr/>
        </p:nvSpPr>
        <p:spPr>
          <a:xfrm>
            <a:off x="8718007" y="1321337"/>
            <a:ext cx="2645502" cy="2792551"/>
          </a:xfrm>
          <a:prstGeom prst="rect">
            <a:avLst/>
          </a:prstGeom>
          <a:noFill/>
          <a:ln w="15875">
            <a:solidFill>
              <a:srgbClr val="7D8998"/>
            </a:solidFill>
            <a:prstDash val="solid"/>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eaLnBrk="1" fontAlgn="auto" hangingPunct="1">
              <a:spcBef>
                <a:spcPts val="0"/>
              </a:spcBef>
              <a:spcAft>
                <a:spcPts val="0"/>
              </a:spcAft>
              <a:defRPr/>
            </a:pPr>
            <a:endParaRPr lang="en-US" sz="1200" dirty="0">
              <a:solidFill>
                <a:schemeClr val="bg1"/>
              </a:solidFill>
              <a:latin typeface="Arial" panose="020B0604020202020204" pitchFamily="34" charset="0"/>
              <a:cs typeface="Arial" panose="020B0604020202020204" pitchFamily="34" charset="0"/>
            </a:endParaRPr>
          </a:p>
        </p:txBody>
      </p:sp>
      <p:pic>
        <p:nvPicPr>
          <p:cNvPr id="115" name="Graphic 114" descr="Amazon Bedrock AgentCore service icon.">
            <a:extLst>
              <a:ext uri="{FF2B5EF4-FFF2-40B4-BE49-F238E27FC236}">
                <a16:creationId xmlns:a16="http://schemas.microsoft.com/office/drawing/2014/main" id="{CCE4AA23-46BA-F1DD-FB9C-0EEDECC158AA}"/>
              </a:ext>
            </a:extLst>
          </p:cNvPr>
          <p:cNvPicPr>
            <a:picLocks noChangeAspect="1" noChangeArrowheads="1"/>
          </p:cNvPicPr>
          <p:nvPr/>
        </p:nvPicPr>
        <p:blipFill>
          <a:blip>
            <a:extLst>
              <a:ext uri="{96DAC541-7B7A-43D3-8B79-37D633B846F1}">
                <asvg:svgBlip xmlns:asvg="http://schemas.microsoft.com/office/drawing/2016/SVG/main" r:embed="rId20"/>
              </a:ext>
            </a:extLst>
          </a:blip>
          <a:srcRect/>
          <a:stretch/>
        </p:blipFill>
        <p:spPr bwMode="auto">
          <a:xfrm>
            <a:off x="8712525" y="1316887"/>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3" name="Rectangle: Rounded Corners 122">
            <a:extLst>
              <a:ext uri="{FF2B5EF4-FFF2-40B4-BE49-F238E27FC236}">
                <a16:creationId xmlns:a16="http://schemas.microsoft.com/office/drawing/2014/main" id="{3DCAE508-8645-8E74-3A5A-1F2E6CE19D72}"/>
              </a:ext>
            </a:extLst>
          </p:cNvPr>
          <p:cNvSpPr/>
          <p:nvPr/>
        </p:nvSpPr>
        <p:spPr>
          <a:xfrm rot="5400000">
            <a:off x="8135506" y="2741484"/>
            <a:ext cx="1869773" cy="34664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Supervisor Agent</a:t>
            </a:r>
          </a:p>
        </p:txBody>
      </p:sp>
      <p:sp>
        <p:nvSpPr>
          <p:cNvPr id="127" name="Rectangle: Rounded Corners 126">
            <a:extLst>
              <a:ext uri="{FF2B5EF4-FFF2-40B4-BE49-F238E27FC236}">
                <a16:creationId xmlns:a16="http://schemas.microsoft.com/office/drawing/2014/main" id="{AC70F281-F414-29A1-2202-AC16A745CBC3}"/>
              </a:ext>
            </a:extLst>
          </p:cNvPr>
          <p:cNvSpPr/>
          <p:nvPr/>
        </p:nvSpPr>
        <p:spPr>
          <a:xfrm>
            <a:off x="9518904" y="203207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Delivery Agent</a:t>
            </a:r>
          </a:p>
        </p:txBody>
      </p:sp>
      <p:sp>
        <p:nvSpPr>
          <p:cNvPr id="135" name="Rectangle: Rounded Corners 134">
            <a:extLst>
              <a:ext uri="{FF2B5EF4-FFF2-40B4-BE49-F238E27FC236}">
                <a16:creationId xmlns:a16="http://schemas.microsoft.com/office/drawing/2014/main" id="{DB8C3156-E634-BBF7-B58C-19D72813D2EB}"/>
              </a:ext>
            </a:extLst>
          </p:cNvPr>
          <p:cNvSpPr/>
          <p:nvPr/>
        </p:nvSpPr>
        <p:spPr>
          <a:xfrm>
            <a:off x="9518904" y="226093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Structure Agent</a:t>
            </a:r>
          </a:p>
        </p:txBody>
      </p:sp>
      <p:sp>
        <p:nvSpPr>
          <p:cNvPr id="137" name="Rectangle: Rounded Corners 136">
            <a:extLst>
              <a:ext uri="{FF2B5EF4-FFF2-40B4-BE49-F238E27FC236}">
                <a16:creationId xmlns:a16="http://schemas.microsoft.com/office/drawing/2014/main" id="{85D12217-AD4B-D561-C973-B38CF621BAC5}"/>
              </a:ext>
            </a:extLst>
          </p:cNvPr>
          <p:cNvSpPr/>
          <p:nvPr/>
        </p:nvSpPr>
        <p:spPr>
          <a:xfrm>
            <a:off x="9518904" y="248979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Executive Presence Agent</a:t>
            </a:r>
          </a:p>
        </p:txBody>
      </p:sp>
      <p:sp>
        <p:nvSpPr>
          <p:cNvPr id="139" name="Rectangle: Rounded Corners 138">
            <a:extLst>
              <a:ext uri="{FF2B5EF4-FFF2-40B4-BE49-F238E27FC236}">
                <a16:creationId xmlns:a16="http://schemas.microsoft.com/office/drawing/2014/main" id="{3DDDA6D6-0440-30BC-5F6B-B7DAF5E9230C}"/>
              </a:ext>
            </a:extLst>
          </p:cNvPr>
          <p:cNvSpPr/>
          <p:nvPr/>
        </p:nvSpPr>
        <p:spPr>
          <a:xfrm>
            <a:off x="9518904" y="271865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Tech. Communication Agent</a:t>
            </a:r>
          </a:p>
        </p:txBody>
      </p:sp>
      <p:sp>
        <p:nvSpPr>
          <p:cNvPr id="141" name="Rectangle: Rounded Corners 140">
            <a:extLst>
              <a:ext uri="{FF2B5EF4-FFF2-40B4-BE49-F238E27FC236}">
                <a16:creationId xmlns:a16="http://schemas.microsoft.com/office/drawing/2014/main" id="{22F91AE6-17CB-B671-0A2E-35EAA1D6D1F5}"/>
              </a:ext>
            </a:extLst>
          </p:cNvPr>
          <p:cNvSpPr/>
          <p:nvPr/>
        </p:nvSpPr>
        <p:spPr>
          <a:xfrm>
            <a:off x="9518904" y="294751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Audience Engagement Agent</a:t>
            </a:r>
          </a:p>
        </p:txBody>
      </p:sp>
      <p:sp>
        <p:nvSpPr>
          <p:cNvPr id="143" name="Rectangle: Rounded Corners 142">
            <a:extLst>
              <a:ext uri="{FF2B5EF4-FFF2-40B4-BE49-F238E27FC236}">
                <a16:creationId xmlns:a16="http://schemas.microsoft.com/office/drawing/2014/main" id="{4BD24F20-9174-DA5C-42F5-C48FDB844EC5}"/>
              </a:ext>
            </a:extLst>
          </p:cNvPr>
          <p:cNvSpPr/>
          <p:nvPr/>
        </p:nvSpPr>
        <p:spPr>
          <a:xfrm>
            <a:off x="9518904" y="317637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Pacing Agent</a:t>
            </a:r>
          </a:p>
        </p:txBody>
      </p:sp>
      <p:sp>
        <p:nvSpPr>
          <p:cNvPr id="145" name="Rectangle: Rounded Corners 144">
            <a:extLst>
              <a:ext uri="{FF2B5EF4-FFF2-40B4-BE49-F238E27FC236}">
                <a16:creationId xmlns:a16="http://schemas.microsoft.com/office/drawing/2014/main" id="{25B4A676-B1A6-7B9F-C7B0-68B56148A2C0}"/>
              </a:ext>
            </a:extLst>
          </p:cNvPr>
          <p:cNvSpPr/>
          <p:nvPr/>
        </p:nvSpPr>
        <p:spPr>
          <a:xfrm>
            <a:off x="9518904" y="340523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Persuasion Agent</a:t>
            </a:r>
          </a:p>
        </p:txBody>
      </p:sp>
      <p:pic>
        <p:nvPicPr>
          <p:cNvPr id="149" name="Graphic 148" descr="Amazon Bedrock service icon.">
            <a:extLst>
              <a:ext uri="{FF2B5EF4-FFF2-40B4-BE49-F238E27FC236}">
                <a16:creationId xmlns:a16="http://schemas.microsoft.com/office/drawing/2014/main" id="{32001EDB-50D6-769D-1B88-CD2EECA1FBF1}"/>
              </a:ext>
            </a:extLst>
          </p:cNvPr>
          <p:cNvPicPr>
            <a:picLocks noChangeAspect="1"/>
          </p:cNvPicPr>
          <p:nvPr/>
        </p:nvPicPr>
        <p:blipFill>
          <a:blip>
            <a:extLst>
              <a:ext uri="{96DAC541-7B7A-43D3-8B79-37D633B846F1}">
                <asvg:svgBlip xmlns:asvg="http://schemas.microsoft.com/office/drawing/2016/SVG/main" r:embed="rId21"/>
              </a:ext>
            </a:extLst>
          </a:blip>
          <a:srcRect/>
          <a:stretch/>
        </p:blipFill>
        <p:spPr>
          <a:xfrm>
            <a:off x="9524831" y="3646797"/>
            <a:ext cx="274320" cy="274320"/>
          </a:xfrm>
          <a:prstGeom prst="rect">
            <a:avLst/>
          </a:prstGeom>
        </p:spPr>
      </p:pic>
      <p:cxnSp>
        <p:nvCxnSpPr>
          <p:cNvPr id="153" name="Connector: Elbow 152">
            <a:extLst>
              <a:ext uri="{FF2B5EF4-FFF2-40B4-BE49-F238E27FC236}">
                <a16:creationId xmlns:a16="http://schemas.microsoft.com/office/drawing/2014/main" id="{FFDA0294-CBE6-32CE-B43B-1BA14E13958B}"/>
              </a:ext>
            </a:extLst>
          </p:cNvPr>
          <p:cNvCxnSpPr>
            <a:cxnSpLocks/>
          </p:cNvCxnSpPr>
          <p:nvPr/>
        </p:nvCxnSpPr>
        <p:spPr>
          <a:xfrm rot="5400000" flipH="1" flipV="1">
            <a:off x="9689037" y="1294637"/>
            <a:ext cx="79762" cy="1290803"/>
          </a:xfrm>
          <a:prstGeom prst="bentConnector3">
            <a:avLst>
              <a:gd name="adj1" fmla="val 386603"/>
            </a:avLst>
          </a:prstGeom>
          <a:ln>
            <a:solidFill>
              <a:schemeClr val="bg1"/>
            </a:solidFill>
            <a:tailEnd type="triangle"/>
          </a:ln>
        </p:spPr>
        <p:style>
          <a:lnRef idx="3">
            <a:schemeClr val="accent5"/>
          </a:lnRef>
          <a:fillRef idx="0">
            <a:schemeClr val="accent5"/>
          </a:fillRef>
          <a:effectRef idx="2">
            <a:schemeClr val="accent5"/>
          </a:effectRef>
          <a:fontRef idx="minor">
            <a:schemeClr val="tx1"/>
          </a:fontRef>
        </p:style>
      </p:cxnSp>
      <p:cxnSp>
        <p:nvCxnSpPr>
          <p:cNvPr id="161" name="Connector: Elbow 160">
            <a:extLst>
              <a:ext uri="{FF2B5EF4-FFF2-40B4-BE49-F238E27FC236}">
                <a16:creationId xmlns:a16="http://schemas.microsoft.com/office/drawing/2014/main" id="{18B6B2FD-5236-4583-7688-DFEF5ACA1904}"/>
              </a:ext>
            </a:extLst>
          </p:cNvPr>
          <p:cNvCxnSpPr>
            <a:cxnSpLocks/>
          </p:cNvCxnSpPr>
          <p:nvPr/>
        </p:nvCxnSpPr>
        <p:spPr>
          <a:xfrm rot="5400000" flipH="1">
            <a:off x="9660533" y="3272677"/>
            <a:ext cx="136771" cy="1290803"/>
          </a:xfrm>
          <a:prstGeom prst="bentConnector3">
            <a:avLst>
              <a:gd name="adj1" fmla="val -49849"/>
            </a:avLst>
          </a:prstGeom>
          <a:ln>
            <a:solidFill>
              <a:schemeClr val="bg1"/>
            </a:solidFill>
            <a:tailEnd type="triangle"/>
          </a:ln>
        </p:spPr>
        <p:style>
          <a:lnRef idx="3">
            <a:schemeClr val="accent5"/>
          </a:lnRef>
          <a:fillRef idx="0">
            <a:schemeClr val="accent5"/>
          </a:fillRef>
          <a:effectRef idx="2">
            <a:schemeClr val="accent5"/>
          </a:effectRef>
          <a:fontRef idx="minor">
            <a:schemeClr val="tx1"/>
          </a:fontRef>
        </p:style>
      </p:cxnSp>
      <p:sp>
        <p:nvSpPr>
          <p:cNvPr id="165" name="TextBox 164">
            <a:extLst>
              <a:ext uri="{FF2B5EF4-FFF2-40B4-BE49-F238E27FC236}">
                <a16:creationId xmlns:a16="http://schemas.microsoft.com/office/drawing/2014/main" id="{F32020E9-8158-5C5A-69BB-21BA9C89CA63}"/>
              </a:ext>
            </a:extLst>
          </p:cNvPr>
          <p:cNvSpPr txBox="1"/>
          <p:nvPr/>
        </p:nvSpPr>
        <p:spPr>
          <a:xfrm>
            <a:off x="9235438" y="1534563"/>
            <a:ext cx="865943" cy="253916"/>
          </a:xfrm>
          <a:prstGeom prst="rect">
            <a:avLst/>
          </a:prstGeom>
          <a:solidFill>
            <a:schemeClr val="tx1"/>
          </a:solidFill>
        </p:spPr>
        <p:txBody>
          <a:bodyPr wrap="none" rtlCol="0">
            <a:spAutoFit/>
          </a:bodyPr>
          <a:lstStyle/>
          <a:p>
            <a:r>
              <a:rPr lang="en-US" sz="1000" dirty="0" err="1">
                <a:solidFill>
                  <a:schemeClr val="bg1"/>
                </a:solidFill>
              </a:rPr>
              <a:t>ReAct</a:t>
            </a:r>
            <a:r>
              <a:rPr lang="en-US" sz="1000" dirty="0">
                <a:solidFill>
                  <a:schemeClr val="bg1"/>
                </a:solidFill>
              </a:rPr>
              <a:t> Loop</a:t>
            </a:r>
          </a:p>
        </p:txBody>
      </p:sp>
      <p:sp>
        <p:nvSpPr>
          <p:cNvPr id="167" name="TextBox 166">
            <a:extLst>
              <a:ext uri="{FF2B5EF4-FFF2-40B4-BE49-F238E27FC236}">
                <a16:creationId xmlns:a16="http://schemas.microsoft.com/office/drawing/2014/main" id="{52E1BFF4-44D4-C7A8-C4E9-D392816E61FA}"/>
              </a:ext>
            </a:extLst>
          </p:cNvPr>
          <p:cNvSpPr txBox="1"/>
          <p:nvPr/>
        </p:nvSpPr>
        <p:spPr>
          <a:xfrm>
            <a:off x="8929560" y="1288342"/>
            <a:ext cx="1297150" cy="246221"/>
          </a:xfrm>
          <a:prstGeom prst="rect">
            <a:avLst/>
          </a:prstGeom>
          <a:noFill/>
        </p:spPr>
        <p:txBody>
          <a:bodyPr wrap="none" rtlCol="0">
            <a:spAutoFit/>
          </a:bodyPr>
          <a:lstStyle/>
          <a:p>
            <a:pPr algn="ctr">
              <a:defRPr/>
            </a:pPr>
            <a:r>
              <a:rPr lang="en-US" sz="1000" dirty="0">
                <a:solidFill>
                  <a:schemeClr val="bg1"/>
                </a:solidFill>
                <a:latin typeface="Arial" panose="020B0604020202020204" pitchFamily="34" charset="0"/>
                <a:cs typeface="Arial" panose="020B0604020202020204" pitchFamily="34" charset="0"/>
              </a:rPr>
              <a:t>Bedrock </a:t>
            </a:r>
            <a:r>
              <a:rPr lang="en-US" sz="1000" dirty="0" err="1">
                <a:solidFill>
                  <a:schemeClr val="bg1"/>
                </a:solidFill>
                <a:latin typeface="Arial" panose="020B0604020202020204" pitchFamily="34" charset="0"/>
                <a:cs typeface="Arial" panose="020B0604020202020204" pitchFamily="34" charset="0"/>
              </a:rPr>
              <a:t>AgentCore</a:t>
            </a:r>
            <a:endParaRPr lang="en-US" sz="1000" dirty="0">
              <a:solidFill>
                <a:schemeClr val="bg1"/>
              </a:solidFill>
              <a:latin typeface="Arial" panose="020B0604020202020204" pitchFamily="34" charset="0"/>
              <a:cs typeface="Arial" panose="020B0604020202020204" pitchFamily="34" charset="0"/>
            </a:endParaRPr>
          </a:p>
        </p:txBody>
      </p:sp>
      <p:sp>
        <p:nvSpPr>
          <p:cNvPr id="169" name="TextBox 168">
            <a:extLst>
              <a:ext uri="{FF2B5EF4-FFF2-40B4-BE49-F238E27FC236}">
                <a16:creationId xmlns:a16="http://schemas.microsoft.com/office/drawing/2014/main" id="{295CCE2B-9653-F66E-A81F-238554F1ED6E}"/>
              </a:ext>
            </a:extLst>
          </p:cNvPr>
          <p:cNvSpPr txBox="1"/>
          <p:nvPr/>
        </p:nvSpPr>
        <p:spPr>
          <a:xfrm>
            <a:off x="9433530" y="1795524"/>
            <a:ext cx="894797" cy="200055"/>
          </a:xfrm>
          <a:prstGeom prst="rect">
            <a:avLst/>
          </a:prstGeom>
          <a:solidFill>
            <a:schemeClr val="tx1"/>
          </a:solidFill>
        </p:spPr>
        <p:txBody>
          <a:bodyPr wrap="none" rtlCol="0">
            <a:spAutoFit/>
          </a:bodyPr>
          <a:lstStyle/>
          <a:p>
            <a:r>
              <a:rPr lang="en-US" sz="700" dirty="0">
                <a:solidFill>
                  <a:schemeClr val="bg1"/>
                </a:solidFill>
              </a:rPr>
              <a:t>Evaluation Agents</a:t>
            </a:r>
          </a:p>
        </p:txBody>
      </p:sp>
      <p:cxnSp>
        <p:nvCxnSpPr>
          <p:cNvPr id="171" name="Connector: Elbow 170">
            <a:extLst>
              <a:ext uri="{FF2B5EF4-FFF2-40B4-BE49-F238E27FC236}">
                <a16:creationId xmlns:a16="http://schemas.microsoft.com/office/drawing/2014/main" id="{4B078DB7-435B-64CD-7642-592D02B774E0}"/>
              </a:ext>
            </a:extLst>
          </p:cNvPr>
          <p:cNvCxnSpPr>
            <a:cxnSpLocks/>
            <a:stCxn id="123" idx="3"/>
            <a:endCxn id="66" idx="3"/>
          </p:cNvCxnSpPr>
          <p:nvPr/>
        </p:nvCxnSpPr>
        <p:spPr>
          <a:xfrm rot="5400000">
            <a:off x="6716695" y="2541589"/>
            <a:ext cx="1045594" cy="3661800"/>
          </a:xfrm>
          <a:prstGeom prst="bentConnector2">
            <a:avLst/>
          </a:prstGeom>
          <a:ln w="28575">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186" name="Connector: Elbow 185">
            <a:extLst>
              <a:ext uri="{FF2B5EF4-FFF2-40B4-BE49-F238E27FC236}">
                <a16:creationId xmlns:a16="http://schemas.microsoft.com/office/drawing/2014/main" id="{E4E706C1-604D-3D48-3C4B-8AB571C10127}"/>
              </a:ext>
            </a:extLst>
          </p:cNvPr>
          <p:cNvCxnSpPr>
            <a:cxnSpLocks/>
            <a:stCxn id="123" idx="3"/>
          </p:cNvCxnSpPr>
          <p:nvPr/>
        </p:nvCxnSpPr>
        <p:spPr>
          <a:xfrm rot="5400000">
            <a:off x="6672489" y="2826915"/>
            <a:ext cx="1375126" cy="3420680"/>
          </a:xfrm>
          <a:prstGeom prst="bentConnector2">
            <a:avLst/>
          </a:prstGeom>
          <a:ln w="28575">
            <a:solidFill>
              <a:schemeClr val="accent4"/>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9" name="Connector: Elbow 188">
            <a:extLst>
              <a:ext uri="{FF2B5EF4-FFF2-40B4-BE49-F238E27FC236}">
                <a16:creationId xmlns:a16="http://schemas.microsoft.com/office/drawing/2014/main" id="{C1BBBF9C-22B7-23CF-28BA-002817CE520E}"/>
              </a:ext>
            </a:extLst>
          </p:cNvPr>
          <p:cNvCxnSpPr>
            <a:cxnSpLocks/>
            <a:stCxn id="123" idx="3"/>
            <a:endCxn id="91" idx="0"/>
          </p:cNvCxnSpPr>
          <p:nvPr/>
        </p:nvCxnSpPr>
        <p:spPr>
          <a:xfrm rot="5400000" flipH="1">
            <a:off x="6366092" y="1145393"/>
            <a:ext cx="803527" cy="4605073"/>
          </a:xfrm>
          <a:prstGeom prst="bentConnector5">
            <a:avLst>
              <a:gd name="adj1" fmla="val -28450"/>
              <a:gd name="adj2" fmla="val 6133"/>
              <a:gd name="adj3" fmla="val 128450"/>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202" name="Straight Arrow Connector 201">
            <a:extLst>
              <a:ext uri="{FF2B5EF4-FFF2-40B4-BE49-F238E27FC236}">
                <a16:creationId xmlns:a16="http://schemas.microsoft.com/office/drawing/2014/main" id="{22289D0B-96EA-5E72-42F4-26267001236E}"/>
              </a:ext>
            </a:extLst>
          </p:cNvPr>
          <p:cNvCxnSpPr>
            <a:cxnSpLocks/>
            <a:stCxn id="99" idx="3"/>
            <a:endCxn id="123" idx="2"/>
          </p:cNvCxnSpPr>
          <p:nvPr/>
        </p:nvCxnSpPr>
        <p:spPr>
          <a:xfrm flipV="1">
            <a:off x="8577197" y="2914806"/>
            <a:ext cx="319874" cy="253942"/>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cxnSp>
        <p:nvCxnSpPr>
          <p:cNvPr id="87" name="Connector: Elbow 86">
            <a:extLst>
              <a:ext uri="{FF2B5EF4-FFF2-40B4-BE49-F238E27FC236}">
                <a16:creationId xmlns:a16="http://schemas.microsoft.com/office/drawing/2014/main" id="{B454533A-181A-B12D-A454-548735AF84E9}"/>
              </a:ext>
            </a:extLst>
          </p:cNvPr>
          <p:cNvCxnSpPr>
            <a:cxnSpLocks/>
            <a:stCxn id="123" idx="3"/>
            <a:endCxn id="132" idx="2"/>
          </p:cNvCxnSpPr>
          <p:nvPr/>
        </p:nvCxnSpPr>
        <p:spPr>
          <a:xfrm rot="5400000" flipH="1">
            <a:off x="7868234" y="2647535"/>
            <a:ext cx="540233" cy="1864083"/>
          </a:xfrm>
          <a:prstGeom prst="bentConnector3">
            <a:avLst>
              <a:gd name="adj1" fmla="val -75068"/>
            </a:avLst>
          </a:prstGeom>
          <a:ln w="28575">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
        <p:nvSpPr>
          <p:cNvPr id="144" name="TextBox 9">
            <a:extLst>
              <a:ext uri="{FF2B5EF4-FFF2-40B4-BE49-F238E27FC236}">
                <a16:creationId xmlns:a16="http://schemas.microsoft.com/office/drawing/2014/main" id="{D437D7F2-F23D-28FD-70A2-3DD93F463D0E}"/>
              </a:ext>
            </a:extLst>
          </p:cNvPr>
          <p:cNvSpPr txBox="1">
            <a:spLocks noChangeArrowheads="1"/>
          </p:cNvSpPr>
          <p:nvPr/>
        </p:nvSpPr>
        <p:spPr bwMode="auto">
          <a:xfrm>
            <a:off x="3756726" y="4963121"/>
            <a:ext cx="47449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S3</a:t>
            </a:r>
          </a:p>
        </p:txBody>
      </p:sp>
      <p:sp>
        <p:nvSpPr>
          <p:cNvPr id="16" name="TextBox 12">
            <a:extLst>
              <a:ext uri="{FF2B5EF4-FFF2-40B4-BE49-F238E27FC236}">
                <a16:creationId xmlns:a16="http://schemas.microsoft.com/office/drawing/2014/main" id="{17C64EDD-DC22-742B-34C0-21754C48D4D8}"/>
              </a:ext>
            </a:extLst>
          </p:cNvPr>
          <p:cNvSpPr txBox="1">
            <a:spLocks noChangeArrowheads="1"/>
          </p:cNvSpPr>
          <p:nvPr/>
        </p:nvSpPr>
        <p:spPr bwMode="auto">
          <a:xfrm>
            <a:off x="2597092" y="1690705"/>
            <a:ext cx="919174"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Cognito</a:t>
            </a:r>
          </a:p>
        </p:txBody>
      </p:sp>
      <p:pic>
        <p:nvPicPr>
          <p:cNvPr id="33" name="Graphic 32" descr="User with solid fill">
            <a:extLst>
              <a:ext uri="{FF2B5EF4-FFF2-40B4-BE49-F238E27FC236}">
                <a16:creationId xmlns:a16="http://schemas.microsoft.com/office/drawing/2014/main" id="{92832FA4-2C70-E828-B4DE-5D301F7F20E4}"/>
              </a:ext>
            </a:extLst>
          </p:cNvPr>
          <p:cNvPicPr>
            <a:picLocks noChangeAspect="1"/>
          </p:cNvPicPr>
          <p:nvPr/>
        </p:nvPicPr>
        <p:blipFill>
          <a:blip>
            <a:extLst>
              <a:ext uri="{96DAC541-7B7A-43D3-8B79-37D633B846F1}">
                <asvg:svgBlip xmlns:asvg="http://schemas.microsoft.com/office/drawing/2016/SVG/main" r:embed="rId22"/>
              </a:ext>
            </a:extLst>
          </a:blip>
          <a:stretch>
            <a:fillRect/>
          </a:stretch>
        </p:blipFill>
        <p:spPr>
          <a:xfrm>
            <a:off x="93264" y="3878247"/>
            <a:ext cx="914400" cy="914400"/>
          </a:xfrm>
          <a:prstGeom prst="rect">
            <a:avLst/>
          </a:prstGeom>
        </p:spPr>
      </p:pic>
      <p:sp>
        <p:nvSpPr>
          <p:cNvPr id="34" name="Rectangle 33">
            <a:extLst>
              <a:ext uri="{FF2B5EF4-FFF2-40B4-BE49-F238E27FC236}">
                <a16:creationId xmlns:a16="http://schemas.microsoft.com/office/drawing/2014/main" id="{0193FCA4-0EAB-F871-E353-C072C7CB9887}"/>
              </a:ext>
            </a:extLst>
          </p:cNvPr>
          <p:cNvSpPr/>
          <p:nvPr/>
        </p:nvSpPr>
        <p:spPr>
          <a:xfrm>
            <a:off x="93264" y="3660526"/>
            <a:ext cx="1271559" cy="1535088"/>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5" name="Connector: Elbow 34">
            <a:extLst>
              <a:ext uri="{FF2B5EF4-FFF2-40B4-BE49-F238E27FC236}">
                <a16:creationId xmlns:a16="http://schemas.microsoft.com/office/drawing/2014/main" id="{4EA5C718-0599-D838-1173-0B848026469C}"/>
              </a:ext>
            </a:extLst>
          </p:cNvPr>
          <p:cNvCxnSpPr>
            <a:cxnSpLocks/>
            <a:stCxn id="34" idx="0"/>
            <a:endCxn id="27" idx="2"/>
          </p:cNvCxnSpPr>
          <p:nvPr/>
        </p:nvCxnSpPr>
        <p:spPr>
          <a:xfrm rot="5400000" flipH="1" flipV="1">
            <a:off x="443555" y="1940515"/>
            <a:ext cx="2005500" cy="1434523"/>
          </a:xfrm>
          <a:prstGeom prst="bentConnector3">
            <a:avLst>
              <a:gd name="adj1" fmla="val 73263"/>
            </a:avLst>
          </a:prstGeom>
          <a:ln>
            <a:solidFill>
              <a:schemeClr val="bg1"/>
            </a:solidFill>
            <a:tailEnd type="triangle"/>
          </a:ln>
        </p:spPr>
        <p:style>
          <a:lnRef idx="2">
            <a:schemeClr val="accent1"/>
          </a:lnRef>
          <a:fillRef idx="0">
            <a:schemeClr val="accent1"/>
          </a:fillRef>
          <a:effectRef idx="1">
            <a:schemeClr val="accent1"/>
          </a:effectRef>
          <a:fontRef idx="minor">
            <a:schemeClr val="tx1"/>
          </a:fontRef>
        </p:style>
      </p:cxnSp>
      <p:cxnSp>
        <p:nvCxnSpPr>
          <p:cNvPr id="40" name="Connector: Elbow 39">
            <a:extLst>
              <a:ext uri="{FF2B5EF4-FFF2-40B4-BE49-F238E27FC236}">
                <a16:creationId xmlns:a16="http://schemas.microsoft.com/office/drawing/2014/main" id="{2F6F8B6C-1013-956F-A865-EBAD8761D31B}"/>
              </a:ext>
            </a:extLst>
          </p:cNvPr>
          <p:cNvCxnSpPr>
            <a:cxnSpLocks/>
            <a:stCxn id="34" idx="0"/>
            <a:endCxn id="64" idx="2"/>
          </p:cNvCxnSpPr>
          <p:nvPr/>
        </p:nvCxnSpPr>
        <p:spPr>
          <a:xfrm rot="5400000" flipH="1" flipV="1">
            <a:off x="1140938" y="1762584"/>
            <a:ext cx="1486049" cy="2309837"/>
          </a:xfrm>
          <a:prstGeom prst="bentConnector3">
            <a:avLst>
              <a:gd name="adj1" fmla="val 70092"/>
            </a:avLst>
          </a:prstGeom>
          <a:ln>
            <a:solidFill>
              <a:schemeClr val="bg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797121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C15C85-F579-3234-7BE9-8047578B9120}"/>
            </a:ext>
          </a:extLst>
        </p:cNvPr>
        <p:cNvGrpSpPr/>
        <p:nvPr/>
      </p:nvGrpSpPr>
      <p:grpSpPr>
        <a:xfrm>
          <a:off x="0" y="0"/>
          <a:ext cx="0" cy="0"/>
          <a:chOff x="0" y="0"/>
          <a:chExt cx="0" cy="0"/>
        </a:xfrm>
      </p:grpSpPr>
      <p:sp>
        <p:nvSpPr>
          <p:cNvPr id="158" name="Rectangle 157">
            <a:extLst>
              <a:ext uri="{FF2B5EF4-FFF2-40B4-BE49-F238E27FC236}">
                <a16:creationId xmlns:a16="http://schemas.microsoft.com/office/drawing/2014/main" id="{411DFDF1-C6C5-35EB-A114-39F874393925}"/>
              </a:ext>
            </a:extLst>
          </p:cNvPr>
          <p:cNvSpPr/>
          <p:nvPr/>
        </p:nvSpPr>
        <p:spPr>
          <a:xfrm>
            <a:off x="9404684" y="1900157"/>
            <a:ext cx="1913021" cy="208630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 name="Rectangle: Rounded Corners 150">
            <a:extLst>
              <a:ext uri="{FF2B5EF4-FFF2-40B4-BE49-F238E27FC236}">
                <a16:creationId xmlns:a16="http://schemas.microsoft.com/office/drawing/2014/main" id="{70056496-050D-3F96-813A-2D01EA26241C}"/>
              </a:ext>
            </a:extLst>
          </p:cNvPr>
          <p:cNvSpPr/>
          <p:nvPr/>
        </p:nvSpPr>
        <p:spPr>
          <a:xfrm>
            <a:off x="9518904" y="3638217"/>
            <a:ext cx="1694528" cy="282898"/>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Summary Creation</a:t>
            </a:r>
          </a:p>
        </p:txBody>
      </p:sp>
      <p:grpSp>
        <p:nvGrpSpPr>
          <p:cNvPr id="7" name="AZGroup" descr="Group for availability zone, inside the AWS Cloud grouping.">
            <a:extLst>
              <a:ext uri="{FF2B5EF4-FFF2-40B4-BE49-F238E27FC236}">
                <a16:creationId xmlns:a16="http://schemas.microsoft.com/office/drawing/2014/main" id="{E4812213-8A37-257D-EF4B-EA213CB3099C}"/>
              </a:ext>
            </a:extLst>
          </p:cNvPr>
          <p:cNvGrpSpPr/>
          <p:nvPr/>
        </p:nvGrpSpPr>
        <p:grpSpPr>
          <a:xfrm>
            <a:off x="2749959" y="919950"/>
            <a:ext cx="8786265" cy="4616711"/>
            <a:chOff x="4188315" y="1576360"/>
            <a:chExt cx="8394391" cy="2984265"/>
          </a:xfrm>
        </p:grpSpPr>
        <p:sp>
          <p:nvSpPr>
            <p:cNvPr id="8" name="Rectangle 7" descr="AZ group border">
              <a:extLst>
                <a:ext uri="{FF2B5EF4-FFF2-40B4-BE49-F238E27FC236}">
                  <a16:creationId xmlns:a16="http://schemas.microsoft.com/office/drawing/2014/main" id="{FF3C2280-63B1-020D-C171-E28FA70AA9D5}"/>
                </a:ext>
              </a:extLst>
            </p:cNvPr>
            <p:cNvSpPr/>
            <p:nvPr/>
          </p:nvSpPr>
          <p:spPr>
            <a:xfrm>
              <a:off x="4188315" y="1576360"/>
              <a:ext cx="8394391" cy="2984265"/>
            </a:xfrm>
            <a:prstGeom prst="rect">
              <a:avLst/>
            </a:prstGeom>
            <a:noFill/>
            <a:ln w="15875">
              <a:solidFill>
                <a:srgbClr val="00A4A6"/>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srgbClr val="A5A5A5"/>
                </a:solidFill>
                <a:effectLst/>
                <a:uLnTx/>
                <a:uFillTx/>
                <a:latin typeface="Calibri" panose="020F0502020204030204"/>
                <a:ea typeface="+mn-ea"/>
                <a:cs typeface="+mn-cs"/>
              </a:endParaRPr>
            </a:p>
          </p:txBody>
        </p:sp>
        <p:sp>
          <p:nvSpPr>
            <p:cNvPr id="9" name="Rectangle 37">
              <a:extLst>
                <a:ext uri="{FF2B5EF4-FFF2-40B4-BE49-F238E27FC236}">
                  <a16:creationId xmlns:a16="http://schemas.microsoft.com/office/drawing/2014/main" id="{31D94B79-A5BB-64E2-55B0-4007182F920B}"/>
                </a:ext>
              </a:extLst>
            </p:cNvPr>
            <p:cNvSpPr>
              <a:spLocks noChangeArrowheads="1"/>
            </p:cNvSpPr>
            <p:nvPr/>
          </p:nvSpPr>
          <p:spPr bwMode="auto">
            <a:xfrm>
              <a:off x="4328036" y="1576639"/>
              <a:ext cx="597595" cy="129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700" b="1" i="0" u="none" strike="noStrike" kern="1200" cap="none" spc="0" normalizeH="0" baseline="0" noProof="0" dirty="0">
                  <a:ln>
                    <a:noFill/>
                  </a:ln>
                  <a:solidFill>
                    <a:srgbClr val="00A4A6"/>
                  </a:solidFill>
                  <a:effectLst/>
                  <a:uLnTx/>
                  <a:uFillTx/>
                  <a:latin typeface="Arial" panose="020B0604020202020204" pitchFamily="34" charset="0"/>
                  <a:ea typeface="+mn-ea"/>
                  <a:cs typeface="Arial" panose="020B0604020202020204" pitchFamily="34" charset="0"/>
                </a:rPr>
                <a:t>us-west-2 </a:t>
              </a:r>
            </a:p>
          </p:txBody>
        </p:sp>
      </p:grpSp>
      <p:pic>
        <p:nvPicPr>
          <p:cNvPr id="10" name="Graphic 9" descr="Region group icon.">
            <a:extLst>
              <a:ext uri="{FF2B5EF4-FFF2-40B4-BE49-F238E27FC236}">
                <a16:creationId xmlns:a16="http://schemas.microsoft.com/office/drawing/2014/main" id="{240E9A02-3883-0D79-06FE-3F63A3FF9438}"/>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2759516" y="915579"/>
            <a:ext cx="181666" cy="181666"/>
          </a:xfrm>
          <a:prstGeom prst="rect">
            <a:avLst/>
          </a:prstGeom>
        </p:spPr>
      </p:pic>
      <p:sp>
        <p:nvSpPr>
          <p:cNvPr id="11" name="Rectangle 10">
            <a:extLst>
              <a:ext uri="{FF2B5EF4-FFF2-40B4-BE49-F238E27FC236}">
                <a16:creationId xmlns:a16="http://schemas.microsoft.com/office/drawing/2014/main" id="{2129A9E0-C724-265E-CE13-82DCC586FED9}"/>
              </a:ext>
              <a:ext uri="{C183D7F6-B498-43B3-948B-1728B52AA6E4}">
                <adec:decorative xmlns:adec="http://schemas.microsoft.com/office/drawing/2017/decorative" val="1"/>
              </a:ext>
            </a:extLst>
          </p:cNvPr>
          <p:cNvSpPr/>
          <p:nvPr/>
        </p:nvSpPr>
        <p:spPr bwMode="auto">
          <a:xfrm>
            <a:off x="3445586" y="1020727"/>
            <a:ext cx="8020990" cy="3410142"/>
          </a:xfrm>
          <a:prstGeom prst="rect">
            <a:avLst/>
          </a:prstGeom>
          <a:noFill/>
          <a:ln w="15875">
            <a:solidFill>
              <a:srgbClr val="8C4FFF"/>
            </a:solidFill>
          </a:ln>
        </p:spPr>
        <p:style>
          <a:lnRef idx="2">
            <a:schemeClr val="accent1">
              <a:shade val="50000"/>
            </a:schemeClr>
          </a:lnRef>
          <a:fillRef idx="1">
            <a:schemeClr val="accent1"/>
          </a:fillRef>
          <a:effectRef idx="0">
            <a:schemeClr val="accent1"/>
          </a:effectRef>
          <a:fontRef idx="minor">
            <a:schemeClr val="lt1"/>
          </a:fontRef>
        </p:style>
        <p:txBody>
          <a:bodyPr lIns="502920" tIns="9144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w="0"/>
              <a:solidFill>
                <a:prstClr val="black"/>
              </a:solidFill>
              <a:effectLst/>
              <a:uLnTx/>
              <a:uFillTx/>
              <a:latin typeface="Arial" panose="020B0604020202020204" pitchFamily="34" charset="0"/>
              <a:ea typeface="+mn-ea"/>
              <a:cs typeface="Arial" panose="020B0604020202020204" pitchFamily="34" charset="0"/>
            </a:endParaRPr>
          </a:p>
        </p:txBody>
      </p:sp>
      <p:pic>
        <p:nvPicPr>
          <p:cNvPr id="12" name="Graphic 11" descr="VPC group icon.">
            <a:extLst>
              <a:ext uri="{FF2B5EF4-FFF2-40B4-BE49-F238E27FC236}">
                <a16:creationId xmlns:a16="http://schemas.microsoft.com/office/drawing/2014/main" id="{BB281DCA-3CF7-338C-1ECD-68821DB37C90}"/>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3449672" y="1028241"/>
            <a:ext cx="159014" cy="159014"/>
          </a:xfrm>
          <a:prstGeom prst="rect">
            <a:avLst/>
          </a:prstGeom>
        </p:spPr>
      </p:pic>
      <p:sp>
        <p:nvSpPr>
          <p:cNvPr id="13" name="Rectangle 37">
            <a:extLst>
              <a:ext uri="{FF2B5EF4-FFF2-40B4-BE49-F238E27FC236}">
                <a16:creationId xmlns:a16="http://schemas.microsoft.com/office/drawing/2014/main" id="{D7BB2778-A100-1D66-7AF0-5170B88008C3}"/>
              </a:ext>
            </a:extLst>
          </p:cNvPr>
          <p:cNvSpPr>
            <a:spLocks noChangeArrowheads="1"/>
          </p:cNvSpPr>
          <p:nvPr/>
        </p:nvSpPr>
        <p:spPr bwMode="auto">
          <a:xfrm>
            <a:off x="3548707" y="1008918"/>
            <a:ext cx="367409" cy="2000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700" b="1" i="0" u="none" strike="noStrike" kern="1200" cap="none" spc="0" normalizeH="0" baseline="0" noProof="0" dirty="0">
                <a:ln>
                  <a:noFill/>
                </a:ln>
                <a:solidFill>
                  <a:srgbClr val="8C4FFF"/>
                </a:solidFill>
                <a:effectLst/>
                <a:uLnTx/>
                <a:uFillTx/>
                <a:latin typeface="Arial" panose="020B0604020202020204" pitchFamily="34" charset="0"/>
                <a:ea typeface="+mn-ea"/>
                <a:cs typeface="Arial" panose="020B0604020202020204" pitchFamily="34" charset="0"/>
              </a:rPr>
              <a:t>VPC</a:t>
            </a:r>
          </a:p>
        </p:txBody>
      </p:sp>
      <p:cxnSp>
        <p:nvCxnSpPr>
          <p:cNvPr id="14" name="Straight Arrow Connector 13">
            <a:extLst>
              <a:ext uri="{FF2B5EF4-FFF2-40B4-BE49-F238E27FC236}">
                <a16:creationId xmlns:a16="http://schemas.microsoft.com/office/drawing/2014/main" id="{EADF3CEA-C831-81C3-BED5-24AD26A62AC3}"/>
              </a:ext>
            </a:extLst>
          </p:cNvPr>
          <p:cNvCxnSpPr>
            <a:cxnSpLocks/>
            <a:stCxn id="29" idx="3"/>
            <a:endCxn id="26" idx="1"/>
          </p:cNvCxnSpPr>
          <p:nvPr/>
        </p:nvCxnSpPr>
        <p:spPr>
          <a:xfrm flipV="1">
            <a:off x="3202073" y="3899331"/>
            <a:ext cx="295531" cy="3124"/>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cxnSp>
        <p:nvCxnSpPr>
          <p:cNvPr id="15" name="Straight Arrow Connector 14">
            <a:extLst>
              <a:ext uri="{FF2B5EF4-FFF2-40B4-BE49-F238E27FC236}">
                <a16:creationId xmlns:a16="http://schemas.microsoft.com/office/drawing/2014/main" id="{6E5C62E4-0FCE-4257-8425-BCD93BBB4669}"/>
              </a:ext>
            </a:extLst>
          </p:cNvPr>
          <p:cNvCxnSpPr>
            <a:cxnSpLocks/>
            <a:stCxn id="26" idx="3"/>
            <a:endCxn id="68" idx="1"/>
          </p:cNvCxnSpPr>
          <p:nvPr/>
        </p:nvCxnSpPr>
        <p:spPr>
          <a:xfrm flipV="1">
            <a:off x="3771924" y="3891145"/>
            <a:ext cx="864209" cy="8186"/>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grpSp>
        <p:nvGrpSpPr>
          <p:cNvPr id="19" name="Group 18">
            <a:extLst>
              <a:ext uri="{FF2B5EF4-FFF2-40B4-BE49-F238E27FC236}">
                <a16:creationId xmlns:a16="http://schemas.microsoft.com/office/drawing/2014/main" id="{BCBE1A5F-8629-E8E3-E030-23502361642E}"/>
              </a:ext>
            </a:extLst>
          </p:cNvPr>
          <p:cNvGrpSpPr/>
          <p:nvPr/>
        </p:nvGrpSpPr>
        <p:grpSpPr>
          <a:xfrm>
            <a:off x="2148404" y="4404685"/>
            <a:ext cx="330849" cy="637914"/>
            <a:chOff x="2021255" y="5606297"/>
            <a:chExt cx="330849" cy="637914"/>
          </a:xfrm>
        </p:grpSpPr>
        <p:pic>
          <p:nvPicPr>
            <p:cNvPr id="20" name="Graphic 8" descr="AWS WAF service icon.">
              <a:extLst>
                <a:ext uri="{FF2B5EF4-FFF2-40B4-BE49-F238E27FC236}">
                  <a16:creationId xmlns:a16="http://schemas.microsoft.com/office/drawing/2014/main" id="{2875D506-42A0-F769-C3BA-436F077A335F}"/>
                </a:ext>
              </a:extLst>
            </p:cNvPr>
            <p:cNvPicPr>
              <a:picLocks noChangeAspect="1" noChangeArrowheads="1"/>
            </p:cNvPicPr>
            <p:nvPr/>
          </p:nvPicPr>
          <p:blipFill>
            <a:blip>
              <a:extLst>
                <a:ext uri="{96DAC541-7B7A-43D3-8B79-37D633B846F1}">
                  <asvg:svgBlip xmlns:asvg="http://schemas.microsoft.com/office/drawing/2016/SVG/main" r:embed="rId4"/>
                </a:ext>
              </a:extLst>
            </a:blip>
            <a:srcRect/>
            <a:stretch/>
          </p:blipFill>
          <p:spPr bwMode="auto">
            <a:xfrm>
              <a:off x="2061331" y="5633576"/>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1" name="Graphic 19" descr="Amazon CloudFront service icon.">
              <a:extLst>
                <a:ext uri="{FF2B5EF4-FFF2-40B4-BE49-F238E27FC236}">
                  <a16:creationId xmlns:a16="http://schemas.microsoft.com/office/drawing/2014/main" id="{2EADE961-5262-3827-BCAA-22801C3B1BAF}"/>
                </a:ext>
              </a:extLst>
            </p:cNvPr>
            <p:cNvPicPr>
              <a:picLocks noChangeAspect="1" noChangeArrowheads="1"/>
            </p:cNvPicPr>
            <p:nvPr/>
          </p:nvPicPr>
          <p:blipFill>
            <a:blip>
              <a:extLst>
                <a:ext uri="{96DAC541-7B7A-43D3-8B79-37D633B846F1}">
                  <asvg:svgBlip xmlns:asvg="http://schemas.microsoft.com/office/drawing/2016/SVG/main" r:embed="rId5"/>
                </a:ext>
              </a:extLst>
            </a:blip>
            <a:srcRect/>
            <a:stretch/>
          </p:blipFill>
          <p:spPr bwMode="auto">
            <a:xfrm>
              <a:off x="2062505" y="591862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Rectangle 21" descr="Availability Zone group.">
              <a:extLst>
                <a:ext uri="{FF2B5EF4-FFF2-40B4-BE49-F238E27FC236}">
                  <a16:creationId xmlns:a16="http://schemas.microsoft.com/office/drawing/2014/main" id="{B2735054-E11D-3299-EF3D-6A9F8C70304F}"/>
                </a:ext>
              </a:extLst>
            </p:cNvPr>
            <p:cNvSpPr/>
            <p:nvPr/>
          </p:nvSpPr>
          <p:spPr>
            <a:xfrm>
              <a:off x="2021255" y="5606297"/>
              <a:ext cx="330849" cy="637914"/>
            </a:xfrm>
            <a:prstGeom prst="rect">
              <a:avLst/>
            </a:prstGeom>
            <a:noFill/>
            <a:ln w="15875" cap="flat" cmpd="sng" algn="ctr">
              <a:solidFill>
                <a:schemeClr val="tx1"/>
              </a:solidFill>
              <a:prstDash val="dash"/>
              <a:miter lim="800000"/>
            </a:ln>
            <a:effectLst/>
          </p:spPr>
          <p:txBody>
            <a:bodyPr tIns="9144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endParaRPr>
            </a:p>
          </p:txBody>
        </p:sp>
      </p:grpSp>
      <p:pic>
        <p:nvPicPr>
          <p:cNvPr id="24" name="Graphic 8" descr="Amazon Simple Storage Service (Amazon S3) service icon.">
            <a:extLst>
              <a:ext uri="{FF2B5EF4-FFF2-40B4-BE49-F238E27FC236}">
                <a16:creationId xmlns:a16="http://schemas.microsoft.com/office/drawing/2014/main" id="{B55283DF-7DCB-A2D9-3718-BDCFCC918D0A}"/>
              </a:ext>
            </a:extLst>
          </p:cNvPr>
          <p:cNvPicPr>
            <a:picLocks noChangeAspect="1" noChangeArrowheads="1"/>
          </p:cNvPicPr>
          <p:nvPr/>
        </p:nvPicPr>
        <p:blipFill>
          <a:blip>
            <a:extLst>
              <a:ext uri="{96DAC541-7B7A-43D3-8B79-37D633B846F1}">
                <asvg:svgBlip xmlns:asvg="http://schemas.microsoft.com/office/drawing/2016/SVG/main" r:embed="rId6"/>
              </a:ext>
            </a:extLst>
          </a:blip>
          <a:srcRect/>
          <a:stretch/>
        </p:blipFill>
        <p:spPr bwMode="auto">
          <a:xfrm>
            <a:off x="3846409" y="4718104"/>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25" name="Connector: Elbow 24">
            <a:extLst>
              <a:ext uri="{FF2B5EF4-FFF2-40B4-BE49-F238E27FC236}">
                <a16:creationId xmlns:a16="http://schemas.microsoft.com/office/drawing/2014/main" id="{3FC3DFAE-ACEE-C9E7-5BC6-18222DF9062B}"/>
              </a:ext>
            </a:extLst>
          </p:cNvPr>
          <p:cNvCxnSpPr>
            <a:cxnSpLocks/>
            <a:stCxn id="21" idx="3"/>
            <a:endCxn id="24" idx="1"/>
          </p:cNvCxnSpPr>
          <p:nvPr/>
        </p:nvCxnSpPr>
        <p:spPr>
          <a:xfrm>
            <a:off x="2463974" y="4854173"/>
            <a:ext cx="1382435" cy="1091"/>
          </a:xfrm>
          <a:prstGeom prst="bentConnector3">
            <a:avLst>
              <a:gd name="adj1" fmla="val 50000"/>
            </a:avLst>
          </a:prstGeom>
          <a:ln>
            <a:headEnd type="triangle" w="med" len="med"/>
            <a:tailEnd type="none" w="med" len="med"/>
          </a:ln>
        </p:spPr>
        <p:style>
          <a:lnRef idx="2">
            <a:schemeClr val="accent2"/>
          </a:lnRef>
          <a:fillRef idx="0">
            <a:schemeClr val="accent2"/>
          </a:fillRef>
          <a:effectRef idx="1">
            <a:schemeClr val="accent2"/>
          </a:effectRef>
          <a:fontRef idx="minor">
            <a:schemeClr val="tx1"/>
          </a:fontRef>
        </p:style>
      </p:cxnSp>
      <p:pic>
        <p:nvPicPr>
          <p:cNvPr id="26" name="Graphic 25" descr="Endpoints resource icon for the Amazon VPC service.&#10;">
            <a:extLst>
              <a:ext uri="{FF2B5EF4-FFF2-40B4-BE49-F238E27FC236}">
                <a16:creationId xmlns:a16="http://schemas.microsoft.com/office/drawing/2014/main" id="{66D82E93-1D8A-4307-1334-9E0BBBA5B58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497604" y="3762171"/>
            <a:ext cx="274320" cy="274320"/>
          </a:xfrm>
          <a:prstGeom prst="rect">
            <a:avLst/>
          </a:prstGeom>
        </p:spPr>
      </p:pic>
      <p:pic>
        <p:nvPicPr>
          <p:cNvPr id="27" name="Graphic 21" descr="Amazon Route 53 service icon.">
            <a:extLst>
              <a:ext uri="{FF2B5EF4-FFF2-40B4-BE49-F238E27FC236}">
                <a16:creationId xmlns:a16="http://schemas.microsoft.com/office/drawing/2014/main" id="{5F42A744-BFC0-C2F5-1EA5-4A508DA9B82D}"/>
              </a:ext>
            </a:extLst>
          </p:cNvPr>
          <p:cNvPicPr>
            <a:picLocks noChangeAspect="1" noChangeArrowheads="1"/>
          </p:cNvPicPr>
          <p:nvPr/>
        </p:nvPicPr>
        <p:blipFill>
          <a:blip>
            <a:extLst>
              <a:ext uri="{96DAC541-7B7A-43D3-8B79-37D633B846F1}">
                <asvg:svgBlip xmlns:asvg="http://schemas.microsoft.com/office/drawing/2016/SVG/main" r:embed="rId8"/>
              </a:ext>
            </a:extLst>
          </a:blip>
          <a:srcRect/>
          <a:stretch/>
        </p:blipFill>
        <p:spPr bwMode="auto">
          <a:xfrm>
            <a:off x="2026407" y="1388197"/>
            <a:ext cx="274320" cy="2668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9" name="Graphic 7" descr="Amazon API Gateway service icon.">
            <a:extLst>
              <a:ext uri="{FF2B5EF4-FFF2-40B4-BE49-F238E27FC236}">
                <a16:creationId xmlns:a16="http://schemas.microsoft.com/office/drawing/2014/main" id="{7055B0EC-3743-046C-8C57-E1D3DA991DF3}"/>
              </a:ext>
            </a:extLst>
          </p:cNvPr>
          <p:cNvPicPr>
            <a:picLocks noChangeAspect="1" noChangeArrowheads="1"/>
          </p:cNvPicPr>
          <p:nvPr/>
        </p:nvPicPr>
        <p:blipFill>
          <a:blip>
            <a:extLst>
              <a:ext uri="{96DAC541-7B7A-43D3-8B79-37D633B846F1}">
                <asvg:svgBlip xmlns:asvg="http://schemas.microsoft.com/office/drawing/2016/SVG/main" r:embed="rId9"/>
              </a:ext>
            </a:extLst>
          </a:blip>
          <a:srcRect/>
          <a:stretch/>
        </p:blipFill>
        <p:spPr bwMode="auto">
          <a:xfrm>
            <a:off x="2927753" y="376529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4" name="Graphic 17" descr="Amazon Cognito service icon.">
            <a:extLst>
              <a:ext uri="{FF2B5EF4-FFF2-40B4-BE49-F238E27FC236}">
                <a16:creationId xmlns:a16="http://schemas.microsoft.com/office/drawing/2014/main" id="{806A547F-64BC-BB52-F1FE-A65830DCC41A}"/>
              </a:ext>
            </a:extLst>
          </p:cNvPr>
          <p:cNvPicPr>
            <a:picLocks noChangeAspect="1" noChangeArrowheads="1"/>
          </p:cNvPicPr>
          <p:nvPr/>
        </p:nvPicPr>
        <p:blipFill>
          <a:blip>
            <a:extLst>
              <a:ext uri="{96DAC541-7B7A-43D3-8B79-37D633B846F1}">
                <asvg:svgBlip xmlns:asvg="http://schemas.microsoft.com/office/drawing/2016/SVG/main" r:embed="rId10"/>
              </a:ext>
            </a:extLst>
          </a:blip>
          <a:srcRect/>
          <a:stretch/>
        </p:blipFill>
        <p:spPr bwMode="auto">
          <a:xfrm>
            <a:off x="2901721" y="1900157"/>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lambda" descr="Lambda service icon.">
            <a:extLst>
              <a:ext uri="{FF2B5EF4-FFF2-40B4-BE49-F238E27FC236}">
                <a16:creationId xmlns:a16="http://schemas.microsoft.com/office/drawing/2014/main" id="{A45FD5B2-904D-4C86-19CE-B3E44883407F}"/>
              </a:ext>
            </a:extLst>
          </p:cNvPr>
          <p:cNvPicPr>
            <a:picLocks noChangeAspect="1" noChangeArrowheads="1"/>
          </p:cNvPicPr>
          <p:nvPr/>
        </p:nvPicPr>
        <p:blipFill>
          <a:blip>
            <a:extLst>
              <a:ext uri="{96DAC541-7B7A-43D3-8B79-37D633B846F1}">
                <asvg:svgBlip xmlns:asvg="http://schemas.microsoft.com/office/drawing/2016/SVG/main" r:embed="rId11"/>
              </a:ext>
            </a:extLst>
          </a:blip>
          <a:srcRect/>
          <a:stretch/>
        </p:blipFill>
        <p:spPr bwMode="auto">
          <a:xfrm>
            <a:off x="4636133" y="375398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9" name="Graphic 68" descr="Endpoints resource icon for the Amazon VPC service.&#10;">
            <a:extLst>
              <a:ext uri="{FF2B5EF4-FFF2-40B4-BE49-F238E27FC236}">
                <a16:creationId xmlns:a16="http://schemas.microsoft.com/office/drawing/2014/main" id="{A9902F13-77E5-8B06-5903-45964FD0638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091487" y="3753985"/>
            <a:ext cx="274320" cy="274320"/>
          </a:xfrm>
          <a:prstGeom prst="rect">
            <a:avLst/>
          </a:prstGeom>
        </p:spPr>
      </p:pic>
      <p:cxnSp>
        <p:nvCxnSpPr>
          <p:cNvPr id="70" name="Connector: Elbow 69">
            <a:extLst>
              <a:ext uri="{FF2B5EF4-FFF2-40B4-BE49-F238E27FC236}">
                <a16:creationId xmlns:a16="http://schemas.microsoft.com/office/drawing/2014/main" id="{D2ADB3BB-3AA4-DE30-ACC9-79ED9F498316}"/>
              </a:ext>
            </a:extLst>
          </p:cNvPr>
          <p:cNvCxnSpPr>
            <a:cxnSpLocks/>
            <a:stCxn id="69" idx="2"/>
            <a:endCxn id="67" idx="0"/>
          </p:cNvCxnSpPr>
          <p:nvPr/>
        </p:nvCxnSpPr>
        <p:spPr>
          <a:xfrm rot="5400000">
            <a:off x="4466852" y="4020618"/>
            <a:ext cx="754109" cy="769482"/>
          </a:xfrm>
          <a:prstGeom prst="bentConnector3">
            <a:avLst>
              <a:gd name="adj1" fmla="val 20949"/>
            </a:avLst>
          </a:prstGeom>
          <a:ln w="28575">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71" name="Connector: Elbow 70">
            <a:extLst>
              <a:ext uri="{FF2B5EF4-FFF2-40B4-BE49-F238E27FC236}">
                <a16:creationId xmlns:a16="http://schemas.microsoft.com/office/drawing/2014/main" id="{39C2F40A-72D6-C546-EA9C-25A90B3287D1}"/>
              </a:ext>
            </a:extLst>
          </p:cNvPr>
          <p:cNvCxnSpPr>
            <a:cxnSpLocks/>
            <a:stCxn id="69" idx="2"/>
            <a:endCxn id="66" idx="0"/>
          </p:cNvCxnSpPr>
          <p:nvPr/>
        </p:nvCxnSpPr>
        <p:spPr>
          <a:xfrm rot="16200000" flipH="1">
            <a:off x="4885129" y="4371822"/>
            <a:ext cx="729821" cy="42785"/>
          </a:xfrm>
          <a:prstGeom prst="bentConnector3">
            <a:avLst>
              <a:gd name="adj1" fmla="val 21288"/>
            </a:avLst>
          </a:prstGeom>
          <a:ln w="28575">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72" name="TextBox 71">
            <a:extLst>
              <a:ext uri="{FF2B5EF4-FFF2-40B4-BE49-F238E27FC236}">
                <a16:creationId xmlns:a16="http://schemas.microsoft.com/office/drawing/2014/main" id="{8CDBD96B-CC4D-4F93-FCD3-74E11C8FCCB1}"/>
              </a:ext>
            </a:extLst>
          </p:cNvPr>
          <p:cNvSpPr txBox="1"/>
          <p:nvPr/>
        </p:nvSpPr>
        <p:spPr>
          <a:xfrm>
            <a:off x="5292471" y="3706479"/>
            <a:ext cx="896399" cy="369332"/>
          </a:xfrm>
          <a:prstGeom prst="rect">
            <a:avLst/>
          </a:prstGeom>
          <a:noFill/>
        </p:spPr>
        <p:txBody>
          <a:bodyPr wrap="none" rtlCol="0">
            <a:spAutoFit/>
          </a:bodyPr>
          <a:lstStyle/>
          <a:p>
            <a:pPr algn="ctr"/>
            <a:r>
              <a:rPr lang="en-US" sz="900" dirty="0">
                <a:solidFill>
                  <a:schemeClr val="bg1"/>
                </a:solidFill>
              </a:rPr>
              <a:t>Interface VPC </a:t>
            </a:r>
          </a:p>
          <a:p>
            <a:pPr algn="ctr"/>
            <a:r>
              <a:rPr lang="en-US" sz="900" dirty="0">
                <a:solidFill>
                  <a:schemeClr val="bg1"/>
                </a:solidFill>
              </a:rPr>
              <a:t>Endpoint</a:t>
            </a:r>
          </a:p>
        </p:txBody>
      </p:sp>
      <p:cxnSp>
        <p:nvCxnSpPr>
          <p:cNvPr id="73" name="Straight Arrow Connector 72">
            <a:extLst>
              <a:ext uri="{FF2B5EF4-FFF2-40B4-BE49-F238E27FC236}">
                <a16:creationId xmlns:a16="http://schemas.microsoft.com/office/drawing/2014/main" id="{DC60ABE2-97AD-AA20-9335-A2880B70E1CC}"/>
              </a:ext>
            </a:extLst>
          </p:cNvPr>
          <p:cNvCxnSpPr>
            <a:cxnSpLocks/>
            <a:stCxn id="68" idx="3"/>
          </p:cNvCxnSpPr>
          <p:nvPr/>
        </p:nvCxnSpPr>
        <p:spPr>
          <a:xfrm>
            <a:off x="4910453" y="3891145"/>
            <a:ext cx="223819" cy="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pic>
        <p:nvPicPr>
          <p:cNvPr id="83" name="Graphic 26" descr="Amazon Simple Queue Service (Amazon SQS) service icon.">
            <a:extLst>
              <a:ext uri="{FF2B5EF4-FFF2-40B4-BE49-F238E27FC236}">
                <a16:creationId xmlns:a16="http://schemas.microsoft.com/office/drawing/2014/main" id="{8BE849B8-B668-B70C-7682-DD65DA7BF57B}"/>
              </a:ext>
            </a:extLst>
          </p:cNvPr>
          <p:cNvPicPr>
            <a:picLocks noChangeAspect="1" noChangeArrowheads="1"/>
          </p:cNvPicPr>
          <p:nvPr/>
        </p:nvPicPr>
        <p:blipFill>
          <a:blip>
            <a:extLst>
              <a:ext uri="{96DAC541-7B7A-43D3-8B79-37D633B846F1}">
                <asvg:svgBlip xmlns:asvg="http://schemas.microsoft.com/office/drawing/2016/SVG/main" r:embed="rId12"/>
              </a:ext>
            </a:extLst>
          </a:blip>
          <a:srcRect/>
          <a:stretch/>
        </p:blipFill>
        <p:spPr bwMode="auto">
          <a:xfrm>
            <a:off x="4892478" y="3044803"/>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1" name="Graphic 24" descr="Amazon Simple Notification Service (Amazon SNS) service icon.">
            <a:extLst>
              <a:ext uri="{FF2B5EF4-FFF2-40B4-BE49-F238E27FC236}">
                <a16:creationId xmlns:a16="http://schemas.microsoft.com/office/drawing/2014/main" id="{E2706BA2-C04B-D665-F667-893E7A665E82}"/>
              </a:ext>
            </a:extLst>
          </p:cNvPr>
          <p:cNvPicPr>
            <a:picLocks noChangeAspect="1" noChangeArrowheads="1"/>
          </p:cNvPicPr>
          <p:nvPr/>
        </p:nvPicPr>
        <p:blipFill>
          <a:blip>
            <a:extLst>
              <a:ext uri="{96DAC541-7B7A-43D3-8B79-37D633B846F1}">
                <asvg:svgBlip xmlns:asvg="http://schemas.microsoft.com/office/drawing/2016/SVG/main" r:embed="rId13"/>
              </a:ext>
            </a:extLst>
          </a:blip>
          <a:srcRect/>
          <a:stretch/>
        </p:blipFill>
        <p:spPr bwMode="auto">
          <a:xfrm>
            <a:off x="4328159" y="304616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95" name="Connector: Elbow 94">
            <a:extLst>
              <a:ext uri="{FF2B5EF4-FFF2-40B4-BE49-F238E27FC236}">
                <a16:creationId xmlns:a16="http://schemas.microsoft.com/office/drawing/2014/main" id="{CFB0E028-A5F3-FF43-2235-AE3581AC4FBF}"/>
              </a:ext>
            </a:extLst>
          </p:cNvPr>
          <p:cNvCxnSpPr>
            <a:cxnSpLocks/>
            <a:stCxn id="68" idx="0"/>
            <a:endCxn id="83" idx="2"/>
          </p:cNvCxnSpPr>
          <p:nvPr/>
        </p:nvCxnSpPr>
        <p:spPr>
          <a:xfrm rot="5400000" flipH="1" flipV="1">
            <a:off x="4684034" y="3408382"/>
            <a:ext cx="434862" cy="256345"/>
          </a:xfrm>
          <a:prstGeom prst="bentConnector3">
            <a:avLst>
              <a:gd name="adj1" fmla="val 50000"/>
            </a:avLst>
          </a:prstGeom>
          <a:ln w="28575">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Connector: Elbow 99">
            <a:extLst>
              <a:ext uri="{FF2B5EF4-FFF2-40B4-BE49-F238E27FC236}">
                <a16:creationId xmlns:a16="http://schemas.microsoft.com/office/drawing/2014/main" id="{7D3ADCBB-77DD-4D69-76C5-6D7BEB59A258}"/>
              </a:ext>
            </a:extLst>
          </p:cNvPr>
          <p:cNvCxnSpPr>
            <a:cxnSpLocks/>
            <a:stCxn id="68" idx="0"/>
            <a:endCxn id="91" idx="2"/>
          </p:cNvCxnSpPr>
          <p:nvPr/>
        </p:nvCxnSpPr>
        <p:spPr>
          <a:xfrm rot="16200000" flipV="1">
            <a:off x="4402556" y="3383248"/>
            <a:ext cx="433500" cy="307974"/>
          </a:xfrm>
          <a:prstGeom prst="bentConnector3">
            <a:avLst>
              <a:gd name="adj1" fmla="val 50000"/>
            </a:avLst>
          </a:prstGeom>
          <a:ln w="28575">
            <a:solidFill>
              <a:schemeClr val="accent2"/>
            </a:solidFill>
            <a:tailEnd type="triangle"/>
          </a:ln>
        </p:spPr>
        <p:style>
          <a:lnRef idx="2">
            <a:schemeClr val="accent1"/>
          </a:lnRef>
          <a:fillRef idx="0">
            <a:schemeClr val="accent1"/>
          </a:fillRef>
          <a:effectRef idx="1">
            <a:schemeClr val="accent1"/>
          </a:effectRef>
          <a:fontRef idx="minor">
            <a:schemeClr val="tx1"/>
          </a:fontRef>
        </p:style>
      </p:cxnSp>
      <p:grpSp>
        <p:nvGrpSpPr>
          <p:cNvPr id="78" name="Group 77">
            <a:extLst>
              <a:ext uri="{FF2B5EF4-FFF2-40B4-BE49-F238E27FC236}">
                <a16:creationId xmlns:a16="http://schemas.microsoft.com/office/drawing/2014/main" id="{7211225A-73A4-3295-4EAB-666AA620352A}"/>
              </a:ext>
            </a:extLst>
          </p:cNvPr>
          <p:cNvGrpSpPr/>
          <p:nvPr/>
        </p:nvGrpSpPr>
        <p:grpSpPr>
          <a:xfrm>
            <a:off x="3991747" y="4782414"/>
            <a:ext cx="934836" cy="491345"/>
            <a:chOff x="3991747" y="4782414"/>
            <a:chExt cx="934836" cy="491345"/>
          </a:xfrm>
        </p:grpSpPr>
        <p:pic>
          <p:nvPicPr>
            <p:cNvPr id="67" name="Graphic 23" descr="Amazon DynamoDB service icon.">
              <a:extLst>
                <a:ext uri="{FF2B5EF4-FFF2-40B4-BE49-F238E27FC236}">
                  <a16:creationId xmlns:a16="http://schemas.microsoft.com/office/drawing/2014/main" id="{D3052BAE-EFD1-0792-8D20-86F98F711C4D}"/>
                </a:ext>
              </a:extLst>
            </p:cNvPr>
            <p:cNvPicPr>
              <a:picLocks noChangeAspect="1" noChangeArrowheads="1"/>
            </p:cNvPicPr>
            <p:nvPr/>
          </p:nvPicPr>
          <p:blipFill>
            <a:blip>
              <a:extLst>
                <a:ext uri="{96DAC541-7B7A-43D3-8B79-37D633B846F1}">
                  <asvg:svgBlip xmlns:asvg="http://schemas.microsoft.com/office/drawing/2016/SVG/main" r:embed="rId14"/>
                </a:ext>
              </a:extLst>
            </a:blip>
            <a:srcRect/>
            <a:stretch/>
          </p:blipFill>
          <p:spPr bwMode="auto">
            <a:xfrm>
              <a:off x="4322005" y="4782414"/>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11">
              <a:extLst>
                <a:ext uri="{FF2B5EF4-FFF2-40B4-BE49-F238E27FC236}">
                  <a16:creationId xmlns:a16="http://schemas.microsoft.com/office/drawing/2014/main" id="{F3FBEE31-5660-C3BC-AC11-9C3FD78482C4}"/>
                </a:ext>
              </a:extLst>
            </p:cNvPr>
            <p:cNvSpPr txBox="1">
              <a:spLocks noChangeArrowheads="1"/>
            </p:cNvSpPr>
            <p:nvPr/>
          </p:nvSpPr>
          <p:spPr bwMode="auto">
            <a:xfrm>
              <a:off x="3991747" y="5027538"/>
              <a:ext cx="93483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DynamoDB</a:t>
              </a:r>
            </a:p>
          </p:txBody>
        </p:sp>
      </p:grpSp>
      <p:grpSp>
        <p:nvGrpSpPr>
          <p:cNvPr id="79" name="Group 78">
            <a:extLst>
              <a:ext uri="{FF2B5EF4-FFF2-40B4-BE49-F238E27FC236}">
                <a16:creationId xmlns:a16="http://schemas.microsoft.com/office/drawing/2014/main" id="{5571FF2D-A935-E21A-765F-1374D2585B4A}"/>
              </a:ext>
            </a:extLst>
          </p:cNvPr>
          <p:cNvGrpSpPr/>
          <p:nvPr/>
        </p:nvGrpSpPr>
        <p:grpSpPr>
          <a:xfrm>
            <a:off x="5039124" y="4758126"/>
            <a:ext cx="474496" cy="479772"/>
            <a:chOff x="5039124" y="4758126"/>
            <a:chExt cx="474496" cy="479772"/>
          </a:xfrm>
        </p:grpSpPr>
        <p:pic>
          <p:nvPicPr>
            <p:cNvPr id="66" name="Graphic 8" descr="Amazon Simple Storage Service (Amazon S3) service icon.">
              <a:extLst>
                <a:ext uri="{FF2B5EF4-FFF2-40B4-BE49-F238E27FC236}">
                  <a16:creationId xmlns:a16="http://schemas.microsoft.com/office/drawing/2014/main" id="{51EF1BF0-0445-5C6D-F9AF-5E3F8671A4AA}"/>
                </a:ext>
              </a:extLst>
            </p:cNvPr>
            <p:cNvPicPr>
              <a:picLocks noChangeAspect="1" noChangeArrowheads="1"/>
            </p:cNvPicPr>
            <p:nvPr/>
          </p:nvPicPr>
          <p:blipFill>
            <a:blip>
              <a:extLst>
                <a:ext uri="{96DAC541-7B7A-43D3-8B79-37D633B846F1}">
                  <asvg:svgBlip xmlns:asvg="http://schemas.microsoft.com/office/drawing/2016/SVG/main" r:embed="rId6"/>
                </a:ext>
              </a:extLst>
            </a:blip>
            <a:srcRect/>
            <a:stretch/>
          </p:blipFill>
          <p:spPr bwMode="auto">
            <a:xfrm>
              <a:off x="5134272" y="4758126"/>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 name="TextBox 9">
              <a:extLst>
                <a:ext uri="{FF2B5EF4-FFF2-40B4-BE49-F238E27FC236}">
                  <a16:creationId xmlns:a16="http://schemas.microsoft.com/office/drawing/2014/main" id="{1BDA19EB-148D-DCDB-1287-E9DC140C32EE}"/>
                </a:ext>
              </a:extLst>
            </p:cNvPr>
            <p:cNvSpPr txBox="1">
              <a:spLocks noChangeArrowheads="1"/>
            </p:cNvSpPr>
            <p:nvPr/>
          </p:nvSpPr>
          <p:spPr bwMode="auto">
            <a:xfrm>
              <a:off x="5039124" y="4991677"/>
              <a:ext cx="47449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S3</a:t>
              </a:r>
            </a:p>
          </p:txBody>
        </p:sp>
      </p:grpSp>
      <p:sp>
        <p:nvSpPr>
          <p:cNvPr id="63" name="TextBox 9">
            <a:extLst>
              <a:ext uri="{FF2B5EF4-FFF2-40B4-BE49-F238E27FC236}">
                <a16:creationId xmlns:a16="http://schemas.microsoft.com/office/drawing/2014/main" id="{BD4325B0-DD90-93EB-50E5-7A27BC284071}"/>
              </a:ext>
            </a:extLst>
          </p:cNvPr>
          <p:cNvSpPr txBox="1">
            <a:spLocks noChangeArrowheads="1"/>
          </p:cNvSpPr>
          <p:nvPr/>
        </p:nvSpPr>
        <p:spPr bwMode="auto">
          <a:xfrm>
            <a:off x="1824680" y="4978595"/>
            <a:ext cx="931832"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CloudFront</a:t>
            </a:r>
          </a:p>
        </p:txBody>
      </p:sp>
      <p:sp>
        <p:nvSpPr>
          <p:cNvPr id="75" name="TextBox 9">
            <a:extLst>
              <a:ext uri="{FF2B5EF4-FFF2-40B4-BE49-F238E27FC236}">
                <a16:creationId xmlns:a16="http://schemas.microsoft.com/office/drawing/2014/main" id="{2ECCC520-8A87-7BBC-ABA9-96B5E1309791}"/>
              </a:ext>
            </a:extLst>
          </p:cNvPr>
          <p:cNvSpPr txBox="1">
            <a:spLocks noChangeArrowheads="1"/>
          </p:cNvSpPr>
          <p:nvPr/>
        </p:nvSpPr>
        <p:spPr bwMode="auto">
          <a:xfrm>
            <a:off x="1848240" y="4218053"/>
            <a:ext cx="931832"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WAF</a:t>
            </a:r>
          </a:p>
        </p:txBody>
      </p:sp>
      <p:sp>
        <p:nvSpPr>
          <p:cNvPr id="77" name="TextBox 9">
            <a:extLst>
              <a:ext uri="{FF2B5EF4-FFF2-40B4-BE49-F238E27FC236}">
                <a16:creationId xmlns:a16="http://schemas.microsoft.com/office/drawing/2014/main" id="{F800511F-F799-2EA6-AF0E-8C56C47A04A3}"/>
              </a:ext>
            </a:extLst>
          </p:cNvPr>
          <p:cNvSpPr txBox="1">
            <a:spLocks noChangeArrowheads="1"/>
          </p:cNvSpPr>
          <p:nvPr/>
        </p:nvSpPr>
        <p:spPr bwMode="auto">
          <a:xfrm>
            <a:off x="2591210" y="3362260"/>
            <a:ext cx="931832"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API </a:t>
            </a:r>
          </a:p>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Gateway</a:t>
            </a:r>
          </a:p>
        </p:txBody>
      </p:sp>
      <p:grpSp>
        <p:nvGrpSpPr>
          <p:cNvPr id="76" name="Group 75">
            <a:extLst>
              <a:ext uri="{FF2B5EF4-FFF2-40B4-BE49-F238E27FC236}">
                <a16:creationId xmlns:a16="http://schemas.microsoft.com/office/drawing/2014/main" id="{4D1EAAD2-811E-2CDF-6F9A-AC928C55E04B}"/>
              </a:ext>
            </a:extLst>
          </p:cNvPr>
          <p:cNvGrpSpPr/>
          <p:nvPr/>
        </p:nvGrpSpPr>
        <p:grpSpPr>
          <a:xfrm>
            <a:off x="5258530" y="3040239"/>
            <a:ext cx="910254" cy="667961"/>
            <a:chOff x="5635046" y="2699578"/>
            <a:chExt cx="910254" cy="667961"/>
          </a:xfrm>
        </p:grpSpPr>
        <p:pic>
          <p:nvPicPr>
            <p:cNvPr id="62" name="Graphic 61" descr="Pipes resource icon for the Amazon EventBridge service.">
              <a:extLst>
                <a:ext uri="{FF2B5EF4-FFF2-40B4-BE49-F238E27FC236}">
                  <a16:creationId xmlns:a16="http://schemas.microsoft.com/office/drawing/2014/main" id="{298DB9FC-0E48-C22D-688A-1C60BC2F33AC}"/>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5950828" y="2699578"/>
              <a:ext cx="274320" cy="274320"/>
            </a:xfrm>
            <a:prstGeom prst="rect">
              <a:avLst/>
            </a:prstGeom>
          </p:spPr>
        </p:pic>
        <p:sp>
          <p:nvSpPr>
            <p:cNvPr id="74" name="TextBox 22">
              <a:extLst>
                <a:ext uri="{FF2B5EF4-FFF2-40B4-BE49-F238E27FC236}">
                  <a16:creationId xmlns:a16="http://schemas.microsoft.com/office/drawing/2014/main" id="{729917E0-51DD-12A2-F0E1-D0C57CF71A89}"/>
                </a:ext>
              </a:extLst>
            </p:cNvPr>
            <p:cNvSpPr txBox="1">
              <a:spLocks noChangeArrowheads="1"/>
            </p:cNvSpPr>
            <p:nvPr/>
          </p:nvSpPr>
          <p:spPr bwMode="auto">
            <a:xfrm>
              <a:off x="5635046" y="2967429"/>
              <a:ext cx="91025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fontAlgn="base">
                <a:spcBef>
                  <a:spcPct val="0"/>
                </a:spcBef>
                <a:spcAft>
                  <a:spcPct val="0"/>
                </a:spcAft>
              </a:pPr>
              <a:r>
                <a:rPr lang="en-US" altLang="en-US" sz="1000" dirty="0" err="1">
                  <a:solidFill>
                    <a:schemeClr val="bg1"/>
                  </a:solidFill>
                </a:rPr>
                <a:t>Eventbridge</a:t>
              </a:r>
              <a:r>
                <a:rPr lang="en-US" altLang="en-US" sz="1000" dirty="0">
                  <a:solidFill>
                    <a:schemeClr val="bg1"/>
                  </a:solidFill>
                </a:rPr>
                <a:t> Pipes </a:t>
              </a:r>
              <a:endPar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endParaRPr>
            </a:p>
          </p:txBody>
        </p:sp>
      </p:grpSp>
      <p:cxnSp>
        <p:nvCxnSpPr>
          <p:cNvPr id="84" name="Straight Arrow Connector 83">
            <a:extLst>
              <a:ext uri="{FF2B5EF4-FFF2-40B4-BE49-F238E27FC236}">
                <a16:creationId xmlns:a16="http://schemas.microsoft.com/office/drawing/2014/main" id="{BC45BFD2-BD2C-7321-A2AD-CEDEE1E558BF}"/>
              </a:ext>
            </a:extLst>
          </p:cNvPr>
          <p:cNvCxnSpPr>
            <a:cxnSpLocks/>
            <a:stCxn id="83" idx="3"/>
            <a:endCxn id="62" idx="1"/>
          </p:cNvCxnSpPr>
          <p:nvPr/>
        </p:nvCxnSpPr>
        <p:spPr>
          <a:xfrm flipV="1">
            <a:off x="5166798" y="3177399"/>
            <a:ext cx="407514" cy="4564"/>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pic>
        <p:nvPicPr>
          <p:cNvPr id="89" name="Graphic 17" descr="AWS Step Functions service icon.">
            <a:extLst>
              <a:ext uri="{FF2B5EF4-FFF2-40B4-BE49-F238E27FC236}">
                <a16:creationId xmlns:a16="http://schemas.microsoft.com/office/drawing/2014/main" id="{26DADCB8-555C-6B37-7B2E-814CDCE37132}"/>
              </a:ext>
            </a:extLst>
          </p:cNvPr>
          <p:cNvPicPr>
            <a:picLocks noChangeAspect="1" noChangeArrowheads="1"/>
          </p:cNvPicPr>
          <p:nvPr/>
        </p:nvPicPr>
        <p:blipFill>
          <a:blip>
            <a:extLst>
              <a:ext uri="{96DAC541-7B7A-43D3-8B79-37D633B846F1}">
                <asvg:svgBlip xmlns:asvg="http://schemas.microsoft.com/office/drawing/2016/SVG/main" r:embed="rId16"/>
              </a:ext>
            </a:extLst>
          </a:blip>
          <a:srcRect/>
          <a:stretch/>
        </p:blipFill>
        <p:spPr bwMode="auto">
          <a:xfrm>
            <a:off x="6313683" y="3040771"/>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94" name="Straight Arrow Connector 93">
            <a:extLst>
              <a:ext uri="{FF2B5EF4-FFF2-40B4-BE49-F238E27FC236}">
                <a16:creationId xmlns:a16="http://schemas.microsoft.com/office/drawing/2014/main" id="{9BC791DB-B478-EA5F-90F9-86F0E91023E4}"/>
              </a:ext>
            </a:extLst>
          </p:cNvPr>
          <p:cNvCxnSpPr>
            <a:cxnSpLocks/>
            <a:stCxn id="62" idx="3"/>
            <a:endCxn id="89" idx="1"/>
          </p:cNvCxnSpPr>
          <p:nvPr/>
        </p:nvCxnSpPr>
        <p:spPr>
          <a:xfrm>
            <a:off x="5848632" y="3177399"/>
            <a:ext cx="465051" cy="532"/>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cxnSp>
        <p:nvCxnSpPr>
          <p:cNvPr id="88" name="Connector: Elbow 87">
            <a:extLst>
              <a:ext uri="{FF2B5EF4-FFF2-40B4-BE49-F238E27FC236}">
                <a16:creationId xmlns:a16="http://schemas.microsoft.com/office/drawing/2014/main" id="{6B9F5CA7-9890-E3B8-D546-61FBD1AB317C}"/>
              </a:ext>
            </a:extLst>
          </p:cNvPr>
          <p:cNvCxnSpPr>
            <a:cxnSpLocks/>
            <a:stCxn id="89" idx="0"/>
            <a:endCxn id="91" idx="0"/>
          </p:cNvCxnSpPr>
          <p:nvPr/>
        </p:nvCxnSpPr>
        <p:spPr>
          <a:xfrm rot="16200000" flipH="1" flipV="1">
            <a:off x="5455384" y="2050706"/>
            <a:ext cx="5394" cy="1985524"/>
          </a:xfrm>
          <a:prstGeom prst="bentConnector3">
            <a:avLst>
              <a:gd name="adj1" fmla="val -4238042"/>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98" name="Connector: Elbow 97">
            <a:extLst>
              <a:ext uri="{FF2B5EF4-FFF2-40B4-BE49-F238E27FC236}">
                <a16:creationId xmlns:a16="http://schemas.microsoft.com/office/drawing/2014/main" id="{5E45BD83-6F9E-3AD9-1F64-4F43D014FAAB}"/>
              </a:ext>
            </a:extLst>
          </p:cNvPr>
          <p:cNvCxnSpPr>
            <a:cxnSpLocks/>
            <a:stCxn id="89" idx="0"/>
            <a:endCxn id="83" idx="0"/>
          </p:cNvCxnSpPr>
          <p:nvPr/>
        </p:nvCxnSpPr>
        <p:spPr>
          <a:xfrm rot="16200000" flipH="1" flipV="1">
            <a:off x="5738225" y="2332184"/>
            <a:ext cx="4032" cy="1421205"/>
          </a:xfrm>
          <a:prstGeom prst="bentConnector3">
            <a:avLst>
              <a:gd name="adj1" fmla="val -5669643"/>
            </a:avLst>
          </a:prstGeom>
          <a:ln w="28575">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05" name="Connector: Elbow 104">
            <a:extLst>
              <a:ext uri="{FF2B5EF4-FFF2-40B4-BE49-F238E27FC236}">
                <a16:creationId xmlns:a16="http://schemas.microsoft.com/office/drawing/2014/main" id="{1D530101-DBCC-9647-AAE0-FFC2D877FF70}"/>
              </a:ext>
            </a:extLst>
          </p:cNvPr>
          <p:cNvCxnSpPr>
            <a:cxnSpLocks/>
            <a:endCxn id="67" idx="3"/>
          </p:cNvCxnSpPr>
          <p:nvPr/>
        </p:nvCxnSpPr>
        <p:spPr>
          <a:xfrm rot="16200000" flipH="1" flipV="1">
            <a:off x="4723142" y="3205673"/>
            <a:ext cx="1587083" cy="1840717"/>
          </a:xfrm>
          <a:prstGeom prst="bentConnector4">
            <a:avLst>
              <a:gd name="adj1" fmla="val 119467"/>
              <a:gd name="adj2" fmla="val 83773"/>
            </a:avLst>
          </a:prstGeom>
          <a:ln w="28575">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Connector: Elbow 112">
            <a:extLst>
              <a:ext uri="{FF2B5EF4-FFF2-40B4-BE49-F238E27FC236}">
                <a16:creationId xmlns:a16="http://schemas.microsoft.com/office/drawing/2014/main" id="{5397C309-B23A-5378-92F4-8D12CB382388}"/>
              </a:ext>
            </a:extLst>
          </p:cNvPr>
          <p:cNvCxnSpPr>
            <a:cxnSpLocks/>
            <a:endCxn id="66" idx="3"/>
          </p:cNvCxnSpPr>
          <p:nvPr/>
        </p:nvCxnSpPr>
        <p:spPr>
          <a:xfrm rot="16200000" flipH="1" flipV="1">
            <a:off x="5141419" y="3599663"/>
            <a:ext cx="1562795" cy="1028450"/>
          </a:xfrm>
          <a:prstGeom prst="bentConnector4">
            <a:avLst>
              <a:gd name="adj1" fmla="val 99927"/>
              <a:gd name="adj2" fmla="val 76452"/>
            </a:avLst>
          </a:prstGeom>
          <a:ln w="28575">
            <a:solidFill>
              <a:schemeClr val="accent6"/>
            </a:solidFill>
            <a:tailEnd type="triangle"/>
          </a:ln>
        </p:spPr>
        <p:style>
          <a:lnRef idx="1">
            <a:schemeClr val="accent1"/>
          </a:lnRef>
          <a:fillRef idx="0">
            <a:schemeClr val="accent1"/>
          </a:fillRef>
          <a:effectRef idx="0">
            <a:schemeClr val="accent1"/>
          </a:effectRef>
          <a:fontRef idx="minor">
            <a:schemeClr val="tx1"/>
          </a:fontRef>
        </p:style>
      </p:cxnSp>
      <p:grpSp>
        <p:nvGrpSpPr>
          <p:cNvPr id="126" name="Group 125">
            <a:extLst>
              <a:ext uri="{FF2B5EF4-FFF2-40B4-BE49-F238E27FC236}">
                <a16:creationId xmlns:a16="http://schemas.microsoft.com/office/drawing/2014/main" id="{45F83971-FD99-E2C3-4025-6ED7372881D4}"/>
              </a:ext>
            </a:extLst>
          </p:cNvPr>
          <p:cNvGrpSpPr/>
          <p:nvPr/>
        </p:nvGrpSpPr>
        <p:grpSpPr>
          <a:xfrm>
            <a:off x="5963190" y="1610102"/>
            <a:ext cx="742690" cy="644137"/>
            <a:chOff x="9572846" y="213792"/>
            <a:chExt cx="742690" cy="644137"/>
          </a:xfrm>
        </p:grpSpPr>
        <p:pic>
          <p:nvPicPr>
            <p:cNvPr id="118" name="Graphic 117" descr="Amazon Bedrock service icon.">
              <a:extLst>
                <a:ext uri="{FF2B5EF4-FFF2-40B4-BE49-F238E27FC236}">
                  <a16:creationId xmlns:a16="http://schemas.microsoft.com/office/drawing/2014/main" id="{7423EF05-7A16-5318-4384-601ED0219BE2}"/>
                </a:ext>
              </a:extLst>
            </p:cNvPr>
            <p:cNvPicPr>
              <a:picLocks noChangeAspect="1"/>
            </p:cNvPicPr>
            <p:nvPr/>
          </p:nvPicPr>
          <p:blipFill>
            <a:blip>
              <a:extLst>
                <a:ext uri="{96DAC541-7B7A-43D3-8B79-37D633B846F1}">
                  <asvg:svgBlip xmlns:asvg="http://schemas.microsoft.com/office/drawing/2016/SVG/main" r:embed="rId17"/>
                </a:ext>
              </a:extLst>
            </a:blip>
            <a:srcRect/>
            <a:stretch/>
          </p:blipFill>
          <p:spPr>
            <a:xfrm>
              <a:off x="9814596" y="583609"/>
              <a:ext cx="274320" cy="274320"/>
            </a:xfrm>
            <a:prstGeom prst="rect">
              <a:avLst/>
            </a:prstGeom>
          </p:spPr>
        </p:pic>
        <p:sp>
          <p:nvSpPr>
            <p:cNvPr id="120" name="TextBox 12">
              <a:extLst>
                <a:ext uri="{FF2B5EF4-FFF2-40B4-BE49-F238E27FC236}">
                  <a16:creationId xmlns:a16="http://schemas.microsoft.com/office/drawing/2014/main" id="{98F3C0D7-B564-BC33-BABA-EFE52B2D4E04}"/>
                </a:ext>
              </a:extLst>
            </p:cNvPr>
            <p:cNvSpPr txBox="1">
              <a:spLocks noChangeArrowheads="1"/>
            </p:cNvSpPr>
            <p:nvPr/>
          </p:nvSpPr>
          <p:spPr bwMode="auto">
            <a:xfrm>
              <a:off x="9572846" y="213792"/>
              <a:ext cx="742690"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Amazon Bedrock</a:t>
              </a:r>
            </a:p>
          </p:txBody>
        </p:sp>
      </p:grpSp>
      <p:grpSp>
        <p:nvGrpSpPr>
          <p:cNvPr id="125" name="Group 124">
            <a:extLst>
              <a:ext uri="{FF2B5EF4-FFF2-40B4-BE49-F238E27FC236}">
                <a16:creationId xmlns:a16="http://schemas.microsoft.com/office/drawing/2014/main" id="{500D2EA7-8CF5-AB73-F2E3-6586368468D9}"/>
              </a:ext>
            </a:extLst>
          </p:cNvPr>
          <p:cNvGrpSpPr/>
          <p:nvPr/>
        </p:nvGrpSpPr>
        <p:grpSpPr>
          <a:xfrm>
            <a:off x="5158572" y="1601942"/>
            <a:ext cx="919174" cy="652297"/>
            <a:chOff x="9289741" y="1506741"/>
            <a:chExt cx="919174" cy="652297"/>
          </a:xfrm>
        </p:grpSpPr>
        <p:pic>
          <p:nvPicPr>
            <p:cNvPr id="122" name="Graphic 20" descr="Amazon Transcribe service icon.">
              <a:extLst>
                <a:ext uri="{FF2B5EF4-FFF2-40B4-BE49-F238E27FC236}">
                  <a16:creationId xmlns:a16="http://schemas.microsoft.com/office/drawing/2014/main" id="{670FA714-FFF8-907D-1B62-742090BE766F}"/>
                </a:ext>
              </a:extLst>
            </p:cNvPr>
            <p:cNvPicPr>
              <a:picLocks noChangeAspect="1" noChangeArrowheads="1"/>
            </p:cNvPicPr>
            <p:nvPr/>
          </p:nvPicPr>
          <p:blipFill>
            <a:blip>
              <a:extLst>
                <a:ext uri="{96DAC541-7B7A-43D3-8B79-37D633B846F1}">
                  <asvg:svgBlip xmlns:asvg="http://schemas.microsoft.com/office/drawing/2016/SVG/main" r:embed="rId18"/>
                </a:ext>
              </a:extLst>
            </a:blip>
            <a:srcRect/>
            <a:stretch/>
          </p:blipFill>
          <p:spPr bwMode="auto">
            <a:xfrm>
              <a:off x="9620664" y="1884718"/>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4" name="TextBox 12">
              <a:extLst>
                <a:ext uri="{FF2B5EF4-FFF2-40B4-BE49-F238E27FC236}">
                  <a16:creationId xmlns:a16="http://schemas.microsoft.com/office/drawing/2014/main" id="{A378B53A-886D-988F-DF7D-550ED0C59C16}"/>
                </a:ext>
              </a:extLst>
            </p:cNvPr>
            <p:cNvSpPr txBox="1">
              <a:spLocks noChangeArrowheads="1"/>
            </p:cNvSpPr>
            <p:nvPr/>
          </p:nvSpPr>
          <p:spPr bwMode="auto">
            <a:xfrm>
              <a:off x="9289741" y="1506741"/>
              <a:ext cx="91917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Amazon Transcribe</a:t>
              </a:r>
            </a:p>
          </p:txBody>
        </p:sp>
      </p:grpSp>
      <p:cxnSp>
        <p:nvCxnSpPr>
          <p:cNvPr id="128" name="Connector: Elbow 127">
            <a:extLst>
              <a:ext uri="{FF2B5EF4-FFF2-40B4-BE49-F238E27FC236}">
                <a16:creationId xmlns:a16="http://schemas.microsoft.com/office/drawing/2014/main" id="{CE18E241-186C-139C-7B17-8A8BDE838F99}"/>
              </a:ext>
            </a:extLst>
          </p:cNvPr>
          <p:cNvCxnSpPr>
            <a:stCxn id="89" idx="0"/>
            <a:endCxn id="122" idx="2"/>
          </p:cNvCxnSpPr>
          <p:nvPr/>
        </p:nvCxnSpPr>
        <p:spPr>
          <a:xfrm rot="16200000" flipV="1">
            <a:off x="5645483" y="2235411"/>
            <a:ext cx="786532" cy="824188"/>
          </a:xfrm>
          <a:prstGeom prst="bentConnector3">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30" name="Connector: Elbow 129">
            <a:extLst>
              <a:ext uri="{FF2B5EF4-FFF2-40B4-BE49-F238E27FC236}">
                <a16:creationId xmlns:a16="http://schemas.microsoft.com/office/drawing/2014/main" id="{CFD20DE3-8ABD-07AB-64F0-529519CD32EA}"/>
              </a:ext>
            </a:extLst>
          </p:cNvPr>
          <p:cNvCxnSpPr>
            <a:endCxn id="118" idx="2"/>
          </p:cNvCxnSpPr>
          <p:nvPr/>
        </p:nvCxnSpPr>
        <p:spPr>
          <a:xfrm rot="16200000" flipV="1">
            <a:off x="6003472" y="2592867"/>
            <a:ext cx="786000" cy="108743"/>
          </a:xfrm>
          <a:prstGeom prst="bentConnector3">
            <a:avLst/>
          </a:prstGeom>
          <a:ln w="28575">
            <a:tailEnd type="triangle"/>
          </a:ln>
        </p:spPr>
        <p:style>
          <a:lnRef idx="1">
            <a:schemeClr val="accent1"/>
          </a:lnRef>
          <a:fillRef idx="0">
            <a:schemeClr val="accent1"/>
          </a:fillRef>
          <a:effectRef idx="0">
            <a:schemeClr val="accent1"/>
          </a:effectRef>
          <a:fontRef idx="minor">
            <a:schemeClr val="tx1"/>
          </a:fontRef>
        </p:style>
      </p:cxnSp>
      <p:pic>
        <p:nvPicPr>
          <p:cNvPr id="132" name="Graphic 26" descr="Amazon Simple Queue Service (Amazon SQS) service icon.">
            <a:extLst>
              <a:ext uri="{FF2B5EF4-FFF2-40B4-BE49-F238E27FC236}">
                <a16:creationId xmlns:a16="http://schemas.microsoft.com/office/drawing/2014/main" id="{85B8D637-4DFF-5521-EA08-FB526107F86A}"/>
              </a:ext>
            </a:extLst>
          </p:cNvPr>
          <p:cNvPicPr>
            <a:picLocks noChangeAspect="1" noChangeArrowheads="1"/>
          </p:cNvPicPr>
          <p:nvPr/>
        </p:nvPicPr>
        <p:blipFill>
          <a:blip>
            <a:extLst>
              <a:ext uri="{96DAC541-7B7A-43D3-8B79-37D633B846F1}">
                <asvg:svgBlip xmlns:asvg="http://schemas.microsoft.com/office/drawing/2016/SVG/main" r:embed="rId12"/>
              </a:ext>
            </a:extLst>
          </a:blip>
          <a:srcRect/>
          <a:stretch/>
        </p:blipFill>
        <p:spPr bwMode="auto">
          <a:xfrm>
            <a:off x="7069149" y="3035139"/>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34" name="Straight Arrow Connector 133">
            <a:extLst>
              <a:ext uri="{FF2B5EF4-FFF2-40B4-BE49-F238E27FC236}">
                <a16:creationId xmlns:a16="http://schemas.microsoft.com/office/drawing/2014/main" id="{8AC8A9F0-7945-2130-BC22-AC11EF6F5BAB}"/>
              </a:ext>
            </a:extLst>
          </p:cNvPr>
          <p:cNvCxnSpPr>
            <a:cxnSpLocks/>
            <a:stCxn id="89" idx="3"/>
            <a:endCxn id="132" idx="1"/>
          </p:cNvCxnSpPr>
          <p:nvPr/>
        </p:nvCxnSpPr>
        <p:spPr>
          <a:xfrm flipV="1">
            <a:off x="6588003" y="3172299"/>
            <a:ext cx="481146" cy="5632"/>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grpSp>
        <p:nvGrpSpPr>
          <p:cNvPr id="80" name="Group 79">
            <a:extLst>
              <a:ext uri="{FF2B5EF4-FFF2-40B4-BE49-F238E27FC236}">
                <a16:creationId xmlns:a16="http://schemas.microsoft.com/office/drawing/2014/main" id="{3A2C3E1C-C6C8-7FE3-45C3-F1D18D3B23B2}"/>
              </a:ext>
            </a:extLst>
          </p:cNvPr>
          <p:cNvGrpSpPr/>
          <p:nvPr/>
        </p:nvGrpSpPr>
        <p:grpSpPr>
          <a:xfrm>
            <a:off x="7312466" y="3029288"/>
            <a:ext cx="910254" cy="667961"/>
            <a:chOff x="5635046" y="2699578"/>
            <a:chExt cx="910254" cy="667961"/>
          </a:xfrm>
        </p:grpSpPr>
        <p:pic>
          <p:nvPicPr>
            <p:cNvPr id="81" name="Graphic 80" descr="Pipes resource icon for the Amazon EventBridge service.">
              <a:extLst>
                <a:ext uri="{FF2B5EF4-FFF2-40B4-BE49-F238E27FC236}">
                  <a16:creationId xmlns:a16="http://schemas.microsoft.com/office/drawing/2014/main" id="{735A2BBA-D9D5-90B8-21F1-E4D736ADB513}"/>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5950828" y="2699578"/>
              <a:ext cx="274320" cy="274320"/>
            </a:xfrm>
            <a:prstGeom prst="rect">
              <a:avLst/>
            </a:prstGeom>
          </p:spPr>
        </p:pic>
        <p:sp>
          <p:nvSpPr>
            <p:cNvPr id="82" name="TextBox 22">
              <a:extLst>
                <a:ext uri="{FF2B5EF4-FFF2-40B4-BE49-F238E27FC236}">
                  <a16:creationId xmlns:a16="http://schemas.microsoft.com/office/drawing/2014/main" id="{A4B3EA9D-CF00-E201-4F6F-279F5F55C0FB}"/>
                </a:ext>
              </a:extLst>
            </p:cNvPr>
            <p:cNvSpPr txBox="1">
              <a:spLocks noChangeArrowheads="1"/>
            </p:cNvSpPr>
            <p:nvPr/>
          </p:nvSpPr>
          <p:spPr bwMode="auto">
            <a:xfrm>
              <a:off x="5635046" y="2967429"/>
              <a:ext cx="91025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fontAlgn="base">
                <a:spcBef>
                  <a:spcPct val="0"/>
                </a:spcBef>
                <a:spcAft>
                  <a:spcPct val="0"/>
                </a:spcAft>
              </a:pPr>
              <a:r>
                <a:rPr lang="en-US" altLang="en-US" sz="1000" dirty="0" err="1">
                  <a:solidFill>
                    <a:schemeClr val="bg1"/>
                  </a:solidFill>
                </a:rPr>
                <a:t>Eventbridge</a:t>
              </a:r>
              <a:r>
                <a:rPr lang="en-US" altLang="en-US" sz="1000" dirty="0">
                  <a:solidFill>
                    <a:schemeClr val="bg1"/>
                  </a:solidFill>
                </a:rPr>
                <a:t> Pipes </a:t>
              </a:r>
              <a:endPar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endParaRPr>
            </a:p>
          </p:txBody>
        </p:sp>
      </p:grpSp>
      <p:cxnSp>
        <p:nvCxnSpPr>
          <p:cNvPr id="86" name="Straight Arrow Connector 85">
            <a:extLst>
              <a:ext uri="{FF2B5EF4-FFF2-40B4-BE49-F238E27FC236}">
                <a16:creationId xmlns:a16="http://schemas.microsoft.com/office/drawing/2014/main" id="{3ED86D09-BF41-EEA5-41BD-2A2DBEB2B073}"/>
              </a:ext>
            </a:extLst>
          </p:cNvPr>
          <p:cNvCxnSpPr>
            <a:cxnSpLocks/>
            <a:stCxn id="132" idx="3"/>
            <a:endCxn id="81" idx="1"/>
          </p:cNvCxnSpPr>
          <p:nvPr/>
        </p:nvCxnSpPr>
        <p:spPr>
          <a:xfrm flipV="1">
            <a:off x="7343469" y="3166448"/>
            <a:ext cx="284779" cy="5851"/>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grpSp>
        <p:nvGrpSpPr>
          <p:cNvPr id="103" name="Group 102">
            <a:extLst>
              <a:ext uri="{FF2B5EF4-FFF2-40B4-BE49-F238E27FC236}">
                <a16:creationId xmlns:a16="http://schemas.microsoft.com/office/drawing/2014/main" id="{EC10742E-5C6E-E0FB-7F8B-4D6651D9ED8E}"/>
              </a:ext>
            </a:extLst>
          </p:cNvPr>
          <p:cNvGrpSpPr/>
          <p:nvPr/>
        </p:nvGrpSpPr>
        <p:grpSpPr>
          <a:xfrm>
            <a:off x="8187347" y="3031588"/>
            <a:ext cx="505380" cy="478891"/>
            <a:chOff x="7421920" y="1184275"/>
            <a:chExt cx="505380" cy="478891"/>
          </a:xfrm>
        </p:grpSpPr>
        <p:pic>
          <p:nvPicPr>
            <p:cNvPr id="99" name="Graphic 18" descr="Amazon Elastic Container Service (Amazon ECS) service icon.">
              <a:extLst>
                <a:ext uri="{FF2B5EF4-FFF2-40B4-BE49-F238E27FC236}">
                  <a16:creationId xmlns:a16="http://schemas.microsoft.com/office/drawing/2014/main" id="{CD6AF326-6F21-4778-B2A4-C532E7DDF926}"/>
                </a:ext>
              </a:extLst>
            </p:cNvPr>
            <p:cNvPicPr>
              <a:picLocks noChangeAspect="1" noChangeArrowheads="1"/>
            </p:cNvPicPr>
            <p:nvPr/>
          </p:nvPicPr>
          <p:blipFill>
            <a:blip>
              <a:extLst>
                <a:ext uri="{96DAC541-7B7A-43D3-8B79-37D633B846F1}">
                  <asvg:svgBlip xmlns:asvg="http://schemas.microsoft.com/office/drawing/2016/SVG/main" r:embed="rId19"/>
                </a:ext>
              </a:extLst>
            </a:blip>
            <a:srcRect/>
            <a:stretch/>
          </p:blipFill>
          <p:spPr bwMode="auto">
            <a:xfrm>
              <a:off x="7537450" y="118427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 name="TextBox 24">
              <a:extLst>
                <a:ext uri="{FF2B5EF4-FFF2-40B4-BE49-F238E27FC236}">
                  <a16:creationId xmlns:a16="http://schemas.microsoft.com/office/drawing/2014/main" id="{10E0AEE1-FA06-FCA8-954A-F2190C879A6A}"/>
                </a:ext>
              </a:extLst>
            </p:cNvPr>
            <p:cNvSpPr txBox="1">
              <a:spLocks noChangeArrowheads="1"/>
            </p:cNvSpPr>
            <p:nvPr/>
          </p:nvSpPr>
          <p:spPr bwMode="auto">
            <a:xfrm>
              <a:off x="7421920" y="1416945"/>
              <a:ext cx="50538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ECS</a:t>
              </a:r>
            </a:p>
          </p:txBody>
        </p:sp>
      </p:grpSp>
      <p:cxnSp>
        <p:nvCxnSpPr>
          <p:cNvPr id="106" name="Straight Arrow Connector 105">
            <a:extLst>
              <a:ext uri="{FF2B5EF4-FFF2-40B4-BE49-F238E27FC236}">
                <a16:creationId xmlns:a16="http://schemas.microsoft.com/office/drawing/2014/main" id="{6FF82072-B993-CF3E-3775-9713532215F5}"/>
              </a:ext>
            </a:extLst>
          </p:cNvPr>
          <p:cNvCxnSpPr>
            <a:cxnSpLocks/>
            <a:stCxn id="81" idx="3"/>
            <a:endCxn id="99" idx="1"/>
          </p:cNvCxnSpPr>
          <p:nvPr/>
        </p:nvCxnSpPr>
        <p:spPr>
          <a:xfrm>
            <a:off x="7902568" y="3166448"/>
            <a:ext cx="400309" cy="2300"/>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sp>
        <p:nvSpPr>
          <p:cNvPr id="112" name="Rectangle 111" descr="Generic group.">
            <a:extLst>
              <a:ext uri="{FF2B5EF4-FFF2-40B4-BE49-F238E27FC236}">
                <a16:creationId xmlns:a16="http://schemas.microsoft.com/office/drawing/2014/main" id="{186BBE59-C75B-9AD8-07DF-476F6ED7CCC5}"/>
              </a:ext>
            </a:extLst>
          </p:cNvPr>
          <p:cNvSpPr/>
          <p:nvPr/>
        </p:nvSpPr>
        <p:spPr>
          <a:xfrm>
            <a:off x="8718007" y="1321337"/>
            <a:ext cx="2645502" cy="2792551"/>
          </a:xfrm>
          <a:prstGeom prst="rect">
            <a:avLst/>
          </a:prstGeom>
          <a:noFill/>
          <a:ln w="15875">
            <a:solidFill>
              <a:srgbClr val="7D8998"/>
            </a:solidFill>
            <a:prstDash val="solid"/>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eaLnBrk="1" fontAlgn="auto" hangingPunct="1">
              <a:spcBef>
                <a:spcPts val="0"/>
              </a:spcBef>
              <a:spcAft>
                <a:spcPts val="0"/>
              </a:spcAft>
              <a:defRPr/>
            </a:pPr>
            <a:endParaRPr lang="en-US" sz="1200" dirty="0">
              <a:solidFill>
                <a:schemeClr val="bg1"/>
              </a:solidFill>
              <a:latin typeface="Arial" panose="020B0604020202020204" pitchFamily="34" charset="0"/>
              <a:cs typeface="Arial" panose="020B0604020202020204" pitchFamily="34" charset="0"/>
            </a:endParaRPr>
          </a:p>
        </p:txBody>
      </p:sp>
      <p:pic>
        <p:nvPicPr>
          <p:cNvPr id="115" name="Graphic 114" descr="Amazon Bedrock AgentCore service icon.">
            <a:extLst>
              <a:ext uri="{FF2B5EF4-FFF2-40B4-BE49-F238E27FC236}">
                <a16:creationId xmlns:a16="http://schemas.microsoft.com/office/drawing/2014/main" id="{E5A62BDC-24D3-7856-941E-56F386A8A912}"/>
              </a:ext>
            </a:extLst>
          </p:cNvPr>
          <p:cNvPicPr>
            <a:picLocks noChangeAspect="1" noChangeArrowheads="1"/>
          </p:cNvPicPr>
          <p:nvPr/>
        </p:nvPicPr>
        <p:blipFill>
          <a:blip>
            <a:extLst>
              <a:ext uri="{96DAC541-7B7A-43D3-8B79-37D633B846F1}">
                <asvg:svgBlip xmlns:asvg="http://schemas.microsoft.com/office/drawing/2016/SVG/main" r:embed="rId20"/>
              </a:ext>
            </a:extLst>
          </a:blip>
          <a:srcRect/>
          <a:stretch/>
        </p:blipFill>
        <p:spPr bwMode="auto">
          <a:xfrm>
            <a:off x="8712525" y="1316887"/>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3" name="Rectangle: Rounded Corners 122">
            <a:extLst>
              <a:ext uri="{FF2B5EF4-FFF2-40B4-BE49-F238E27FC236}">
                <a16:creationId xmlns:a16="http://schemas.microsoft.com/office/drawing/2014/main" id="{02C51F8B-47D8-25A4-48B5-373C53062C7D}"/>
              </a:ext>
            </a:extLst>
          </p:cNvPr>
          <p:cNvSpPr/>
          <p:nvPr/>
        </p:nvSpPr>
        <p:spPr>
          <a:xfrm rot="5400000">
            <a:off x="8135506" y="2741484"/>
            <a:ext cx="1869773" cy="34664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Supervisor Agent</a:t>
            </a:r>
          </a:p>
        </p:txBody>
      </p:sp>
      <p:sp>
        <p:nvSpPr>
          <p:cNvPr id="127" name="Rectangle: Rounded Corners 126">
            <a:extLst>
              <a:ext uri="{FF2B5EF4-FFF2-40B4-BE49-F238E27FC236}">
                <a16:creationId xmlns:a16="http://schemas.microsoft.com/office/drawing/2014/main" id="{B9E437E0-8F67-A146-45F8-7AF1D9F91F5F}"/>
              </a:ext>
            </a:extLst>
          </p:cNvPr>
          <p:cNvSpPr/>
          <p:nvPr/>
        </p:nvSpPr>
        <p:spPr>
          <a:xfrm>
            <a:off x="9518904" y="203207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Delivery Agent</a:t>
            </a:r>
          </a:p>
        </p:txBody>
      </p:sp>
      <p:sp>
        <p:nvSpPr>
          <p:cNvPr id="135" name="Rectangle: Rounded Corners 134">
            <a:extLst>
              <a:ext uri="{FF2B5EF4-FFF2-40B4-BE49-F238E27FC236}">
                <a16:creationId xmlns:a16="http://schemas.microsoft.com/office/drawing/2014/main" id="{E8774A83-3181-C5DF-3C12-31939388E1FC}"/>
              </a:ext>
            </a:extLst>
          </p:cNvPr>
          <p:cNvSpPr/>
          <p:nvPr/>
        </p:nvSpPr>
        <p:spPr>
          <a:xfrm>
            <a:off x="9518904" y="226093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Structure Agent</a:t>
            </a:r>
          </a:p>
        </p:txBody>
      </p:sp>
      <p:sp>
        <p:nvSpPr>
          <p:cNvPr id="137" name="Rectangle: Rounded Corners 136">
            <a:extLst>
              <a:ext uri="{FF2B5EF4-FFF2-40B4-BE49-F238E27FC236}">
                <a16:creationId xmlns:a16="http://schemas.microsoft.com/office/drawing/2014/main" id="{262F9817-B704-9FA5-8AAB-85139A73FB5F}"/>
              </a:ext>
            </a:extLst>
          </p:cNvPr>
          <p:cNvSpPr/>
          <p:nvPr/>
        </p:nvSpPr>
        <p:spPr>
          <a:xfrm>
            <a:off x="9518904" y="248979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Executive Presence Agent</a:t>
            </a:r>
          </a:p>
        </p:txBody>
      </p:sp>
      <p:sp>
        <p:nvSpPr>
          <p:cNvPr id="139" name="Rectangle: Rounded Corners 138">
            <a:extLst>
              <a:ext uri="{FF2B5EF4-FFF2-40B4-BE49-F238E27FC236}">
                <a16:creationId xmlns:a16="http://schemas.microsoft.com/office/drawing/2014/main" id="{AB949F26-9D73-FA1A-539C-89FDBC6E7CF4}"/>
              </a:ext>
            </a:extLst>
          </p:cNvPr>
          <p:cNvSpPr/>
          <p:nvPr/>
        </p:nvSpPr>
        <p:spPr>
          <a:xfrm>
            <a:off x="9518904" y="271865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Tech. Communication Agent</a:t>
            </a:r>
          </a:p>
        </p:txBody>
      </p:sp>
      <p:sp>
        <p:nvSpPr>
          <p:cNvPr id="141" name="Rectangle: Rounded Corners 140">
            <a:extLst>
              <a:ext uri="{FF2B5EF4-FFF2-40B4-BE49-F238E27FC236}">
                <a16:creationId xmlns:a16="http://schemas.microsoft.com/office/drawing/2014/main" id="{F900A567-8743-F3BA-8883-7020D5D5F71B}"/>
              </a:ext>
            </a:extLst>
          </p:cNvPr>
          <p:cNvSpPr/>
          <p:nvPr/>
        </p:nvSpPr>
        <p:spPr>
          <a:xfrm>
            <a:off x="9518904" y="294751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Audience Engagement Agent</a:t>
            </a:r>
          </a:p>
        </p:txBody>
      </p:sp>
      <p:sp>
        <p:nvSpPr>
          <p:cNvPr id="143" name="Rectangle: Rounded Corners 142">
            <a:extLst>
              <a:ext uri="{FF2B5EF4-FFF2-40B4-BE49-F238E27FC236}">
                <a16:creationId xmlns:a16="http://schemas.microsoft.com/office/drawing/2014/main" id="{E59557CD-42CB-84DD-771C-960877E9F87D}"/>
              </a:ext>
            </a:extLst>
          </p:cNvPr>
          <p:cNvSpPr/>
          <p:nvPr/>
        </p:nvSpPr>
        <p:spPr>
          <a:xfrm>
            <a:off x="9518904" y="317637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Pacing Agent</a:t>
            </a:r>
          </a:p>
        </p:txBody>
      </p:sp>
      <p:sp>
        <p:nvSpPr>
          <p:cNvPr id="145" name="Rectangle: Rounded Corners 144">
            <a:extLst>
              <a:ext uri="{FF2B5EF4-FFF2-40B4-BE49-F238E27FC236}">
                <a16:creationId xmlns:a16="http://schemas.microsoft.com/office/drawing/2014/main" id="{744456DE-CFED-2F22-6BE0-E654908520D5}"/>
              </a:ext>
            </a:extLst>
          </p:cNvPr>
          <p:cNvSpPr/>
          <p:nvPr/>
        </p:nvSpPr>
        <p:spPr>
          <a:xfrm>
            <a:off x="9518904" y="340523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Persuasion Agent</a:t>
            </a:r>
          </a:p>
        </p:txBody>
      </p:sp>
      <p:pic>
        <p:nvPicPr>
          <p:cNvPr id="149" name="Graphic 148" descr="Amazon Bedrock service icon.">
            <a:extLst>
              <a:ext uri="{FF2B5EF4-FFF2-40B4-BE49-F238E27FC236}">
                <a16:creationId xmlns:a16="http://schemas.microsoft.com/office/drawing/2014/main" id="{1620ED11-852F-9675-B121-538C503E4313}"/>
              </a:ext>
            </a:extLst>
          </p:cNvPr>
          <p:cNvPicPr>
            <a:picLocks noChangeAspect="1"/>
          </p:cNvPicPr>
          <p:nvPr/>
        </p:nvPicPr>
        <p:blipFill>
          <a:blip>
            <a:extLst>
              <a:ext uri="{96DAC541-7B7A-43D3-8B79-37D633B846F1}">
                <asvg:svgBlip xmlns:asvg="http://schemas.microsoft.com/office/drawing/2016/SVG/main" r:embed="rId21"/>
              </a:ext>
            </a:extLst>
          </a:blip>
          <a:srcRect/>
          <a:stretch/>
        </p:blipFill>
        <p:spPr>
          <a:xfrm>
            <a:off x="9524831" y="3646797"/>
            <a:ext cx="274320" cy="274320"/>
          </a:xfrm>
          <a:prstGeom prst="rect">
            <a:avLst/>
          </a:prstGeom>
        </p:spPr>
      </p:pic>
      <p:cxnSp>
        <p:nvCxnSpPr>
          <p:cNvPr id="153" name="Connector: Elbow 152">
            <a:extLst>
              <a:ext uri="{FF2B5EF4-FFF2-40B4-BE49-F238E27FC236}">
                <a16:creationId xmlns:a16="http://schemas.microsoft.com/office/drawing/2014/main" id="{5A679381-1F2E-B706-3598-36C6D652A3E7}"/>
              </a:ext>
            </a:extLst>
          </p:cNvPr>
          <p:cNvCxnSpPr>
            <a:cxnSpLocks/>
          </p:cNvCxnSpPr>
          <p:nvPr/>
        </p:nvCxnSpPr>
        <p:spPr>
          <a:xfrm rot="5400000" flipH="1" flipV="1">
            <a:off x="9689037" y="1294637"/>
            <a:ext cx="79762" cy="1290803"/>
          </a:xfrm>
          <a:prstGeom prst="bentConnector3">
            <a:avLst>
              <a:gd name="adj1" fmla="val 386603"/>
            </a:avLst>
          </a:prstGeom>
          <a:ln>
            <a:solidFill>
              <a:schemeClr val="bg1"/>
            </a:solidFill>
            <a:tailEnd type="triangle"/>
          </a:ln>
        </p:spPr>
        <p:style>
          <a:lnRef idx="3">
            <a:schemeClr val="accent5"/>
          </a:lnRef>
          <a:fillRef idx="0">
            <a:schemeClr val="accent5"/>
          </a:fillRef>
          <a:effectRef idx="2">
            <a:schemeClr val="accent5"/>
          </a:effectRef>
          <a:fontRef idx="minor">
            <a:schemeClr val="tx1"/>
          </a:fontRef>
        </p:style>
      </p:cxnSp>
      <p:cxnSp>
        <p:nvCxnSpPr>
          <p:cNvPr id="161" name="Connector: Elbow 160">
            <a:extLst>
              <a:ext uri="{FF2B5EF4-FFF2-40B4-BE49-F238E27FC236}">
                <a16:creationId xmlns:a16="http://schemas.microsoft.com/office/drawing/2014/main" id="{437BBE7D-8C62-47FA-8796-9F8F7280E5AF}"/>
              </a:ext>
            </a:extLst>
          </p:cNvPr>
          <p:cNvCxnSpPr>
            <a:cxnSpLocks/>
          </p:cNvCxnSpPr>
          <p:nvPr/>
        </p:nvCxnSpPr>
        <p:spPr>
          <a:xfrm rot="5400000" flipH="1">
            <a:off x="9660533" y="3272677"/>
            <a:ext cx="136771" cy="1290803"/>
          </a:xfrm>
          <a:prstGeom prst="bentConnector3">
            <a:avLst>
              <a:gd name="adj1" fmla="val -49849"/>
            </a:avLst>
          </a:prstGeom>
          <a:ln>
            <a:solidFill>
              <a:schemeClr val="bg1"/>
            </a:solidFill>
            <a:tailEnd type="triangle"/>
          </a:ln>
        </p:spPr>
        <p:style>
          <a:lnRef idx="3">
            <a:schemeClr val="accent5"/>
          </a:lnRef>
          <a:fillRef idx="0">
            <a:schemeClr val="accent5"/>
          </a:fillRef>
          <a:effectRef idx="2">
            <a:schemeClr val="accent5"/>
          </a:effectRef>
          <a:fontRef idx="minor">
            <a:schemeClr val="tx1"/>
          </a:fontRef>
        </p:style>
      </p:cxnSp>
      <p:sp>
        <p:nvSpPr>
          <p:cNvPr id="165" name="TextBox 164">
            <a:extLst>
              <a:ext uri="{FF2B5EF4-FFF2-40B4-BE49-F238E27FC236}">
                <a16:creationId xmlns:a16="http://schemas.microsoft.com/office/drawing/2014/main" id="{180019F7-D9B6-8714-1A37-DBD3BDB332BB}"/>
              </a:ext>
            </a:extLst>
          </p:cNvPr>
          <p:cNvSpPr txBox="1"/>
          <p:nvPr/>
        </p:nvSpPr>
        <p:spPr>
          <a:xfrm>
            <a:off x="9235438" y="1534563"/>
            <a:ext cx="865943" cy="253916"/>
          </a:xfrm>
          <a:prstGeom prst="rect">
            <a:avLst/>
          </a:prstGeom>
          <a:solidFill>
            <a:schemeClr val="tx1"/>
          </a:solidFill>
        </p:spPr>
        <p:txBody>
          <a:bodyPr wrap="none" rtlCol="0">
            <a:spAutoFit/>
          </a:bodyPr>
          <a:lstStyle/>
          <a:p>
            <a:r>
              <a:rPr lang="en-US" sz="1000" dirty="0" err="1">
                <a:solidFill>
                  <a:schemeClr val="bg1"/>
                </a:solidFill>
              </a:rPr>
              <a:t>ReAct</a:t>
            </a:r>
            <a:r>
              <a:rPr lang="en-US" sz="1000" dirty="0">
                <a:solidFill>
                  <a:schemeClr val="bg1"/>
                </a:solidFill>
              </a:rPr>
              <a:t> Loop</a:t>
            </a:r>
          </a:p>
        </p:txBody>
      </p:sp>
      <p:sp>
        <p:nvSpPr>
          <p:cNvPr id="167" name="TextBox 166">
            <a:extLst>
              <a:ext uri="{FF2B5EF4-FFF2-40B4-BE49-F238E27FC236}">
                <a16:creationId xmlns:a16="http://schemas.microsoft.com/office/drawing/2014/main" id="{274B9D93-6ADC-E8C3-7FFB-36F3CD5770C5}"/>
              </a:ext>
            </a:extLst>
          </p:cNvPr>
          <p:cNvSpPr txBox="1"/>
          <p:nvPr/>
        </p:nvSpPr>
        <p:spPr>
          <a:xfrm>
            <a:off x="8929560" y="1288342"/>
            <a:ext cx="1297150" cy="246221"/>
          </a:xfrm>
          <a:prstGeom prst="rect">
            <a:avLst/>
          </a:prstGeom>
          <a:noFill/>
        </p:spPr>
        <p:txBody>
          <a:bodyPr wrap="none" rtlCol="0">
            <a:spAutoFit/>
          </a:bodyPr>
          <a:lstStyle/>
          <a:p>
            <a:pPr algn="ctr">
              <a:defRPr/>
            </a:pPr>
            <a:r>
              <a:rPr lang="en-US" sz="1000" dirty="0">
                <a:solidFill>
                  <a:schemeClr val="bg1"/>
                </a:solidFill>
                <a:latin typeface="Arial" panose="020B0604020202020204" pitchFamily="34" charset="0"/>
                <a:cs typeface="Arial" panose="020B0604020202020204" pitchFamily="34" charset="0"/>
              </a:rPr>
              <a:t>Bedrock </a:t>
            </a:r>
            <a:r>
              <a:rPr lang="en-US" sz="1000" dirty="0" err="1">
                <a:solidFill>
                  <a:schemeClr val="bg1"/>
                </a:solidFill>
                <a:latin typeface="Arial" panose="020B0604020202020204" pitchFamily="34" charset="0"/>
                <a:cs typeface="Arial" panose="020B0604020202020204" pitchFamily="34" charset="0"/>
              </a:rPr>
              <a:t>AgentCore</a:t>
            </a:r>
            <a:endParaRPr lang="en-US" sz="1000" dirty="0">
              <a:solidFill>
                <a:schemeClr val="bg1"/>
              </a:solidFill>
              <a:latin typeface="Arial" panose="020B0604020202020204" pitchFamily="34" charset="0"/>
              <a:cs typeface="Arial" panose="020B0604020202020204" pitchFamily="34" charset="0"/>
            </a:endParaRPr>
          </a:p>
        </p:txBody>
      </p:sp>
      <p:sp>
        <p:nvSpPr>
          <p:cNvPr id="169" name="TextBox 168">
            <a:extLst>
              <a:ext uri="{FF2B5EF4-FFF2-40B4-BE49-F238E27FC236}">
                <a16:creationId xmlns:a16="http://schemas.microsoft.com/office/drawing/2014/main" id="{EBC4C141-C06E-7A1D-FF7A-B121E69BF4E2}"/>
              </a:ext>
            </a:extLst>
          </p:cNvPr>
          <p:cNvSpPr txBox="1"/>
          <p:nvPr/>
        </p:nvSpPr>
        <p:spPr>
          <a:xfrm>
            <a:off x="9433530" y="1795524"/>
            <a:ext cx="894797" cy="200055"/>
          </a:xfrm>
          <a:prstGeom prst="rect">
            <a:avLst/>
          </a:prstGeom>
          <a:solidFill>
            <a:schemeClr val="tx1"/>
          </a:solidFill>
        </p:spPr>
        <p:txBody>
          <a:bodyPr wrap="none" rtlCol="0">
            <a:spAutoFit/>
          </a:bodyPr>
          <a:lstStyle/>
          <a:p>
            <a:r>
              <a:rPr lang="en-US" sz="700" dirty="0">
                <a:solidFill>
                  <a:schemeClr val="bg1"/>
                </a:solidFill>
              </a:rPr>
              <a:t>Evaluation Agents</a:t>
            </a:r>
          </a:p>
        </p:txBody>
      </p:sp>
      <p:cxnSp>
        <p:nvCxnSpPr>
          <p:cNvPr id="171" name="Connector: Elbow 170">
            <a:extLst>
              <a:ext uri="{FF2B5EF4-FFF2-40B4-BE49-F238E27FC236}">
                <a16:creationId xmlns:a16="http://schemas.microsoft.com/office/drawing/2014/main" id="{98DFAD7D-E060-7593-7A4C-337A4EA8244F}"/>
              </a:ext>
            </a:extLst>
          </p:cNvPr>
          <p:cNvCxnSpPr>
            <a:cxnSpLocks/>
            <a:stCxn id="123" idx="3"/>
            <a:endCxn id="66" idx="3"/>
          </p:cNvCxnSpPr>
          <p:nvPr/>
        </p:nvCxnSpPr>
        <p:spPr>
          <a:xfrm rot="5400000">
            <a:off x="6716695" y="2541589"/>
            <a:ext cx="1045594" cy="3661800"/>
          </a:xfrm>
          <a:prstGeom prst="bentConnector2">
            <a:avLst/>
          </a:prstGeom>
          <a:ln w="28575">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186" name="Connector: Elbow 185">
            <a:extLst>
              <a:ext uri="{FF2B5EF4-FFF2-40B4-BE49-F238E27FC236}">
                <a16:creationId xmlns:a16="http://schemas.microsoft.com/office/drawing/2014/main" id="{AD3D6BCC-92E2-EA5E-CC5A-F5DB5D3708E0}"/>
              </a:ext>
            </a:extLst>
          </p:cNvPr>
          <p:cNvCxnSpPr>
            <a:cxnSpLocks/>
            <a:stCxn id="123" idx="3"/>
          </p:cNvCxnSpPr>
          <p:nvPr/>
        </p:nvCxnSpPr>
        <p:spPr>
          <a:xfrm rot="5400000">
            <a:off x="6672489" y="2826915"/>
            <a:ext cx="1375126" cy="3420680"/>
          </a:xfrm>
          <a:prstGeom prst="bentConnector2">
            <a:avLst/>
          </a:prstGeom>
          <a:ln w="28575">
            <a:solidFill>
              <a:schemeClr val="accent4"/>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9" name="Connector: Elbow 188">
            <a:extLst>
              <a:ext uri="{FF2B5EF4-FFF2-40B4-BE49-F238E27FC236}">
                <a16:creationId xmlns:a16="http://schemas.microsoft.com/office/drawing/2014/main" id="{C9310650-BF95-7E5C-FF19-B0C91F83B606}"/>
              </a:ext>
            </a:extLst>
          </p:cNvPr>
          <p:cNvCxnSpPr>
            <a:cxnSpLocks/>
            <a:stCxn id="123" idx="3"/>
            <a:endCxn id="91" idx="0"/>
          </p:cNvCxnSpPr>
          <p:nvPr/>
        </p:nvCxnSpPr>
        <p:spPr>
          <a:xfrm rot="5400000" flipH="1">
            <a:off x="6366092" y="1145393"/>
            <a:ext cx="803527" cy="4605073"/>
          </a:xfrm>
          <a:prstGeom prst="bentConnector5">
            <a:avLst>
              <a:gd name="adj1" fmla="val -28450"/>
              <a:gd name="adj2" fmla="val 6133"/>
              <a:gd name="adj3" fmla="val 128450"/>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202" name="Straight Arrow Connector 201">
            <a:extLst>
              <a:ext uri="{FF2B5EF4-FFF2-40B4-BE49-F238E27FC236}">
                <a16:creationId xmlns:a16="http://schemas.microsoft.com/office/drawing/2014/main" id="{EB685B1D-2163-D725-B0CC-199D72245B9F}"/>
              </a:ext>
            </a:extLst>
          </p:cNvPr>
          <p:cNvCxnSpPr>
            <a:cxnSpLocks/>
            <a:stCxn id="99" idx="3"/>
            <a:endCxn id="123" idx="2"/>
          </p:cNvCxnSpPr>
          <p:nvPr/>
        </p:nvCxnSpPr>
        <p:spPr>
          <a:xfrm flipV="1">
            <a:off x="8577197" y="2914806"/>
            <a:ext cx="319874" cy="253942"/>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cxnSp>
        <p:nvCxnSpPr>
          <p:cNvPr id="87" name="Connector: Elbow 86">
            <a:extLst>
              <a:ext uri="{FF2B5EF4-FFF2-40B4-BE49-F238E27FC236}">
                <a16:creationId xmlns:a16="http://schemas.microsoft.com/office/drawing/2014/main" id="{BF9BCF6F-832C-6763-E2A6-09817E13BDBF}"/>
              </a:ext>
            </a:extLst>
          </p:cNvPr>
          <p:cNvCxnSpPr>
            <a:cxnSpLocks/>
            <a:stCxn id="123" idx="3"/>
            <a:endCxn id="132" idx="2"/>
          </p:cNvCxnSpPr>
          <p:nvPr/>
        </p:nvCxnSpPr>
        <p:spPr>
          <a:xfrm rot="5400000" flipH="1">
            <a:off x="7868234" y="2647535"/>
            <a:ext cx="540233" cy="1864083"/>
          </a:xfrm>
          <a:prstGeom prst="bentConnector3">
            <a:avLst>
              <a:gd name="adj1" fmla="val -75068"/>
            </a:avLst>
          </a:prstGeom>
          <a:ln w="28575">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
        <p:nvSpPr>
          <p:cNvPr id="144" name="TextBox 9">
            <a:extLst>
              <a:ext uri="{FF2B5EF4-FFF2-40B4-BE49-F238E27FC236}">
                <a16:creationId xmlns:a16="http://schemas.microsoft.com/office/drawing/2014/main" id="{6436E979-CDEB-6E2D-06FD-1718CAB68647}"/>
              </a:ext>
            </a:extLst>
          </p:cNvPr>
          <p:cNvSpPr txBox="1">
            <a:spLocks noChangeArrowheads="1"/>
          </p:cNvSpPr>
          <p:nvPr/>
        </p:nvSpPr>
        <p:spPr bwMode="auto">
          <a:xfrm>
            <a:off x="3756726" y="4963121"/>
            <a:ext cx="47449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S3</a:t>
            </a:r>
          </a:p>
        </p:txBody>
      </p:sp>
      <p:sp>
        <p:nvSpPr>
          <p:cNvPr id="16" name="TextBox 12">
            <a:extLst>
              <a:ext uri="{FF2B5EF4-FFF2-40B4-BE49-F238E27FC236}">
                <a16:creationId xmlns:a16="http://schemas.microsoft.com/office/drawing/2014/main" id="{EE6A8BF5-7CE3-C6BC-6303-BE6C35515D01}"/>
              </a:ext>
            </a:extLst>
          </p:cNvPr>
          <p:cNvSpPr txBox="1">
            <a:spLocks noChangeArrowheads="1"/>
          </p:cNvSpPr>
          <p:nvPr/>
        </p:nvSpPr>
        <p:spPr bwMode="auto">
          <a:xfrm>
            <a:off x="2597092" y="1690705"/>
            <a:ext cx="919174"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Cognito</a:t>
            </a:r>
          </a:p>
        </p:txBody>
      </p:sp>
    </p:spTree>
    <p:extLst>
      <p:ext uri="{BB962C8B-B14F-4D97-AF65-F5344CB8AC3E}">
        <p14:creationId xmlns:p14="http://schemas.microsoft.com/office/powerpoint/2010/main" val="338115852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FB646B-2032-BDF3-A490-D551F9C7B215}"/>
            </a:ext>
          </a:extLst>
        </p:cNvPr>
        <p:cNvGrpSpPr/>
        <p:nvPr/>
      </p:nvGrpSpPr>
      <p:grpSpPr>
        <a:xfrm>
          <a:off x="0" y="0"/>
          <a:ext cx="0" cy="0"/>
          <a:chOff x="0" y="0"/>
          <a:chExt cx="0" cy="0"/>
        </a:xfrm>
      </p:grpSpPr>
      <p:pic>
        <p:nvPicPr>
          <p:cNvPr id="235" name="Picture 234">
            <a:extLst>
              <a:ext uri="{FF2B5EF4-FFF2-40B4-BE49-F238E27FC236}">
                <a16:creationId xmlns:a16="http://schemas.microsoft.com/office/drawing/2014/main" id="{1C46E6A2-3A36-9616-270D-59DB59D64A18}"/>
              </a:ext>
            </a:extLst>
          </p:cNvPr>
          <p:cNvPicPr>
            <a:picLocks noChangeAspect="1"/>
          </p:cNvPicPr>
          <p:nvPr/>
        </p:nvPicPr>
        <p:blipFill>
          <a:blip r:embed="rId2"/>
          <a:stretch>
            <a:fillRect/>
          </a:stretch>
        </p:blipFill>
        <p:spPr>
          <a:xfrm>
            <a:off x="3035808" y="3467688"/>
            <a:ext cx="6663334" cy="3175005"/>
          </a:xfrm>
          <a:prstGeom prst="rect">
            <a:avLst/>
          </a:prstGeom>
        </p:spPr>
      </p:pic>
      <p:pic>
        <p:nvPicPr>
          <p:cNvPr id="233" name="Picture 232">
            <a:extLst>
              <a:ext uri="{FF2B5EF4-FFF2-40B4-BE49-F238E27FC236}">
                <a16:creationId xmlns:a16="http://schemas.microsoft.com/office/drawing/2014/main" id="{09E5222A-99A1-E7DE-7B67-99D3B78D7074}"/>
              </a:ext>
            </a:extLst>
          </p:cNvPr>
          <p:cNvPicPr>
            <a:picLocks noChangeAspect="1"/>
          </p:cNvPicPr>
          <p:nvPr/>
        </p:nvPicPr>
        <p:blipFill>
          <a:blip r:embed="rId3"/>
          <a:stretch>
            <a:fillRect/>
          </a:stretch>
        </p:blipFill>
        <p:spPr>
          <a:xfrm>
            <a:off x="1847809" y="263092"/>
            <a:ext cx="7851333" cy="3173944"/>
          </a:xfrm>
          <a:prstGeom prst="rect">
            <a:avLst/>
          </a:prstGeom>
        </p:spPr>
      </p:pic>
      <p:pic>
        <p:nvPicPr>
          <p:cNvPr id="306" name="Graphic 305">
            <a:extLst>
              <a:ext uri="{FF2B5EF4-FFF2-40B4-BE49-F238E27FC236}">
                <a16:creationId xmlns:a16="http://schemas.microsoft.com/office/drawing/2014/main" id="{07A90302-83D5-EE67-ADF1-7CC772BA31CC}"/>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136097" y="208031"/>
            <a:ext cx="334453" cy="384962"/>
          </a:xfrm>
          <a:prstGeom prst="rect">
            <a:avLst/>
          </a:prstGeom>
        </p:spPr>
      </p:pic>
      <p:sp>
        <p:nvSpPr>
          <p:cNvPr id="310" name="Rectangle 309">
            <a:extLst>
              <a:ext uri="{FF2B5EF4-FFF2-40B4-BE49-F238E27FC236}">
                <a16:creationId xmlns:a16="http://schemas.microsoft.com/office/drawing/2014/main" id="{F7DB6D99-05E4-DA03-0D60-75F4C15A3CED}"/>
              </a:ext>
            </a:extLst>
          </p:cNvPr>
          <p:cNvSpPr/>
          <p:nvPr/>
        </p:nvSpPr>
        <p:spPr>
          <a:xfrm>
            <a:off x="3136097" y="208031"/>
            <a:ext cx="6847875" cy="6465315"/>
          </a:xfrm>
          <a:prstGeom prst="rect">
            <a:avLst/>
          </a:prstGeom>
          <a:noFill/>
          <a:ln w="158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502920" tIns="9144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311" name="TextBox 310">
            <a:extLst>
              <a:ext uri="{FF2B5EF4-FFF2-40B4-BE49-F238E27FC236}">
                <a16:creationId xmlns:a16="http://schemas.microsoft.com/office/drawing/2014/main" id="{0E60F63A-1E61-6882-93F1-2C995BBDC8AA}"/>
              </a:ext>
            </a:extLst>
          </p:cNvPr>
          <p:cNvSpPr txBox="1"/>
          <p:nvPr/>
        </p:nvSpPr>
        <p:spPr>
          <a:xfrm>
            <a:off x="1322834" y="3648067"/>
            <a:ext cx="1552354" cy="1477328"/>
          </a:xfrm>
          <a:prstGeom prst="rect">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dirty="0"/>
              <a:t>Replication</a:t>
            </a:r>
          </a:p>
          <a:p>
            <a:r>
              <a:rPr lang="en-US" sz="1400" dirty="0"/>
              <a:t>S3 CRR</a:t>
            </a:r>
          </a:p>
          <a:p>
            <a:r>
              <a:rPr lang="en-US" sz="1400" dirty="0"/>
              <a:t>&amp;</a:t>
            </a:r>
          </a:p>
          <a:p>
            <a:r>
              <a:rPr lang="en-US" sz="1400" dirty="0"/>
              <a:t>Dynamo Global Tables </a:t>
            </a:r>
          </a:p>
        </p:txBody>
      </p:sp>
      <p:sp>
        <p:nvSpPr>
          <p:cNvPr id="312" name="Oval 311">
            <a:extLst>
              <a:ext uri="{FF2B5EF4-FFF2-40B4-BE49-F238E27FC236}">
                <a16:creationId xmlns:a16="http://schemas.microsoft.com/office/drawing/2014/main" id="{58C3FA9B-1732-F3F4-0AC4-6905A50F2B4A}"/>
              </a:ext>
            </a:extLst>
          </p:cNvPr>
          <p:cNvSpPr/>
          <p:nvPr/>
        </p:nvSpPr>
        <p:spPr>
          <a:xfrm>
            <a:off x="4620482" y="2693221"/>
            <a:ext cx="1116418" cy="643270"/>
          </a:xfrm>
          <a:prstGeom prst="ellipse">
            <a:avLst/>
          </a:prstGeom>
          <a:noFill/>
          <a:ln w="571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4" name="Oval 313">
            <a:extLst>
              <a:ext uri="{FF2B5EF4-FFF2-40B4-BE49-F238E27FC236}">
                <a16:creationId xmlns:a16="http://schemas.microsoft.com/office/drawing/2014/main" id="{A493F572-5E25-DE27-150C-E3802CAD12C8}"/>
              </a:ext>
            </a:extLst>
          </p:cNvPr>
          <p:cNvSpPr/>
          <p:nvPr/>
        </p:nvSpPr>
        <p:spPr>
          <a:xfrm>
            <a:off x="4629626" y="5930347"/>
            <a:ext cx="1116418" cy="643270"/>
          </a:xfrm>
          <a:prstGeom prst="ellipse">
            <a:avLst/>
          </a:prstGeom>
          <a:noFill/>
          <a:ln w="571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16" name="Straight Connector 315">
            <a:extLst>
              <a:ext uri="{FF2B5EF4-FFF2-40B4-BE49-F238E27FC236}">
                <a16:creationId xmlns:a16="http://schemas.microsoft.com/office/drawing/2014/main" id="{7C7420FE-2432-E0ED-C95A-36042C0C3560}"/>
              </a:ext>
            </a:extLst>
          </p:cNvPr>
          <p:cNvCxnSpPr>
            <a:cxnSpLocks/>
            <a:stCxn id="311" idx="3"/>
            <a:endCxn id="312" idx="2"/>
          </p:cNvCxnSpPr>
          <p:nvPr/>
        </p:nvCxnSpPr>
        <p:spPr>
          <a:xfrm flipV="1">
            <a:off x="2875188" y="3014856"/>
            <a:ext cx="1745294" cy="1371875"/>
          </a:xfrm>
          <a:prstGeom prst="line">
            <a:avLst/>
          </a:prstGeom>
          <a:ln w="57150"/>
        </p:spPr>
        <p:style>
          <a:lnRef idx="1">
            <a:schemeClr val="accent1"/>
          </a:lnRef>
          <a:fillRef idx="0">
            <a:schemeClr val="accent1"/>
          </a:fillRef>
          <a:effectRef idx="0">
            <a:schemeClr val="accent1"/>
          </a:effectRef>
          <a:fontRef idx="minor">
            <a:schemeClr val="tx1"/>
          </a:fontRef>
        </p:style>
      </p:cxnSp>
      <p:cxnSp>
        <p:nvCxnSpPr>
          <p:cNvPr id="319" name="Straight Connector 318">
            <a:extLst>
              <a:ext uri="{FF2B5EF4-FFF2-40B4-BE49-F238E27FC236}">
                <a16:creationId xmlns:a16="http://schemas.microsoft.com/office/drawing/2014/main" id="{149E2A2A-49A6-DCF4-39BB-9FC24B70204E}"/>
              </a:ext>
            </a:extLst>
          </p:cNvPr>
          <p:cNvCxnSpPr>
            <a:cxnSpLocks/>
            <a:stCxn id="311" idx="3"/>
            <a:endCxn id="314" idx="2"/>
          </p:cNvCxnSpPr>
          <p:nvPr/>
        </p:nvCxnSpPr>
        <p:spPr>
          <a:xfrm>
            <a:off x="2875188" y="4386731"/>
            <a:ext cx="1754438" cy="1865251"/>
          </a:xfrm>
          <a:prstGeom prst="line">
            <a:avLst/>
          </a:prstGeom>
          <a:ln w="5715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4481533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7425</TotalTime>
  <Words>2616</Words>
  <Application>Microsoft Office PowerPoint</Application>
  <PresentationFormat>Widescreen</PresentationFormat>
  <Paragraphs>582</Paragraphs>
  <Slides>44</Slides>
  <Notes>15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44</vt:i4>
      </vt:variant>
    </vt:vector>
  </HeadingPairs>
  <TitlesOfParts>
    <vt:vector size="49" baseType="lpstr">
      <vt:lpstr>Aptos</vt:lpstr>
      <vt:lpstr>Arial</vt:lpstr>
      <vt:lpstr>Calibri</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OpenAI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PresCoach CTO-to-CTO Deck</dc:title>
  <dc:subject>PresCoach CTO-to-CTO architecture review</dc:subject>
  <dc:creator>OpenAI</dc:creator>
  <cp:lastModifiedBy>Michael Geiser</cp:lastModifiedBy>
  <cp:revision>25</cp:revision>
  <dcterms:created xsi:type="dcterms:W3CDTF">2026-06-20T22:34:29Z</dcterms:created>
  <dcterms:modified xsi:type="dcterms:W3CDTF">2026-07-27T16:57:55Z</dcterms:modified>
</cp:coreProperties>
</file>