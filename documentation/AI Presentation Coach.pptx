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8" r:id="rId4"/>
    <p:sldId id="2147482020" r:id="rId5"/>
    <p:sldId id="2147482021" r:id="rId6"/>
    <p:sldId id="2147482022" r:id="rId7"/>
    <p:sldId id="2147482023" r:id="rId8"/>
    <p:sldId id="2147482024" r:id="rId9"/>
    <p:sldId id="2147482025" r:id="rId10"/>
    <p:sldId id="2147482026" r:id="rId11"/>
    <p:sldId id="2147482027" r:id="rId12"/>
    <p:sldId id="2147482028" r:id="rId13"/>
    <p:sldId id="2147482029" r:id="rId14"/>
    <p:sldId id="2147482047" r:id="rId15"/>
    <p:sldId id="2147482048" r:id="rId16"/>
    <p:sldId id="2147482049" r:id="rId17"/>
    <p:sldId id="2147482030" r:id="rId18"/>
    <p:sldId id="2147482031" r:id="rId19"/>
    <p:sldId id="2147482032" r:id="rId20"/>
    <p:sldId id="2147482041" r:id="rId21"/>
    <p:sldId id="2147482043" r:id="rId22"/>
    <p:sldId id="2147482042" r:id="rId23"/>
    <p:sldId id="2147482044" r:id="rId24"/>
    <p:sldId id="259" r:id="rId25"/>
    <p:sldId id="260" r:id="rId26"/>
    <p:sldId id="261" r:id="rId27"/>
    <p:sldId id="262" r:id="rId28"/>
    <p:sldId id="263" r:id="rId29"/>
    <p:sldId id="264" r:id="rId30"/>
    <p:sldId id="265" r:id="rId31"/>
    <p:sldId id="266" r:id="rId32"/>
    <p:sldId id="267" r:id="rId33"/>
    <p:sldId id="268" r:id="rId34"/>
    <p:sldId id="269" r:id="rId35"/>
    <p:sldId id="270" r:id="rId36"/>
    <p:sldId id="2147482036" r:id="rId37"/>
    <p:sldId id="2147482002" r:id="rId38"/>
    <p:sldId id="2147482003" r:id="rId39"/>
    <p:sldId id="2147482004" r:id="rId40"/>
    <p:sldId id="2147482005" r:id="rId41"/>
    <p:sldId id="2147482009" r:id="rId42"/>
    <p:sldId id="2147482045" r:id="rId43"/>
    <p:sldId id="2147482046" r:id="rId44"/>
    <p:sldId id="2147482039"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68CFF"/>
    <a:srgbClr val="000000"/>
    <a:srgbClr val="1C2430"/>
    <a:srgbClr val="F6F6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10"/>
  </p:normalViewPr>
  <p:slideViewPr>
    <p:cSldViewPr snapToGrid="0" snapToObjects="1">
      <p:cViewPr varScale="1">
        <p:scale>
          <a:sx n="105" d="100"/>
          <a:sy n="105" d="100"/>
        </p:scale>
        <p:origin x="70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0664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BB4C7-3B1F-79B4-7206-6002140CB1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2A048-F6F5-0E7B-E436-81004742D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AE836-805A-59B6-1808-54258F79F2EE}"/>
              </a:ext>
            </a:extLst>
          </p:cNvPr>
          <p:cNvSpPr>
            <a:spLocks noGrp="1"/>
          </p:cNvSpPr>
          <p:nvPr>
            <p:ph type="body" idx="1"/>
          </p:nvPr>
        </p:nvSpPr>
        <p:spPr/>
        <p:txBody>
          <a:bodyPr/>
          <a:lstStyle/>
          <a:p>
            <a:r>
              <a:rPr lang="en-US" dirty="0"/>
              <a:t>After completed and will report is being created, the My Submissions page throws a 500 error</a:t>
            </a:r>
          </a:p>
        </p:txBody>
      </p:sp>
      <p:sp>
        <p:nvSpPr>
          <p:cNvPr id="4" name="Slide Number Placeholder 3">
            <a:extLst>
              <a:ext uri="{FF2B5EF4-FFF2-40B4-BE49-F238E27FC236}">
                <a16:creationId xmlns:a16="http://schemas.microsoft.com/office/drawing/2014/main" id="{4B77AAE6-ECAF-BCE2-D9A1-37BEFE69451C}"/>
              </a:ext>
            </a:extLst>
          </p:cNvPr>
          <p:cNvSpPr>
            <a:spLocks noGrp="1"/>
          </p:cNvSpPr>
          <p:nvPr>
            <p:ph type="sldNum" sz="quarter" idx="5"/>
          </p:nvPr>
        </p:nvSpPr>
        <p:spPr/>
        <p:txBody>
          <a:bodyPr/>
          <a:lstStyle/>
          <a:p>
            <a:fld id="{2A840CD0-598D-447F-B58B-41C1046D6E11}" type="slidenum">
              <a:rPr lang="en-US" smtClean="0"/>
              <a:t>11</a:t>
            </a:fld>
            <a:endParaRPr lang="en-US"/>
          </a:p>
        </p:txBody>
      </p:sp>
    </p:spTree>
    <p:extLst>
      <p:ext uri="{BB962C8B-B14F-4D97-AF65-F5344CB8AC3E}">
        <p14:creationId xmlns:p14="http://schemas.microsoft.com/office/powerpoint/2010/main" val="2751855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11480" y="256032"/>
            <a:ext cx="11384280" cy="0"/>
          </a:xfrm>
          <a:prstGeom prst="line">
            <a:avLst/>
          </a:prstGeom>
          <a:noFill/>
          <a:ln w="12700">
            <a:solidFill>
              <a:srgbClr val="123B5E">
                <a:alpha val="78000"/>
              </a:srgbClr>
            </a:solidFill>
            <a:prstDash val="solid"/>
          </a:ln>
        </p:spPr>
        <p:txBody>
          <a:bodyPr/>
          <a:lstStyle/>
          <a:p>
            <a:endParaRPr lang="en-US"/>
          </a:p>
        </p:txBody>
      </p:sp>
      <p:sp>
        <p:nvSpPr>
          <p:cNvPr id="3" name="Text 1"/>
          <p:cNvSpPr/>
          <p:nvPr/>
        </p:nvSpPr>
        <p:spPr>
          <a:xfrm>
            <a:off x="9555480" y="128016"/>
            <a:ext cx="2148840" cy="228600"/>
          </a:xfrm>
          <a:prstGeom prst="rect">
            <a:avLst/>
          </a:prstGeom>
          <a:noFill/>
          <a:ln/>
        </p:spPr>
        <p:txBody>
          <a:bodyPr wrap="square" lIns="0" tIns="0" rIns="0" bIns="0" rtlCol="0" anchor="ctr"/>
          <a:lstStyle/>
          <a:p>
            <a:pPr marL="0" indent="0" algn="r">
              <a:buNone/>
            </a:pPr>
            <a:r>
              <a:rPr lang="en-US" sz="750" dirty="0">
                <a:solidFill>
                  <a:srgbClr val="6EA8FF"/>
                </a:solidFill>
                <a:latin typeface="Segoe UI" pitchFamily="34" charset="0"/>
                <a:ea typeface="Segoe UI" pitchFamily="34" charset="-122"/>
                <a:cs typeface="Segoe UI" pitchFamily="34" charset="-120"/>
              </a:rPr>
              <a:t>PresCoach CTO Review</a:t>
            </a:r>
            <a:endParaRPr lang="en-US" sz="7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Dark_Blank">
    <p:bg>
      <p:bgPr>
        <a:solidFill>
          <a:schemeClr val="tx1"/>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44AF13-45F5-0F9F-82FD-CEA8B87ADA18}"/>
              </a:ext>
            </a:extLst>
          </p:cNvPr>
          <p:cNvSpPr>
            <a:spLocks noGrp="1"/>
          </p:cNvSpPr>
          <p:nvPr>
            <p:ph type="sldNum" sz="quarter" idx="12"/>
          </p:nvPr>
        </p:nvSpPr>
        <p:spPr>
          <a:xfrm>
            <a:off x="8610600" y="6356350"/>
            <a:ext cx="2743200" cy="365125"/>
          </a:xfrm>
          <a:prstGeom prst="rect">
            <a:avLst/>
          </a:prstGeom>
        </p:spPr>
        <p:txBody>
          <a:bodyPr/>
          <a:lstStyle/>
          <a:p>
            <a:fld id="{32C6CF2F-657D-49C6-BC9A-22E3A8FC8808}" type="slidenum">
              <a:rPr lang="en-US" smtClean="0"/>
              <a:t>‹#›</a:t>
            </a:fld>
            <a:endParaRPr lang="en-US"/>
          </a:p>
        </p:txBody>
      </p:sp>
    </p:spTree>
    <p:extLst>
      <p:ext uri="{BB962C8B-B14F-4D97-AF65-F5344CB8AC3E}">
        <p14:creationId xmlns:p14="http://schemas.microsoft.com/office/powerpoint/2010/main" val="876078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1.svg"/><Relationship Id="rId18" Type="http://schemas.openxmlformats.org/officeDocument/2006/relationships/image" Target="../media/image46.svg"/><Relationship Id="rId3" Type="http://schemas.openxmlformats.org/officeDocument/2006/relationships/image" Target="../media/image31.svg"/><Relationship Id="rId7" Type="http://schemas.openxmlformats.org/officeDocument/2006/relationships/image" Target="../media/image35.svg"/><Relationship Id="rId12" Type="http://schemas.openxmlformats.org/officeDocument/2006/relationships/image" Target="../media/image40.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4.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39.svg"/><Relationship Id="rId5" Type="http://schemas.openxmlformats.org/officeDocument/2006/relationships/image" Target="../media/image33.svg"/><Relationship Id="rId15" Type="http://schemas.openxmlformats.org/officeDocument/2006/relationships/image" Target="../media/image43.svg"/><Relationship Id="rId10" Type="http://schemas.openxmlformats.org/officeDocument/2006/relationships/image" Target="../media/image38.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7.svg"/><Relationship Id="rId14" Type="http://schemas.openxmlformats.org/officeDocument/2006/relationships/image" Target="../media/image42.svg"/></Relationships>
</file>

<file path=ppt/slides/_rels/slide21.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6.svg"/><Relationship Id="rId3" Type="http://schemas.openxmlformats.org/officeDocument/2006/relationships/image" Target="../media/image3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8.svg"/><Relationship Id="rId20" Type="http://schemas.openxmlformats.org/officeDocument/2006/relationships/image" Target="../media/image44.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40.svg"/><Relationship Id="rId5" Type="http://schemas.openxmlformats.org/officeDocument/2006/relationships/image" Target="../media/image33.svg"/><Relationship Id="rId15" Type="http://schemas.openxmlformats.org/officeDocument/2006/relationships/image" Target="../media/image35.svg"/><Relationship Id="rId10" Type="http://schemas.openxmlformats.org/officeDocument/2006/relationships/image" Target="../media/image39.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8.svg"/><Relationship Id="rId14" Type="http://schemas.openxmlformats.org/officeDocument/2006/relationships/image" Target="../media/image43.svg"/></Relationships>
</file>

<file path=ppt/slides/_rels/slide22.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6.svg"/><Relationship Id="rId3" Type="http://schemas.openxmlformats.org/officeDocument/2006/relationships/image" Target="../media/image31.svg"/><Relationship Id="rId21" Type="http://schemas.openxmlformats.org/officeDocument/2006/relationships/image" Target="../media/image50.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8.svg"/><Relationship Id="rId20" Type="http://schemas.openxmlformats.org/officeDocument/2006/relationships/image" Target="../media/image49.svg"/><Relationship Id="rId1" Type="http://schemas.openxmlformats.org/officeDocument/2006/relationships/slideLayout" Target="../slideLayouts/slideLayout3.xml"/><Relationship Id="rId6" Type="http://schemas.openxmlformats.org/officeDocument/2006/relationships/image" Target="../media/image34.svg"/><Relationship Id="rId11" Type="http://schemas.openxmlformats.org/officeDocument/2006/relationships/image" Target="../media/image40.svg"/><Relationship Id="rId5" Type="http://schemas.openxmlformats.org/officeDocument/2006/relationships/image" Target="../media/image33.svg"/><Relationship Id="rId15" Type="http://schemas.openxmlformats.org/officeDocument/2006/relationships/image" Target="../media/image35.svg"/><Relationship Id="rId23" Type="http://schemas.openxmlformats.org/officeDocument/2006/relationships/image" Target="../media/image44.svg"/><Relationship Id="rId10" Type="http://schemas.openxmlformats.org/officeDocument/2006/relationships/image" Target="../media/image39.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8.svg"/><Relationship Id="rId14" Type="http://schemas.openxmlformats.org/officeDocument/2006/relationships/image" Target="../media/image43.svg"/><Relationship Id="rId22" Type="http://schemas.openxmlformats.org/officeDocument/2006/relationships/image" Target="../media/image51.svg"/></Relationships>
</file>

<file path=ppt/slides/_rels/slide2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3.sv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54.sv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55.sv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56.sv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57.sv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7.svg"/><Relationship Id="rId3" Type="http://schemas.openxmlformats.org/officeDocument/2006/relationships/image" Target="../media/image32.svg"/><Relationship Id="rId21" Type="http://schemas.openxmlformats.org/officeDocument/2006/relationships/image" Target="../media/image5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 Type="http://schemas.openxmlformats.org/officeDocument/2006/relationships/image" Target="../media/image31.svg"/><Relationship Id="rId16" Type="http://schemas.openxmlformats.org/officeDocument/2006/relationships/image" Target="../media/image45.svg"/><Relationship Id="rId20" Type="http://schemas.openxmlformats.org/officeDocument/2006/relationships/image" Target="../media/image50.svg"/><Relationship Id="rId1" Type="http://schemas.openxmlformats.org/officeDocument/2006/relationships/slideLayout" Target="../slideLayouts/slideLayout3.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5" Type="http://schemas.openxmlformats.org/officeDocument/2006/relationships/image" Target="../media/image48.svg"/><Relationship Id="rId10" Type="http://schemas.openxmlformats.org/officeDocument/2006/relationships/image" Target="../media/image39.svg"/><Relationship Id="rId19" Type="http://schemas.openxmlformats.org/officeDocument/2006/relationships/image" Target="../media/image49.svg"/><Relationship Id="rId4" Type="http://schemas.openxmlformats.org/officeDocument/2006/relationships/image" Target="../media/image33.svg"/><Relationship Id="rId9" Type="http://schemas.openxmlformats.org/officeDocument/2006/relationships/image" Target="../media/image38.svg"/><Relationship Id="rId14" Type="http://schemas.openxmlformats.org/officeDocument/2006/relationships/image" Target="../media/image43.svg"/><Relationship Id="rId22" Type="http://schemas.openxmlformats.org/officeDocument/2006/relationships/image" Target="../media/image44.svg"/></Relationships>
</file>

<file path=ppt/slides/_rels/slide43.xml.rels><?xml version="1.0" encoding="UTF-8" standalone="yes"?>
<Relationships xmlns="http://schemas.openxmlformats.org/package/2006/relationships"><Relationship Id="rId8" Type="http://schemas.openxmlformats.org/officeDocument/2006/relationships/image" Target="../media/image37.svg"/><Relationship Id="rId13" Type="http://schemas.openxmlformats.org/officeDocument/2006/relationships/image" Target="../media/image42.svg"/><Relationship Id="rId18" Type="http://schemas.openxmlformats.org/officeDocument/2006/relationships/image" Target="../media/image47.svg"/><Relationship Id="rId3" Type="http://schemas.openxmlformats.org/officeDocument/2006/relationships/image" Target="../media/image32.svg"/><Relationship Id="rId21" Type="http://schemas.openxmlformats.org/officeDocument/2006/relationships/image" Target="../media/image51.svg"/><Relationship Id="rId7" Type="http://schemas.openxmlformats.org/officeDocument/2006/relationships/image" Target="../media/image36.svg"/><Relationship Id="rId12" Type="http://schemas.openxmlformats.org/officeDocument/2006/relationships/image" Target="../media/image41.svg"/><Relationship Id="rId17" Type="http://schemas.openxmlformats.org/officeDocument/2006/relationships/image" Target="../media/image46.svg"/><Relationship Id="rId2" Type="http://schemas.openxmlformats.org/officeDocument/2006/relationships/image" Target="../media/image31.svg"/><Relationship Id="rId16" Type="http://schemas.openxmlformats.org/officeDocument/2006/relationships/image" Target="../media/image45.svg"/><Relationship Id="rId20" Type="http://schemas.openxmlformats.org/officeDocument/2006/relationships/image" Target="../media/image50.svg"/><Relationship Id="rId1" Type="http://schemas.openxmlformats.org/officeDocument/2006/relationships/slideLayout" Target="../slideLayouts/slideLayout3.xml"/><Relationship Id="rId6" Type="http://schemas.openxmlformats.org/officeDocument/2006/relationships/image" Target="../media/image35.svg"/><Relationship Id="rId11" Type="http://schemas.openxmlformats.org/officeDocument/2006/relationships/image" Target="../media/image40.svg"/><Relationship Id="rId5" Type="http://schemas.openxmlformats.org/officeDocument/2006/relationships/image" Target="../media/image34.svg"/><Relationship Id="rId15" Type="http://schemas.openxmlformats.org/officeDocument/2006/relationships/image" Target="../media/image48.svg"/><Relationship Id="rId10" Type="http://schemas.openxmlformats.org/officeDocument/2006/relationships/image" Target="../media/image39.svg"/><Relationship Id="rId19" Type="http://schemas.openxmlformats.org/officeDocument/2006/relationships/image" Target="../media/image49.svg"/><Relationship Id="rId4" Type="http://schemas.openxmlformats.org/officeDocument/2006/relationships/image" Target="../media/image33.svg"/><Relationship Id="rId9" Type="http://schemas.openxmlformats.org/officeDocument/2006/relationships/image" Target="../media/image38.svg"/><Relationship Id="rId14" Type="http://schemas.openxmlformats.org/officeDocument/2006/relationships/image" Target="../media/image43.svg"/></Relationships>
</file>

<file path=ppt/slides/_rels/slide4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 Id="rId4" Type="http://schemas.openxmlformats.org/officeDocument/2006/relationships/image" Target="../media/image30.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566928"/>
            <a:ext cx="7717536" cy="530352"/>
          </a:xfrm>
          <a:prstGeom prst="rect">
            <a:avLst/>
          </a:prstGeom>
          <a:noFill/>
          <a:ln/>
        </p:spPr>
        <p:txBody>
          <a:bodyPr wrap="square" lIns="0" tIns="0" rIns="0" bIns="0" rtlCol="0" anchor="ctr"/>
          <a:lstStyle/>
          <a:p>
            <a:pPr marL="0" indent="0">
              <a:buNone/>
            </a:pPr>
            <a:r>
              <a:rPr lang="en-US" sz="3800" b="1" dirty="0">
                <a:solidFill>
                  <a:srgbClr val="F5F7FA"/>
                </a:solidFill>
              </a:rPr>
              <a:t>AI Presentation Coach</a:t>
            </a:r>
            <a:endParaRPr lang="en-US" sz="3800" dirty="0"/>
          </a:p>
        </p:txBody>
      </p:sp>
      <p:sp>
        <p:nvSpPr>
          <p:cNvPr id="3" name="Text 1"/>
          <p:cNvSpPr/>
          <p:nvPr/>
        </p:nvSpPr>
        <p:spPr>
          <a:xfrm>
            <a:off x="603504" y="1115568"/>
            <a:ext cx="5303520" cy="384048"/>
          </a:xfrm>
          <a:prstGeom prst="rect">
            <a:avLst/>
          </a:prstGeom>
          <a:noFill/>
          <a:ln/>
        </p:spPr>
        <p:txBody>
          <a:bodyPr wrap="square" lIns="0" tIns="0" rIns="0" bIns="0" rtlCol="0" anchor="ctr"/>
          <a:lstStyle/>
          <a:p>
            <a:pPr marL="0" indent="0">
              <a:buNone/>
            </a:pPr>
            <a:r>
              <a:rPr lang="en-US" sz="1800" dirty="0">
                <a:solidFill>
                  <a:srgbClr val="59C4FF"/>
                </a:solidFill>
              </a:rPr>
              <a:t>Using AI to make you a better public speaker</a:t>
            </a:r>
            <a:endParaRPr lang="en-US" sz="1800" dirty="0"/>
          </a:p>
        </p:txBody>
      </p:sp>
      <p:sp>
        <p:nvSpPr>
          <p:cNvPr id="4" name="Text 2"/>
          <p:cNvSpPr/>
          <p:nvPr/>
        </p:nvSpPr>
        <p:spPr>
          <a:xfrm>
            <a:off x="603504" y="1755648"/>
            <a:ext cx="5303520" cy="960120"/>
          </a:xfrm>
          <a:prstGeom prst="rect">
            <a:avLst/>
          </a:prstGeom>
          <a:noFill/>
          <a:ln/>
        </p:spPr>
        <p:txBody>
          <a:bodyPr wrap="square" lIns="0" tIns="0" rIns="0" bIns="0" rtlCol="0" anchor="ctr">
            <a:normAutofit lnSpcReduction="10000"/>
          </a:bodyPr>
          <a:lstStyle/>
          <a:p>
            <a:pPr marL="0" indent="0">
              <a:buNone/>
            </a:pPr>
            <a:r>
              <a:rPr lang="en-US" sz="2300" b="1" dirty="0">
                <a:solidFill>
                  <a:srgbClr val="F5F7FA"/>
                </a:solidFill>
              </a:rPr>
              <a:t>An AWS-native event based agentic presentation coaching platform built with Kiro and AI-DLC practices.</a:t>
            </a:r>
            <a:endParaRPr lang="en-US" sz="2300" dirty="0"/>
          </a:p>
        </p:txBody>
      </p:sp>
      <p:sp>
        <p:nvSpPr>
          <p:cNvPr id="5" name="Text 3"/>
          <p:cNvSpPr/>
          <p:nvPr/>
        </p:nvSpPr>
        <p:spPr>
          <a:xfrm>
            <a:off x="621792" y="2907792"/>
            <a:ext cx="5212080" cy="2359152"/>
          </a:xfrm>
          <a:prstGeom prst="rect">
            <a:avLst/>
          </a:prstGeom>
          <a:noFill/>
          <a:ln/>
        </p:spPr>
        <p:txBody>
          <a:bodyPr wrap="square" lIns="254" tIns="254" rIns="254" bIns="254" rtlCol="0" anchor="t">
            <a:normAutofit/>
          </a:bodyPr>
          <a:lstStyle/>
          <a:p>
            <a:pPr marL="0" indent="0">
              <a:buNone/>
            </a:pPr>
            <a:r>
              <a:rPr lang="en-US" sz="1480" dirty="0">
                <a:solidFill>
                  <a:srgbClr val="B2BAC8"/>
                </a:solidFill>
              </a:rPr>
              <a:t>This is not just a demo, it is a useful pattern for taking agentic systems from idea </a:t>
            </a:r>
            <a:r>
              <a:rPr lang="en-US" sz="1600" dirty="0">
                <a:solidFill>
                  <a:srgbClr val="B2BAC8"/>
                </a:solidFill>
              </a:rPr>
              <a:t>to</a:t>
            </a:r>
            <a:r>
              <a:rPr lang="en-US" sz="1480" dirty="0">
                <a:solidFill>
                  <a:srgbClr val="B2BAC8"/>
                </a:solidFill>
              </a:rPr>
              <a:t> PoC to Production via governed software delivery.</a:t>
            </a:r>
            <a:br>
              <a:rPr lang="en-US" sz="1480" dirty="0">
                <a:solidFill>
                  <a:srgbClr val="B2BAC8"/>
                </a:solidFill>
              </a:rPr>
            </a:b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r>
              <a:rPr lang="en-US" sz="1480" dirty="0">
                <a:solidFill>
                  <a:srgbClr val="B2BAC8"/>
                </a:solidFill>
              </a:rPr>
              <a:t>Created and developed by Michael Geiser</a:t>
            </a:r>
            <a:br>
              <a:rPr lang="en-US" sz="1480" dirty="0">
                <a:solidFill>
                  <a:srgbClr val="B2BAC8"/>
                </a:solidFill>
              </a:rPr>
            </a:br>
            <a:br>
              <a:rPr lang="en-US" sz="1480" dirty="0">
                <a:solidFill>
                  <a:srgbClr val="B2BAC8"/>
                </a:solidFill>
              </a:rPr>
            </a:br>
            <a:endParaRPr lang="en-US" sz="1480" dirty="0"/>
          </a:p>
        </p:txBody>
      </p:sp>
      <p:pic>
        <p:nvPicPr>
          <p:cNvPr id="6" name="Image 0" descr="/mnt/data/app_hero.png"/>
          <p:cNvPicPr>
            <a:picLocks noChangeAspect="1"/>
          </p:cNvPicPr>
          <p:nvPr/>
        </p:nvPicPr>
        <p:blipFill>
          <a:blip r:embed="rId3"/>
          <a:srcRect l="30" r="30"/>
          <a:stretch/>
        </p:blipFill>
        <p:spPr>
          <a:xfrm>
            <a:off x="6419088" y="749808"/>
            <a:ext cx="5102352" cy="3063240"/>
          </a:xfrm>
          <a:prstGeom prst="rect">
            <a:avLst/>
          </a:prstGeom>
        </p:spPr>
      </p:pic>
      <p:sp>
        <p:nvSpPr>
          <p:cNvPr id="8" name="Text 4"/>
          <p:cNvSpPr/>
          <p:nvPr/>
        </p:nvSpPr>
        <p:spPr>
          <a:xfrm>
            <a:off x="9930384" y="4087368"/>
            <a:ext cx="1499616"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250" b="1" dirty="0">
                <a:solidFill>
                  <a:srgbClr val="F5F7FA"/>
                </a:solidFill>
              </a:rPr>
              <a:t>AWS-native</a:t>
            </a:r>
            <a:endParaRPr lang="en-US" sz="1250" dirty="0"/>
          </a:p>
          <a:p>
            <a:pPr marL="0" indent="0" algn="ctr">
              <a:buNone/>
            </a:pPr>
            <a:r>
              <a:rPr lang="en-US" sz="1250" b="1" dirty="0">
                <a:solidFill>
                  <a:srgbClr val="F5F7FA"/>
                </a:solidFill>
              </a:rPr>
              <a:t>serverless + agentic</a:t>
            </a:r>
            <a:endParaRPr lang="en-US" sz="1250" dirty="0"/>
          </a:p>
        </p:txBody>
      </p:sp>
      <p:sp>
        <p:nvSpPr>
          <p:cNvPr id="9" name="Text 5"/>
          <p:cNvSpPr/>
          <p:nvPr/>
        </p:nvSpPr>
        <p:spPr>
          <a:xfrm>
            <a:off x="9930384" y="5102352"/>
            <a:ext cx="1499616" cy="786384"/>
          </a:xfrm>
          <a:prstGeom prst="roundRect">
            <a:avLst>
              <a:gd name="adj" fmla="val 9302"/>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250" b="1" dirty="0">
                <a:solidFill>
                  <a:srgbClr val="F5F7FA"/>
                </a:solidFill>
              </a:rPr>
              <a:t>Built for</a:t>
            </a:r>
            <a:endParaRPr lang="en-US" sz="1250" dirty="0"/>
          </a:p>
          <a:p>
            <a:pPr marL="0" indent="0" algn="ctr">
              <a:buNone/>
            </a:pPr>
            <a:r>
              <a:rPr lang="en-US" sz="1250" b="1" dirty="0">
                <a:solidFill>
                  <a:srgbClr val="F5F7FA"/>
                </a:solidFill>
              </a:rPr>
              <a:t>zero idle cost</a:t>
            </a:r>
            <a:endParaRPr lang="en-US" sz="1250" dirty="0"/>
          </a:p>
        </p:txBody>
      </p:sp>
      <p:sp>
        <p:nvSpPr>
          <p:cNvPr id="10" name="Text 6"/>
          <p:cNvSpPr/>
          <p:nvPr/>
        </p:nvSpPr>
        <p:spPr>
          <a:xfrm>
            <a:off x="603504" y="6327648"/>
            <a:ext cx="5760720" cy="219456"/>
          </a:xfrm>
          <a:prstGeom prst="rect">
            <a:avLst/>
          </a:prstGeom>
          <a:noFill/>
          <a:ln/>
        </p:spPr>
        <p:txBody>
          <a:bodyPr wrap="square" lIns="0" tIns="0" rIns="0" bIns="0" rtlCol="0" anchor="ctr"/>
          <a:lstStyle/>
          <a:p>
            <a:pPr marL="0" indent="0">
              <a:buNone/>
            </a:pPr>
            <a:r>
              <a:rPr lang="en-US" sz="850" dirty="0">
                <a:solidFill>
                  <a:srgbClr val="7E8796"/>
                </a:solidFill>
              </a:rPr>
              <a:t>Dark theme retained from the working deck</a:t>
            </a:r>
            <a:endParaRPr lang="en-US" sz="850" dirty="0"/>
          </a:p>
        </p:txBody>
      </p:sp>
      <p:pic>
        <p:nvPicPr>
          <p:cNvPr id="12" name="Picture 11">
            <a:extLst>
              <a:ext uri="{FF2B5EF4-FFF2-40B4-BE49-F238E27FC236}">
                <a16:creationId xmlns:a16="http://schemas.microsoft.com/office/drawing/2014/main" id="{3A446344-8DD4-910A-F5F3-2EA5A28571E5}"/>
              </a:ext>
            </a:extLst>
          </p:cNvPr>
          <p:cNvPicPr>
            <a:picLocks noChangeAspect="1"/>
          </p:cNvPicPr>
          <p:nvPr/>
        </p:nvPicPr>
        <p:blipFill>
          <a:blip r:embed="rId4"/>
          <a:stretch>
            <a:fillRect/>
          </a:stretch>
        </p:blipFill>
        <p:spPr>
          <a:xfrm>
            <a:off x="7109293" y="3968496"/>
            <a:ext cx="2536896" cy="23591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EXECUTIVE LENS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 readout</a:t>
            </a:r>
            <a:endParaRPr lang="en-US" sz="2950" dirty="0"/>
          </a:p>
        </p:txBody>
      </p:sp>
      <p:sp>
        <p:nvSpPr>
          <p:cNvPr id="4" name="Text 2"/>
          <p:cNvSpPr/>
          <p:nvPr/>
        </p:nvSpPr>
        <p:spPr>
          <a:xfrm>
            <a:off x="621792" y="1426464"/>
            <a:ext cx="7680960" cy="1024128"/>
          </a:xfrm>
          <a:prstGeom prst="rect">
            <a:avLst/>
          </a:prstGeom>
          <a:noFill/>
          <a:ln/>
        </p:spPr>
        <p:txBody>
          <a:bodyPr wrap="square" lIns="254" tIns="254" rIns="254" bIns="254" rtlCol="0" anchor="t">
            <a:noAutofit/>
          </a:bodyPr>
          <a:lstStyle/>
          <a:p>
            <a:pPr marL="0" indent="0" algn="l">
              <a:buNone/>
            </a:pPr>
            <a:r>
              <a:rPr lang="en-US" sz="1600" dirty="0">
                <a:solidFill>
                  <a:srgbClr val="B2BAC8"/>
                </a:solidFill>
              </a:rPr>
              <a:t>The AI Presentation Coach (“</a:t>
            </a:r>
            <a:r>
              <a:rPr lang="en-US" sz="1600" dirty="0" err="1">
                <a:solidFill>
                  <a:srgbClr val="B2BAC8"/>
                </a:solidFill>
              </a:rPr>
              <a:t>PresCoach</a:t>
            </a:r>
            <a:r>
              <a:rPr lang="en-US" sz="1600" dirty="0">
                <a:solidFill>
                  <a:srgbClr val="B2BAC8"/>
                </a:solidFill>
              </a:rPr>
              <a:t>”) is a working AWS-native product pattern, not a lab experiment. It accepts audio, prepares it, then hands it to independent Agentic AI evaluators that produce a coaching report.</a:t>
            </a:r>
            <a:endParaRPr lang="en-US" sz="1600" dirty="0"/>
          </a:p>
        </p:txBody>
      </p:sp>
      <p:sp>
        <p:nvSpPr>
          <p:cNvPr id="5" name="Text 3"/>
          <p:cNvSpPr/>
          <p:nvPr/>
        </p:nvSpPr>
        <p:spPr>
          <a:xfrm>
            <a:off x="658368"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7</a:t>
            </a:r>
            <a:endParaRPr lang="en-US" sz="2600" dirty="0"/>
          </a:p>
        </p:txBody>
      </p:sp>
      <p:sp>
        <p:nvSpPr>
          <p:cNvPr id="6" name="Text 4"/>
          <p:cNvSpPr/>
          <p:nvPr/>
        </p:nvSpPr>
        <p:spPr>
          <a:xfrm>
            <a:off x="658368"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AI coaching dimensions</a:t>
            </a:r>
            <a:endParaRPr lang="en-US" sz="1050" dirty="0"/>
          </a:p>
        </p:txBody>
      </p:sp>
      <p:sp>
        <p:nvSpPr>
          <p:cNvPr id="7" name="Text 5"/>
          <p:cNvSpPr/>
          <p:nvPr/>
        </p:nvSpPr>
        <p:spPr>
          <a:xfrm>
            <a:off x="2788920"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20+</a:t>
            </a:r>
            <a:endParaRPr lang="en-US" sz="2600" dirty="0"/>
          </a:p>
        </p:txBody>
      </p:sp>
      <p:sp>
        <p:nvSpPr>
          <p:cNvPr id="8" name="Text 6"/>
          <p:cNvSpPr/>
          <p:nvPr/>
        </p:nvSpPr>
        <p:spPr>
          <a:xfrm>
            <a:off x="2788920"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AWS native </a:t>
            </a:r>
          </a:p>
          <a:p>
            <a:pPr marL="0" indent="0" algn="ctr">
              <a:buNone/>
            </a:pPr>
            <a:r>
              <a:rPr lang="en-US" sz="1050" dirty="0">
                <a:solidFill>
                  <a:srgbClr val="B2BAC8"/>
                </a:solidFill>
              </a:rPr>
              <a:t>services used</a:t>
            </a:r>
            <a:endParaRPr lang="en-US" sz="1050" dirty="0"/>
          </a:p>
        </p:txBody>
      </p:sp>
      <p:sp>
        <p:nvSpPr>
          <p:cNvPr id="9" name="Text 7"/>
          <p:cNvSpPr/>
          <p:nvPr/>
        </p:nvSpPr>
        <p:spPr>
          <a:xfrm>
            <a:off x="4919472"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726</a:t>
            </a:r>
            <a:endParaRPr lang="en-US" sz="2600" dirty="0"/>
          </a:p>
        </p:txBody>
      </p:sp>
      <p:sp>
        <p:nvSpPr>
          <p:cNvPr id="10" name="Text 8"/>
          <p:cNvSpPr/>
          <p:nvPr/>
        </p:nvSpPr>
        <p:spPr>
          <a:xfrm>
            <a:off x="4919472"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Tests through all workflows</a:t>
            </a:r>
            <a:endParaRPr lang="en-US" sz="1050" dirty="0"/>
          </a:p>
        </p:txBody>
      </p:sp>
      <p:sp>
        <p:nvSpPr>
          <p:cNvPr id="11" name="Text 9"/>
          <p:cNvSpPr/>
          <p:nvPr/>
        </p:nvSpPr>
        <p:spPr>
          <a:xfrm>
            <a:off x="7150608"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$33.69</a:t>
            </a:r>
            <a:endParaRPr lang="en-US" sz="2600" dirty="0"/>
          </a:p>
        </p:txBody>
      </p:sp>
      <p:sp>
        <p:nvSpPr>
          <p:cNvPr id="12" name="Text 10"/>
          <p:cNvSpPr/>
          <p:nvPr/>
        </p:nvSpPr>
        <p:spPr>
          <a:xfrm>
            <a:off x="7150608"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Spend for environment </a:t>
            </a:r>
          </a:p>
          <a:p>
            <a:pPr marL="0" indent="0" algn="ctr">
              <a:buNone/>
            </a:pPr>
            <a:r>
              <a:rPr lang="en-US" sz="1050" dirty="0">
                <a:solidFill>
                  <a:srgbClr val="B2BAC8"/>
                </a:solidFill>
              </a:rPr>
              <a:t>and AI tools used</a:t>
            </a:r>
            <a:endParaRPr lang="en-US" sz="1050" dirty="0"/>
          </a:p>
        </p:txBody>
      </p:sp>
      <p:sp>
        <p:nvSpPr>
          <p:cNvPr id="13" name="Text 11"/>
          <p:cNvSpPr/>
          <p:nvPr/>
        </p:nvSpPr>
        <p:spPr>
          <a:xfrm>
            <a:off x="7150608" y="3813048"/>
            <a:ext cx="2011680" cy="219456"/>
          </a:xfrm>
          <a:prstGeom prst="rect">
            <a:avLst/>
          </a:prstGeom>
          <a:noFill/>
          <a:ln/>
        </p:spPr>
        <p:txBody>
          <a:bodyPr wrap="square" lIns="0" tIns="0" rIns="0" bIns="0" rtlCol="0" anchor="ctr">
            <a:normAutofit/>
          </a:bodyPr>
          <a:lstStyle/>
          <a:p>
            <a:pPr marL="0" indent="0" algn="ctr">
              <a:buNone/>
            </a:pPr>
            <a:r>
              <a:rPr lang="en-US" sz="830" dirty="0">
                <a:solidFill>
                  <a:srgbClr val="7E8796"/>
                </a:solidFill>
              </a:rPr>
              <a:t>($6.59 AWS + $27.10 Kiro)</a:t>
            </a:r>
            <a:endParaRPr lang="en-US" sz="830" dirty="0"/>
          </a:p>
        </p:txBody>
      </p:sp>
      <p:sp>
        <p:nvSpPr>
          <p:cNvPr id="14" name="Text 12"/>
          <p:cNvSpPr/>
          <p:nvPr/>
        </p:nvSpPr>
        <p:spPr>
          <a:xfrm>
            <a:off x="9528048" y="1536192"/>
            <a:ext cx="178308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b="1" dirty="0">
                <a:solidFill>
                  <a:srgbClr val="F5F7FA"/>
                </a:solidFill>
              </a:rPr>
              <a:t>Architecture decision</a:t>
            </a:r>
            <a:endParaRPr lang="en-US" sz="1150" dirty="0"/>
          </a:p>
          <a:p>
            <a:pPr marL="0" indent="0" algn="ctr">
              <a:buNone/>
            </a:pPr>
            <a:r>
              <a:rPr lang="en-US" sz="1150" b="1" dirty="0">
                <a:solidFill>
                  <a:srgbClr val="F5F7FA"/>
                </a:solidFill>
              </a:rPr>
              <a:t>worth a CTO review</a:t>
            </a:r>
            <a:endParaRPr lang="en-US" sz="1150" dirty="0"/>
          </a:p>
        </p:txBody>
      </p:sp>
      <p:sp>
        <p:nvSpPr>
          <p:cNvPr id="15" name="Text 13"/>
          <p:cNvSpPr/>
          <p:nvPr/>
        </p:nvSpPr>
        <p:spPr>
          <a:xfrm>
            <a:off x="9528048" y="2633472"/>
            <a:ext cx="178308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b="1" dirty="0">
                <a:solidFill>
                  <a:srgbClr val="F5F7FA"/>
                </a:solidFill>
              </a:rPr>
              <a:t>Where to harden</a:t>
            </a:r>
            <a:endParaRPr lang="en-US" sz="1150" dirty="0"/>
          </a:p>
          <a:p>
            <a:pPr marL="0" indent="0" algn="ctr">
              <a:buNone/>
            </a:pPr>
            <a:r>
              <a:rPr lang="en-US" sz="1150" b="1" dirty="0">
                <a:solidFill>
                  <a:srgbClr val="F5F7FA"/>
                </a:solidFill>
              </a:rPr>
              <a:t>before real users</a:t>
            </a:r>
            <a:endParaRPr lang="en-US" sz="1150" dirty="0"/>
          </a:p>
        </p:txBody>
      </p:sp>
      <p:sp>
        <p:nvSpPr>
          <p:cNvPr id="16" name="Text 14"/>
          <p:cNvSpPr/>
          <p:nvPr/>
        </p:nvSpPr>
        <p:spPr>
          <a:xfrm>
            <a:off x="9528048" y="3730752"/>
            <a:ext cx="17830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How to scale</a:t>
            </a:r>
            <a:endParaRPr lang="en-US" sz="1150" dirty="0"/>
          </a:p>
          <a:p>
            <a:pPr marL="0" indent="0" algn="ctr">
              <a:buNone/>
            </a:pPr>
            <a:r>
              <a:rPr lang="en-US" sz="1150" b="1" dirty="0">
                <a:solidFill>
                  <a:srgbClr val="F5F7FA"/>
                </a:solidFill>
              </a:rPr>
              <a:t>without cost traps</a:t>
            </a:r>
            <a:endParaRPr lang="en-US" sz="1150" dirty="0"/>
          </a:p>
        </p:txBody>
      </p:sp>
      <p:sp>
        <p:nvSpPr>
          <p:cNvPr id="17" name="Text 15"/>
          <p:cNvSpPr/>
          <p:nvPr/>
        </p:nvSpPr>
        <p:spPr>
          <a:xfrm>
            <a:off x="9528048" y="4828032"/>
            <a:ext cx="1783080" cy="749808"/>
          </a:xfrm>
          <a:prstGeom prst="roundRect">
            <a:avLst>
              <a:gd name="adj" fmla="val 9756"/>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50" b="1" dirty="0">
                <a:solidFill>
                  <a:srgbClr val="F5F7FA"/>
                </a:solidFill>
              </a:rPr>
              <a:t>What AI-DLC</a:t>
            </a:r>
            <a:endParaRPr lang="en-US" sz="1150" dirty="0"/>
          </a:p>
          <a:p>
            <a:pPr marL="0" indent="0" algn="ctr">
              <a:buNone/>
            </a:pPr>
            <a:r>
              <a:rPr lang="en-US" sz="1150" b="1" dirty="0">
                <a:solidFill>
                  <a:srgbClr val="F5F7FA"/>
                </a:solidFill>
              </a:rPr>
              <a:t>actually changed</a:t>
            </a:r>
            <a:endParaRPr lang="en-US" sz="1150" dirty="0"/>
          </a:p>
        </p:txBody>
      </p:sp>
      <p:sp>
        <p:nvSpPr>
          <p:cNvPr id="18" name="Text 16"/>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Source deck reported development cost; project overview and retrospective supplied architecture, services, test count, and operating model.</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WHAT IT DOES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Using the product is simple, the system behind it is not</a:t>
            </a:r>
            <a:endParaRPr lang="en-US" sz="2950" dirty="0"/>
          </a:p>
        </p:txBody>
      </p:sp>
      <p:sp>
        <p:nvSpPr>
          <p:cNvPr id="6" name="Text 2"/>
          <p:cNvSpPr/>
          <p:nvPr/>
        </p:nvSpPr>
        <p:spPr>
          <a:xfrm>
            <a:off x="749808" y="5742432"/>
            <a:ext cx="3474720" cy="274320"/>
          </a:xfrm>
          <a:prstGeom prst="rect">
            <a:avLst/>
          </a:prstGeom>
          <a:noFill/>
          <a:ln/>
        </p:spPr>
        <p:txBody>
          <a:bodyPr wrap="square" lIns="254" tIns="254" rIns="254" bIns="254" rtlCol="0" anchor="t">
            <a:normAutofit/>
          </a:bodyPr>
          <a:lstStyle/>
          <a:p>
            <a:pPr marL="0" indent="0" algn="ctr">
              <a:buNone/>
            </a:pPr>
            <a:r>
              <a:rPr lang="en-US" sz="1150" b="1" dirty="0">
                <a:solidFill>
                  <a:srgbClr val="59C4FF"/>
                </a:solidFill>
              </a:rPr>
              <a:t>User-facing flow</a:t>
            </a:r>
            <a:endParaRPr lang="en-US" sz="1150" dirty="0"/>
          </a:p>
        </p:txBody>
      </p:sp>
      <p:sp>
        <p:nvSpPr>
          <p:cNvPr id="7" name="Shape 3"/>
          <p:cNvSpPr/>
          <p:nvPr/>
        </p:nvSpPr>
        <p:spPr>
          <a:xfrm>
            <a:off x="4663440" y="2194560"/>
            <a:ext cx="7251192" cy="0"/>
          </a:xfrm>
          <a:prstGeom prst="line">
            <a:avLst/>
          </a:prstGeom>
          <a:noFill/>
          <a:ln w="22860">
            <a:solidFill>
              <a:srgbClr val="2F9BFF"/>
            </a:solidFill>
            <a:prstDash val="solid"/>
            <a:headEnd type="none"/>
            <a:tailEnd type="triangle"/>
          </a:ln>
        </p:spPr>
        <p:txBody>
          <a:bodyPr/>
          <a:lstStyle/>
          <a:p>
            <a:endParaRPr lang="en-US"/>
          </a:p>
        </p:txBody>
      </p:sp>
      <p:sp>
        <p:nvSpPr>
          <p:cNvPr id="8" name="Shape 4"/>
          <p:cNvSpPr/>
          <p:nvPr/>
        </p:nvSpPr>
        <p:spPr>
          <a:xfrm>
            <a:off x="6729984"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9" name="Shape 5"/>
          <p:cNvSpPr/>
          <p:nvPr/>
        </p:nvSpPr>
        <p:spPr>
          <a:xfrm>
            <a:off x="8759952"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10" name="Text 6"/>
          <p:cNvSpPr/>
          <p:nvPr/>
        </p:nvSpPr>
        <p:spPr>
          <a:xfrm>
            <a:off x="4828032" y="1664208"/>
            <a:ext cx="1554480" cy="1042416"/>
          </a:xfrm>
          <a:prstGeom prst="roundRect">
            <a:avLst>
              <a:gd name="adj" fmla="val 7018"/>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40" b="1" dirty="0">
                <a:solidFill>
                  <a:srgbClr val="F5F7FA"/>
                </a:solidFill>
              </a:rPr>
              <a:t>Upload</a:t>
            </a:r>
            <a:endParaRPr lang="en-US" sz="1140" dirty="0"/>
          </a:p>
          <a:p>
            <a:pPr marL="0" indent="0" algn="ctr">
              <a:buNone/>
            </a:pPr>
            <a:r>
              <a:rPr lang="en-US" sz="1140" b="1" dirty="0">
                <a:solidFill>
                  <a:srgbClr val="F5F7FA"/>
                </a:solidFill>
              </a:rPr>
              <a:t>mp3, wav, m4a, aac</a:t>
            </a:r>
            <a:endParaRPr lang="en-US" sz="1140" dirty="0"/>
          </a:p>
        </p:txBody>
      </p:sp>
      <p:sp>
        <p:nvSpPr>
          <p:cNvPr id="11" name="Text 7"/>
          <p:cNvSpPr/>
          <p:nvPr/>
        </p:nvSpPr>
        <p:spPr>
          <a:xfrm>
            <a:off x="6510528" y="1664208"/>
            <a:ext cx="1783080" cy="1042416"/>
          </a:xfrm>
          <a:prstGeom prst="roundRect">
            <a:avLst>
              <a:gd name="adj" fmla="val 7018"/>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40" b="1" dirty="0">
                <a:solidFill>
                  <a:srgbClr val="F5F7FA"/>
                </a:solidFill>
              </a:rPr>
              <a:t>Prepare</a:t>
            </a:r>
            <a:endParaRPr lang="en-US" sz="1140" dirty="0"/>
          </a:p>
          <a:p>
            <a:pPr marL="0" indent="0" algn="ctr">
              <a:buNone/>
            </a:pPr>
            <a:r>
              <a:rPr lang="en-US" sz="1140" b="1" dirty="0">
                <a:solidFill>
                  <a:srgbClr val="F5F7FA"/>
                </a:solidFill>
              </a:rPr>
              <a:t>transcribe + chunk + embed</a:t>
            </a:r>
            <a:endParaRPr lang="en-US" sz="1140" dirty="0"/>
          </a:p>
        </p:txBody>
      </p:sp>
      <p:sp>
        <p:nvSpPr>
          <p:cNvPr id="12" name="Text 8"/>
          <p:cNvSpPr/>
          <p:nvPr/>
        </p:nvSpPr>
        <p:spPr>
          <a:xfrm>
            <a:off x="8467344" y="1664208"/>
            <a:ext cx="1600200" cy="1042416"/>
          </a:xfrm>
          <a:prstGeom prst="roundRect">
            <a:avLst>
              <a:gd name="adj" fmla="val 7018"/>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40" b="1" dirty="0">
                <a:solidFill>
                  <a:srgbClr val="F5F7FA"/>
                </a:solidFill>
              </a:rPr>
              <a:t>Evaluate with</a:t>
            </a:r>
            <a:endParaRPr lang="en-US" sz="1140" dirty="0"/>
          </a:p>
          <a:p>
            <a:pPr marL="0" indent="0" algn="ctr">
              <a:buNone/>
            </a:pPr>
            <a:r>
              <a:rPr lang="en-US" sz="1140" b="1" dirty="0">
                <a:solidFill>
                  <a:srgbClr val="F5F7FA"/>
                </a:solidFill>
              </a:rPr>
              <a:t>seven agent lenses</a:t>
            </a:r>
            <a:endParaRPr lang="en-US" sz="1140" dirty="0"/>
          </a:p>
        </p:txBody>
      </p:sp>
      <p:sp>
        <p:nvSpPr>
          <p:cNvPr id="13" name="Text 9"/>
          <p:cNvSpPr/>
          <p:nvPr/>
        </p:nvSpPr>
        <p:spPr>
          <a:xfrm>
            <a:off x="10241280" y="1664208"/>
            <a:ext cx="1417320" cy="1042416"/>
          </a:xfrm>
          <a:prstGeom prst="roundRect">
            <a:avLst>
              <a:gd name="adj" fmla="val 7018"/>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40" b="1" dirty="0">
                <a:solidFill>
                  <a:srgbClr val="F5F7FA"/>
                </a:solidFill>
              </a:rPr>
              <a:t>Report</a:t>
            </a:r>
            <a:endParaRPr lang="en-US" sz="1140" dirty="0"/>
          </a:p>
          <a:p>
            <a:pPr marL="0" indent="0" algn="ctr">
              <a:buNone/>
            </a:pPr>
            <a:r>
              <a:rPr lang="en-US" sz="1140" b="1" dirty="0">
                <a:solidFill>
                  <a:srgbClr val="F5F7FA"/>
                </a:solidFill>
              </a:rPr>
              <a:t>PDF coaching output</a:t>
            </a:r>
            <a:endParaRPr lang="en-US" sz="1140" dirty="0"/>
          </a:p>
        </p:txBody>
      </p:sp>
      <p:sp>
        <p:nvSpPr>
          <p:cNvPr id="14" name="Text 10"/>
          <p:cNvSpPr/>
          <p:nvPr/>
        </p:nvSpPr>
        <p:spPr>
          <a:xfrm>
            <a:off x="4882896" y="2935224"/>
            <a:ext cx="6537960" cy="1005840"/>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deliberate split: deterministic processing does the mechanical work, while the probabilistic agentic layer handles judgment. That separation is what makes the design easier to govern.</a:t>
            </a:r>
            <a:endParaRPr lang="en-US" sz="1620" dirty="0"/>
          </a:p>
        </p:txBody>
      </p:sp>
      <p:sp>
        <p:nvSpPr>
          <p:cNvPr id="15" name="Text 11"/>
          <p:cNvSpPr/>
          <p:nvPr/>
        </p:nvSpPr>
        <p:spPr>
          <a:xfrm>
            <a:off x="5439604" y="4502287"/>
            <a:ext cx="5757314" cy="1202434"/>
          </a:xfrm>
          <a:prstGeom prst="roundRect">
            <a:avLst>
              <a:gd name="adj" fmla="val 13514"/>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1600" b="1" dirty="0">
                <a:solidFill>
                  <a:schemeClr val="accent4"/>
                </a:solidFill>
              </a:rPr>
              <a:t>Let’s Deep Dive into the App UI Frontend &amp; Backend, processing, and Agentic layers and then review the AI-DLC behind it.</a:t>
            </a:r>
            <a:endParaRPr lang="en-US" sz="1600" dirty="0">
              <a:solidFill>
                <a:schemeClr val="accent4"/>
              </a:solidFill>
            </a:endParaRPr>
          </a:p>
        </p:txBody>
      </p:sp>
      <p:sp>
        <p:nvSpPr>
          <p:cNvPr id="16" name="Text 1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Accepted audio formats and video flag behavior come from the end-to-end processing flow.</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a:t>
            </a:fld>
            <a:endParaRPr lang="en-US"/>
          </a:p>
        </p:txBody>
      </p:sp>
      <p:pic>
        <p:nvPicPr>
          <p:cNvPr id="18" name="Picture 17">
            <a:extLst>
              <a:ext uri="{FF2B5EF4-FFF2-40B4-BE49-F238E27FC236}">
                <a16:creationId xmlns:a16="http://schemas.microsoft.com/office/drawing/2014/main" id="{A1977909-AC09-97E8-F183-63634F250948}"/>
              </a:ext>
            </a:extLst>
          </p:cNvPr>
          <p:cNvPicPr>
            <a:picLocks noChangeAspect="1"/>
          </p:cNvPicPr>
          <p:nvPr/>
        </p:nvPicPr>
        <p:blipFill>
          <a:blip r:embed="rId3"/>
          <a:srcRect l="1341" t="1267" r="1403" b="1483"/>
          <a:stretch>
            <a:fillRect/>
          </a:stretch>
        </p:blipFill>
        <p:spPr>
          <a:xfrm>
            <a:off x="689610" y="1341123"/>
            <a:ext cx="3592830" cy="2049776"/>
          </a:xfrm>
          <a:prstGeom prst="rect">
            <a:avLst/>
          </a:prstGeom>
          <a:ln>
            <a:solidFill>
              <a:schemeClr val="bg1"/>
            </a:solidFill>
          </a:ln>
        </p:spPr>
      </p:pic>
      <p:pic>
        <p:nvPicPr>
          <p:cNvPr id="20" name="Picture 19">
            <a:extLst>
              <a:ext uri="{FF2B5EF4-FFF2-40B4-BE49-F238E27FC236}">
                <a16:creationId xmlns:a16="http://schemas.microsoft.com/office/drawing/2014/main" id="{59462155-21A3-1518-3348-F18F75FE85B5}"/>
              </a:ext>
            </a:extLst>
          </p:cNvPr>
          <p:cNvPicPr>
            <a:picLocks noChangeAspect="1"/>
          </p:cNvPicPr>
          <p:nvPr/>
        </p:nvPicPr>
        <p:blipFill>
          <a:blip r:embed="rId4"/>
          <a:stretch>
            <a:fillRect/>
          </a:stretch>
        </p:blipFill>
        <p:spPr>
          <a:xfrm>
            <a:off x="689610" y="3701795"/>
            <a:ext cx="3592830" cy="2031057"/>
          </a:xfrm>
          <a:prstGeom prst="rect">
            <a:avLst/>
          </a:prstGeom>
          <a:ln>
            <a:solidFill>
              <a:schemeClr val="bg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EFCB6-6A21-32F3-F0FC-8A922BCFDE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A1A8FB-F794-2572-55E1-0AF0A13238AF}"/>
              </a:ext>
            </a:extLst>
          </p:cNvPr>
          <p:cNvSpPr txBox="1"/>
          <p:nvPr/>
        </p:nvSpPr>
        <p:spPr>
          <a:xfrm>
            <a:off x="4311250" y="2563905"/>
            <a:ext cx="3569503" cy="769441"/>
          </a:xfrm>
          <a:prstGeom prst="rect">
            <a:avLst/>
          </a:prstGeom>
          <a:noFill/>
        </p:spPr>
        <p:txBody>
          <a:bodyPr wrap="none" rtlCol="0">
            <a:spAutoFit/>
          </a:bodyPr>
          <a:lstStyle/>
          <a:p>
            <a:pPr algn="ctr"/>
            <a:r>
              <a:rPr lang="en-US" sz="4400" dirty="0">
                <a:solidFill>
                  <a:schemeClr val="bg1"/>
                </a:solidFill>
              </a:rPr>
              <a:t>The Web App</a:t>
            </a:r>
          </a:p>
        </p:txBody>
      </p:sp>
    </p:spTree>
    <p:extLst>
      <p:ext uri="{BB962C8B-B14F-4D97-AF65-F5344CB8AC3E}">
        <p14:creationId xmlns:p14="http://schemas.microsoft.com/office/powerpoint/2010/main" val="1695430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41CF-ECF7-7B68-B3C9-04A9D64F720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11E6903-61C0-1C63-7C9F-1C6E92105578}"/>
              </a:ext>
            </a:extLst>
          </p:cNvPr>
          <p:cNvPicPr>
            <a:picLocks noChangeAspect="1"/>
          </p:cNvPicPr>
          <p:nvPr/>
        </p:nvPicPr>
        <p:blipFill>
          <a:blip r:embed="rId2"/>
          <a:stretch>
            <a:fillRect/>
          </a:stretch>
        </p:blipFill>
        <p:spPr>
          <a:xfrm>
            <a:off x="792480" y="1490565"/>
            <a:ext cx="7701280" cy="4084156"/>
          </a:xfrm>
          <a:prstGeom prst="rect">
            <a:avLst/>
          </a:prstGeom>
          <a:ln>
            <a:solidFill>
              <a:schemeClr val="bg1"/>
            </a:solidFill>
          </a:ln>
        </p:spPr>
      </p:pic>
      <p:pic>
        <p:nvPicPr>
          <p:cNvPr id="13" name="Picture 12">
            <a:extLst>
              <a:ext uri="{FF2B5EF4-FFF2-40B4-BE49-F238E27FC236}">
                <a16:creationId xmlns:a16="http://schemas.microsoft.com/office/drawing/2014/main" id="{A46EDEF7-C837-86C0-EBB4-23300BAE36F6}"/>
              </a:ext>
            </a:extLst>
          </p:cNvPr>
          <p:cNvPicPr>
            <a:picLocks noChangeAspect="1"/>
          </p:cNvPicPr>
          <p:nvPr/>
        </p:nvPicPr>
        <p:blipFill>
          <a:blip r:embed="rId3"/>
          <a:stretch>
            <a:fillRect/>
          </a:stretch>
        </p:blipFill>
        <p:spPr>
          <a:xfrm>
            <a:off x="8972269" y="1490566"/>
            <a:ext cx="2104431" cy="4084156"/>
          </a:xfrm>
          <a:prstGeom prst="rect">
            <a:avLst/>
          </a:prstGeom>
          <a:ln>
            <a:solidFill>
              <a:schemeClr val="bg1"/>
            </a:solidFill>
          </a:ln>
        </p:spPr>
      </p:pic>
      <p:sp>
        <p:nvSpPr>
          <p:cNvPr id="14" name="Rectangle: Rounded Corners 13">
            <a:extLst>
              <a:ext uri="{FF2B5EF4-FFF2-40B4-BE49-F238E27FC236}">
                <a16:creationId xmlns:a16="http://schemas.microsoft.com/office/drawing/2014/main" id="{4CCC3DB1-C8B4-956D-D9C6-4E5BE028C619}"/>
              </a:ext>
            </a:extLst>
          </p:cNvPr>
          <p:cNvSpPr/>
          <p:nvPr/>
        </p:nvSpPr>
        <p:spPr>
          <a:xfrm>
            <a:off x="9382864" y="1571275"/>
            <a:ext cx="921864" cy="123164"/>
          </a:xfrm>
          <a:prstGeom prst="roundRect">
            <a:avLst/>
          </a:prstGeom>
          <a:solidFill>
            <a:srgbClr val="CCCC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347131D-5044-AF7A-13A1-0C58D542E06D}"/>
              </a:ext>
            </a:extLst>
          </p:cNvPr>
          <p:cNvSpPr txBox="1"/>
          <p:nvPr/>
        </p:nvSpPr>
        <p:spPr>
          <a:xfrm>
            <a:off x="4219575" y="5676900"/>
            <a:ext cx="635751" cy="369332"/>
          </a:xfrm>
          <a:prstGeom prst="rect">
            <a:avLst/>
          </a:prstGeom>
          <a:noFill/>
        </p:spPr>
        <p:txBody>
          <a:bodyPr wrap="none" rtlCol="0">
            <a:spAutoFit/>
          </a:bodyPr>
          <a:lstStyle/>
          <a:p>
            <a:pPr algn="ctr"/>
            <a:r>
              <a:rPr lang="en-US" dirty="0">
                <a:solidFill>
                  <a:schemeClr val="bg1"/>
                </a:solidFill>
              </a:rPr>
              <a:t>Web</a:t>
            </a:r>
          </a:p>
        </p:txBody>
      </p:sp>
      <p:sp>
        <p:nvSpPr>
          <p:cNvPr id="17" name="TextBox 16">
            <a:extLst>
              <a:ext uri="{FF2B5EF4-FFF2-40B4-BE49-F238E27FC236}">
                <a16:creationId xmlns:a16="http://schemas.microsoft.com/office/drawing/2014/main" id="{0E6317E6-21D1-4F5E-7C80-C4EA5A686F71}"/>
              </a:ext>
            </a:extLst>
          </p:cNvPr>
          <p:cNvSpPr txBox="1"/>
          <p:nvPr/>
        </p:nvSpPr>
        <p:spPr>
          <a:xfrm>
            <a:off x="9594718" y="5676900"/>
            <a:ext cx="859530" cy="369332"/>
          </a:xfrm>
          <a:prstGeom prst="rect">
            <a:avLst/>
          </a:prstGeom>
          <a:noFill/>
        </p:spPr>
        <p:txBody>
          <a:bodyPr wrap="none" rtlCol="0">
            <a:spAutoFit/>
          </a:bodyPr>
          <a:lstStyle/>
          <a:p>
            <a:pPr algn="ctr"/>
            <a:r>
              <a:rPr lang="en-US" dirty="0">
                <a:solidFill>
                  <a:schemeClr val="bg1"/>
                </a:solidFill>
              </a:rPr>
              <a:t>Mobile</a:t>
            </a:r>
          </a:p>
        </p:txBody>
      </p:sp>
      <p:sp>
        <p:nvSpPr>
          <p:cNvPr id="18" name="TextBox 17">
            <a:extLst>
              <a:ext uri="{FF2B5EF4-FFF2-40B4-BE49-F238E27FC236}">
                <a16:creationId xmlns:a16="http://schemas.microsoft.com/office/drawing/2014/main" id="{4953DF0B-0F67-E87C-D69F-93932F75A1B2}"/>
              </a:ext>
            </a:extLst>
          </p:cNvPr>
          <p:cNvSpPr txBox="1"/>
          <p:nvPr/>
        </p:nvSpPr>
        <p:spPr>
          <a:xfrm>
            <a:off x="4377229" y="819029"/>
            <a:ext cx="3437544" cy="523220"/>
          </a:xfrm>
          <a:prstGeom prst="rect">
            <a:avLst/>
          </a:prstGeom>
          <a:noFill/>
        </p:spPr>
        <p:txBody>
          <a:bodyPr wrap="none" rtlCol="0">
            <a:spAutoFit/>
          </a:bodyPr>
          <a:lstStyle/>
          <a:p>
            <a:pPr algn="ctr"/>
            <a:r>
              <a:rPr lang="en-US" sz="2800" dirty="0">
                <a:solidFill>
                  <a:schemeClr val="bg1"/>
                </a:solidFill>
              </a:rPr>
              <a:t>Responsive Web App</a:t>
            </a:r>
          </a:p>
        </p:txBody>
      </p:sp>
    </p:spTree>
    <p:extLst>
      <p:ext uri="{BB962C8B-B14F-4D97-AF65-F5344CB8AC3E}">
        <p14:creationId xmlns:p14="http://schemas.microsoft.com/office/powerpoint/2010/main" val="3197633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D270F-522F-1CFD-4DB3-C900DCD128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AA35386-0825-2265-9EEF-D3E3F7296974}"/>
              </a:ext>
            </a:extLst>
          </p:cNvPr>
          <p:cNvPicPr>
            <a:picLocks noChangeAspect="1"/>
          </p:cNvPicPr>
          <p:nvPr/>
        </p:nvPicPr>
        <p:blipFill>
          <a:blip r:embed="rId2"/>
          <a:stretch>
            <a:fillRect/>
          </a:stretch>
        </p:blipFill>
        <p:spPr>
          <a:xfrm>
            <a:off x="1259840" y="1740322"/>
            <a:ext cx="5730240" cy="2991125"/>
          </a:xfrm>
          <a:prstGeom prst="rect">
            <a:avLst/>
          </a:prstGeom>
          <a:ln>
            <a:solidFill>
              <a:schemeClr val="bg1"/>
            </a:solidFill>
          </a:ln>
        </p:spPr>
      </p:pic>
      <p:sp>
        <p:nvSpPr>
          <p:cNvPr id="5" name="TextBox 4">
            <a:extLst>
              <a:ext uri="{FF2B5EF4-FFF2-40B4-BE49-F238E27FC236}">
                <a16:creationId xmlns:a16="http://schemas.microsoft.com/office/drawing/2014/main" id="{7B2E4FD0-9720-7E6A-179D-7584AD0415AC}"/>
              </a:ext>
            </a:extLst>
          </p:cNvPr>
          <p:cNvSpPr txBox="1"/>
          <p:nvPr/>
        </p:nvSpPr>
        <p:spPr>
          <a:xfrm>
            <a:off x="7497703" y="1740322"/>
            <a:ext cx="4092402" cy="3231654"/>
          </a:xfrm>
          <a:prstGeom prst="rect">
            <a:avLst/>
          </a:prstGeom>
          <a:noFill/>
        </p:spPr>
        <p:txBody>
          <a:bodyPr wrap="none" rtlCol="0">
            <a:spAutoFit/>
          </a:bodyPr>
          <a:lstStyle/>
          <a:p>
            <a:r>
              <a:rPr lang="en-US" sz="2400" b="1" dirty="0">
                <a:solidFill>
                  <a:schemeClr val="bg1"/>
                </a:solidFill>
              </a:rPr>
              <a:t>Groups: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Users</a:t>
            </a:r>
          </a:p>
          <a:p>
            <a:pPr marL="285750" indent="-285750">
              <a:buFont typeface="Arial" panose="020B0604020202020204" pitchFamily="34" charset="0"/>
              <a:buChar char="•"/>
            </a:pPr>
            <a:r>
              <a:rPr lang="en-US" dirty="0">
                <a:solidFill>
                  <a:schemeClr val="bg1"/>
                </a:solidFill>
              </a:rPr>
              <a:t>Administrators</a:t>
            </a:r>
          </a:p>
          <a:p>
            <a:pPr marL="285750" indent="-285750">
              <a:buFont typeface="Arial" panose="020B0604020202020204" pitchFamily="34" charset="0"/>
              <a:buChar char="•"/>
            </a:pPr>
            <a:endParaRPr lang="en-US" dirty="0">
              <a:solidFill>
                <a:schemeClr val="bg1"/>
              </a:solidFill>
            </a:endParaRPr>
          </a:p>
          <a:p>
            <a:r>
              <a:rPr lang="en-US" dirty="0">
                <a:solidFill>
                  <a:schemeClr val="bg1"/>
                </a:solidFill>
              </a:rPr>
              <a:t>Other Cognito Functions implemented</a:t>
            </a:r>
          </a:p>
          <a:p>
            <a:pPr marL="285750" indent="-285750">
              <a:buFont typeface="Arial" panose="020B0604020202020204" pitchFamily="34" charset="0"/>
              <a:buChar char="•"/>
            </a:pPr>
            <a:r>
              <a:rPr lang="en-US" dirty="0">
                <a:solidFill>
                  <a:schemeClr val="bg1"/>
                </a:solidFill>
              </a:rPr>
              <a:t>User self signup</a:t>
            </a:r>
          </a:p>
          <a:p>
            <a:pPr marL="285750" indent="-285750">
              <a:buFont typeface="Arial" panose="020B0604020202020204" pitchFamily="34" charset="0"/>
              <a:buChar char="•"/>
            </a:pPr>
            <a:r>
              <a:rPr lang="en-US" dirty="0">
                <a:solidFill>
                  <a:schemeClr val="bg1"/>
                </a:solidFill>
              </a:rPr>
              <a:t>Password reset</a:t>
            </a:r>
          </a:p>
          <a:p>
            <a:pPr marL="285750" indent="-285750">
              <a:buFont typeface="Arial" panose="020B0604020202020204" pitchFamily="34" charset="0"/>
              <a:buChar char="•"/>
            </a:pPr>
            <a:r>
              <a:rPr lang="en-US" dirty="0">
                <a:solidFill>
                  <a:schemeClr val="bg1"/>
                </a:solidFill>
              </a:rPr>
              <a:t>Password recovery</a:t>
            </a:r>
          </a:p>
          <a:p>
            <a:pPr marL="285750" indent="-285750">
              <a:buFont typeface="Arial" panose="020B0604020202020204" pitchFamily="34" charset="0"/>
              <a:buChar char="•"/>
            </a:pPr>
            <a:r>
              <a:rPr lang="en-US" dirty="0">
                <a:solidFill>
                  <a:schemeClr val="bg1"/>
                </a:solidFill>
              </a:rPr>
              <a:t>MFA not implemented in MVP</a:t>
            </a:r>
          </a:p>
          <a:p>
            <a:endParaRPr lang="en-US" dirty="0">
              <a:solidFill>
                <a:schemeClr val="bg1"/>
              </a:solidFill>
            </a:endParaRPr>
          </a:p>
        </p:txBody>
      </p:sp>
      <p:sp>
        <p:nvSpPr>
          <p:cNvPr id="7" name="TextBox 6">
            <a:extLst>
              <a:ext uri="{FF2B5EF4-FFF2-40B4-BE49-F238E27FC236}">
                <a16:creationId xmlns:a16="http://schemas.microsoft.com/office/drawing/2014/main" id="{989868A7-B8D1-489F-531D-0A583DB981AC}"/>
              </a:ext>
            </a:extLst>
          </p:cNvPr>
          <p:cNvSpPr txBox="1"/>
          <p:nvPr/>
        </p:nvSpPr>
        <p:spPr>
          <a:xfrm>
            <a:off x="4139603" y="819029"/>
            <a:ext cx="3912802" cy="523220"/>
          </a:xfrm>
          <a:prstGeom prst="rect">
            <a:avLst/>
          </a:prstGeom>
          <a:noFill/>
        </p:spPr>
        <p:txBody>
          <a:bodyPr wrap="none" rtlCol="0">
            <a:spAutoFit/>
          </a:bodyPr>
          <a:lstStyle/>
          <a:p>
            <a:pPr algn="ctr"/>
            <a:r>
              <a:rPr lang="en-US" sz="2800" dirty="0">
                <a:solidFill>
                  <a:schemeClr val="bg1"/>
                </a:solidFill>
              </a:rPr>
              <a:t>Cognito Based User IAM</a:t>
            </a:r>
          </a:p>
        </p:txBody>
      </p:sp>
    </p:spTree>
    <p:extLst>
      <p:ext uri="{BB962C8B-B14F-4D97-AF65-F5344CB8AC3E}">
        <p14:creationId xmlns:p14="http://schemas.microsoft.com/office/powerpoint/2010/main" val="2722992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49A54-44A6-667B-6B27-AD8A528B570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311BF9A-164C-3B91-E56B-5379057928F9}"/>
              </a:ext>
            </a:extLst>
          </p:cNvPr>
          <p:cNvPicPr>
            <a:picLocks noChangeAspect="1"/>
          </p:cNvPicPr>
          <p:nvPr/>
        </p:nvPicPr>
        <p:blipFill>
          <a:blip r:embed="rId2"/>
          <a:stretch>
            <a:fillRect/>
          </a:stretch>
        </p:blipFill>
        <p:spPr>
          <a:xfrm>
            <a:off x="747252" y="1621806"/>
            <a:ext cx="7561006" cy="3897344"/>
          </a:xfrm>
          <a:prstGeom prst="rect">
            <a:avLst/>
          </a:prstGeom>
          <a:ln>
            <a:solidFill>
              <a:schemeClr val="bg1"/>
            </a:solidFill>
          </a:ln>
        </p:spPr>
      </p:pic>
      <p:sp>
        <p:nvSpPr>
          <p:cNvPr id="5" name="TextBox 4">
            <a:extLst>
              <a:ext uri="{FF2B5EF4-FFF2-40B4-BE49-F238E27FC236}">
                <a16:creationId xmlns:a16="http://schemas.microsoft.com/office/drawing/2014/main" id="{6604164B-2F4A-A760-0826-7CE778877B3C}"/>
              </a:ext>
            </a:extLst>
          </p:cNvPr>
          <p:cNvSpPr txBox="1"/>
          <p:nvPr/>
        </p:nvSpPr>
        <p:spPr>
          <a:xfrm>
            <a:off x="8612128" y="2209800"/>
            <a:ext cx="3435364"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File picker</a:t>
            </a:r>
          </a:p>
          <a:p>
            <a:pPr marL="285750" indent="-285750">
              <a:buFont typeface="Arial" panose="020B0604020202020204" pitchFamily="34" charset="0"/>
              <a:buChar char="•"/>
            </a:pPr>
            <a:r>
              <a:rPr lang="en-US" dirty="0">
                <a:solidFill>
                  <a:schemeClr val="bg1"/>
                </a:solidFill>
              </a:rPr>
              <a:t>Title </a:t>
            </a:r>
          </a:p>
          <a:p>
            <a:pPr marL="285750" indent="-285750">
              <a:buFont typeface="Arial" panose="020B0604020202020204" pitchFamily="34" charset="0"/>
              <a:buChar char="•"/>
            </a:pPr>
            <a:r>
              <a:rPr lang="en-US" dirty="0">
                <a:solidFill>
                  <a:schemeClr val="bg1"/>
                </a:solidFill>
              </a:rPr>
              <a:t>Description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Video File upload on roadmap</a:t>
            </a:r>
          </a:p>
        </p:txBody>
      </p:sp>
      <p:sp>
        <p:nvSpPr>
          <p:cNvPr id="7" name="TextBox 6">
            <a:extLst>
              <a:ext uri="{FF2B5EF4-FFF2-40B4-BE49-F238E27FC236}">
                <a16:creationId xmlns:a16="http://schemas.microsoft.com/office/drawing/2014/main" id="{EC6FA6FB-7415-76B7-2329-DD6894AE8AE8}"/>
              </a:ext>
            </a:extLst>
          </p:cNvPr>
          <p:cNvSpPr txBox="1"/>
          <p:nvPr/>
        </p:nvSpPr>
        <p:spPr>
          <a:xfrm>
            <a:off x="4606657" y="819029"/>
            <a:ext cx="2978701" cy="523220"/>
          </a:xfrm>
          <a:prstGeom prst="rect">
            <a:avLst/>
          </a:prstGeom>
          <a:noFill/>
        </p:spPr>
        <p:txBody>
          <a:bodyPr wrap="none" rtlCol="0">
            <a:spAutoFit/>
          </a:bodyPr>
          <a:lstStyle/>
          <a:p>
            <a:pPr algn="ctr"/>
            <a:r>
              <a:rPr lang="en-US" sz="2800" dirty="0">
                <a:solidFill>
                  <a:schemeClr val="bg1"/>
                </a:solidFill>
              </a:rPr>
              <a:t>Audio File Upload</a:t>
            </a:r>
          </a:p>
        </p:txBody>
      </p:sp>
    </p:spTree>
    <p:extLst>
      <p:ext uri="{BB962C8B-B14F-4D97-AF65-F5344CB8AC3E}">
        <p14:creationId xmlns:p14="http://schemas.microsoft.com/office/powerpoint/2010/main" val="3986683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B4F4A-AE2F-7DC1-A3FA-942B7648635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3656E90-E203-ADD6-121A-B9BA40406777}"/>
              </a:ext>
            </a:extLst>
          </p:cNvPr>
          <p:cNvPicPr>
            <a:picLocks noChangeAspect="1"/>
          </p:cNvPicPr>
          <p:nvPr/>
        </p:nvPicPr>
        <p:blipFill>
          <a:blip r:embed="rId2"/>
          <a:stretch>
            <a:fillRect/>
          </a:stretch>
        </p:blipFill>
        <p:spPr>
          <a:xfrm>
            <a:off x="747252" y="1609725"/>
            <a:ext cx="7561005" cy="3633725"/>
          </a:xfrm>
          <a:prstGeom prst="rect">
            <a:avLst/>
          </a:prstGeom>
          <a:ln>
            <a:solidFill>
              <a:schemeClr val="bg1"/>
            </a:solidFill>
          </a:ln>
        </p:spPr>
      </p:pic>
      <p:sp>
        <p:nvSpPr>
          <p:cNvPr id="10" name="TextBox 9">
            <a:extLst>
              <a:ext uri="{FF2B5EF4-FFF2-40B4-BE49-F238E27FC236}">
                <a16:creationId xmlns:a16="http://schemas.microsoft.com/office/drawing/2014/main" id="{B8D906B5-C50E-B344-566B-9DD095E11EB7}"/>
              </a:ext>
            </a:extLst>
          </p:cNvPr>
          <p:cNvSpPr txBox="1"/>
          <p:nvPr/>
        </p:nvSpPr>
        <p:spPr>
          <a:xfrm>
            <a:off x="8612128" y="2209800"/>
            <a:ext cx="3409716" cy="1846659"/>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Multiple steps</a:t>
            </a:r>
          </a:p>
          <a:p>
            <a:pPr marL="285750" indent="-285750">
              <a:buFont typeface="Arial" panose="020B0604020202020204" pitchFamily="34" charset="0"/>
              <a:buChar char="•"/>
            </a:pPr>
            <a:r>
              <a:rPr lang="en-US" dirty="0">
                <a:solidFill>
                  <a:schemeClr val="bg1"/>
                </a:solidFill>
              </a:rPr>
              <a:t>Realtime User status updates</a:t>
            </a:r>
          </a:p>
          <a:p>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5" name="TextBox 14">
            <a:extLst>
              <a:ext uri="{FF2B5EF4-FFF2-40B4-BE49-F238E27FC236}">
                <a16:creationId xmlns:a16="http://schemas.microsoft.com/office/drawing/2014/main" id="{20FDE4A1-1E9F-FC56-E4DE-16662A5B241E}"/>
              </a:ext>
            </a:extLst>
          </p:cNvPr>
          <p:cNvSpPr txBox="1"/>
          <p:nvPr/>
        </p:nvSpPr>
        <p:spPr>
          <a:xfrm>
            <a:off x="5152706" y="819029"/>
            <a:ext cx="1886607" cy="523220"/>
          </a:xfrm>
          <a:prstGeom prst="rect">
            <a:avLst/>
          </a:prstGeom>
          <a:noFill/>
        </p:spPr>
        <p:txBody>
          <a:bodyPr wrap="none" rtlCol="0">
            <a:spAutoFit/>
          </a:bodyPr>
          <a:lstStyle/>
          <a:p>
            <a:pPr algn="ctr"/>
            <a:r>
              <a:rPr lang="en-US" sz="2800" dirty="0">
                <a:solidFill>
                  <a:schemeClr val="bg1"/>
                </a:solidFill>
              </a:rPr>
              <a:t>Processing</a:t>
            </a:r>
          </a:p>
        </p:txBody>
      </p:sp>
    </p:spTree>
    <p:extLst>
      <p:ext uri="{BB962C8B-B14F-4D97-AF65-F5344CB8AC3E}">
        <p14:creationId xmlns:p14="http://schemas.microsoft.com/office/powerpoint/2010/main" val="1604931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74083-5A87-F4AE-172C-0CD7DCB2AAA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22EC60-C1D9-4453-CE98-949997BC42C0}"/>
              </a:ext>
            </a:extLst>
          </p:cNvPr>
          <p:cNvPicPr>
            <a:picLocks noChangeAspect="1"/>
          </p:cNvPicPr>
          <p:nvPr/>
        </p:nvPicPr>
        <p:blipFill>
          <a:blip r:embed="rId2"/>
          <a:srcRect l="1664" t="25120"/>
          <a:stretch>
            <a:fillRect/>
          </a:stretch>
        </p:blipFill>
        <p:spPr>
          <a:xfrm>
            <a:off x="120272" y="1972340"/>
            <a:ext cx="9145181" cy="1163467"/>
          </a:xfrm>
          <a:prstGeom prst="rect">
            <a:avLst/>
          </a:prstGeom>
        </p:spPr>
      </p:pic>
      <p:pic>
        <p:nvPicPr>
          <p:cNvPr id="3" name="Picture 2">
            <a:extLst>
              <a:ext uri="{FF2B5EF4-FFF2-40B4-BE49-F238E27FC236}">
                <a16:creationId xmlns:a16="http://schemas.microsoft.com/office/drawing/2014/main" id="{DF46E77A-9441-3E10-7899-CD3C6F29125A}"/>
              </a:ext>
            </a:extLst>
          </p:cNvPr>
          <p:cNvPicPr>
            <a:picLocks noChangeAspect="1"/>
          </p:cNvPicPr>
          <p:nvPr/>
        </p:nvPicPr>
        <p:blipFill>
          <a:blip r:embed="rId3"/>
          <a:srcRect t="1727" b="7548"/>
          <a:stretch>
            <a:fillRect/>
          </a:stretch>
        </p:blipFill>
        <p:spPr>
          <a:xfrm>
            <a:off x="61796" y="3147236"/>
            <a:ext cx="9141711" cy="1142205"/>
          </a:xfrm>
          <a:prstGeom prst="rect">
            <a:avLst/>
          </a:prstGeom>
        </p:spPr>
      </p:pic>
      <p:pic>
        <p:nvPicPr>
          <p:cNvPr id="4" name="Picture 3">
            <a:extLst>
              <a:ext uri="{FF2B5EF4-FFF2-40B4-BE49-F238E27FC236}">
                <a16:creationId xmlns:a16="http://schemas.microsoft.com/office/drawing/2014/main" id="{28FAA736-D6F3-5DA2-8E4E-E4F45A5516E6}"/>
              </a:ext>
            </a:extLst>
          </p:cNvPr>
          <p:cNvPicPr>
            <a:picLocks noChangeAspect="1"/>
          </p:cNvPicPr>
          <p:nvPr/>
        </p:nvPicPr>
        <p:blipFill>
          <a:blip r:embed="rId4"/>
          <a:srcRect t="7155"/>
          <a:stretch>
            <a:fillRect/>
          </a:stretch>
        </p:blipFill>
        <p:spPr>
          <a:xfrm>
            <a:off x="61796" y="4300870"/>
            <a:ext cx="9226684" cy="1154508"/>
          </a:xfrm>
          <a:prstGeom prst="rect">
            <a:avLst/>
          </a:prstGeom>
        </p:spPr>
      </p:pic>
      <p:pic>
        <p:nvPicPr>
          <p:cNvPr id="5" name="Picture 4">
            <a:extLst>
              <a:ext uri="{FF2B5EF4-FFF2-40B4-BE49-F238E27FC236}">
                <a16:creationId xmlns:a16="http://schemas.microsoft.com/office/drawing/2014/main" id="{9FB70D82-881F-4DA4-9C90-7ED47F258968}"/>
              </a:ext>
            </a:extLst>
          </p:cNvPr>
          <p:cNvPicPr>
            <a:picLocks noChangeAspect="1"/>
          </p:cNvPicPr>
          <p:nvPr/>
        </p:nvPicPr>
        <p:blipFill>
          <a:blip r:embed="rId5"/>
          <a:srcRect t="2999"/>
          <a:stretch>
            <a:fillRect/>
          </a:stretch>
        </p:blipFill>
        <p:spPr>
          <a:xfrm>
            <a:off x="120272" y="5466806"/>
            <a:ext cx="9141714" cy="1211720"/>
          </a:xfrm>
          <a:prstGeom prst="rect">
            <a:avLst/>
          </a:prstGeom>
        </p:spPr>
      </p:pic>
      <p:sp>
        <p:nvSpPr>
          <p:cNvPr id="9" name="TextBox 8">
            <a:extLst>
              <a:ext uri="{FF2B5EF4-FFF2-40B4-BE49-F238E27FC236}">
                <a16:creationId xmlns:a16="http://schemas.microsoft.com/office/drawing/2014/main" id="{D45241CF-B1CD-8CD5-5D2C-FD16E82B496D}"/>
              </a:ext>
            </a:extLst>
          </p:cNvPr>
          <p:cNvSpPr txBox="1"/>
          <p:nvPr/>
        </p:nvSpPr>
        <p:spPr>
          <a:xfrm>
            <a:off x="9307916" y="2322280"/>
            <a:ext cx="2516532" cy="923330"/>
          </a:xfrm>
          <a:prstGeom prst="rect">
            <a:avLst/>
          </a:prstGeom>
          <a:noFill/>
        </p:spPr>
        <p:txBody>
          <a:bodyPr wrap="square" rtlCol="0">
            <a:spAutoFit/>
          </a:bodyPr>
          <a:lstStyle/>
          <a:p>
            <a:r>
              <a:rPr lang="en-US" b="1" dirty="0">
                <a:solidFill>
                  <a:srgbClr val="FFC000"/>
                </a:solidFill>
              </a:rPr>
              <a:t>Pending: </a:t>
            </a:r>
            <a:r>
              <a:rPr lang="en-US" dirty="0">
                <a:solidFill>
                  <a:schemeClr val="bg1"/>
                </a:solidFill>
              </a:rPr>
              <a:t>User</a:t>
            </a:r>
            <a:r>
              <a:rPr lang="en-US" b="1" dirty="0">
                <a:solidFill>
                  <a:srgbClr val="FFC000"/>
                </a:solidFill>
              </a:rPr>
              <a:t> </a:t>
            </a:r>
            <a:r>
              <a:rPr lang="en-US" dirty="0">
                <a:solidFill>
                  <a:schemeClr val="bg1"/>
                </a:solidFill>
              </a:rPr>
              <a:t>uploaded unprocessed audio file</a:t>
            </a:r>
          </a:p>
        </p:txBody>
      </p:sp>
      <p:sp>
        <p:nvSpPr>
          <p:cNvPr id="11" name="TextBox 10">
            <a:extLst>
              <a:ext uri="{FF2B5EF4-FFF2-40B4-BE49-F238E27FC236}">
                <a16:creationId xmlns:a16="http://schemas.microsoft.com/office/drawing/2014/main" id="{2D60A16F-2658-BE82-1003-611C7B109448}"/>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sp>
        <p:nvSpPr>
          <p:cNvPr id="13" name="TextBox 12">
            <a:extLst>
              <a:ext uri="{FF2B5EF4-FFF2-40B4-BE49-F238E27FC236}">
                <a16:creationId xmlns:a16="http://schemas.microsoft.com/office/drawing/2014/main" id="{DC1D84D4-C9A7-EC8C-C546-E25C49D1770E}"/>
              </a:ext>
            </a:extLst>
          </p:cNvPr>
          <p:cNvSpPr txBox="1"/>
          <p:nvPr/>
        </p:nvSpPr>
        <p:spPr>
          <a:xfrm>
            <a:off x="9307915" y="3527002"/>
            <a:ext cx="2516532" cy="646331"/>
          </a:xfrm>
          <a:prstGeom prst="rect">
            <a:avLst/>
          </a:prstGeom>
          <a:noFill/>
        </p:spPr>
        <p:txBody>
          <a:bodyPr wrap="square" rtlCol="0">
            <a:spAutoFit/>
          </a:bodyPr>
          <a:lstStyle/>
          <a:p>
            <a:r>
              <a:rPr lang="en-US" b="1" dirty="0">
                <a:solidFill>
                  <a:srgbClr val="FFC000"/>
                </a:solidFill>
              </a:rPr>
              <a:t>Processing: </a:t>
            </a:r>
            <a:r>
              <a:rPr lang="en-US" dirty="0">
                <a:solidFill>
                  <a:schemeClr val="bg1"/>
                </a:solidFill>
              </a:rPr>
              <a:t>Transcription and prep</a:t>
            </a:r>
          </a:p>
        </p:txBody>
      </p:sp>
      <p:sp>
        <p:nvSpPr>
          <p:cNvPr id="15" name="TextBox 14">
            <a:extLst>
              <a:ext uri="{FF2B5EF4-FFF2-40B4-BE49-F238E27FC236}">
                <a16:creationId xmlns:a16="http://schemas.microsoft.com/office/drawing/2014/main" id="{31A041A7-21B5-5DC8-09E5-A810E83834B5}"/>
              </a:ext>
            </a:extLst>
          </p:cNvPr>
          <p:cNvSpPr txBox="1"/>
          <p:nvPr/>
        </p:nvSpPr>
        <p:spPr>
          <a:xfrm>
            <a:off x="9316880" y="4706892"/>
            <a:ext cx="2516532" cy="646331"/>
          </a:xfrm>
          <a:prstGeom prst="rect">
            <a:avLst/>
          </a:prstGeom>
          <a:noFill/>
        </p:spPr>
        <p:txBody>
          <a:bodyPr wrap="square" rtlCol="0">
            <a:spAutoFit/>
          </a:bodyPr>
          <a:lstStyle/>
          <a:p>
            <a:r>
              <a:rPr lang="en-US" b="1" dirty="0">
                <a:solidFill>
                  <a:srgbClr val="FFC000"/>
                </a:solidFill>
              </a:rPr>
              <a:t>Waiting: </a:t>
            </a:r>
            <a:r>
              <a:rPr lang="en-US" dirty="0">
                <a:solidFill>
                  <a:schemeClr val="bg1"/>
                </a:solidFill>
              </a:rPr>
              <a:t>Queued for Agentic Evaluation </a:t>
            </a:r>
          </a:p>
        </p:txBody>
      </p:sp>
      <p:sp>
        <p:nvSpPr>
          <p:cNvPr id="17" name="TextBox 16">
            <a:extLst>
              <a:ext uri="{FF2B5EF4-FFF2-40B4-BE49-F238E27FC236}">
                <a16:creationId xmlns:a16="http://schemas.microsoft.com/office/drawing/2014/main" id="{D75E8002-2833-25B6-2B62-7EF2F26CD749}"/>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Evaluation: </a:t>
            </a:r>
            <a:r>
              <a:rPr lang="en-US" dirty="0">
                <a:solidFill>
                  <a:schemeClr val="bg1"/>
                </a:solidFill>
              </a:rPr>
              <a:t>Agentic analysis in progress</a:t>
            </a:r>
          </a:p>
        </p:txBody>
      </p:sp>
      <p:sp>
        <p:nvSpPr>
          <p:cNvPr id="21" name="TextBox 20">
            <a:extLst>
              <a:ext uri="{FF2B5EF4-FFF2-40B4-BE49-F238E27FC236}">
                <a16:creationId xmlns:a16="http://schemas.microsoft.com/office/drawing/2014/main" id="{661D0DFE-810D-98CA-630F-70A74467C502}"/>
              </a:ext>
            </a:extLst>
          </p:cNvPr>
          <p:cNvSpPr txBox="1"/>
          <p:nvPr/>
        </p:nvSpPr>
        <p:spPr>
          <a:xfrm>
            <a:off x="1662126" y="1603008"/>
            <a:ext cx="5941049" cy="369332"/>
          </a:xfrm>
          <a:prstGeom prst="rect">
            <a:avLst/>
          </a:prstGeom>
          <a:noFill/>
        </p:spPr>
        <p:txBody>
          <a:bodyPr wrap="square" rtlCol="0">
            <a:spAutoFit/>
          </a:bodyPr>
          <a:lstStyle/>
          <a:p>
            <a:pPr algn="ctr"/>
            <a:r>
              <a:rPr lang="en-US" b="1" dirty="0">
                <a:solidFill>
                  <a:srgbClr val="FFC000"/>
                </a:solidFill>
              </a:rPr>
              <a:t>Start of Presentation Coach Process</a:t>
            </a:r>
            <a:endParaRPr lang="en-US" dirty="0">
              <a:solidFill>
                <a:schemeClr val="bg1"/>
              </a:solidFill>
            </a:endParaRPr>
          </a:p>
        </p:txBody>
      </p:sp>
    </p:spTree>
    <p:extLst>
      <p:ext uri="{BB962C8B-B14F-4D97-AF65-F5344CB8AC3E}">
        <p14:creationId xmlns:p14="http://schemas.microsoft.com/office/powerpoint/2010/main" val="3293378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F36A2-A0F3-C823-5C5D-D55F9884C55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C7A073B-9531-8155-9070-6C910D7BFE9A}"/>
              </a:ext>
            </a:extLst>
          </p:cNvPr>
          <p:cNvPicPr>
            <a:picLocks noChangeAspect="1"/>
          </p:cNvPicPr>
          <p:nvPr/>
        </p:nvPicPr>
        <p:blipFill>
          <a:blip r:embed="rId2"/>
          <a:srcRect t="76550" b="3302"/>
          <a:stretch>
            <a:fillRect/>
          </a:stretch>
        </p:blipFill>
        <p:spPr>
          <a:xfrm>
            <a:off x="76199" y="5512028"/>
            <a:ext cx="9083631" cy="907822"/>
          </a:xfrm>
          <a:prstGeom prst="rect">
            <a:avLst/>
          </a:prstGeom>
          <a:ln>
            <a:noFill/>
          </a:ln>
        </p:spPr>
      </p:pic>
      <p:sp>
        <p:nvSpPr>
          <p:cNvPr id="15" name="TextBox 14">
            <a:extLst>
              <a:ext uri="{FF2B5EF4-FFF2-40B4-BE49-F238E27FC236}">
                <a16:creationId xmlns:a16="http://schemas.microsoft.com/office/drawing/2014/main" id="{3C79C44E-4EC3-37E9-0205-F0D18C760B0A}"/>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pic>
        <p:nvPicPr>
          <p:cNvPr id="3" name="Picture 2">
            <a:extLst>
              <a:ext uri="{FF2B5EF4-FFF2-40B4-BE49-F238E27FC236}">
                <a16:creationId xmlns:a16="http://schemas.microsoft.com/office/drawing/2014/main" id="{A5C5E147-4065-1995-FDEE-308D0CDC8057}"/>
              </a:ext>
            </a:extLst>
          </p:cNvPr>
          <p:cNvPicPr>
            <a:picLocks noChangeAspect="1"/>
          </p:cNvPicPr>
          <p:nvPr/>
        </p:nvPicPr>
        <p:blipFill>
          <a:blip r:embed="rId3"/>
          <a:srcRect l="-208" t="2131" r="208" b="-592"/>
          <a:stretch>
            <a:fillRect/>
          </a:stretch>
        </p:blipFill>
        <p:spPr>
          <a:xfrm>
            <a:off x="95250" y="2509449"/>
            <a:ext cx="9080500" cy="1165706"/>
          </a:xfrm>
          <a:prstGeom prst="rect">
            <a:avLst/>
          </a:prstGeom>
        </p:spPr>
      </p:pic>
      <p:pic>
        <p:nvPicPr>
          <p:cNvPr id="6" name="Picture 5">
            <a:extLst>
              <a:ext uri="{FF2B5EF4-FFF2-40B4-BE49-F238E27FC236}">
                <a16:creationId xmlns:a16="http://schemas.microsoft.com/office/drawing/2014/main" id="{63817FD1-0DF4-8DC8-F97A-35BDB974EA99}"/>
              </a:ext>
            </a:extLst>
          </p:cNvPr>
          <p:cNvPicPr>
            <a:picLocks noChangeAspect="1"/>
          </p:cNvPicPr>
          <p:nvPr/>
        </p:nvPicPr>
        <p:blipFill>
          <a:blip r:embed="rId4"/>
          <a:srcRect t="2746"/>
          <a:stretch>
            <a:fillRect/>
          </a:stretch>
        </p:blipFill>
        <p:spPr>
          <a:xfrm>
            <a:off x="181146" y="3685292"/>
            <a:ext cx="9032703" cy="1180104"/>
          </a:xfrm>
          <a:prstGeom prst="rect">
            <a:avLst/>
          </a:prstGeom>
        </p:spPr>
      </p:pic>
      <p:sp>
        <p:nvSpPr>
          <p:cNvPr id="11" name="TextBox 10">
            <a:extLst>
              <a:ext uri="{FF2B5EF4-FFF2-40B4-BE49-F238E27FC236}">
                <a16:creationId xmlns:a16="http://schemas.microsoft.com/office/drawing/2014/main" id="{9523CFD9-C324-E85F-E0B2-2FBEE43BBAA9}"/>
              </a:ext>
            </a:extLst>
          </p:cNvPr>
          <p:cNvSpPr txBox="1"/>
          <p:nvPr/>
        </p:nvSpPr>
        <p:spPr>
          <a:xfrm>
            <a:off x="9307915" y="2890507"/>
            <a:ext cx="2516532" cy="923330"/>
          </a:xfrm>
          <a:prstGeom prst="rect">
            <a:avLst/>
          </a:prstGeom>
          <a:noFill/>
        </p:spPr>
        <p:txBody>
          <a:bodyPr wrap="square" rtlCol="0">
            <a:spAutoFit/>
          </a:bodyPr>
          <a:lstStyle/>
          <a:p>
            <a:r>
              <a:rPr lang="en-US" b="1" dirty="0">
                <a:solidFill>
                  <a:srgbClr val="FFC000"/>
                </a:solidFill>
              </a:rPr>
              <a:t>Generating Report: </a:t>
            </a:r>
            <a:r>
              <a:rPr lang="en-US" dirty="0">
                <a:solidFill>
                  <a:schemeClr val="bg1"/>
                </a:solidFill>
              </a:rPr>
              <a:t>Final report is being created</a:t>
            </a:r>
          </a:p>
        </p:txBody>
      </p:sp>
      <p:sp>
        <p:nvSpPr>
          <p:cNvPr id="12" name="TextBox 11">
            <a:extLst>
              <a:ext uri="{FF2B5EF4-FFF2-40B4-BE49-F238E27FC236}">
                <a16:creationId xmlns:a16="http://schemas.microsoft.com/office/drawing/2014/main" id="{61869B0F-B6B7-FCF9-ABB6-EEC50442F523}"/>
              </a:ext>
            </a:extLst>
          </p:cNvPr>
          <p:cNvSpPr txBox="1"/>
          <p:nvPr/>
        </p:nvSpPr>
        <p:spPr>
          <a:xfrm>
            <a:off x="9316880" y="4070397"/>
            <a:ext cx="2516532" cy="646331"/>
          </a:xfrm>
          <a:prstGeom prst="rect">
            <a:avLst/>
          </a:prstGeom>
          <a:noFill/>
        </p:spPr>
        <p:txBody>
          <a:bodyPr wrap="square" rtlCol="0">
            <a:spAutoFit/>
          </a:bodyPr>
          <a:lstStyle/>
          <a:p>
            <a:r>
              <a:rPr lang="en-US" b="1" dirty="0">
                <a:solidFill>
                  <a:srgbClr val="FFC000"/>
                </a:solidFill>
              </a:rPr>
              <a:t>Completed: </a:t>
            </a:r>
            <a:r>
              <a:rPr lang="en-US" dirty="0">
                <a:solidFill>
                  <a:schemeClr val="bg1"/>
                </a:solidFill>
              </a:rPr>
              <a:t>Report is ready for download</a:t>
            </a:r>
          </a:p>
        </p:txBody>
      </p:sp>
      <p:sp>
        <p:nvSpPr>
          <p:cNvPr id="13" name="TextBox 12">
            <a:extLst>
              <a:ext uri="{FF2B5EF4-FFF2-40B4-BE49-F238E27FC236}">
                <a16:creationId xmlns:a16="http://schemas.microsoft.com/office/drawing/2014/main" id="{C3BFBDDC-225E-837B-3913-A2C325E0EECD}"/>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Failed: </a:t>
            </a:r>
            <a:r>
              <a:rPr lang="en-US" dirty="0">
                <a:solidFill>
                  <a:schemeClr val="bg1"/>
                </a:solidFill>
              </a:rPr>
              <a:t>An error has halted processing</a:t>
            </a:r>
          </a:p>
        </p:txBody>
      </p:sp>
      <p:sp>
        <p:nvSpPr>
          <p:cNvPr id="17" name="TextBox 16">
            <a:extLst>
              <a:ext uri="{FF2B5EF4-FFF2-40B4-BE49-F238E27FC236}">
                <a16:creationId xmlns:a16="http://schemas.microsoft.com/office/drawing/2014/main" id="{85644FB4-7FD4-3D3F-FCAC-91721B86B54F}"/>
              </a:ext>
            </a:extLst>
          </p:cNvPr>
          <p:cNvSpPr txBox="1"/>
          <p:nvPr/>
        </p:nvSpPr>
        <p:spPr>
          <a:xfrm>
            <a:off x="1831348" y="4852752"/>
            <a:ext cx="5941049" cy="369332"/>
          </a:xfrm>
          <a:prstGeom prst="rect">
            <a:avLst/>
          </a:prstGeom>
          <a:noFill/>
        </p:spPr>
        <p:txBody>
          <a:bodyPr wrap="square" rtlCol="0">
            <a:spAutoFit/>
          </a:bodyPr>
          <a:lstStyle/>
          <a:p>
            <a:pPr algn="ctr"/>
            <a:r>
              <a:rPr lang="en-US" b="1" dirty="0">
                <a:solidFill>
                  <a:srgbClr val="FFC000"/>
                </a:solidFill>
              </a:rPr>
              <a:t>End of “Happy Path” Presentation Coach Process</a:t>
            </a:r>
            <a:endParaRPr lang="en-US" dirty="0">
              <a:solidFill>
                <a:schemeClr val="bg1"/>
              </a:solidFill>
            </a:endParaRPr>
          </a:p>
        </p:txBody>
      </p:sp>
    </p:spTree>
    <p:extLst>
      <p:ext uri="{BB962C8B-B14F-4D97-AF65-F5344CB8AC3E}">
        <p14:creationId xmlns:p14="http://schemas.microsoft.com/office/powerpoint/2010/main" val="2746949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9A1AA-E05F-D4B6-8370-3F7BB4A2C53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D3AD738-01AE-69F3-3075-9D04AD2E7138}"/>
              </a:ext>
            </a:extLst>
          </p:cNvPr>
          <p:cNvPicPr>
            <a:picLocks noChangeAspect="1"/>
          </p:cNvPicPr>
          <p:nvPr/>
        </p:nvPicPr>
        <p:blipFill>
          <a:blip r:embed="rId3"/>
          <a:stretch>
            <a:fillRect/>
          </a:stretch>
        </p:blipFill>
        <p:spPr>
          <a:xfrm>
            <a:off x="747253" y="1609726"/>
            <a:ext cx="7561006" cy="3736728"/>
          </a:xfrm>
          <a:prstGeom prst="rect">
            <a:avLst/>
          </a:prstGeom>
        </p:spPr>
      </p:pic>
      <p:sp>
        <p:nvSpPr>
          <p:cNvPr id="7" name="TextBox 6">
            <a:extLst>
              <a:ext uri="{FF2B5EF4-FFF2-40B4-BE49-F238E27FC236}">
                <a16:creationId xmlns:a16="http://schemas.microsoft.com/office/drawing/2014/main" id="{DE0632AC-DD57-B6BA-4107-A8F04DCBBEC1}"/>
              </a:ext>
            </a:extLst>
          </p:cNvPr>
          <p:cNvSpPr txBox="1"/>
          <p:nvPr/>
        </p:nvSpPr>
        <p:spPr>
          <a:xfrm>
            <a:off x="8612128" y="2209800"/>
            <a:ext cx="3568926"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Current status of analysis</a:t>
            </a:r>
          </a:p>
          <a:p>
            <a:pPr marL="285750" indent="-285750">
              <a:buFont typeface="Arial" panose="020B0604020202020204" pitchFamily="34" charset="0"/>
              <a:buChar char="•"/>
            </a:pPr>
            <a:r>
              <a:rPr lang="en-US" dirty="0">
                <a:solidFill>
                  <a:schemeClr val="bg1"/>
                </a:solidFill>
              </a:rPr>
              <a:t>Data entered by User displayed</a:t>
            </a:r>
          </a:p>
          <a:p>
            <a:pPr marL="285750" indent="-285750">
              <a:buFont typeface="Arial" panose="020B0604020202020204" pitchFamily="34" charset="0"/>
              <a:buChar char="•"/>
            </a:pPr>
            <a:r>
              <a:rPr lang="en-US" dirty="0">
                <a:solidFill>
                  <a:schemeClr val="bg1"/>
                </a:solidFill>
              </a:rPr>
              <a:t>Download report link</a:t>
            </a:r>
          </a:p>
          <a:p>
            <a:pPr marL="285750" indent="-285750">
              <a:buFont typeface="Arial" panose="020B0604020202020204" pitchFamily="34" charset="0"/>
              <a:buChar char="•"/>
            </a:pPr>
            <a:r>
              <a:rPr lang="en-US" dirty="0">
                <a:solidFill>
                  <a:schemeClr val="bg1"/>
                </a:solidFill>
              </a:rPr>
              <a:t>Delete link</a:t>
            </a:r>
          </a:p>
          <a:p>
            <a:pPr marL="285750" indent="-285750">
              <a:buFont typeface="Arial" panose="020B0604020202020204" pitchFamily="34" charset="0"/>
              <a:buChar char="•"/>
            </a:pPr>
            <a:endParaRPr lang="en-US" dirty="0">
              <a:solidFill>
                <a:schemeClr val="bg1"/>
              </a:solidFill>
            </a:endParaRPr>
          </a:p>
        </p:txBody>
      </p:sp>
      <p:sp>
        <p:nvSpPr>
          <p:cNvPr id="10" name="TextBox 9">
            <a:extLst>
              <a:ext uri="{FF2B5EF4-FFF2-40B4-BE49-F238E27FC236}">
                <a16:creationId xmlns:a16="http://schemas.microsoft.com/office/drawing/2014/main" id="{13F48FF0-0855-2B41-D399-A6D8B1530D23}"/>
              </a:ext>
            </a:extLst>
          </p:cNvPr>
          <p:cNvSpPr txBox="1"/>
          <p:nvPr/>
        </p:nvSpPr>
        <p:spPr>
          <a:xfrm>
            <a:off x="4115374" y="819029"/>
            <a:ext cx="3961277" cy="523220"/>
          </a:xfrm>
          <a:prstGeom prst="rect">
            <a:avLst/>
          </a:prstGeom>
          <a:noFill/>
        </p:spPr>
        <p:txBody>
          <a:bodyPr wrap="none" rtlCol="0">
            <a:spAutoFit/>
          </a:bodyPr>
          <a:lstStyle/>
          <a:p>
            <a:pPr algn="ctr"/>
            <a:r>
              <a:rPr lang="en-US" sz="2800" dirty="0">
                <a:solidFill>
                  <a:schemeClr val="bg1"/>
                </a:solidFill>
              </a:rPr>
              <a:t>Report is Ready to Read</a:t>
            </a:r>
          </a:p>
        </p:txBody>
      </p:sp>
    </p:spTree>
    <p:extLst>
      <p:ext uri="{BB962C8B-B14F-4D97-AF65-F5344CB8AC3E}">
        <p14:creationId xmlns:p14="http://schemas.microsoft.com/office/powerpoint/2010/main" val="838995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885F-3D4C-C2B3-BFCA-D2B056E2DC7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9EB30CE-7F41-ABE3-1157-980FD0B53C37}"/>
              </a:ext>
            </a:extLst>
          </p:cNvPr>
          <p:cNvSpPr txBox="1"/>
          <p:nvPr/>
        </p:nvSpPr>
        <p:spPr>
          <a:xfrm>
            <a:off x="7599551" y="2209800"/>
            <a:ext cx="4514324" cy="3785652"/>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Detailed feedback across 7 dimensions: </a:t>
            </a:r>
          </a:p>
          <a:p>
            <a:pPr marL="285750" indent="-285750">
              <a:buFont typeface="Arial" panose="020B0604020202020204" pitchFamily="34" charset="0"/>
              <a:buChar char="•"/>
            </a:pPr>
            <a:r>
              <a:rPr lang="en-US" dirty="0">
                <a:solidFill>
                  <a:schemeClr val="bg1"/>
                </a:solidFill>
              </a:rPr>
              <a:t>Delivery</a:t>
            </a:r>
          </a:p>
          <a:p>
            <a:pPr marL="285750" indent="-285750">
              <a:buFont typeface="Arial" panose="020B0604020202020204" pitchFamily="34" charset="0"/>
              <a:buChar char="•"/>
            </a:pPr>
            <a:r>
              <a:rPr lang="en-US" dirty="0">
                <a:solidFill>
                  <a:schemeClr val="bg1"/>
                </a:solidFill>
              </a:rPr>
              <a:t>Structure</a:t>
            </a:r>
          </a:p>
          <a:p>
            <a:pPr marL="285750" indent="-285750">
              <a:buFont typeface="Arial" panose="020B0604020202020204" pitchFamily="34" charset="0"/>
              <a:buChar char="•"/>
            </a:pPr>
            <a:r>
              <a:rPr lang="en-US" dirty="0">
                <a:solidFill>
                  <a:schemeClr val="bg1"/>
                </a:solidFill>
              </a:rPr>
              <a:t>Executive presence</a:t>
            </a:r>
          </a:p>
          <a:p>
            <a:pPr marL="285750" indent="-285750">
              <a:buFont typeface="Arial" panose="020B0604020202020204" pitchFamily="34" charset="0"/>
              <a:buChar char="•"/>
            </a:pPr>
            <a:r>
              <a:rPr lang="en-US" dirty="0">
                <a:solidFill>
                  <a:schemeClr val="bg1"/>
                </a:solidFill>
              </a:rPr>
              <a:t>Technical communication</a:t>
            </a:r>
          </a:p>
          <a:p>
            <a:pPr marL="285750" indent="-285750">
              <a:buFont typeface="Arial" panose="020B0604020202020204" pitchFamily="34" charset="0"/>
              <a:buChar char="•"/>
            </a:pPr>
            <a:r>
              <a:rPr lang="en-US" dirty="0">
                <a:solidFill>
                  <a:schemeClr val="bg1"/>
                </a:solidFill>
              </a:rPr>
              <a:t>Audience engagement</a:t>
            </a:r>
          </a:p>
          <a:p>
            <a:pPr marL="285750" indent="-285750">
              <a:buFont typeface="Arial" panose="020B0604020202020204" pitchFamily="34" charset="0"/>
              <a:buChar char="•"/>
            </a:pPr>
            <a:r>
              <a:rPr lang="en-US" dirty="0">
                <a:solidFill>
                  <a:schemeClr val="bg1"/>
                </a:solidFill>
              </a:rPr>
              <a:t>Pacing</a:t>
            </a:r>
          </a:p>
          <a:p>
            <a:pPr marL="285750" indent="-285750">
              <a:buFont typeface="Arial" panose="020B0604020202020204" pitchFamily="34" charset="0"/>
              <a:buChar char="•"/>
            </a:pPr>
            <a:r>
              <a:rPr lang="en-US" dirty="0">
                <a:solidFill>
                  <a:schemeClr val="bg1"/>
                </a:solidFill>
              </a:rPr>
              <a:t>Persuasion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3" name="TextBox 12">
            <a:extLst>
              <a:ext uri="{FF2B5EF4-FFF2-40B4-BE49-F238E27FC236}">
                <a16:creationId xmlns:a16="http://schemas.microsoft.com/office/drawing/2014/main" id="{641B4D34-A6C9-DA2D-4327-21978857476F}"/>
              </a:ext>
            </a:extLst>
          </p:cNvPr>
          <p:cNvSpPr txBox="1"/>
          <p:nvPr/>
        </p:nvSpPr>
        <p:spPr>
          <a:xfrm>
            <a:off x="3302401" y="819029"/>
            <a:ext cx="5587235" cy="523220"/>
          </a:xfrm>
          <a:prstGeom prst="rect">
            <a:avLst/>
          </a:prstGeom>
          <a:noFill/>
        </p:spPr>
        <p:txBody>
          <a:bodyPr wrap="none" rtlCol="0">
            <a:spAutoFit/>
          </a:bodyPr>
          <a:lstStyle/>
          <a:p>
            <a:pPr algn="ctr"/>
            <a:r>
              <a:rPr lang="en-US" sz="2800" dirty="0">
                <a:solidFill>
                  <a:schemeClr val="bg1"/>
                </a:solidFill>
              </a:rPr>
              <a:t>The Presentation Coaching Report</a:t>
            </a:r>
          </a:p>
        </p:txBody>
      </p:sp>
      <p:pic>
        <p:nvPicPr>
          <p:cNvPr id="3" name="Picture 2">
            <a:extLst>
              <a:ext uri="{FF2B5EF4-FFF2-40B4-BE49-F238E27FC236}">
                <a16:creationId xmlns:a16="http://schemas.microsoft.com/office/drawing/2014/main" id="{26641871-BA54-3112-5862-CF7EE9D8CFF7}"/>
              </a:ext>
            </a:extLst>
          </p:cNvPr>
          <p:cNvPicPr>
            <a:picLocks noChangeAspect="1"/>
          </p:cNvPicPr>
          <p:nvPr/>
        </p:nvPicPr>
        <p:blipFill>
          <a:blip r:embed="rId2"/>
          <a:stretch>
            <a:fillRect/>
          </a:stretch>
        </p:blipFill>
        <p:spPr>
          <a:xfrm>
            <a:off x="78125" y="1677617"/>
            <a:ext cx="3766673" cy="3502766"/>
          </a:xfrm>
          <a:prstGeom prst="rect">
            <a:avLst/>
          </a:prstGeom>
        </p:spPr>
      </p:pic>
      <p:pic>
        <p:nvPicPr>
          <p:cNvPr id="6" name="Picture 5">
            <a:extLst>
              <a:ext uri="{FF2B5EF4-FFF2-40B4-BE49-F238E27FC236}">
                <a16:creationId xmlns:a16="http://schemas.microsoft.com/office/drawing/2014/main" id="{A3EC6BC2-A1A6-D914-F442-1DDC64F9F142}"/>
              </a:ext>
            </a:extLst>
          </p:cNvPr>
          <p:cNvPicPr>
            <a:picLocks noChangeAspect="1"/>
          </p:cNvPicPr>
          <p:nvPr/>
        </p:nvPicPr>
        <p:blipFill>
          <a:blip r:embed="rId3"/>
          <a:stretch>
            <a:fillRect/>
          </a:stretch>
        </p:blipFill>
        <p:spPr>
          <a:xfrm>
            <a:off x="3456433" y="3429000"/>
            <a:ext cx="3898510" cy="3212967"/>
          </a:xfrm>
          <a:prstGeom prst="rect">
            <a:avLst/>
          </a:prstGeom>
        </p:spPr>
      </p:pic>
      <p:sp>
        <p:nvSpPr>
          <p:cNvPr id="2" name="TextBox 1">
            <a:extLst>
              <a:ext uri="{FF2B5EF4-FFF2-40B4-BE49-F238E27FC236}">
                <a16:creationId xmlns:a16="http://schemas.microsoft.com/office/drawing/2014/main" id="{CF1567BB-5F6A-1219-AC17-8085D1F35161}"/>
              </a:ext>
            </a:extLst>
          </p:cNvPr>
          <p:cNvSpPr txBox="1"/>
          <p:nvPr/>
        </p:nvSpPr>
        <p:spPr>
          <a:xfrm>
            <a:off x="7655857" y="5567082"/>
            <a:ext cx="4240306" cy="646331"/>
          </a:xfrm>
          <a:prstGeom prst="rect">
            <a:avLst/>
          </a:prstGeom>
          <a:noFill/>
        </p:spPr>
        <p:txBody>
          <a:bodyPr wrap="square" rtlCol="0">
            <a:spAutoFit/>
          </a:bodyPr>
          <a:lstStyle/>
          <a:p>
            <a:r>
              <a:rPr lang="en-US" b="1" dirty="0">
                <a:solidFill>
                  <a:srgbClr val="FFC000"/>
                </a:solidFill>
              </a:rPr>
              <a:t>Draft: Report format will be worked on during 60 Day Path to Production.</a:t>
            </a:r>
          </a:p>
        </p:txBody>
      </p:sp>
    </p:spTree>
    <p:extLst>
      <p:ext uri="{BB962C8B-B14F-4D97-AF65-F5344CB8AC3E}">
        <p14:creationId xmlns:p14="http://schemas.microsoft.com/office/powerpoint/2010/main" val="3870684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7690-BC16-B447-11D4-F0731AE48F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53DDE3-B8E9-1785-25E3-6780F347F09B}"/>
              </a:ext>
            </a:extLst>
          </p:cNvPr>
          <p:cNvSpPr txBox="1"/>
          <p:nvPr/>
        </p:nvSpPr>
        <p:spPr>
          <a:xfrm>
            <a:off x="8565005" y="2356818"/>
            <a:ext cx="3255518" cy="1754326"/>
          </a:xfrm>
          <a:prstGeom prst="rect">
            <a:avLst/>
          </a:prstGeom>
          <a:noFill/>
        </p:spPr>
        <p:txBody>
          <a:bodyPr wrap="square" rtlCol="0">
            <a:spAutoFit/>
          </a:bodyPr>
          <a:lstStyle/>
          <a:p>
            <a:r>
              <a:rPr lang="en-US" dirty="0">
                <a:solidFill>
                  <a:schemeClr val="bg1"/>
                </a:solidFill>
              </a:rPr>
              <a:t>CICD Pipelines pull from </a:t>
            </a:r>
            <a:r>
              <a:rPr lang="en-US" dirty="0" err="1">
                <a:solidFill>
                  <a:schemeClr val="bg1"/>
                </a:solidFill>
              </a:rPr>
              <a:t>Github</a:t>
            </a:r>
            <a:r>
              <a:rPr lang="en-US" dirty="0">
                <a:solidFill>
                  <a:schemeClr val="bg1"/>
                </a:solidFill>
              </a:rPr>
              <a:t> and allow deploys at multiple logical unit levels:</a:t>
            </a:r>
          </a:p>
          <a:p>
            <a:pPr marL="285750" indent="-285750">
              <a:buFont typeface="Arial" panose="020B0604020202020204" pitchFamily="34" charset="0"/>
              <a:buChar char="•"/>
            </a:pPr>
            <a:r>
              <a:rPr lang="en-US" dirty="0">
                <a:solidFill>
                  <a:schemeClr val="bg1"/>
                </a:solidFill>
              </a:rPr>
              <a:t>Frontend/Backend</a:t>
            </a:r>
          </a:p>
          <a:p>
            <a:pPr marL="285750" indent="-285750">
              <a:buFont typeface="Arial" panose="020B0604020202020204" pitchFamily="34" charset="0"/>
              <a:buChar char="•"/>
            </a:pPr>
            <a:r>
              <a:rPr lang="en-US" dirty="0">
                <a:solidFill>
                  <a:schemeClr val="bg1"/>
                </a:solidFill>
              </a:rPr>
              <a:t>Audio/Video Processing</a:t>
            </a:r>
          </a:p>
          <a:p>
            <a:pPr marL="285750" indent="-285750">
              <a:buFont typeface="Arial" panose="020B0604020202020204" pitchFamily="34" charset="0"/>
              <a:buChar char="•"/>
            </a:pPr>
            <a:r>
              <a:rPr lang="en-US" dirty="0">
                <a:solidFill>
                  <a:schemeClr val="bg1"/>
                </a:solidFill>
              </a:rPr>
              <a:t>Agentic AI Evaluation</a:t>
            </a:r>
          </a:p>
        </p:txBody>
      </p:sp>
      <p:sp>
        <p:nvSpPr>
          <p:cNvPr id="5" name="TextBox 4">
            <a:extLst>
              <a:ext uri="{FF2B5EF4-FFF2-40B4-BE49-F238E27FC236}">
                <a16:creationId xmlns:a16="http://schemas.microsoft.com/office/drawing/2014/main" id="{21645E9E-F15D-FA7C-4D7B-2564ACDC81F9}"/>
              </a:ext>
            </a:extLst>
          </p:cNvPr>
          <p:cNvSpPr txBox="1"/>
          <p:nvPr/>
        </p:nvSpPr>
        <p:spPr>
          <a:xfrm>
            <a:off x="4787007" y="819029"/>
            <a:ext cx="2618024" cy="523220"/>
          </a:xfrm>
          <a:prstGeom prst="rect">
            <a:avLst/>
          </a:prstGeom>
          <a:noFill/>
        </p:spPr>
        <p:txBody>
          <a:bodyPr wrap="none" rtlCol="0">
            <a:spAutoFit/>
          </a:bodyPr>
          <a:lstStyle/>
          <a:p>
            <a:pPr algn="ctr"/>
            <a:r>
              <a:rPr lang="en-US" sz="2800" dirty="0">
                <a:solidFill>
                  <a:schemeClr val="bg1"/>
                </a:solidFill>
              </a:rPr>
              <a:t>CI/CD Pipelines</a:t>
            </a:r>
          </a:p>
        </p:txBody>
      </p:sp>
      <p:pic>
        <p:nvPicPr>
          <p:cNvPr id="7" name="Picture 6">
            <a:extLst>
              <a:ext uri="{FF2B5EF4-FFF2-40B4-BE49-F238E27FC236}">
                <a16:creationId xmlns:a16="http://schemas.microsoft.com/office/drawing/2014/main" id="{88062417-6D15-FD9C-CDC5-2CFFBFAEF342}"/>
              </a:ext>
            </a:extLst>
          </p:cNvPr>
          <p:cNvPicPr>
            <a:picLocks noChangeAspect="1"/>
          </p:cNvPicPr>
          <p:nvPr/>
        </p:nvPicPr>
        <p:blipFill>
          <a:blip r:embed="rId2"/>
          <a:stretch>
            <a:fillRect/>
          </a:stretch>
        </p:blipFill>
        <p:spPr>
          <a:xfrm>
            <a:off x="228600" y="1429328"/>
            <a:ext cx="8147304" cy="3234271"/>
          </a:xfrm>
          <a:prstGeom prst="rect">
            <a:avLst/>
          </a:prstGeom>
        </p:spPr>
      </p:pic>
      <p:grpSp>
        <p:nvGrpSpPr>
          <p:cNvPr id="29" name="Group 28">
            <a:extLst>
              <a:ext uri="{FF2B5EF4-FFF2-40B4-BE49-F238E27FC236}">
                <a16:creationId xmlns:a16="http://schemas.microsoft.com/office/drawing/2014/main" id="{BC4D3475-14C7-602F-AC41-9FD231181D84}"/>
              </a:ext>
            </a:extLst>
          </p:cNvPr>
          <p:cNvGrpSpPr/>
          <p:nvPr/>
        </p:nvGrpSpPr>
        <p:grpSpPr>
          <a:xfrm>
            <a:off x="228600" y="4764825"/>
            <a:ext cx="8147304" cy="2001735"/>
            <a:chOff x="228600" y="4764825"/>
            <a:chExt cx="8147304" cy="2001735"/>
          </a:xfrm>
        </p:grpSpPr>
        <p:sp>
          <p:nvSpPr>
            <p:cNvPr id="26" name="Rectangle 25">
              <a:extLst>
                <a:ext uri="{FF2B5EF4-FFF2-40B4-BE49-F238E27FC236}">
                  <a16:creationId xmlns:a16="http://schemas.microsoft.com/office/drawing/2014/main" id="{937B52A5-DF38-658C-620F-100DD0629025}"/>
                </a:ext>
              </a:extLst>
            </p:cNvPr>
            <p:cNvSpPr/>
            <p:nvPr/>
          </p:nvSpPr>
          <p:spPr>
            <a:xfrm>
              <a:off x="228600" y="4764825"/>
              <a:ext cx="8147304" cy="2001735"/>
            </a:xfrm>
            <a:prstGeom prst="rect">
              <a:avLst/>
            </a:prstGeom>
            <a:solidFill>
              <a:srgbClr val="F6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9402437-626F-3CCD-72CC-FA2AD5EA755B}"/>
                </a:ext>
              </a:extLst>
            </p:cNvPr>
            <p:cNvPicPr>
              <a:picLocks noChangeAspect="1"/>
            </p:cNvPicPr>
            <p:nvPr/>
          </p:nvPicPr>
          <p:blipFill>
            <a:blip r:embed="rId3"/>
            <a:stretch>
              <a:fillRect/>
            </a:stretch>
          </p:blipFill>
          <p:spPr>
            <a:xfrm>
              <a:off x="5945673" y="4833763"/>
              <a:ext cx="2396088" cy="1856018"/>
            </a:xfrm>
            <a:prstGeom prst="rect">
              <a:avLst/>
            </a:prstGeom>
          </p:spPr>
        </p:pic>
        <p:pic>
          <p:nvPicPr>
            <p:cNvPr id="11" name="Picture 10">
              <a:extLst>
                <a:ext uri="{FF2B5EF4-FFF2-40B4-BE49-F238E27FC236}">
                  <a16:creationId xmlns:a16="http://schemas.microsoft.com/office/drawing/2014/main" id="{DD90E53B-88B5-224E-5262-61190D68448E}"/>
                </a:ext>
              </a:extLst>
            </p:cNvPr>
            <p:cNvPicPr>
              <a:picLocks noChangeAspect="1"/>
            </p:cNvPicPr>
            <p:nvPr/>
          </p:nvPicPr>
          <p:blipFill>
            <a:blip r:embed="rId4"/>
            <a:srcRect l="7383" t="9571" r="15096" b="32495"/>
            <a:stretch>
              <a:fillRect/>
            </a:stretch>
          </p:blipFill>
          <p:spPr>
            <a:xfrm>
              <a:off x="371477" y="4834239"/>
              <a:ext cx="2396089" cy="1329810"/>
            </a:xfrm>
            <a:prstGeom prst="rect">
              <a:avLst/>
            </a:prstGeom>
          </p:spPr>
        </p:pic>
        <p:pic>
          <p:nvPicPr>
            <p:cNvPr id="18" name="Picture 17">
              <a:extLst>
                <a:ext uri="{FF2B5EF4-FFF2-40B4-BE49-F238E27FC236}">
                  <a16:creationId xmlns:a16="http://schemas.microsoft.com/office/drawing/2014/main" id="{78655C27-F900-CB50-F0E8-B7F5A539F53E}"/>
                </a:ext>
              </a:extLst>
            </p:cNvPr>
            <p:cNvPicPr>
              <a:picLocks noChangeAspect="1"/>
            </p:cNvPicPr>
            <p:nvPr/>
          </p:nvPicPr>
          <p:blipFill>
            <a:blip r:embed="rId5"/>
            <a:srcRect l="1487" r="3393"/>
            <a:stretch>
              <a:fillRect/>
            </a:stretch>
          </p:blipFill>
          <p:spPr>
            <a:xfrm>
              <a:off x="3158575" y="4764825"/>
              <a:ext cx="2396089" cy="1329810"/>
            </a:xfrm>
            <a:prstGeom prst="rect">
              <a:avLst/>
            </a:prstGeom>
          </p:spPr>
        </p:pic>
      </p:grpSp>
      <p:sp>
        <p:nvSpPr>
          <p:cNvPr id="28" name="TextBox 27">
            <a:extLst>
              <a:ext uri="{FF2B5EF4-FFF2-40B4-BE49-F238E27FC236}">
                <a16:creationId xmlns:a16="http://schemas.microsoft.com/office/drawing/2014/main" id="{4BD337C2-490F-63DC-1F3F-77AFA0B71C2F}"/>
              </a:ext>
            </a:extLst>
          </p:cNvPr>
          <p:cNvSpPr txBox="1"/>
          <p:nvPr/>
        </p:nvSpPr>
        <p:spPr>
          <a:xfrm>
            <a:off x="8565005" y="5133546"/>
            <a:ext cx="3255518" cy="1200329"/>
          </a:xfrm>
          <a:prstGeom prst="rect">
            <a:avLst/>
          </a:prstGeom>
          <a:noFill/>
        </p:spPr>
        <p:txBody>
          <a:bodyPr wrap="square" rtlCol="0">
            <a:spAutoFit/>
          </a:bodyPr>
          <a:lstStyle/>
          <a:p>
            <a:r>
              <a:rPr lang="en-US" dirty="0">
                <a:solidFill>
                  <a:schemeClr val="bg1"/>
                </a:solidFill>
              </a:rPr>
              <a:t>Each Pipeline can deploy</a:t>
            </a:r>
          </a:p>
          <a:p>
            <a:pPr marL="285750" indent="-285750">
              <a:buFont typeface="Arial" panose="020B0604020202020204" pitchFamily="34" charset="0"/>
              <a:buChar char="•"/>
            </a:pPr>
            <a:r>
              <a:rPr lang="en-US" dirty="0">
                <a:solidFill>
                  <a:schemeClr val="bg1"/>
                </a:solidFill>
              </a:rPr>
              <a:t>Tests only (“test”)</a:t>
            </a:r>
          </a:p>
          <a:p>
            <a:pPr marL="285750" indent="-285750">
              <a:buFont typeface="Arial" panose="020B0604020202020204" pitchFamily="34" charset="0"/>
              <a:buChar char="•"/>
            </a:pPr>
            <a:r>
              <a:rPr lang="en-US" dirty="0">
                <a:solidFill>
                  <a:schemeClr val="bg1"/>
                </a:solidFill>
              </a:rPr>
              <a:t>Code only (“deploy”)</a:t>
            </a:r>
          </a:p>
          <a:p>
            <a:pPr marL="285750" indent="-285750">
              <a:buFont typeface="Arial" panose="020B0604020202020204" pitchFamily="34" charset="0"/>
              <a:buChar char="•"/>
            </a:pPr>
            <a:r>
              <a:rPr lang="en-US" dirty="0">
                <a:solidFill>
                  <a:schemeClr val="bg1"/>
                </a:solidFill>
              </a:rPr>
              <a:t>Tests &amp; code (“full-deploy”)</a:t>
            </a:r>
          </a:p>
        </p:txBody>
      </p:sp>
    </p:spTree>
    <p:extLst>
      <p:ext uri="{BB962C8B-B14F-4D97-AF65-F5344CB8AC3E}">
        <p14:creationId xmlns:p14="http://schemas.microsoft.com/office/powerpoint/2010/main" val="2495951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A71B5E-4FBA-2FD7-5BCC-BA527F2FDB0B}"/>
              </a:ext>
            </a:extLst>
          </p:cNvPr>
          <p:cNvSpPr txBox="1"/>
          <p:nvPr/>
        </p:nvSpPr>
        <p:spPr>
          <a:xfrm>
            <a:off x="2895504" y="819029"/>
            <a:ext cx="6401048" cy="523220"/>
          </a:xfrm>
          <a:prstGeom prst="rect">
            <a:avLst/>
          </a:prstGeom>
          <a:noFill/>
        </p:spPr>
        <p:txBody>
          <a:bodyPr wrap="none" rtlCol="0">
            <a:spAutoFit/>
          </a:bodyPr>
          <a:lstStyle/>
          <a:p>
            <a:pPr algn="ctr"/>
            <a:r>
              <a:rPr lang="en-US" sz="2800" dirty="0">
                <a:solidFill>
                  <a:schemeClr val="bg1"/>
                </a:solidFill>
              </a:rPr>
              <a:t>Administration – Environment Variables</a:t>
            </a:r>
          </a:p>
        </p:txBody>
      </p:sp>
      <p:pic>
        <p:nvPicPr>
          <p:cNvPr id="5" name="Picture 4">
            <a:extLst>
              <a:ext uri="{FF2B5EF4-FFF2-40B4-BE49-F238E27FC236}">
                <a16:creationId xmlns:a16="http://schemas.microsoft.com/office/drawing/2014/main" id="{46887F1D-F6B1-18FC-696A-59EF17D649B6}"/>
              </a:ext>
            </a:extLst>
          </p:cNvPr>
          <p:cNvPicPr>
            <a:picLocks noChangeAspect="1"/>
          </p:cNvPicPr>
          <p:nvPr/>
        </p:nvPicPr>
        <p:blipFill>
          <a:blip r:embed="rId2"/>
          <a:stretch>
            <a:fillRect/>
          </a:stretch>
        </p:blipFill>
        <p:spPr>
          <a:xfrm>
            <a:off x="205249" y="2689698"/>
            <a:ext cx="3375533" cy="3776406"/>
          </a:xfrm>
          <a:prstGeom prst="rect">
            <a:avLst/>
          </a:prstGeom>
        </p:spPr>
      </p:pic>
      <p:pic>
        <p:nvPicPr>
          <p:cNvPr id="7" name="Picture 6">
            <a:extLst>
              <a:ext uri="{FF2B5EF4-FFF2-40B4-BE49-F238E27FC236}">
                <a16:creationId xmlns:a16="http://schemas.microsoft.com/office/drawing/2014/main" id="{7B8FAD30-1005-C735-52D6-3E06015D571E}"/>
              </a:ext>
            </a:extLst>
          </p:cNvPr>
          <p:cNvPicPr>
            <a:picLocks noChangeAspect="1"/>
          </p:cNvPicPr>
          <p:nvPr/>
        </p:nvPicPr>
        <p:blipFill>
          <a:blip r:embed="rId3"/>
          <a:srcRect l="60329" t="1995" b="71567"/>
          <a:stretch>
            <a:fillRect/>
          </a:stretch>
        </p:blipFill>
        <p:spPr>
          <a:xfrm>
            <a:off x="277906" y="1507787"/>
            <a:ext cx="3631346" cy="904674"/>
          </a:xfrm>
          <a:prstGeom prst="rect">
            <a:avLst/>
          </a:prstGeom>
          <a:ln>
            <a:solidFill>
              <a:schemeClr val="bg1"/>
            </a:solidFill>
          </a:ln>
        </p:spPr>
      </p:pic>
      <p:pic>
        <p:nvPicPr>
          <p:cNvPr id="9" name="Picture 8">
            <a:extLst>
              <a:ext uri="{FF2B5EF4-FFF2-40B4-BE49-F238E27FC236}">
                <a16:creationId xmlns:a16="http://schemas.microsoft.com/office/drawing/2014/main" id="{07152D66-9CE1-E1C4-261C-A43507A6884C}"/>
              </a:ext>
            </a:extLst>
          </p:cNvPr>
          <p:cNvPicPr>
            <a:picLocks noChangeAspect="1"/>
          </p:cNvPicPr>
          <p:nvPr/>
        </p:nvPicPr>
        <p:blipFill>
          <a:blip r:embed="rId4"/>
          <a:stretch>
            <a:fillRect/>
          </a:stretch>
        </p:blipFill>
        <p:spPr>
          <a:xfrm>
            <a:off x="3580782" y="2689698"/>
            <a:ext cx="3471771" cy="3785732"/>
          </a:xfrm>
          <a:prstGeom prst="rect">
            <a:avLst/>
          </a:prstGeom>
        </p:spPr>
      </p:pic>
      <p:sp>
        <p:nvSpPr>
          <p:cNvPr id="11" name="TextBox 10">
            <a:extLst>
              <a:ext uri="{FF2B5EF4-FFF2-40B4-BE49-F238E27FC236}">
                <a16:creationId xmlns:a16="http://schemas.microsoft.com/office/drawing/2014/main" id="{F97C3943-88E3-D6A2-9792-358BBD1A1E31}"/>
              </a:ext>
            </a:extLst>
          </p:cNvPr>
          <p:cNvSpPr txBox="1"/>
          <p:nvPr/>
        </p:nvSpPr>
        <p:spPr>
          <a:xfrm>
            <a:off x="7599551" y="2675966"/>
            <a:ext cx="4081461" cy="4062651"/>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Full control over all environment variables</a:t>
            </a:r>
          </a:p>
          <a:p>
            <a:pPr marL="285750" indent="-285750">
              <a:buFont typeface="Arial" panose="020B0604020202020204" pitchFamily="34" charset="0"/>
              <a:buChar char="•"/>
            </a:pPr>
            <a:r>
              <a:rPr lang="en-US" dirty="0">
                <a:solidFill>
                  <a:schemeClr val="bg1"/>
                </a:solidFill>
              </a:rPr>
              <a:t>Models used</a:t>
            </a:r>
          </a:p>
          <a:p>
            <a:pPr marL="285750" indent="-285750">
              <a:buFont typeface="Arial" panose="020B0604020202020204" pitchFamily="34" charset="0"/>
              <a:buChar char="•"/>
            </a:pPr>
            <a:r>
              <a:rPr lang="en-US" dirty="0">
                <a:solidFill>
                  <a:schemeClr val="bg1"/>
                </a:solidFill>
              </a:rPr>
              <a:t>Idle timeout for ECS tasks</a:t>
            </a:r>
          </a:p>
          <a:p>
            <a:pPr marL="285750" indent="-285750">
              <a:buFont typeface="Arial" panose="020B0604020202020204" pitchFamily="34" charset="0"/>
              <a:buChar char="•"/>
            </a:pPr>
            <a:r>
              <a:rPr lang="en-US" dirty="0">
                <a:solidFill>
                  <a:schemeClr val="bg1"/>
                </a:solidFill>
              </a:rPr>
              <a:t>AI Concurrency limits</a:t>
            </a:r>
          </a:p>
          <a:p>
            <a:pPr marL="285750" indent="-285750">
              <a:buFont typeface="Arial" panose="020B0604020202020204" pitchFamily="34" charset="0"/>
              <a:buChar char="•"/>
            </a:pPr>
            <a:r>
              <a:rPr lang="en-US" dirty="0">
                <a:solidFill>
                  <a:schemeClr val="bg1"/>
                </a:solidFill>
              </a:rPr>
              <a:t>IAM settings</a:t>
            </a:r>
          </a:p>
          <a:p>
            <a:pPr marL="285750" indent="-285750">
              <a:buFont typeface="Arial" panose="020B0604020202020204" pitchFamily="34" charset="0"/>
              <a:buChar char="•"/>
            </a:pPr>
            <a:endParaRPr lang="en-US" dirty="0">
              <a:solidFill>
                <a:schemeClr val="bg1"/>
              </a:solidFill>
            </a:endParaRPr>
          </a:p>
          <a:p>
            <a:r>
              <a:rPr lang="en-US">
                <a:solidFill>
                  <a:schemeClr val="bg1"/>
                </a:solidFill>
              </a:rPr>
              <a:t>App designed </a:t>
            </a:r>
            <a:r>
              <a:rPr lang="en-US" dirty="0">
                <a:solidFill>
                  <a:schemeClr val="bg1"/>
                </a:solidFill>
              </a:rPr>
              <a:t>as single tenant but multi-tenant was considered in design</a:t>
            </a:r>
          </a:p>
          <a:p>
            <a:endParaRPr lang="en-US" dirty="0">
              <a:solidFill>
                <a:schemeClr val="bg1"/>
              </a:solidFill>
            </a:endParaRPr>
          </a:p>
          <a:p>
            <a:r>
              <a:rPr lang="en-US" dirty="0">
                <a:solidFill>
                  <a:schemeClr val="bg1"/>
                </a:solidFill>
              </a:rPr>
              <a:t>Tested and approved models only are allowed to be selected for the app.</a:t>
            </a:r>
          </a:p>
        </p:txBody>
      </p:sp>
      <p:sp>
        <p:nvSpPr>
          <p:cNvPr id="13" name="TextBox 12">
            <a:extLst>
              <a:ext uri="{FF2B5EF4-FFF2-40B4-BE49-F238E27FC236}">
                <a16:creationId xmlns:a16="http://schemas.microsoft.com/office/drawing/2014/main" id="{4FF8D178-71C9-D2A1-A393-5C2160915CDC}"/>
              </a:ext>
            </a:extLst>
          </p:cNvPr>
          <p:cNvSpPr txBox="1"/>
          <p:nvPr/>
        </p:nvSpPr>
        <p:spPr>
          <a:xfrm>
            <a:off x="4201289" y="1619486"/>
            <a:ext cx="6529464" cy="646331"/>
          </a:xfrm>
          <a:prstGeom prst="rect">
            <a:avLst/>
          </a:prstGeom>
          <a:noFill/>
        </p:spPr>
        <p:txBody>
          <a:bodyPr wrap="square" rtlCol="0">
            <a:spAutoFit/>
          </a:bodyPr>
          <a:lstStyle/>
          <a:p>
            <a:r>
              <a:rPr lang="en-US" dirty="0">
                <a:solidFill>
                  <a:schemeClr val="bg1"/>
                </a:solidFill>
              </a:rPr>
              <a:t>“</a:t>
            </a:r>
            <a:r>
              <a:rPr lang="en-US" dirty="0" err="1">
                <a:solidFill>
                  <a:schemeClr val="bg1"/>
                </a:solidFill>
              </a:rPr>
              <a:t>Adminitration</a:t>
            </a:r>
            <a:r>
              <a:rPr lang="en-US" dirty="0">
                <a:solidFill>
                  <a:schemeClr val="bg1"/>
                </a:solidFill>
              </a:rPr>
              <a:t>” menu only available to users with Administrator role in Amazon Cognito.</a:t>
            </a:r>
          </a:p>
        </p:txBody>
      </p:sp>
    </p:spTree>
    <p:extLst>
      <p:ext uri="{BB962C8B-B14F-4D97-AF65-F5344CB8AC3E}">
        <p14:creationId xmlns:p14="http://schemas.microsoft.com/office/powerpoint/2010/main" val="2630385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7DFE1-BB26-CD1F-23C5-1F9086FF6E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569224-AAE3-D4B1-456A-15345E1E862A}"/>
              </a:ext>
            </a:extLst>
          </p:cNvPr>
          <p:cNvSpPr txBox="1"/>
          <p:nvPr/>
        </p:nvSpPr>
        <p:spPr>
          <a:xfrm>
            <a:off x="3607977" y="819029"/>
            <a:ext cx="4976107" cy="523220"/>
          </a:xfrm>
          <a:prstGeom prst="rect">
            <a:avLst/>
          </a:prstGeom>
          <a:noFill/>
        </p:spPr>
        <p:txBody>
          <a:bodyPr wrap="none" rtlCol="0">
            <a:spAutoFit/>
          </a:bodyPr>
          <a:lstStyle/>
          <a:p>
            <a:pPr algn="ctr"/>
            <a:r>
              <a:rPr lang="en-US" sz="2800" dirty="0">
                <a:solidFill>
                  <a:schemeClr val="bg1"/>
                </a:solidFill>
              </a:rPr>
              <a:t>Administration – Feature Flags</a:t>
            </a:r>
          </a:p>
        </p:txBody>
      </p:sp>
      <p:pic>
        <p:nvPicPr>
          <p:cNvPr id="4" name="Picture 3">
            <a:extLst>
              <a:ext uri="{FF2B5EF4-FFF2-40B4-BE49-F238E27FC236}">
                <a16:creationId xmlns:a16="http://schemas.microsoft.com/office/drawing/2014/main" id="{7CD5424F-CA4F-1F02-1F9D-219312ED3704}"/>
              </a:ext>
            </a:extLst>
          </p:cNvPr>
          <p:cNvPicPr>
            <a:picLocks noChangeAspect="1"/>
          </p:cNvPicPr>
          <p:nvPr/>
        </p:nvPicPr>
        <p:blipFill>
          <a:blip r:embed="rId2"/>
          <a:srcRect l="1602" t="1505" b="2933"/>
          <a:stretch>
            <a:fillRect/>
          </a:stretch>
        </p:blipFill>
        <p:spPr>
          <a:xfrm>
            <a:off x="860611" y="1631576"/>
            <a:ext cx="5960309" cy="4276165"/>
          </a:xfrm>
          <a:prstGeom prst="rect">
            <a:avLst/>
          </a:prstGeom>
          <a:ln>
            <a:solidFill>
              <a:schemeClr val="bg1"/>
            </a:solidFill>
          </a:ln>
        </p:spPr>
      </p:pic>
      <p:sp>
        <p:nvSpPr>
          <p:cNvPr id="6" name="TextBox 5">
            <a:extLst>
              <a:ext uri="{FF2B5EF4-FFF2-40B4-BE49-F238E27FC236}">
                <a16:creationId xmlns:a16="http://schemas.microsoft.com/office/drawing/2014/main" id="{596FF22E-7BEC-BE63-5050-33B7E7F4AAEC}"/>
              </a:ext>
            </a:extLst>
          </p:cNvPr>
          <p:cNvSpPr txBox="1"/>
          <p:nvPr/>
        </p:nvSpPr>
        <p:spPr>
          <a:xfrm>
            <a:off x="7347004" y="1564248"/>
            <a:ext cx="4486408" cy="5170646"/>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Full control over Feature Flagged scope:</a:t>
            </a:r>
          </a:p>
          <a:p>
            <a:pPr marL="285750" indent="-285750">
              <a:buFont typeface="Arial" panose="020B0604020202020204" pitchFamily="34" charset="0"/>
              <a:buChar char="•"/>
            </a:pPr>
            <a:r>
              <a:rPr lang="en-US" dirty="0">
                <a:solidFill>
                  <a:schemeClr val="bg1"/>
                </a:solidFill>
              </a:rPr>
              <a:t>Video Processing: User could upload video files to be processed in addition to audio files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Batch Processing: Batch processing allows for lower cost asynchronous processing of presentations for vector stores.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Embeddings: turns on and off vectorization of presentations. </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Local Mode: using a simplified (less resilient) agentic processing implementation</a:t>
            </a:r>
          </a:p>
        </p:txBody>
      </p:sp>
    </p:spTree>
    <p:extLst>
      <p:ext uri="{BB962C8B-B14F-4D97-AF65-F5344CB8AC3E}">
        <p14:creationId xmlns:p14="http://schemas.microsoft.com/office/powerpoint/2010/main" val="38712474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A17C4-4F1D-105E-F379-1D64AA803D9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CC2DD6-743F-1681-311D-F66E9D16698E}"/>
              </a:ext>
            </a:extLst>
          </p:cNvPr>
          <p:cNvSpPr txBox="1"/>
          <p:nvPr/>
        </p:nvSpPr>
        <p:spPr>
          <a:xfrm>
            <a:off x="2046564" y="819029"/>
            <a:ext cx="8098947" cy="523220"/>
          </a:xfrm>
          <a:prstGeom prst="rect">
            <a:avLst/>
          </a:prstGeom>
          <a:noFill/>
        </p:spPr>
        <p:txBody>
          <a:bodyPr wrap="none" rtlCol="0">
            <a:spAutoFit/>
          </a:bodyPr>
          <a:lstStyle/>
          <a:p>
            <a:pPr algn="ctr"/>
            <a:r>
              <a:rPr lang="en-US" sz="2800" dirty="0">
                <a:solidFill>
                  <a:schemeClr val="bg1"/>
                </a:solidFill>
              </a:rPr>
              <a:t>Observability and Monitoring – (eta: Aug 15, 2026)</a:t>
            </a:r>
          </a:p>
        </p:txBody>
      </p:sp>
    </p:spTree>
    <p:extLst>
      <p:ext uri="{BB962C8B-B14F-4D97-AF65-F5344CB8AC3E}">
        <p14:creationId xmlns:p14="http://schemas.microsoft.com/office/powerpoint/2010/main" val="17543132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3470C-FECE-6004-2580-6695846FEB0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5981A1-AC0C-0275-EF7A-477B97F26C6B}"/>
              </a:ext>
            </a:extLst>
          </p:cNvPr>
          <p:cNvPicPr>
            <a:picLocks noChangeAspect="1"/>
          </p:cNvPicPr>
          <p:nvPr/>
        </p:nvPicPr>
        <p:blipFill>
          <a:blip r:embed="rId2"/>
          <a:stretch>
            <a:fillRect/>
          </a:stretch>
        </p:blipFill>
        <p:spPr>
          <a:xfrm>
            <a:off x="747252" y="1609726"/>
            <a:ext cx="7561007" cy="3770496"/>
          </a:xfrm>
          <a:prstGeom prst="rect">
            <a:avLst/>
          </a:prstGeom>
          <a:ln>
            <a:solidFill>
              <a:schemeClr val="bg1"/>
            </a:solidFill>
          </a:ln>
        </p:spPr>
      </p:pic>
      <p:sp>
        <p:nvSpPr>
          <p:cNvPr id="9" name="TextBox 8">
            <a:extLst>
              <a:ext uri="{FF2B5EF4-FFF2-40B4-BE49-F238E27FC236}">
                <a16:creationId xmlns:a16="http://schemas.microsoft.com/office/drawing/2014/main" id="{E4C48F3D-0193-61B3-5E74-3B08B6A20B81}"/>
              </a:ext>
            </a:extLst>
          </p:cNvPr>
          <p:cNvSpPr txBox="1"/>
          <p:nvPr/>
        </p:nvSpPr>
        <p:spPr>
          <a:xfrm>
            <a:off x="8565005" y="2119074"/>
            <a:ext cx="3255518" cy="4062651"/>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Total costs of the development </a:t>
            </a:r>
          </a:p>
          <a:p>
            <a:pPr marL="285750" indent="-285750">
              <a:buFont typeface="Arial" panose="020B0604020202020204" pitchFamily="34" charset="0"/>
              <a:buChar char="•"/>
            </a:pPr>
            <a:r>
              <a:rPr lang="en-US" dirty="0">
                <a:solidFill>
                  <a:schemeClr val="bg1"/>
                </a:solidFill>
              </a:rPr>
              <a:t>AWS Account: $6.59</a:t>
            </a:r>
          </a:p>
          <a:p>
            <a:pPr marL="285750" indent="-285750">
              <a:buFont typeface="Arial" panose="020B0604020202020204" pitchFamily="34" charset="0"/>
              <a:buChar char="•"/>
            </a:pPr>
            <a:r>
              <a:rPr lang="en-US" dirty="0">
                <a:solidFill>
                  <a:schemeClr val="bg1"/>
                </a:solidFill>
              </a:rPr>
              <a:t>Kiro AI-DLC: 1355 Credits ($27.10)</a:t>
            </a:r>
          </a:p>
          <a:p>
            <a:pPr marL="285750" indent="-285750">
              <a:buFont typeface="Arial" panose="020B0604020202020204" pitchFamily="34" charset="0"/>
              <a:buChar char="•"/>
            </a:pPr>
            <a:r>
              <a:rPr lang="en-US" dirty="0">
                <a:solidFill>
                  <a:schemeClr val="bg1"/>
                </a:solidFill>
              </a:rPr>
              <a:t>LLM usage was not included in these costs. They usually show up each day but were delayed in June.</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1" name="TextBox 10">
            <a:extLst>
              <a:ext uri="{FF2B5EF4-FFF2-40B4-BE49-F238E27FC236}">
                <a16:creationId xmlns:a16="http://schemas.microsoft.com/office/drawing/2014/main" id="{24FB79FA-8FB2-64DF-4AB6-1A3A9B5E92E1}"/>
              </a:ext>
            </a:extLst>
          </p:cNvPr>
          <p:cNvSpPr txBox="1"/>
          <p:nvPr/>
        </p:nvSpPr>
        <p:spPr>
          <a:xfrm>
            <a:off x="4470090" y="819029"/>
            <a:ext cx="3251851" cy="523220"/>
          </a:xfrm>
          <a:prstGeom prst="rect">
            <a:avLst/>
          </a:prstGeom>
          <a:noFill/>
        </p:spPr>
        <p:txBody>
          <a:bodyPr wrap="none" rtlCol="0">
            <a:spAutoFit/>
          </a:bodyPr>
          <a:lstStyle/>
          <a:p>
            <a:pPr algn="ctr"/>
            <a:r>
              <a:rPr lang="en-US" sz="2800" dirty="0">
                <a:solidFill>
                  <a:schemeClr val="bg1"/>
                </a:solidFill>
              </a:rPr>
              <a:t>Development Costs</a:t>
            </a:r>
          </a:p>
        </p:txBody>
      </p:sp>
      <p:pic>
        <p:nvPicPr>
          <p:cNvPr id="13" name="Picture 12">
            <a:extLst>
              <a:ext uri="{FF2B5EF4-FFF2-40B4-BE49-F238E27FC236}">
                <a16:creationId xmlns:a16="http://schemas.microsoft.com/office/drawing/2014/main" id="{4D4D21EA-AA39-C1A7-B351-35E8A30D4927}"/>
              </a:ext>
            </a:extLst>
          </p:cNvPr>
          <p:cNvPicPr>
            <a:picLocks noChangeAspect="1"/>
          </p:cNvPicPr>
          <p:nvPr/>
        </p:nvPicPr>
        <p:blipFill>
          <a:blip r:embed="rId3"/>
          <a:srcRect l="31001"/>
          <a:stretch>
            <a:fillRect/>
          </a:stretch>
        </p:blipFill>
        <p:spPr>
          <a:xfrm>
            <a:off x="2006248" y="5575299"/>
            <a:ext cx="4927684" cy="833435"/>
          </a:xfrm>
          <a:prstGeom prst="rect">
            <a:avLst/>
          </a:prstGeom>
          <a:ln>
            <a:solidFill>
              <a:schemeClr val="bg1"/>
            </a:solidFill>
          </a:ln>
        </p:spPr>
      </p:pic>
    </p:spTree>
    <p:extLst>
      <p:ext uri="{BB962C8B-B14F-4D97-AF65-F5344CB8AC3E}">
        <p14:creationId xmlns:p14="http://schemas.microsoft.com/office/powerpoint/2010/main" val="14994427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F89E9-B4FC-4295-CE8A-0BF6B97DB63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289140-D0FF-76C3-8818-530C07F2DFB7}"/>
              </a:ext>
            </a:extLst>
          </p:cNvPr>
          <p:cNvPicPr>
            <a:picLocks noChangeAspect="1"/>
          </p:cNvPicPr>
          <p:nvPr/>
        </p:nvPicPr>
        <p:blipFill>
          <a:blip r:embed="rId2"/>
          <a:stretch>
            <a:fillRect/>
          </a:stretch>
        </p:blipFill>
        <p:spPr>
          <a:xfrm>
            <a:off x="2577393" y="2623467"/>
            <a:ext cx="7449590" cy="2362530"/>
          </a:xfrm>
          <a:prstGeom prst="rect">
            <a:avLst/>
          </a:prstGeom>
        </p:spPr>
      </p:pic>
      <p:sp>
        <p:nvSpPr>
          <p:cNvPr id="5" name="TextBox 4">
            <a:extLst>
              <a:ext uri="{FF2B5EF4-FFF2-40B4-BE49-F238E27FC236}">
                <a16:creationId xmlns:a16="http://schemas.microsoft.com/office/drawing/2014/main" id="{B159F23F-CB3E-C402-35E8-AD1D3BAD73BA}"/>
              </a:ext>
            </a:extLst>
          </p:cNvPr>
          <p:cNvSpPr txBox="1"/>
          <p:nvPr/>
        </p:nvSpPr>
        <p:spPr>
          <a:xfrm>
            <a:off x="3254999" y="4985997"/>
            <a:ext cx="6094378" cy="369332"/>
          </a:xfrm>
          <a:prstGeom prst="rect">
            <a:avLst/>
          </a:prstGeom>
          <a:noFill/>
        </p:spPr>
        <p:txBody>
          <a:bodyPr wrap="square">
            <a:spAutoFit/>
          </a:bodyPr>
          <a:lstStyle/>
          <a:p>
            <a:pPr algn="ctr"/>
            <a:r>
              <a:rPr lang="en-US" dirty="0">
                <a:solidFill>
                  <a:schemeClr val="bg1"/>
                </a:solidFill>
              </a:rPr>
              <a:t>https://github.com/michaelgeiser/kiro-agentcore-app </a:t>
            </a:r>
          </a:p>
        </p:txBody>
      </p:sp>
      <p:sp>
        <p:nvSpPr>
          <p:cNvPr id="7" name="TextBox 6">
            <a:extLst>
              <a:ext uri="{FF2B5EF4-FFF2-40B4-BE49-F238E27FC236}">
                <a16:creationId xmlns:a16="http://schemas.microsoft.com/office/drawing/2014/main" id="{3410A36E-B5C1-F312-0D84-70E4FE3FA43E}"/>
              </a:ext>
            </a:extLst>
          </p:cNvPr>
          <p:cNvSpPr txBox="1"/>
          <p:nvPr/>
        </p:nvSpPr>
        <p:spPr>
          <a:xfrm>
            <a:off x="4383245" y="819029"/>
            <a:ext cx="3425553" cy="830997"/>
          </a:xfrm>
          <a:prstGeom prst="rect">
            <a:avLst/>
          </a:prstGeom>
          <a:noFill/>
        </p:spPr>
        <p:txBody>
          <a:bodyPr wrap="none" rtlCol="0">
            <a:spAutoFit/>
          </a:bodyPr>
          <a:lstStyle/>
          <a:p>
            <a:pPr algn="ctr"/>
            <a:r>
              <a:rPr lang="en-US" sz="2800" dirty="0" err="1">
                <a:solidFill>
                  <a:schemeClr val="bg1"/>
                </a:solidFill>
              </a:rPr>
              <a:t>Github</a:t>
            </a:r>
            <a:r>
              <a:rPr lang="en-US" sz="2800" dirty="0">
                <a:solidFill>
                  <a:schemeClr val="bg1"/>
                </a:solidFill>
              </a:rPr>
              <a:t> Repo Activity</a:t>
            </a:r>
          </a:p>
          <a:p>
            <a:pPr algn="ctr"/>
            <a:r>
              <a:rPr lang="en-US" sz="2000" b="1" dirty="0">
                <a:solidFill>
                  <a:srgbClr val="FFC000"/>
                </a:solidFill>
              </a:rPr>
              <a:t>Initial Build</a:t>
            </a:r>
          </a:p>
        </p:txBody>
      </p:sp>
    </p:spTree>
    <p:extLst>
      <p:ext uri="{BB962C8B-B14F-4D97-AF65-F5344CB8AC3E}">
        <p14:creationId xmlns:p14="http://schemas.microsoft.com/office/powerpoint/2010/main" val="30782267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E9B62-1D9A-7C87-A470-8B8AAC7C6B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84745D-D4CE-6054-27DA-F6529BEC63C9}"/>
              </a:ext>
            </a:extLst>
          </p:cNvPr>
          <p:cNvSpPr txBox="1"/>
          <p:nvPr/>
        </p:nvSpPr>
        <p:spPr>
          <a:xfrm>
            <a:off x="3970293" y="2563905"/>
            <a:ext cx="4251421" cy="769441"/>
          </a:xfrm>
          <a:prstGeom prst="rect">
            <a:avLst/>
          </a:prstGeom>
          <a:noFill/>
        </p:spPr>
        <p:txBody>
          <a:bodyPr wrap="none" rtlCol="0">
            <a:spAutoFit/>
          </a:bodyPr>
          <a:lstStyle/>
          <a:p>
            <a:pPr algn="ctr"/>
            <a:r>
              <a:rPr lang="en-US" sz="4400" dirty="0">
                <a:solidFill>
                  <a:schemeClr val="bg1"/>
                </a:solidFill>
              </a:rPr>
              <a:t>The Architecture</a:t>
            </a:r>
          </a:p>
        </p:txBody>
      </p:sp>
    </p:spTree>
    <p:extLst>
      <p:ext uri="{BB962C8B-B14F-4D97-AF65-F5344CB8AC3E}">
        <p14:creationId xmlns:p14="http://schemas.microsoft.com/office/powerpoint/2010/main" val="42412213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E58CE-66C9-BF83-29F2-7B56C5A4A366}"/>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31E80340-AF15-3B2C-39B7-EDCA4445415F}"/>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1DFAE1CD-85F4-35B0-3A01-29EAC0C91F18}"/>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E1D53AB9-AC7F-95C0-FED8-4101BE3DFAD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9D17AE6D-788A-3559-AB46-D722EF90D98E}"/>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1EE28534-A653-90DE-B3B2-B38422EE11B9}"/>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AD7A31A-3AA3-5876-3654-F13D6FE331BB}"/>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E29A65D9-6C24-1E39-1B45-6EF6372EBF6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56F833A-E53E-6BF3-7D09-A7FB70B7786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EE221067-EFFE-E521-C401-CD3B9BA8082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14266244-AC1D-81A6-3786-3F4B49040408}"/>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03A0DFB4-B22B-B1AD-E6D3-BBE06E19E6E9}"/>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703EB94-98EA-37A2-5E09-6F935A14892A}"/>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04B0A5DB-A321-CA10-D172-026F8A49402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01F68C50-6779-43F9-A249-3F3B7A059F12}"/>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81324C85-1D54-1119-0F44-1624D42DB616}"/>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6B20AFA-2142-C4AD-B8D9-0EDF26E8B25E}"/>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3A4BC37-9935-A290-A702-EE93715B554F}"/>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DF802394-1D62-DEEB-B16A-E6AF1F17C819}"/>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4D36E996-41D1-9C08-4F29-01CDDAD3FF53}"/>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92058D6D-5D2A-7FFE-B5C4-BCF3C2ABB2AD}"/>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C740E2E8-0A8A-FD05-7424-D25510357529}"/>
              </a:ext>
            </a:extLst>
          </p:cNvPr>
          <p:cNvCxnSpPr>
            <a:cxnSpLocks/>
            <a:stCxn id="21" idx="3"/>
            <a:endCxn id="24" idx="1"/>
          </p:cNvCxnSpPr>
          <p:nvPr/>
        </p:nvCxnSpPr>
        <p:spPr>
          <a:xfrm>
            <a:off x="2427398" y="4854173"/>
            <a:ext cx="77355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5F9A907-CECF-EFF0-BABB-417FDF1D114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CFA1A362-50A7-74B2-80A9-77B70E441168}"/>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FECC2FF3-0D1F-789D-0DCA-EB47FBE24F1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6A749918-5080-4A54-DF44-B11C5FF0B6BF}"/>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04EC196C-F660-39AB-C2D1-D9D848D0CF03}"/>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182B88FC-F5BD-2CC1-BBD3-ED4F8C3DD64E}"/>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DE1D3B06-4831-5581-108B-4D7E6F8B77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05C16BFD-35F4-7DEF-3156-E8E6C7D6169B}"/>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57A5E1B2-F809-F986-39EF-DEDFD1F236F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C0D7592C-40C6-D4D1-3CA8-F4090A1647AA}"/>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64798D6-A12A-43CA-0D45-05BABCFAA990}"/>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D34FAAB5-9BAC-DF31-AF49-E5943E15CC26}"/>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12647673-0149-449B-3B99-C95F9F4F2B7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E2ED6BC6-7B17-DFDD-689B-89173F58A06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E06683F6-4B1F-719B-DCEB-AE718EBBD92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3BAA5C6-E1A8-928E-2FF4-8957FC40CD4E}"/>
              </a:ext>
            </a:extLst>
          </p:cNvPr>
          <p:cNvSpPr txBox="1"/>
          <p:nvPr/>
        </p:nvSpPr>
        <p:spPr>
          <a:xfrm>
            <a:off x="4000434" y="208364"/>
            <a:ext cx="4238148" cy="369332"/>
          </a:xfrm>
          <a:prstGeom prst="rect">
            <a:avLst/>
          </a:prstGeom>
          <a:noFill/>
        </p:spPr>
        <p:txBody>
          <a:bodyPr wrap="none" rtlCol="0">
            <a:spAutoFit/>
          </a:bodyPr>
          <a:lstStyle/>
          <a:p>
            <a:pPr algn="ctr"/>
            <a:r>
              <a:rPr lang="en-US" dirty="0">
                <a:solidFill>
                  <a:schemeClr val="bg1"/>
                </a:solidFill>
              </a:rPr>
              <a:t>Web App SPA and Backend Architecture</a:t>
            </a:r>
          </a:p>
        </p:txBody>
      </p:sp>
      <p:grpSp>
        <p:nvGrpSpPr>
          <p:cNvPr id="78" name="Group 77">
            <a:extLst>
              <a:ext uri="{FF2B5EF4-FFF2-40B4-BE49-F238E27FC236}">
                <a16:creationId xmlns:a16="http://schemas.microsoft.com/office/drawing/2014/main" id="{011689FC-BDAD-7E51-F4B5-DA7DEDAB0104}"/>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1E875D57-26B0-EFAC-2798-76923F91FA8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D2D74F82-D16E-3123-607F-1803520805DD}"/>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7DEE2290-E22F-CCF0-73B0-169EDBD7C5E8}"/>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8F32006-8CF4-8BA8-946C-F591F8C4316C}"/>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06F875E8-3970-6A2A-A331-CA7F76C7288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7773EA2-69C7-872F-8DEF-126EFF8EFE5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031E997F-094D-5E45-3589-ED08AF5AA28A}"/>
              </a:ext>
            </a:extLst>
          </p:cNvPr>
          <p:cNvSpPr txBox="1">
            <a:spLocks noChangeArrowheads="1"/>
          </p:cNvSpPr>
          <p:nvPr/>
        </p:nvSpPr>
        <p:spPr bwMode="auto">
          <a:xfrm>
            <a:off x="182080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84937EC8-CDF1-C785-6E3F-F6DBE187C4A0}"/>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sp>
        <p:nvSpPr>
          <p:cNvPr id="144" name="TextBox 9">
            <a:extLst>
              <a:ext uri="{FF2B5EF4-FFF2-40B4-BE49-F238E27FC236}">
                <a16:creationId xmlns:a16="http://schemas.microsoft.com/office/drawing/2014/main" id="{8C092407-E350-2BBE-9668-3ACE100ABCAF}"/>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BE186AA-E0B4-8040-87DF-61DAE1C588A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05BAD76F-DA56-760B-97AF-4725BE210CD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52B9680A-693F-6AD3-A703-D1EF683D1ACD}"/>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9CA92961-5384-B5E7-A6A2-138E59281ED4}"/>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73B79B76-DAB9-FD8D-D8DF-8A8E8E547AD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661E8847-7AA4-4546-5B48-110ECB3C022A}"/>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62352087-3DF0-EF2E-8E34-48A7D92D0128}"/>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C0B93156-8D7D-89BC-8A79-2C4EF4805BD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418C662B-3900-9301-D40D-68AF55D1DF77}"/>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F537EFF4-D574-21EB-0F27-FFBDDFD55E44}"/>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C8AEF356-EAE1-4F37-98FB-195FFECDB47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2703A6D3-3E1A-ACD2-7E0C-4EA8A275FEE1}"/>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0C28595-0793-049D-149D-BDDCA9AC8B8C}"/>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B16AD18F-5CCB-75C6-6227-3E9780C6BC2E}"/>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3CD38D5E-4CEA-9770-DD93-41BE3F236BAA}"/>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F98425BC-F526-6C82-BAB7-A25C247D071A}"/>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D8688D71-3A02-A3A9-D892-BEC311FB4ED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DF2484B4-96F7-E468-1CF2-DE3343A67FC2}"/>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C45E3C41-DCEF-26B0-6A69-87741C662E60}"/>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2A779037-B02D-4328-EEA4-3C442C24B209}"/>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404A1A50-CF7B-F6E4-EBD4-B1B4C8B3BCA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D94A00A-6AD1-302E-761C-0FB735B4573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4BAD5B8A-9B0B-8376-EA8C-817949131E4C}"/>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7904EC4D-F603-7ADB-25A4-83EFF978E108}"/>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0BE5FC6-CA86-5CA5-88E8-F705770971B9}"/>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10623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96BE0-6172-F456-6FC8-DA7DADDD5909}"/>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A60CC929-843F-7333-802D-30AC2D7438D1}"/>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7F4633C1-FB49-04BD-B222-7E157B8B4A84}"/>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2099725B-C414-5B8D-83D1-F7E45AD1688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DED5575C-F4B5-F01E-E891-59E057DACD20}"/>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E27FBD84-1C93-F552-1517-F7208FC64C90}"/>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E3EC36B-D720-ACD5-DDC4-74CD943AC0FC}"/>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DDC30BDF-D1BF-96AE-A9F4-6C94BF3BEA4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95DFCBC9-120B-1790-537B-4FAD750CB3C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5FDA1622-7045-EEFF-1335-0F4B11DFAD1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3EC66E0F-7DE2-E587-AAFB-67F7B0EF60DD}"/>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D86893B-7E82-7B3F-D842-314CF1EB83D4}"/>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C5B954C4-52AC-E5AB-2EF2-D92DE692BF85}"/>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FE38FC0A-638D-51BF-70C6-45DE8279367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7EA4A7D7-884B-0EF9-135F-AAAFAABF1A04}"/>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E5A6DC56-FC71-6203-63A4-1E013D32CC54}"/>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471EE3C2-5A21-1F2E-6242-CAEAFE4C138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CF4124D2-6A0E-85C2-B91D-B9C8246F0211}"/>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9029F08-D000-2B5A-511E-3DA4F7C2C0D0}"/>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82B0B0F-C2CF-642D-D7BB-3C7B600CDC0A}"/>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25" name="Connector: Elbow 24">
            <a:extLst>
              <a:ext uri="{FF2B5EF4-FFF2-40B4-BE49-F238E27FC236}">
                <a16:creationId xmlns:a16="http://schemas.microsoft.com/office/drawing/2014/main" id="{C144B695-D0D8-BC8D-EDD5-958B92DB25A0}"/>
              </a:ext>
            </a:extLst>
          </p:cNvPr>
          <p:cNvCxnSpPr>
            <a:cxnSpLocks/>
            <a:stCxn id="21" idx="3"/>
            <a:endCxn id="55" idx="1"/>
          </p:cNvCxnSpPr>
          <p:nvPr/>
        </p:nvCxnSpPr>
        <p:spPr>
          <a:xfrm>
            <a:off x="2427398" y="4854173"/>
            <a:ext cx="77355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FE3947B-81A6-CFB2-C28C-BCEA1727535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439FCB8-0229-A1E3-65C5-36FF257E4C4B}"/>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A08BD7CF-C332-0488-BE89-16606881B696}"/>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B1CD8A05-028B-2719-2BF3-D25C004E7D3A}"/>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C855EE0A-EBAD-4CA1-BBE5-7401F4358F52}"/>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D04C4103-8AA5-E384-ED94-5942BB55B405}"/>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30DF8A8-821E-9320-C3DF-5D3E4ED4296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74F8332A-69D9-DDD1-B30F-D5A764736995}"/>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4FD3CBD-E92E-C165-74A5-D94B0FB685AE}"/>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5E611AC-A5F9-9C70-7A57-064488C261A6}"/>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53F4A8F7-A2B1-BCDA-C2F5-E47A25FCE319}"/>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4872EA49-C51E-9F0E-6818-571976FEBB5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D91618-032C-F56E-ED90-6C0BC4523B8B}"/>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3D10C12A-C889-749F-7D28-43CDFECCF5E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935FC02E-A109-D122-72B8-275DE08373FE}"/>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09DB8E0B-E0BC-0432-4B0F-BDDCD031433C}"/>
              </a:ext>
            </a:extLst>
          </p:cNvPr>
          <p:cNvSpPr txBox="1"/>
          <p:nvPr/>
        </p:nvSpPr>
        <p:spPr>
          <a:xfrm>
            <a:off x="4256370" y="208364"/>
            <a:ext cx="3726276" cy="369332"/>
          </a:xfrm>
          <a:prstGeom prst="rect">
            <a:avLst/>
          </a:prstGeom>
          <a:noFill/>
        </p:spPr>
        <p:txBody>
          <a:bodyPr wrap="none" rtlCol="0">
            <a:spAutoFit/>
          </a:bodyPr>
          <a:lstStyle/>
          <a:p>
            <a:pPr algn="ctr"/>
            <a:r>
              <a:rPr lang="en-US" dirty="0">
                <a:solidFill>
                  <a:schemeClr val="bg1"/>
                </a:solidFill>
              </a:rPr>
              <a:t>Audio File Preparation Architecture</a:t>
            </a:r>
          </a:p>
        </p:txBody>
      </p:sp>
      <p:grpSp>
        <p:nvGrpSpPr>
          <p:cNvPr id="78" name="Group 77">
            <a:extLst>
              <a:ext uri="{FF2B5EF4-FFF2-40B4-BE49-F238E27FC236}">
                <a16:creationId xmlns:a16="http://schemas.microsoft.com/office/drawing/2014/main" id="{B79E6984-5FC4-7EA8-918F-FEBDB8577186}"/>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C62DE7E-825E-1B9E-4DCA-A24B20785091}"/>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E23215D6-9720-12DF-F447-A9A81DB4CA00}"/>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4671E57-9F24-46A8-8FC7-8C6D29216F25}"/>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D379EF17-5676-862D-C3A5-4D7E9158E4C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7F71E60-F6A1-372D-22F6-17E7E4C0C130}"/>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472E7728-2C23-B492-8B06-8FD154BE278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938517C-996E-B27C-10AD-B8D6C8ABFA58}"/>
              </a:ext>
            </a:extLst>
          </p:cNvPr>
          <p:cNvSpPr txBox="1">
            <a:spLocks noChangeArrowheads="1"/>
          </p:cNvSpPr>
          <p:nvPr/>
        </p:nvSpPr>
        <p:spPr bwMode="auto">
          <a:xfrm>
            <a:off x="182080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0B2663D-BFB6-48C2-9606-DF4D9F4E145F}"/>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E276D5D-84E8-1892-DDB5-D85FDEC6C936}"/>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09CFE050-5DC0-6FB5-9C2F-BCB4C009392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D74BD3C0-05F6-8BB6-B5A3-E57FA6ECDF0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1CA3515B-5CB4-2B61-56B3-4FF34286562D}"/>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6371AC07-7052-CFFB-07CC-632D46BE089D}"/>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7B1E4EE2-8B3C-8A49-2DC8-CF29F8BDDF8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DC6E15AC-A570-3E75-35ED-F481EC4A36A4}"/>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36D4BEFF-7DE3-031D-B060-2BF7F180ECD7}"/>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7006353F-767C-1FB6-0500-45CDDE012BBB}"/>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36A4035E-2D45-5630-FAAE-69596D129F53}"/>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6B6C127B-E59E-FF33-9074-CBEC0DD34E6C}"/>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3FBA852D-255C-3B0A-0A8E-A87726984B6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7AC056FE-4BA5-586E-8467-1DF72801433C}"/>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DB460182-6DCE-51CF-9FB2-FB7B9915E152}"/>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A2AA06AD-BAE8-BD32-536B-8658405BB44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44025656-97D1-C23F-99AB-38D7E95B8F4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B1FC0C6-C8B5-6C98-A48E-674B4514E165}"/>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88372EED-E07A-1C33-8D16-021AFA601574}"/>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DC390405-5EBC-D6B5-C8DB-875D643BE717}"/>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5210452-1E32-3388-A497-8858F673EA1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6" name="TextBox 12">
            <a:extLst>
              <a:ext uri="{FF2B5EF4-FFF2-40B4-BE49-F238E27FC236}">
                <a16:creationId xmlns:a16="http://schemas.microsoft.com/office/drawing/2014/main" id="{F3C9E180-C56F-C295-218F-228E19188B5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B50C5990-6872-4147-9A13-24D1D01FC22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9B5BC435-9953-A231-42E2-F1E8361931C3}"/>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A752CB7-86ED-CB28-DC9E-E4276895B3CE}"/>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62900FA6-4BCB-47E8-895A-99F77306D26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0FD31716-ABE5-5A1C-E9F7-B228D80556A7}"/>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F7E7292D-6354-C864-49C8-C1F7CAE4B8FE}"/>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18F20802-7ACE-5295-C6F0-0F9F5804F0D2}"/>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877600DF-A4BD-9F74-1B0B-2CD5F6F82636}"/>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25A2584A-AB3A-9A04-6AB2-EB1711449637}"/>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A981F025-A7C2-BEC6-7E5D-77B2EAAC6BA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C35C85AD-A4AC-2F05-9CDC-975EDF4BF762}"/>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C38B9AED-1E74-A7F8-646C-0CD49297F193}"/>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98F2AB7D-19C2-A678-0931-8FC3403CABF0}"/>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DEF7C2B4-4ED6-3D68-9102-89D8ABB51EC8}"/>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429FC9E5-803E-ED9C-2048-9CBC5E4C1D47}"/>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9FC9B28C-142E-FBF0-0BAB-DA10F1AE98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9642ADE7-4D70-D7C5-779D-5670C01C81D1}"/>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26954A69-7B3E-1CD0-6E40-3C90E8D6C106}"/>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D552DDB3-2346-3116-4A88-E332A41B0198}"/>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180A8A18-DCAC-BB4E-E1D6-5F63D50A7C8C}"/>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A7C77489-073D-74F9-55A9-AA80F40FFBAE}"/>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60E3CDFA-7DA4-DED0-5904-CC23E4B41428}"/>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BF78C680-E8EB-B53A-2B37-16703FF2E43B}"/>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7BE15DA-409E-96D6-B81A-CC2B43C376FF}"/>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 name="Graphic 8" descr="Amazon Simple Storage Service (Amazon S3) service icon.">
            <a:extLst>
              <a:ext uri="{FF2B5EF4-FFF2-40B4-BE49-F238E27FC236}">
                <a16:creationId xmlns:a16="http://schemas.microsoft.com/office/drawing/2014/main" id="{73A2263A-2428-781F-CE4B-604BBEE78F07}"/>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9">
            <a:extLst>
              <a:ext uri="{FF2B5EF4-FFF2-40B4-BE49-F238E27FC236}">
                <a16:creationId xmlns:a16="http://schemas.microsoft.com/office/drawing/2014/main" id="{E183426A-9E6F-A74B-F92B-F77C24B42C78}"/>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27462546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5A748-36DE-3778-A2B4-868A6D1E2BD5}"/>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57BFB505-8486-00D6-2F1A-001895097FD7}"/>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CE96D54-943C-E1E2-76DE-9F2DD59ECA2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4" name="aGrouping" descr="Example of AWS Cloud group, represented as a rectangle with AWS logo at the top left, and AWS Cloud as a title.">
            <a:extLst>
              <a:ext uri="{FF2B5EF4-FFF2-40B4-BE49-F238E27FC236}">
                <a16:creationId xmlns:a16="http://schemas.microsoft.com/office/drawing/2014/main" id="{8967A6A2-81D6-42B0-A046-E4AA7FDD7672}"/>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9E47D05B-AC5A-F7E0-BCCB-D9E0BCD19C0F}"/>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CA2BC49E-CF07-27C3-9A9B-FFDE55A41FB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B3628504-E540-14DF-F500-8CDC7554F906}"/>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8F6C5A37-6653-6971-216E-4AD7E499ED1C}"/>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1026811-0F8C-CC70-BD9C-25E7AF0FEB29}"/>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4335F76D-BE8B-5383-24E6-A138B6065CA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D11B9F68-3E0F-C1DB-D031-B917653B4855}"/>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6B2388FC-A0E5-72E5-AA09-FF7DD6AAE40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C76C8141-002A-32EA-7FF7-AAA620B004F5}"/>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59C2621-A95D-CC36-9BB0-57B0B8A01660}"/>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BFA4C0D7-B8BE-C267-D6D1-E14DC8AA1B72}"/>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BD7B03C-67D1-C2FC-39CF-06D4892AB1EB}"/>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C8265B33-61D2-7F62-5B3E-BF6713825DEE}"/>
              </a:ext>
            </a:extLst>
          </p:cNvPr>
          <p:cNvCxnSpPr>
            <a:cxnSpLocks/>
            <a:stCxn id="23" idx="3"/>
            <a:endCxn id="21" idx="1"/>
          </p:cNvCxnSpPr>
          <p:nvPr/>
        </p:nvCxnSpPr>
        <p:spPr>
          <a:xfrm flipV="1">
            <a:off x="1392066" y="4854173"/>
            <a:ext cx="75186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6C24DE01-16BB-3203-2369-2F6780277504}"/>
              </a:ext>
            </a:extLst>
          </p:cNvPr>
          <p:cNvGrpSpPr/>
          <p:nvPr/>
        </p:nvGrpSpPr>
        <p:grpSpPr>
          <a:xfrm>
            <a:off x="210268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5ACC992-E723-1EDB-F2D9-B102F877204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1B5FA84-9553-1669-E27C-845ADAD77B9E}"/>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499B68D-0628-22EE-CFB5-0BA767202744}"/>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FAFF04E9-0539-8E50-30E0-D1CF2F97DF9E}"/>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25" name="Connector: Elbow 24">
            <a:extLst>
              <a:ext uri="{FF2B5EF4-FFF2-40B4-BE49-F238E27FC236}">
                <a16:creationId xmlns:a16="http://schemas.microsoft.com/office/drawing/2014/main" id="{F013731B-2E63-4B93-F824-CE4CA3779199}"/>
              </a:ext>
            </a:extLst>
          </p:cNvPr>
          <p:cNvCxnSpPr>
            <a:cxnSpLocks/>
            <a:stCxn id="21" idx="3"/>
            <a:endCxn id="55" idx="1"/>
          </p:cNvCxnSpPr>
          <p:nvPr/>
        </p:nvCxnSpPr>
        <p:spPr>
          <a:xfrm>
            <a:off x="2418254" y="4854173"/>
            <a:ext cx="78269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EAA3C9E6-C868-AB2B-6062-9884AB07FBA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386D00A-6EB9-BD71-B202-101B7825F0DB}"/>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E42E6E0-B154-C87B-6EDC-B1E61C97A954}"/>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CA605806-975F-5FA3-7879-E196C278A461}"/>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D2EDEB6F-5F20-88FC-4A4A-72CE9B6D436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B47E8573-C24D-5A56-F864-F5EB8B7EFFC9}"/>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8CA133F-26B9-AC25-6412-92785931F6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83DFE076-7E28-DC27-DF0F-FAAAB9F54C98}"/>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FB26283-62AB-EFC4-4572-ADFA29B2E48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36D852FE-BC4B-94BE-490A-1E9F6873B7BE}"/>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4CFE0011-CC9F-7700-C354-2D4356E5C7D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F6A76849-BB04-E503-6801-50CE06055C17}"/>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3BBE0C-430C-64E5-7957-DA6704D3B734}"/>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7165EBBC-6282-8102-7934-AE4BD078022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1C79467-C5D6-E866-153A-02A96AF882A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D90F352-27DC-306B-4D61-87E2947D973B}"/>
              </a:ext>
            </a:extLst>
          </p:cNvPr>
          <p:cNvSpPr txBox="1"/>
          <p:nvPr/>
        </p:nvSpPr>
        <p:spPr>
          <a:xfrm>
            <a:off x="3645369" y="208364"/>
            <a:ext cx="4948278" cy="369332"/>
          </a:xfrm>
          <a:prstGeom prst="rect">
            <a:avLst/>
          </a:prstGeom>
          <a:noFill/>
        </p:spPr>
        <p:txBody>
          <a:bodyPr wrap="none" rtlCol="0">
            <a:spAutoFit/>
          </a:bodyPr>
          <a:lstStyle/>
          <a:p>
            <a:pPr algn="ctr"/>
            <a:r>
              <a:rPr lang="en-US" dirty="0">
                <a:solidFill>
                  <a:schemeClr val="bg1"/>
                </a:solidFill>
              </a:rPr>
              <a:t>Evaluation with Agentic AI and Report Creation</a:t>
            </a:r>
          </a:p>
        </p:txBody>
      </p:sp>
      <p:grpSp>
        <p:nvGrpSpPr>
          <p:cNvPr id="78" name="Group 77">
            <a:extLst>
              <a:ext uri="{FF2B5EF4-FFF2-40B4-BE49-F238E27FC236}">
                <a16:creationId xmlns:a16="http://schemas.microsoft.com/office/drawing/2014/main" id="{3E375ADD-711C-11C5-F8B0-2605AEE7FA5F}"/>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20FB21A-0841-7F10-60C1-C9B8A475B67F}"/>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32AE0302-2985-80A7-89E4-01BA2FEFFEFA}"/>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44E4753E-C142-DEC0-9957-C9519F072F14}"/>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EC5607D0-F0A3-5F16-C615-2331CBE8BBB4}"/>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92EFD26C-3250-4A2E-E8F0-82D58DF875D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795C5F6B-0671-0150-8B9B-6213FCC66AE9}"/>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431FE25-DDF7-1C0A-4267-6D8CB9A176E0}"/>
              </a:ext>
            </a:extLst>
          </p:cNvPr>
          <p:cNvSpPr txBox="1">
            <a:spLocks noChangeArrowheads="1"/>
          </p:cNvSpPr>
          <p:nvPr/>
        </p:nvSpPr>
        <p:spPr bwMode="auto">
          <a:xfrm>
            <a:off x="1829952"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69BCD0FD-2C9E-1196-6760-56557B929547}"/>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1B526CE4-C620-DC57-AB13-5D1ABB53B06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AD71B2AA-4464-946D-2826-85C8254B73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6C7B698-139E-0E31-84B3-4FFE42B32D9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DFF13BCA-4791-C760-4BC7-877CDD69AD24}"/>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F007535F-06B4-AFDA-A59E-759434A32113}"/>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A6CF2442-5E0E-D3CC-4DEB-A8F55AFC50B9}"/>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07F8E071-6E85-24FF-7649-466DB57D50E3}"/>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A729BFCC-EEF6-2DBC-BD6E-F933C51CDD84}"/>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4A109D65-7821-8EA0-4601-1FCDD2DDAF9C}"/>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F7461662-7872-1F20-C3F1-7AEA5A074971}"/>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C7FA2177-AC57-C235-8918-3EC091821073}"/>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C6D1CE4C-689B-8068-9DF1-28F79422EDF4}"/>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5D3C7780-EDE9-F3B2-1986-0266ECD5E3ED}"/>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058E4FC1-F6B0-8A6E-D15E-F29591E80F61}"/>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14ABD7B7-7C23-D862-4AFD-2ED2585BBA8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2E4B53B-FE4B-E9B7-BC21-F03DAD6A4BC9}"/>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9514FB5-66C5-CD19-7421-5FBF3F52CB74}"/>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B971C00-984A-DF4F-493A-3BF30A3E882B}"/>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7F6EBB0B-2C49-012D-D12B-004A6512EE9F}"/>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F59313D7-8964-B07E-6432-EB7CA257A7A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048FD04D-63BE-2B95-2DEC-1528404816A9}"/>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EEBE13AC-07FD-7C42-DE8D-F20FE3B244E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499F5D3E-B2A7-B198-B336-1DEC1A54B098}"/>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9AA5499F-4C22-7CE6-938A-27382409A614}"/>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C0C04E5C-EAD7-06E3-B174-69BCB2EFB74C}"/>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84870A71-AA7A-382C-2B64-B5E850890F4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31F539EC-828E-3E71-87C8-85AD1A3BF20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D9CF6A03-37A0-A03B-529F-E322AD6E9AEB}"/>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8045DF4C-1F92-A86D-ADE6-D712202E8DBF}"/>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60879097-3FE1-EAEF-1CC7-A78381CC3F95}"/>
              </a:ext>
            </a:extLst>
          </p:cNvPr>
          <p:cNvPicPr>
            <a:picLocks noChangeAspect="1" noChangeArrowheads="1"/>
          </p:cNvPicPr>
          <p:nvPr/>
        </p:nvPicPr>
        <p:blipFill>
          <a:blip>
            <a:extLst>
              <a:ext uri="{96DAC541-7B7A-43D3-8B79-37D633B846F1}">
                <asvg:svgBlip xmlns:asvg="http://schemas.microsoft.com/office/drawing/2016/SVG/main" r:embed="rId21"/>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1B0A814F-FD91-AC70-B8DE-6588DF654D0E}"/>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6B30B76B-5734-95B5-7726-5DBB8508B56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A89E654A-0DBC-5ED7-EAF5-1304B44175DE}"/>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A4D9267A-8425-A57F-0208-E702196F6230}"/>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DF4186EE-E78C-2701-7FAD-FEC21143BADD}"/>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121AD5FA-A80D-4C37-3A5B-A3CBCAC4A7E0}"/>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35ABEAC-C1A4-85FF-5B5F-126011A28F54}"/>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69B70B62-3A6B-97B8-733A-EA9F28C750DA}"/>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A711FA71-DF27-6152-FD9F-5DFFA381E36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995CA1D-18BC-080F-B34E-18498E2685C0}"/>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E9F09B75-E996-EFBD-AA17-29A7F73B003D}"/>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4B05C444-AE37-8FDE-CD9B-FB72F668B795}"/>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794C56E3-946B-8346-EE0F-08C377B9D0C0}"/>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6B7595F2-C4DA-5EB0-EABB-975C878E1F61}"/>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1E1D9991-AACC-7CD0-3CAA-168F3FDFD9EA}"/>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192DCA5B-1AF6-0F27-F192-D99C631B44DE}"/>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F465F8E-22A7-4B11-ECDA-7CECF21C0B9D}"/>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175A19AF-21C2-4251-5300-FA37460804C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77E9C3ED-48A1-BA4C-C6CF-18A4BCA9D1E1}"/>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2">
            <a:extLst>
              <a:ext uri="{FF2B5EF4-FFF2-40B4-BE49-F238E27FC236}">
                <a16:creationId xmlns:a16="http://schemas.microsoft.com/office/drawing/2014/main" id="{8006518B-77E4-2A89-0EAD-5C360D737957}"/>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6E56B544-9671-EF59-ADDA-DA2C0029B612}"/>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A85FA03D-D5C3-0462-DD50-F2484979DE98}"/>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1A2BA66-FA90-4413-48B0-410FBC965437}"/>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07CC2ED3-3844-DD7F-72F7-F0AE897C3D78}"/>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C52AA5B6-0608-C216-394A-195AF4B949EE}"/>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2FF7185B-A305-00D5-52C9-B1C5F76C5B03}"/>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842BAB83-349A-A128-AAED-9A8EFB69326C}"/>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EB465E5D-049A-08B7-439B-00FC294F77F2}"/>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595226A9-E147-16B3-2F69-B6C8910F03F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668925AD-0DDA-E1F0-767A-F2A3AE5F009D}"/>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DEEF781C-D514-DDB7-39EC-96553D7A85BE}"/>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B991A71-253F-9797-24D1-1E1601551A94}"/>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64687572-47D5-2004-DC68-11A011924B26}"/>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77DD3640-FC1A-327A-F070-A2227C17FA17}"/>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90C0F048-E28D-FA00-7181-F199D37015E3}"/>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4C69F412-BEBD-A1CB-539C-8A5FBC3DB1B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13A60471-7428-7517-EC15-A014D6F646CB}"/>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F82D75C5-DEA3-D76D-4764-C902D7AE3842}"/>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1CDB1AD3-CC78-5741-58CB-05C343B0BD9C}"/>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C9F351A3-74E0-83BD-1E96-0289FFACF588}"/>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097006C-4473-AA4D-4FE1-60E024638042}"/>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1C51DE6A-CD2A-AA07-8A43-F6E51A371726}"/>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1D567AFA-C33F-5C97-A6C1-763325407087}"/>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362611C7-1AC4-3BEB-A048-94A568893E67}"/>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 name="Graphic 8" descr="Amazon Simple Storage Service (Amazon S3) service icon.">
            <a:extLst>
              <a:ext uri="{FF2B5EF4-FFF2-40B4-BE49-F238E27FC236}">
                <a16:creationId xmlns:a16="http://schemas.microsoft.com/office/drawing/2014/main" id="{7E8BAB04-E0A0-98DA-1EF0-83D247B288E4}"/>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9">
            <a:extLst>
              <a:ext uri="{FF2B5EF4-FFF2-40B4-BE49-F238E27FC236}">
                <a16:creationId xmlns:a16="http://schemas.microsoft.com/office/drawing/2014/main" id="{8206CB76-AB7C-41A5-B570-37F8E5AC05B1}"/>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24" name="TextBox 23">
            <a:extLst>
              <a:ext uri="{FF2B5EF4-FFF2-40B4-BE49-F238E27FC236}">
                <a16:creationId xmlns:a16="http://schemas.microsoft.com/office/drawing/2014/main" id="{5775133E-C138-3BAA-631B-662D310C67CD}"/>
              </a:ext>
            </a:extLst>
          </p:cNvPr>
          <p:cNvSpPr txBox="1"/>
          <p:nvPr/>
        </p:nvSpPr>
        <p:spPr>
          <a:xfrm>
            <a:off x="3601243" y="6131777"/>
            <a:ext cx="7689028" cy="369332"/>
          </a:xfrm>
          <a:prstGeom prst="rect">
            <a:avLst/>
          </a:prstGeom>
          <a:noFill/>
        </p:spPr>
        <p:txBody>
          <a:bodyPr wrap="none" rtlCol="0">
            <a:spAutoFit/>
          </a:bodyPr>
          <a:lstStyle/>
          <a:p>
            <a:pPr algn="ctr"/>
            <a:r>
              <a:rPr lang="en-US" b="1" dirty="0">
                <a:solidFill>
                  <a:srgbClr val="FFC000"/>
                </a:solidFill>
              </a:rPr>
              <a:t>Option: Replacing </a:t>
            </a:r>
            <a:r>
              <a:rPr lang="en-US" b="1" dirty="0" err="1">
                <a:solidFill>
                  <a:srgbClr val="FFC000"/>
                </a:solidFill>
              </a:rPr>
              <a:t>EventBridge</a:t>
            </a:r>
            <a:r>
              <a:rPr lang="en-US" b="1" dirty="0">
                <a:solidFill>
                  <a:srgbClr val="FFC000"/>
                </a:solidFill>
              </a:rPr>
              <a:t> Pipes with Lambdas can be explored </a:t>
            </a:r>
          </a:p>
        </p:txBody>
      </p:sp>
    </p:spTree>
    <p:extLst>
      <p:ext uri="{BB962C8B-B14F-4D97-AF65-F5344CB8AC3E}">
        <p14:creationId xmlns:p14="http://schemas.microsoft.com/office/powerpoint/2010/main" val="83868383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5BC051B-F6B5-3408-C844-5E8F15A845F6}"/>
              </a:ext>
            </a:extLst>
          </p:cNvPr>
          <p:cNvSpPr txBox="1"/>
          <p:nvPr/>
        </p:nvSpPr>
        <p:spPr>
          <a:xfrm>
            <a:off x="3740502" y="208364"/>
            <a:ext cx="4758034" cy="369332"/>
          </a:xfrm>
          <a:prstGeom prst="rect">
            <a:avLst/>
          </a:prstGeom>
          <a:noFill/>
        </p:spPr>
        <p:txBody>
          <a:bodyPr wrap="none" rtlCol="0">
            <a:spAutoFit/>
          </a:bodyPr>
          <a:lstStyle/>
          <a:p>
            <a:pPr algn="ctr"/>
            <a:r>
              <a:rPr lang="en-US" dirty="0">
                <a:solidFill>
                  <a:schemeClr val="bg1"/>
                </a:solidFill>
              </a:rPr>
              <a:t>Multi-Region Ready if the Business Case Exits</a:t>
            </a:r>
          </a:p>
        </p:txBody>
      </p:sp>
      <p:pic>
        <p:nvPicPr>
          <p:cNvPr id="4" name="Picture 3">
            <a:extLst>
              <a:ext uri="{FF2B5EF4-FFF2-40B4-BE49-F238E27FC236}">
                <a16:creationId xmlns:a16="http://schemas.microsoft.com/office/drawing/2014/main" id="{EFC6586C-5B8F-FF76-797C-D878CC432413}"/>
              </a:ext>
            </a:extLst>
          </p:cNvPr>
          <p:cNvPicPr>
            <a:picLocks noChangeAspect="1"/>
          </p:cNvPicPr>
          <p:nvPr/>
        </p:nvPicPr>
        <p:blipFill>
          <a:blip r:embed="rId2"/>
          <a:stretch>
            <a:fillRect/>
          </a:stretch>
        </p:blipFill>
        <p:spPr>
          <a:xfrm>
            <a:off x="1687704" y="707923"/>
            <a:ext cx="7988076" cy="5964430"/>
          </a:xfrm>
          <a:prstGeom prst="rect">
            <a:avLst/>
          </a:prstGeom>
        </p:spPr>
      </p:pic>
    </p:spTree>
    <p:extLst>
      <p:ext uri="{BB962C8B-B14F-4D97-AF65-F5344CB8AC3E}">
        <p14:creationId xmlns:p14="http://schemas.microsoft.com/office/powerpoint/2010/main" val="239682274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DELIVERY MODEL</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Build approach: AI-DLC turned the idea into deployable work units</a:t>
            </a:r>
            <a:endParaRPr lang="en-US" sz="2950" dirty="0"/>
          </a:p>
        </p:txBody>
      </p:sp>
      <p:sp>
        <p:nvSpPr>
          <p:cNvPr id="4" name="Text 2"/>
          <p:cNvSpPr/>
          <p:nvPr/>
        </p:nvSpPr>
        <p:spPr>
          <a:xfrm>
            <a:off x="621792" y="1353312"/>
            <a:ext cx="10625328" cy="749808"/>
          </a:xfrm>
          <a:prstGeom prst="rect">
            <a:avLst/>
          </a:prstGeom>
          <a:noFill/>
          <a:ln/>
        </p:spPr>
        <p:txBody>
          <a:bodyPr wrap="square" lIns="254" tIns="254" rIns="254" bIns="254" rtlCol="0" anchor="t">
            <a:normAutofit/>
          </a:bodyPr>
          <a:lstStyle/>
          <a:p>
            <a:pPr marL="0" indent="0" algn="l">
              <a:buNone/>
            </a:pPr>
            <a:r>
              <a:rPr lang="en-US" sz="1720" dirty="0">
                <a:solidFill>
                  <a:srgbClr val="B2BAC8"/>
                </a:solidFill>
              </a:rPr>
              <a:t>The useful lesson is not that code was generated quickly. The useful lesson is that the work was decomposed into independently testable “bolts” with clear contracts.</a:t>
            </a:r>
            <a:endParaRPr lang="en-US" sz="1720" dirty="0"/>
          </a:p>
        </p:txBody>
      </p:sp>
      <p:sp>
        <p:nvSpPr>
          <p:cNvPr id="5" name="Text 3"/>
          <p:cNvSpPr/>
          <p:nvPr/>
        </p:nvSpPr>
        <p:spPr>
          <a:xfrm>
            <a:off x="1115568" y="2761488"/>
            <a:ext cx="2084832"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220" b="1" dirty="0">
                <a:solidFill>
                  <a:srgbClr val="07111E"/>
                </a:solidFill>
              </a:rPr>
              <a:t>Frontend SPA</a:t>
            </a:r>
            <a:endParaRPr lang="en-US" sz="1220" dirty="0"/>
          </a:p>
        </p:txBody>
      </p:sp>
      <p:sp>
        <p:nvSpPr>
          <p:cNvPr id="6" name="Text 4"/>
          <p:cNvSpPr/>
          <p:nvPr/>
        </p:nvSpPr>
        <p:spPr>
          <a:xfrm>
            <a:off x="1115568" y="3419856"/>
            <a:ext cx="2084832" cy="987552"/>
          </a:xfrm>
          <a:prstGeom prst="roundRect">
            <a:avLst>
              <a:gd name="adj" fmla="val 7407"/>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50" dirty="0">
                <a:solidFill>
                  <a:srgbClr val="B2BAC8"/>
                </a:solidFill>
              </a:rPr>
              <a:t>Auth, upload UX, responsive web app</a:t>
            </a:r>
            <a:endParaRPr lang="en-US" sz="1050" dirty="0"/>
          </a:p>
        </p:txBody>
      </p:sp>
      <p:sp>
        <p:nvSpPr>
          <p:cNvPr id="7" name="Shape 5"/>
          <p:cNvSpPr/>
          <p:nvPr/>
        </p:nvSpPr>
        <p:spPr>
          <a:xfrm>
            <a:off x="3246120"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8" name="Text 6"/>
          <p:cNvSpPr/>
          <p:nvPr/>
        </p:nvSpPr>
        <p:spPr>
          <a:xfrm>
            <a:off x="3794760" y="2761488"/>
            <a:ext cx="2084832"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220" b="1" dirty="0">
                <a:solidFill>
                  <a:srgbClr val="07111E"/>
                </a:solidFill>
              </a:rPr>
              <a:t>Upload &amp; Storage</a:t>
            </a:r>
            <a:endParaRPr lang="en-US" sz="1220" dirty="0"/>
          </a:p>
        </p:txBody>
      </p:sp>
      <p:sp>
        <p:nvSpPr>
          <p:cNvPr id="9" name="Text 7"/>
          <p:cNvSpPr/>
          <p:nvPr/>
        </p:nvSpPr>
        <p:spPr>
          <a:xfrm>
            <a:off x="3794760" y="3419856"/>
            <a:ext cx="2084832" cy="987552"/>
          </a:xfrm>
          <a:prstGeom prst="roundRect">
            <a:avLst>
              <a:gd name="adj" fmla="val 7407"/>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dirty="0">
                <a:solidFill>
                  <a:srgbClr val="B2BAC8"/>
                </a:solidFill>
              </a:rPr>
              <a:t>Presigned S3 URL, DynamoDB record, SQS trigger</a:t>
            </a:r>
            <a:endParaRPr lang="en-US" sz="1050" dirty="0"/>
          </a:p>
        </p:txBody>
      </p:sp>
      <p:sp>
        <p:nvSpPr>
          <p:cNvPr id="10" name="Shape 8"/>
          <p:cNvSpPr/>
          <p:nvPr/>
        </p:nvSpPr>
        <p:spPr>
          <a:xfrm>
            <a:off x="5925312"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11" name="Text 9"/>
          <p:cNvSpPr/>
          <p:nvPr/>
        </p:nvSpPr>
        <p:spPr>
          <a:xfrm>
            <a:off x="6473952" y="2761488"/>
            <a:ext cx="2084832"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220" b="1" dirty="0">
                <a:solidFill>
                  <a:srgbClr val="07111E"/>
                </a:solidFill>
              </a:rPr>
              <a:t>Preparation Workflow</a:t>
            </a:r>
            <a:endParaRPr lang="en-US" sz="1220" dirty="0"/>
          </a:p>
        </p:txBody>
      </p:sp>
      <p:sp>
        <p:nvSpPr>
          <p:cNvPr id="12" name="Text 10"/>
          <p:cNvSpPr/>
          <p:nvPr/>
        </p:nvSpPr>
        <p:spPr>
          <a:xfrm>
            <a:off x="6473952" y="3419856"/>
            <a:ext cx="2084832" cy="987552"/>
          </a:xfrm>
          <a:prstGeom prst="roundRect">
            <a:avLst>
              <a:gd name="adj" fmla="val 7407"/>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dirty="0">
                <a:solidFill>
                  <a:srgbClr val="B2BAC8"/>
                </a:solidFill>
              </a:rPr>
              <a:t>Step Functions, Transcribe, chunks, embeddings</a:t>
            </a:r>
            <a:endParaRPr lang="en-US" sz="1050" dirty="0"/>
          </a:p>
        </p:txBody>
      </p:sp>
      <p:sp>
        <p:nvSpPr>
          <p:cNvPr id="13" name="Shape 11"/>
          <p:cNvSpPr/>
          <p:nvPr/>
        </p:nvSpPr>
        <p:spPr>
          <a:xfrm>
            <a:off x="8604504" y="3904488"/>
            <a:ext cx="475488" cy="0"/>
          </a:xfrm>
          <a:prstGeom prst="line">
            <a:avLst/>
          </a:prstGeom>
          <a:noFill/>
          <a:ln w="22860">
            <a:solidFill>
              <a:srgbClr val="1B4C78"/>
            </a:solidFill>
            <a:prstDash val="solid"/>
            <a:headEnd type="none"/>
            <a:tailEnd type="triangle"/>
          </a:ln>
        </p:spPr>
        <p:txBody>
          <a:bodyPr/>
          <a:lstStyle/>
          <a:p>
            <a:endParaRPr lang="en-US"/>
          </a:p>
        </p:txBody>
      </p:sp>
      <p:sp>
        <p:nvSpPr>
          <p:cNvPr id="14" name="Text 12"/>
          <p:cNvSpPr/>
          <p:nvPr/>
        </p:nvSpPr>
        <p:spPr>
          <a:xfrm>
            <a:off x="9162288" y="2761488"/>
            <a:ext cx="2084832" cy="530352"/>
          </a:xfrm>
          <a:prstGeom prst="roundRect">
            <a:avLst>
              <a:gd name="adj" fmla="val 13793"/>
            </a:avLst>
          </a:prstGeom>
          <a:solidFill>
            <a:srgbClr val="B68CFF"/>
          </a:solidFill>
          <a:ln w="13970">
            <a:solidFill>
              <a:srgbClr val="B68CFF"/>
            </a:solidFill>
          </a:ln>
        </p:spPr>
        <p:txBody>
          <a:bodyPr wrap="square" lIns="1016" tIns="1016" rIns="1016" bIns="1016" rtlCol="0" anchor="ctr">
            <a:normAutofit/>
          </a:bodyPr>
          <a:lstStyle/>
          <a:p>
            <a:pPr marL="0" indent="0" algn="ctr">
              <a:buNone/>
            </a:pPr>
            <a:r>
              <a:rPr lang="en-US" sz="1220" b="1" dirty="0">
                <a:solidFill>
                  <a:srgbClr val="07111E"/>
                </a:solidFill>
              </a:rPr>
              <a:t>Agentic Evaluation</a:t>
            </a:r>
            <a:endParaRPr lang="en-US" sz="1220" dirty="0"/>
          </a:p>
        </p:txBody>
      </p:sp>
      <p:sp>
        <p:nvSpPr>
          <p:cNvPr id="15" name="Text 13"/>
          <p:cNvSpPr/>
          <p:nvPr/>
        </p:nvSpPr>
        <p:spPr>
          <a:xfrm>
            <a:off x="9162288" y="3419856"/>
            <a:ext cx="2084832" cy="987552"/>
          </a:xfrm>
          <a:prstGeom prst="roundRect">
            <a:avLst>
              <a:gd name="adj" fmla="val 7407"/>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dirty="0">
                <a:solidFill>
                  <a:srgbClr val="B2BAC8"/>
                </a:solidFill>
              </a:rPr>
              <a:t>Supervisor + seven evaluators + report generator</a:t>
            </a:r>
            <a:endParaRPr lang="en-US" sz="1050" dirty="0"/>
          </a:p>
        </p:txBody>
      </p:sp>
      <p:sp>
        <p:nvSpPr>
          <p:cNvPr id="16" name="Text 14"/>
          <p:cNvSpPr/>
          <p:nvPr/>
        </p:nvSpPr>
        <p:spPr>
          <a:xfrm>
            <a:off x="1103375"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&lt;7 days</a:t>
            </a:r>
            <a:endParaRPr lang="en-US" sz="2600" dirty="0"/>
          </a:p>
        </p:txBody>
      </p:sp>
      <p:sp>
        <p:nvSpPr>
          <p:cNvPr id="17" name="Text 15"/>
          <p:cNvSpPr/>
          <p:nvPr/>
        </p:nvSpPr>
        <p:spPr>
          <a:xfrm>
            <a:off x="1103375"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elapsed build window</a:t>
            </a:r>
            <a:endParaRPr lang="en-US" sz="1050" dirty="0"/>
          </a:p>
        </p:txBody>
      </p:sp>
      <p:sp>
        <p:nvSpPr>
          <p:cNvPr id="18" name="Text 16"/>
          <p:cNvSpPr/>
          <p:nvPr/>
        </p:nvSpPr>
        <p:spPr>
          <a:xfrm>
            <a:off x="3955585" y="5084064"/>
            <a:ext cx="182880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9</a:t>
            </a:r>
            <a:endParaRPr lang="en-US" sz="2600" dirty="0"/>
          </a:p>
        </p:txBody>
      </p:sp>
      <p:sp>
        <p:nvSpPr>
          <p:cNvPr id="19" name="Text 17"/>
          <p:cNvSpPr/>
          <p:nvPr/>
        </p:nvSpPr>
        <p:spPr>
          <a:xfrm>
            <a:off x="3955585" y="5669280"/>
            <a:ext cx="182880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CI/CD pipelines</a:t>
            </a:r>
            <a:endParaRPr lang="en-US" sz="1050" dirty="0"/>
          </a:p>
        </p:txBody>
      </p:sp>
      <p:sp>
        <p:nvSpPr>
          <p:cNvPr id="20" name="Text 18"/>
          <p:cNvSpPr/>
          <p:nvPr/>
        </p:nvSpPr>
        <p:spPr>
          <a:xfrm>
            <a:off x="6748272" y="5084064"/>
            <a:ext cx="164592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0</a:t>
            </a:r>
            <a:endParaRPr lang="en-US" sz="2600" dirty="0"/>
          </a:p>
        </p:txBody>
      </p:sp>
      <p:sp>
        <p:nvSpPr>
          <p:cNvPr id="21" name="Text 19"/>
          <p:cNvSpPr/>
          <p:nvPr/>
        </p:nvSpPr>
        <p:spPr>
          <a:xfrm>
            <a:off x="6748272" y="5669280"/>
            <a:ext cx="164592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servers managed</a:t>
            </a:r>
            <a:endParaRPr lang="en-US" sz="1050" dirty="0"/>
          </a:p>
        </p:txBody>
      </p:sp>
      <p:sp>
        <p:nvSpPr>
          <p:cNvPr id="22" name="Text 20"/>
          <p:cNvSpPr/>
          <p:nvPr/>
        </p:nvSpPr>
        <p:spPr>
          <a:xfrm>
            <a:off x="9275602"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B68CFF"/>
                </a:solidFill>
              </a:rPr>
              <a:t>~$0</a:t>
            </a:r>
            <a:endParaRPr lang="en-US" sz="2600" dirty="0">
              <a:solidFill>
                <a:srgbClr val="B68CFF"/>
              </a:solidFill>
            </a:endParaRPr>
          </a:p>
        </p:txBody>
      </p:sp>
      <p:sp>
        <p:nvSpPr>
          <p:cNvPr id="23" name="Text 21"/>
          <p:cNvSpPr/>
          <p:nvPr/>
        </p:nvSpPr>
        <p:spPr>
          <a:xfrm>
            <a:off x="9275602"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idle architecture cost</a:t>
            </a:r>
            <a:endParaRPr lang="en-US" sz="105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Retrospective describes four work units, bolt-based interfaces, CI/CD pipelines, and zero-idle service selection.</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RUNTIME FLOW</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End-to-end processing is event-driven and observable</a:t>
            </a:r>
            <a:endParaRPr lang="en-US" sz="2950" dirty="0"/>
          </a:p>
        </p:txBody>
      </p:sp>
      <p:sp>
        <p:nvSpPr>
          <p:cNvPr id="4" name="Text 2"/>
          <p:cNvSpPr/>
          <p:nvPr/>
        </p:nvSpPr>
        <p:spPr>
          <a:xfrm>
            <a:off x="502920"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Cognito + SPA</a:t>
            </a:r>
            <a:endParaRPr lang="en-US" sz="1020" dirty="0"/>
          </a:p>
        </p:txBody>
      </p:sp>
      <p:sp>
        <p:nvSpPr>
          <p:cNvPr id="5" name="Text 3"/>
          <p:cNvSpPr/>
          <p:nvPr/>
        </p:nvSpPr>
        <p:spPr>
          <a:xfrm>
            <a:off x="50292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User signs in and submits metadata</a:t>
            </a:r>
            <a:endParaRPr lang="en-US" sz="880" dirty="0"/>
          </a:p>
        </p:txBody>
      </p:sp>
      <p:sp>
        <p:nvSpPr>
          <p:cNvPr id="6" name="Shape 4"/>
          <p:cNvSpPr/>
          <p:nvPr/>
        </p:nvSpPr>
        <p:spPr>
          <a:xfrm>
            <a:off x="194767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7" name="Text 5"/>
          <p:cNvSpPr/>
          <p:nvPr/>
        </p:nvSpPr>
        <p:spPr>
          <a:xfrm>
            <a:off x="2167128"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S3 upload</a:t>
            </a:r>
            <a:endParaRPr lang="en-US" sz="1020" dirty="0"/>
          </a:p>
        </p:txBody>
      </p:sp>
      <p:sp>
        <p:nvSpPr>
          <p:cNvPr id="8" name="Text 6"/>
          <p:cNvSpPr/>
          <p:nvPr/>
        </p:nvSpPr>
        <p:spPr>
          <a:xfrm>
            <a:off x="216712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Client uploads directly through presigned URL</a:t>
            </a:r>
            <a:endParaRPr lang="en-US" sz="880" dirty="0"/>
          </a:p>
        </p:txBody>
      </p:sp>
      <p:sp>
        <p:nvSpPr>
          <p:cNvPr id="9" name="Shape 7"/>
          <p:cNvSpPr/>
          <p:nvPr/>
        </p:nvSpPr>
        <p:spPr>
          <a:xfrm>
            <a:off x="3611880"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0" name="Text 8"/>
          <p:cNvSpPr/>
          <p:nvPr/>
        </p:nvSpPr>
        <p:spPr>
          <a:xfrm>
            <a:off x="3831336"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DynamoDB</a:t>
            </a:r>
            <a:endParaRPr lang="en-US" sz="1020" dirty="0"/>
          </a:p>
        </p:txBody>
      </p:sp>
      <p:sp>
        <p:nvSpPr>
          <p:cNvPr id="11" name="Text 9"/>
          <p:cNvSpPr/>
          <p:nvPr/>
        </p:nvSpPr>
        <p:spPr>
          <a:xfrm>
            <a:off x="3831336"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Submission state starts as Pending</a:t>
            </a:r>
            <a:endParaRPr lang="en-US" sz="880" dirty="0"/>
          </a:p>
        </p:txBody>
      </p:sp>
      <p:sp>
        <p:nvSpPr>
          <p:cNvPr id="12" name="Shape 10"/>
          <p:cNvSpPr/>
          <p:nvPr/>
        </p:nvSpPr>
        <p:spPr>
          <a:xfrm>
            <a:off x="5276088"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3" name="Text 11"/>
          <p:cNvSpPr/>
          <p:nvPr/>
        </p:nvSpPr>
        <p:spPr>
          <a:xfrm>
            <a:off x="5495544"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SQS → Pipes</a:t>
            </a:r>
            <a:endParaRPr lang="en-US" sz="1020" dirty="0"/>
          </a:p>
        </p:txBody>
      </p:sp>
      <p:sp>
        <p:nvSpPr>
          <p:cNvPr id="14" name="Text 12"/>
          <p:cNvSpPr/>
          <p:nvPr/>
        </p:nvSpPr>
        <p:spPr>
          <a:xfrm>
            <a:off x="5495544"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EventBridge starts one workflow per message</a:t>
            </a:r>
            <a:endParaRPr lang="en-US" sz="880" dirty="0"/>
          </a:p>
        </p:txBody>
      </p:sp>
      <p:sp>
        <p:nvSpPr>
          <p:cNvPr id="15" name="Shape 13"/>
          <p:cNvSpPr/>
          <p:nvPr/>
        </p:nvSpPr>
        <p:spPr>
          <a:xfrm>
            <a:off x="6940296"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6" name="Text 14"/>
          <p:cNvSpPr/>
          <p:nvPr/>
        </p:nvSpPr>
        <p:spPr>
          <a:xfrm>
            <a:off x="7159752"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Step Functions</a:t>
            </a:r>
            <a:endParaRPr lang="en-US" sz="1020" dirty="0"/>
          </a:p>
        </p:txBody>
      </p:sp>
      <p:sp>
        <p:nvSpPr>
          <p:cNvPr id="17" name="Text 15"/>
          <p:cNvSpPr/>
          <p:nvPr/>
        </p:nvSpPr>
        <p:spPr>
          <a:xfrm>
            <a:off x="7159752"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Validate, transcribe, chunk, optionally embed</a:t>
            </a:r>
            <a:endParaRPr lang="en-US" sz="880" dirty="0"/>
          </a:p>
        </p:txBody>
      </p:sp>
      <p:sp>
        <p:nvSpPr>
          <p:cNvPr id="18" name="Shape 16"/>
          <p:cNvSpPr/>
          <p:nvPr/>
        </p:nvSpPr>
        <p:spPr>
          <a:xfrm>
            <a:off x="8604504"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9" name="Text 17"/>
          <p:cNvSpPr/>
          <p:nvPr/>
        </p:nvSpPr>
        <p:spPr>
          <a:xfrm>
            <a:off x="8823960"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ECS Task</a:t>
            </a:r>
            <a:endParaRPr lang="en-US" sz="1020" dirty="0"/>
          </a:p>
        </p:txBody>
      </p:sp>
      <p:sp>
        <p:nvSpPr>
          <p:cNvPr id="20" name="Text 18"/>
          <p:cNvSpPr/>
          <p:nvPr/>
        </p:nvSpPr>
        <p:spPr>
          <a:xfrm>
            <a:off x="882396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Supervisor Agent and other key Functions</a:t>
            </a:r>
            <a:endParaRPr lang="en-US" sz="880" dirty="0"/>
          </a:p>
        </p:txBody>
      </p:sp>
      <p:sp>
        <p:nvSpPr>
          <p:cNvPr id="21" name="Shape 19"/>
          <p:cNvSpPr/>
          <p:nvPr/>
        </p:nvSpPr>
        <p:spPr>
          <a:xfrm>
            <a:off x="1026871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22" name="Text 20"/>
          <p:cNvSpPr/>
          <p:nvPr/>
        </p:nvSpPr>
        <p:spPr>
          <a:xfrm>
            <a:off x="10488168"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err="1">
                <a:solidFill>
                  <a:srgbClr val="F5F7FA"/>
                </a:solidFill>
              </a:rPr>
              <a:t>AgentCore</a:t>
            </a:r>
            <a:endParaRPr lang="en-US" sz="1020" dirty="0"/>
          </a:p>
        </p:txBody>
      </p:sp>
      <p:sp>
        <p:nvSpPr>
          <p:cNvPr id="23" name="Text 21"/>
          <p:cNvSpPr/>
          <p:nvPr/>
        </p:nvSpPr>
        <p:spPr>
          <a:xfrm>
            <a:off x="1048816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Agents evaluate and generate report</a:t>
            </a:r>
            <a:endParaRPr lang="en-US" sz="880" dirty="0"/>
          </a:p>
        </p:txBody>
      </p:sp>
      <p:sp>
        <p:nvSpPr>
          <p:cNvPr id="24" name="Text 22"/>
          <p:cNvSpPr/>
          <p:nvPr/>
        </p:nvSpPr>
        <p:spPr>
          <a:xfrm>
            <a:off x="749808" y="4151376"/>
            <a:ext cx="6766560" cy="960120"/>
          </a:xfrm>
          <a:prstGeom prst="rect">
            <a:avLst/>
          </a:prstGeom>
          <a:noFill/>
          <a:ln/>
        </p:spPr>
        <p:txBody>
          <a:bodyPr wrap="square" lIns="254" tIns="254" rIns="254" bIns="254" rtlCol="0" anchor="t">
            <a:normAutofit/>
          </a:bodyPr>
          <a:lstStyle/>
          <a:p>
            <a:pPr marL="0" indent="0" algn="l">
              <a:buNone/>
            </a:pPr>
            <a:r>
              <a:rPr lang="en-US" sz="1550" dirty="0">
                <a:solidFill>
                  <a:srgbClr val="B2BAC8"/>
                </a:solidFill>
              </a:rPr>
              <a:t>The handoff contract matters more than the tool choice. The upload service does not know how evaluation works. The evaluator does not care how the file arrived. That keeps each boundary testable and replaceable.</a:t>
            </a:r>
            <a:endParaRPr lang="en-US" sz="1550" dirty="0"/>
          </a:p>
        </p:txBody>
      </p:sp>
      <p:sp>
        <p:nvSpPr>
          <p:cNvPr id="25" name="Text 23"/>
          <p:cNvSpPr/>
          <p:nvPr/>
        </p:nvSpPr>
        <p:spPr>
          <a:xfrm>
            <a:off x="8101584" y="3950208"/>
            <a:ext cx="2962656" cy="768096"/>
          </a:xfrm>
          <a:prstGeom prst="roundRect">
            <a:avLst>
              <a:gd name="adj" fmla="val 9524"/>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40" b="1" dirty="0">
                <a:solidFill>
                  <a:srgbClr val="F5F7FA"/>
                </a:solidFill>
              </a:rPr>
              <a:t>State transitions</a:t>
            </a:r>
            <a:endParaRPr lang="en-US" sz="1240" dirty="0"/>
          </a:p>
          <a:p>
            <a:pPr marL="0" indent="0" algn="ctr">
              <a:buNone/>
            </a:pPr>
            <a:r>
              <a:rPr lang="en-US" sz="1240" b="1" dirty="0">
                <a:solidFill>
                  <a:srgbClr val="F5F7FA"/>
                </a:solidFill>
              </a:rPr>
              <a:t>Pending → Processing → Completed</a:t>
            </a:r>
            <a:endParaRPr lang="en-US" sz="1240" dirty="0"/>
          </a:p>
          <a:p>
            <a:pPr marL="0" indent="0" algn="ctr">
              <a:buNone/>
            </a:pPr>
            <a:r>
              <a:rPr lang="en-US" sz="1240" b="1" dirty="0">
                <a:solidFill>
                  <a:srgbClr val="F5F7FA"/>
                </a:solidFill>
              </a:rPr>
              <a:t>or Failed</a:t>
            </a:r>
            <a:endParaRPr lang="en-US" sz="1240" dirty="0"/>
          </a:p>
        </p:txBody>
      </p:sp>
      <p:sp>
        <p:nvSpPr>
          <p:cNvPr id="26" name="Text 24"/>
          <p:cNvSpPr/>
          <p:nvPr/>
        </p:nvSpPr>
        <p:spPr>
          <a:xfrm>
            <a:off x="8101584" y="4974336"/>
            <a:ext cx="2962656" cy="768096"/>
          </a:xfrm>
          <a:prstGeom prst="roundRect">
            <a:avLst>
              <a:gd name="adj" fmla="val 9524"/>
            </a:avLst>
          </a:prstGeom>
          <a:solidFill>
            <a:srgbClr val="0B1828"/>
          </a:solidFill>
          <a:ln w="13970">
            <a:solidFill>
              <a:srgbClr val="FF6B6B"/>
            </a:solidFill>
          </a:ln>
        </p:spPr>
        <p:txBody>
          <a:bodyPr wrap="square" lIns="1016" tIns="1016" rIns="1016" bIns="1016" rtlCol="0" anchor="ctr">
            <a:normAutofit/>
          </a:bodyPr>
          <a:lstStyle/>
          <a:p>
            <a:pPr marL="0" indent="0" algn="ctr">
              <a:buNone/>
            </a:pPr>
            <a:r>
              <a:rPr lang="en-US" sz="1240" b="1" dirty="0">
                <a:solidFill>
                  <a:srgbClr val="F5F7FA"/>
                </a:solidFill>
              </a:rPr>
              <a:t>Failure path</a:t>
            </a:r>
            <a:endParaRPr lang="en-US" sz="1240" dirty="0"/>
          </a:p>
          <a:p>
            <a:pPr marL="0" indent="0" algn="ctr">
              <a:buNone/>
            </a:pPr>
            <a:r>
              <a:rPr lang="en-US" sz="1240" b="1" dirty="0">
                <a:solidFill>
                  <a:srgbClr val="F5F7FA"/>
                </a:solidFill>
              </a:rPr>
              <a:t>retries → HandleFailure → SNS + DLQ</a:t>
            </a:r>
            <a:endParaRPr lang="en-US" sz="1240" dirty="0"/>
          </a:p>
        </p:txBody>
      </p:sp>
      <p:sp>
        <p:nvSpPr>
          <p:cNvPr id="27" name="Text 25"/>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Flow reflects the documented happy path, state machine sequence, S3 objects, DynamoDB transitions, retries, SNS, and DLQs.</a:t>
            </a:r>
            <a:endParaRPr lang="en-US" sz="850" dirty="0"/>
          </a:p>
        </p:txBody>
      </p:sp>
      <p:sp>
        <p:nvSpPr>
          <p:cNvPr id="28"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AWS DESIGN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Architecture, viewed like a CTO would review it</a:t>
            </a:r>
            <a:endParaRPr lang="en-US" sz="2950" dirty="0"/>
          </a:p>
        </p:txBody>
      </p:sp>
      <p:sp>
        <p:nvSpPr>
          <p:cNvPr id="4" name="Shape 2"/>
          <p:cNvSpPr/>
          <p:nvPr/>
        </p:nvSpPr>
        <p:spPr>
          <a:xfrm>
            <a:off x="1527048" y="2011680"/>
            <a:ext cx="832104" cy="0"/>
          </a:xfrm>
          <a:prstGeom prst="line">
            <a:avLst/>
          </a:prstGeom>
          <a:noFill/>
          <a:ln w="22860">
            <a:solidFill>
              <a:srgbClr val="2F9BFF"/>
            </a:solidFill>
            <a:prstDash val="solid"/>
            <a:headEnd type="none"/>
            <a:tailEnd type="triangle"/>
          </a:ln>
        </p:spPr>
        <p:txBody>
          <a:bodyPr/>
          <a:lstStyle/>
          <a:p>
            <a:endParaRPr lang="en-US"/>
          </a:p>
        </p:txBody>
      </p:sp>
      <p:sp>
        <p:nvSpPr>
          <p:cNvPr id="5" name="Shape 3"/>
          <p:cNvSpPr/>
          <p:nvPr/>
        </p:nvSpPr>
        <p:spPr>
          <a:xfrm>
            <a:off x="3547872" y="2011680"/>
            <a:ext cx="768096" cy="0"/>
          </a:xfrm>
          <a:prstGeom prst="line">
            <a:avLst/>
          </a:prstGeom>
          <a:noFill/>
          <a:ln w="22860">
            <a:solidFill>
              <a:srgbClr val="2F9BFF"/>
            </a:solidFill>
            <a:prstDash val="solid"/>
            <a:headEnd type="none"/>
            <a:tailEnd type="triangle"/>
          </a:ln>
        </p:spPr>
        <p:txBody>
          <a:bodyPr/>
          <a:lstStyle/>
          <a:p>
            <a:endParaRPr lang="en-US"/>
          </a:p>
        </p:txBody>
      </p:sp>
      <p:sp>
        <p:nvSpPr>
          <p:cNvPr id="6" name="Shape 4"/>
          <p:cNvSpPr/>
          <p:nvPr/>
        </p:nvSpPr>
        <p:spPr>
          <a:xfrm>
            <a:off x="5486400" y="2011680"/>
            <a:ext cx="713232" cy="0"/>
          </a:xfrm>
          <a:prstGeom prst="line">
            <a:avLst/>
          </a:prstGeom>
          <a:noFill/>
          <a:ln w="22860">
            <a:solidFill>
              <a:srgbClr val="59D08F"/>
            </a:solidFill>
            <a:prstDash val="solid"/>
            <a:headEnd type="none"/>
            <a:tailEnd type="triangle"/>
          </a:ln>
        </p:spPr>
        <p:txBody>
          <a:bodyPr/>
          <a:lstStyle/>
          <a:p>
            <a:endParaRPr lang="en-US"/>
          </a:p>
        </p:txBody>
      </p:sp>
      <p:sp>
        <p:nvSpPr>
          <p:cNvPr id="7" name="Shape 5"/>
          <p:cNvSpPr/>
          <p:nvPr/>
        </p:nvSpPr>
        <p:spPr>
          <a:xfrm>
            <a:off x="7360920" y="2011680"/>
            <a:ext cx="704088" cy="0"/>
          </a:xfrm>
          <a:prstGeom prst="line">
            <a:avLst/>
          </a:prstGeom>
          <a:noFill/>
          <a:ln w="22860">
            <a:solidFill>
              <a:srgbClr val="59D08F"/>
            </a:solidFill>
            <a:prstDash val="solid"/>
            <a:headEnd type="none"/>
            <a:tailEnd type="triangle"/>
          </a:ln>
        </p:spPr>
        <p:txBody>
          <a:bodyPr/>
          <a:lstStyle/>
          <a:p>
            <a:endParaRPr lang="en-US"/>
          </a:p>
        </p:txBody>
      </p:sp>
      <p:sp>
        <p:nvSpPr>
          <p:cNvPr id="8" name="Shape 6"/>
          <p:cNvSpPr/>
          <p:nvPr/>
        </p:nvSpPr>
        <p:spPr>
          <a:xfrm>
            <a:off x="9281160" y="2011680"/>
            <a:ext cx="704088" cy="0"/>
          </a:xfrm>
          <a:prstGeom prst="line">
            <a:avLst/>
          </a:prstGeom>
          <a:noFill/>
          <a:ln w="22860">
            <a:solidFill>
              <a:srgbClr val="B68CFF"/>
            </a:solidFill>
            <a:prstDash val="solid"/>
            <a:headEnd type="none"/>
            <a:tailEnd type="triangle"/>
          </a:ln>
        </p:spPr>
        <p:txBody>
          <a:bodyPr/>
          <a:lstStyle/>
          <a:p>
            <a:endParaRPr lang="en-US"/>
          </a:p>
        </p:txBody>
      </p:sp>
      <p:sp>
        <p:nvSpPr>
          <p:cNvPr id="9" name="Shape 7"/>
          <p:cNvSpPr/>
          <p:nvPr/>
        </p:nvSpPr>
        <p:spPr>
          <a:xfrm>
            <a:off x="5596128" y="4050792"/>
            <a:ext cx="822960" cy="0"/>
          </a:xfrm>
          <a:prstGeom prst="line">
            <a:avLst/>
          </a:prstGeom>
          <a:noFill/>
          <a:ln w="22860">
            <a:solidFill>
              <a:srgbClr val="FFD65A"/>
            </a:solidFill>
            <a:prstDash val="solid"/>
            <a:headEnd type="none"/>
            <a:tailEnd type="triangle"/>
          </a:ln>
        </p:spPr>
        <p:txBody>
          <a:bodyPr/>
          <a:lstStyle/>
          <a:p>
            <a:endParaRPr lang="en-US"/>
          </a:p>
        </p:txBody>
      </p:sp>
      <p:sp>
        <p:nvSpPr>
          <p:cNvPr id="10" name="Text 8"/>
          <p:cNvSpPr/>
          <p:nvPr/>
        </p:nvSpPr>
        <p:spPr>
          <a:xfrm>
            <a:off x="621792" y="1536192"/>
            <a:ext cx="1261872"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Edge</a:t>
            </a:r>
            <a:endParaRPr lang="en-US" sz="1100" dirty="0"/>
          </a:p>
          <a:p>
            <a:pPr marL="0" indent="0" algn="ctr">
              <a:buNone/>
            </a:pPr>
            <a:r>
              <a:rPr lang="en-US" sz="1100" b="1" dirty="0">
                <a:solidFill>
                  <a:srgbClr val="F5F7FA"/>
                </a:solidFill>
              </a:rPr>
              <a:t>CloudFront + WAF</a:t>
            </a:r>
            <a:endParaRPr lang="en-US" sz="1100" dirty="0"/>
          </a:p>
        </p:txBody>
      </p:sp>
      <p:sp>
        <p:nvSpPr>
          <p:cNvPr id="11" name="Text 9"/>
          <p:cNvSpPr/>
          <p:nvPr/>
        </p:nvSpPr>
        <p:spPr>
          <a:xfrm>
            <a:off x="2267712" y="1536192"/>
            <a:ext cx="1389888"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Identity</a:t>
            </a:r>
            <a:endParaRPr lang="en-US" sz="1100" dirty="0"/>
          </a:p>
          <a:p>
            <a:pPr marL="0" indent="0" algn="ctr">
              <a:buNone/>
            </a:pPr>
            <a:r>
              <a:rPr lang="en-US" sz="1100" b="1" dirty="0">
                <a:solidFill>
                  <a:srgbClr val="F5F7FA"/>
                </a:solidFill>
              </a:rPr>
              <a:t>Cognito hosted UI</a:t>
            </a:r>
            <a:endParaRPr lang="en-US" sz="1100" dirty="0"/>
          </a:p>
        </p:txBody>
      </p:sp>
      <p:sp>
        <p:nvSpPr>
          <p:cNvPr id="12" name="Text 10"/>
          <p:cNvSpPr/>
          <p:nvPr/>
        </p:nvSpPr>
        <p:spPr>
          <a:xfrm>
            <a:off x="4142232" y="1536192"/>
            <a:ext cx="1426464"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API</a:t>
            </a:r>
            <a:endParaRPr lang="en-US" sz="1100" dirty="0"/>
          </a:p>
          <a:p>
            <a:pPr marL="0" indent="0" algn="ctr">
              <a:buNone/>
            </a:pPr>
            <a:r>
              <a:rPr lang="en-US" sz="1100" b="1" dirty="0">
                <a:solidFill>
                  <a:srgbClr val="F5F7FA"/>
                </a:solidFill>
              </a:rPr>
              <a:t>Gateway + Lambda</a:t>
            </a:r>
            <a:endParaRPr lang="en-US" sz="1100" dirty="0"/>
          </a:p>
        </p:txBody>
      </p:sp>
      <p:sp>
        <p:nvSpPr>
          <p:cNvPr id="13" name="Text 11"/>
          <p:cNvSpPr/>
          <p:nvPr/>
        </p:nvSpPr>
        <p:spPr>
          <a:xfrm>
            <a:off x="6053328" y="1536192"/>
            <a:ext cx="1444752"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Storage</a:t>
            </a:r>
            <a:endParaRPr lang="en-US" sz="1100" dirty="0"/>
          </a:p>
          <a:p>
            <a:pPr marL="0" indent="0" algn="ctr">
              <a:buNone/>
            </a:pPr>
            <a:r>
              <a:rPr lang="en-US" sz="1100" b="1" dirty="0">
                <a:solidFill>
                  <a:srgbClr val="F5F7FA"/>
                </a:solidFill>
              </a:rPr>
              <a:t>S3 + DynamoDB</a:t>
            </a:r>
            <a:endParaRPr lang="en-US" sz="1100" dirty="0"/>
          </a:p>
        </p:txBody>
      </p:sp>
      <p:sp>
        <p:nvSpPr>
          <p:cNvPr id="14" name="Text 12"/>
          <p:cNvSpPr/>
          <p:nvPr/>
        </p:nvSpPr>
        <p:spPr>
          <a:xfrm>
            <a:off x="7882128" y="1536192"/>
            <a:ext cx="1444752" cy="932688"/>
          </a:xfrm>
          <a:prstGeom prst="roundRect">
            <a:avLst>
              <a:gd name="adj" fmla="val 7843"/>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Prep</a:t>
            </a:r>
            <a:endParaRPr lang="en-US" sz="1100" dirty="0"/>
          </a:p>
          <a:p>
            <a:pPr marL="0" indent="0" algn="ctr">
              <a:buNone/>
            </a:pPr>
            <a:r>
              <a:rPr lang="en-US" sz="1100" b="1" dirty="0">
                <a:solidFill>
                  <a:srgbClr val="F5F7FA"/>
                </a:solidFill>
              </a:rPr>
              <a:t>Step Functions</a:t>
            </a:r>
            <a:endParaRPr lang="en-US" sz="1100" dirty="0"/>
          </a:p>
        </p:txBody>
      </p:sp>
      <p:sp>
        <p:nvSpPr>
          <p:cNvPr id="15" name="Text 13"/>
          <p:cNvSpPr/>
          <p:nvPr/>
        </p:nvSpPr>
        <p:spPr>
          <a:xfrm>
            <a:off x="9765792" y="1536192"/>
            <a:ext cx="1554480" cy="932688"/>
          </a:xfrm>
          <a:prstGeom prst="roundRect">
            <a:avLst>
              <a:gd name="adj" fmla="val 7843"/>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AI</a:t>
            </a:r>
            <a:endParaRPr lang="en-US" sz="1100" dirty="0"/>
          </a:p>
          <a:p>
            <a:pPr marL="0" indent="0" algn="ctr">
              <a:buNone/>
            </a:pPr>
            <a:r>
              <a:rPr lang="en-US" sz="1100" b="1" dirty="0">
                <a:solidFill>
                  <a:srgbClr val="F5F7FA"/>
                </a:solidFill>
              </a:rPr>
              <a:t>Bedrock + Transcribe</a:t>
            </a:r>
            <a:endParaRPr lang="en-US" sz="1100" dirty="0"/>
          </a:p>
        </p:txBody>
      </p:sp>
      <p:sp>
        <p:nvSpPr>
          <p:cNvPr id="16" name="Text 14"/>
          <p:cNvSpPr/>
          <p:nvPr/>
        </p:nvSpPr>
        <p:spPr>
          <a:xfrm>
            <a:off x="3968496" y="3584448"/>
            <a:ext cx="1627632" cy="932688"/>
          </a:xfrm>
          <a:prstGeom prst="roundRect">
            <a:avLst>
              <a:gd name="adj" fmla="val 7843"/>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Queues</a:t>
            </a:r>
            <a:endParaRPr lang="en-US" sz="1100" dirty="0"/>
          </a:p>
          <a:p>
            <a:pPr marL="0" indent="0" algn="ctr">
              <a:buNone/>
            </a:pPr>
            <a:r>
              <a:rPr lang="en-US" sz="1100" b="1" dirty="0">
                <a:solidFill>
                  <a:srgbClr val="F5F7FA"/>
                </a:solidFill>
              </a:rPr>
              <a:t>SQS FIFO + DLQ</a:t>
            </a:r>
            <a:endParaRPr lang="en-US" sz="1100" dirty="0"/>
          </a:p>
        </p:txBody>
      </p:sp>
      <p:sp>
        <p:nvSpPr>
          <p:cNvPr id="17" name="Text 15"/>
          <p:cNvSpPr/>
          <p:nvPr/>
        </p:nvSpPr>
        <p:spPr>
          <a:xfrm>
            <a:off x="6400800" y="3584448"/>
            <a:ext cx="1783080" cy="932688"/>
          </a:xfrm>
          <a:prstGeom prst="roundRect">
            <a:avLst>
              <a:gd name="adj" fmla="val 7843"/>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Evaluation</a:t>
            </a:r>
            <a:endParaRPr lang="en-US" sz="1100" dirty="0"/>
          </a:p>
          <a:p>
            <a:pPr marL="0" indent="0" algn="ctr">
              <a:buNone/>
            </a:pPr>
            <a:r>
              <a:rPr lang="en-US" sz="1100" b="1" dirty="0">
                <a:solidFill>
                  <a:srgbClr val="F5F7FA"/>
                </a:solidFill>
              </a:rPr>
              <a:t>ECS Fargate Spot and </a:t>
            </a:r>
            <a:r>
              <a:rPr lang="en-US" sz="1100" b="1" dirty="0" err="1">
                <a:solidFill>
                  <a:srgbClr val="F5F7FA"/>
                </a:solidFill>
              </a:rPr>
              <a:t>AgentCore</a:t>
            </a:r>
            <a:endParaRPr lang="en-US" sz="1100" dirty="0"/>
          </a:p>
        </p:txBody>
      </p:sp>
      <p:sp>
        <p:nvSpPr>
          <p:cNvPr id="18" name="Text 16"/>
          <p:cNvSpPr/>
          <p:nvPr/>
        </p:nvSpPr>
        <p:spPr>
          <a:xfrm>
            <a:off x="8979408" y="3584448"/>
            <a:ext cx="1645920" cy="932688"/>
          </a:xfrm>
          <a:prstGeom prst="roundRect">
            <a:avLst>
              <a:gd name="adj" fmla="val 784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Output</a:t>
            </a:r>
            <a:endParaRPr lang="en-US" sz="1100" dirty="0"/>
          </a:p>
          <a:p>
            <a:pPr marL="0" indent="0" algn="ctr">
              <a:buNone/>
            </a:pPr>
            <a:r>
              <a:rPr lang="en-US" sz="1100" b="1" dirty="0">
                <a:solidFill>
                  <a:srgbClr val="F5F7FA"/>
                </a:solidFill>
              </a:rPr>
              <a:t>PDF report in S3</a:t>
            </a:r>
            <a:endParaRPr lang="en-US" sz="1100" dirty="0"/>
          </a:p>
        </p:txBody>
      </p:sp>
      <p:sp>
        <p:nvSpPr>
          <p:cNvPr id="19" name="Shape 17"/>
          <p:cNvSpPr/>
          <p:nvPr/>
        </p:nvSpPr>
        <p:spPr>
          <a:xfrm>
            <a:off x="8183880" y="4050792"/>
            <a:ext cx="795528" cy="0"/>
          </a:xfrm>
          <a:prstGeom prst="line">
            <a:avLst/>
          </a:prstGeom>
          <a:noFill/>
          <a:ln w="22860">
            <a:solidFill>
              <a:srgbClr val="B68CFF"/>
            </a:solidFill>
            <a:prstDash val="solid"/>
            <a:headEnd type="none"/>
            <a:tailEnd type="triangle"/>
          </a:ln>
        </p:spPr>
        <p:txBody>
          <a:bodyPr/>
          <a:lstStyle/>
          <a:p>
            <a:endParaRPr lang="en-US"/>
          </a:p>
        </p:txBody>
      </p:sp>
      <p:sp>
        <p:nvSpPr>
          <p:cNvPr id="20" name="Text 18"/>
          <p:cNvSpPr/>
          <p:nvPr/>
        </p:nvSpPr>
        <p:spPr>
          <a:xfrm>
            <a:off x="731520" y="5065776"/>
            <a:ext cx="3383280" cy="329184"/>
          </a:xfrm>
          <a:prstGeom prst="rect">
            <a:avLst/>
          </a:prstGeom>
          <a:noFill/>
          <a:ln/>
        </p:spPr>
        <p:txBody>
          <a:bodyPr wrap="square" lIns="254" tIns="254" rIns="254" bIns="254" rtlCol="0" anchor="t">
            <a:normAutofit/>
          </a:bodyPr>
          <a:lstStyle/>
          <a:p>
            <a:pPr marL="0" indent="0" algn="l">
              <a:buNone/>
            </a:pPr>
            <a:r>
              <a:rPr lang="en-US" sz="1350" b="1" dirty="0">
                <a:solidFill>
                  <a:srgbClr val="59C4FF"/>
                </a:solidFill>
              </a:rPr>
              <a:t>Why this is a good MVP architecture</a:t>
            </a:r>
            <a:endParaRPr lang="en-US" sz="1350" dirty="0"/>
          </a:p>
        </p:txBody>
      </p:sp>
      <p:sp>
        <p:nvSpPr>
          <p:cNvPr id="21" name="Text 19"/>
          <p:cNvSpPr/>
          <p:nvPr/>
        </p:nvSpPr>
        <p:spPr>
          <a:xfrm>
            <a:off x="731520" y="5431536"/>
            <a:ext cx="466344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Files never pass through Lambda
</a:t>
            </a:r>
            <a:endParaRPr lang="en-US" sz="1080" dirty="0"/>
          </a:p>
          <a:p>
            <a:r>
              <a:rPr lang="en-US" sz="1080" dirty="0">
                <a:solidFill>
                  <a:srgbClr val="B2BAC8"/>
                </a:solidFill>
              </a:rPr>
              <a:t>Async processing gives back-pressure
</a:t>
            </a:r>
            <a:endParaRPr lang="en-US" sz="1080" dirty="0"/>
          </a:p>
          <a:p>
            <a:r>
              <a:rPr lang="en-US" sz="1080" dirty="0">
                <a:solidFill>
                  <a:srgbClr val="B2BAC8"/>
                </a:solidFill>
              </a:rPr>
              <a:t>Feature flags allow runtime tuning
</a:t>
            </a:r>
            <a:endParaRPr lang="en-US" sz="1080" dirty="0"/>
          </a:p>
          <a:p>
            <a:r>
              <a:rPr lang="en-US" sz="1080" dirty="0">
                <a:solidFill>
                  <a:srgbClr val="B2BAC8"/>
                </a:solidFill>
              </a:rPr>
              <a:t>Least-privilege IAM can be reviewed per work unit</a:t>
            </a:r>
            <a:endParaRPr lang="en-US" sz="1080" dirty="0"/>
          </a:p>
        </p:txBody>
      </p:sp>
      <p:sp>
        <p:nvSpPr>
          <p:cNvPr id="22" name="Text 20"/>
          <p:cNvSpPr/>
          <p:nvPr/>
        </p:nvSpPr>
        <p:spPr>
          <a:xfrm>
            <a:off x="5833872" y="5065776"/>
            <a:ext cx="3840480" cy="329184"/>
          </a:xfrm>
          <a:prstGeom prst="rect">
            <a:avLst/>
          </a:prstGeom>
          <a:noFill/>
          <a:ln/>
        </p:spPr>
        <p:txBody>
          <a:bodyPr wrap="square" lIns="254" tIns="254" rIns="254" bIns="254" rtlCol="0" anchor="t">
            <a:normAutofit/>
          </a:bodyPr>
          <a:lstStyle/>
          <a:p>
            <a:pPr marL="0" indent="0" algn="l">
              <a:buNone/>
            </a:pPr>
            <a:r>
              <a:rPr lang="en-US" sz="1350" b="1" dirty="0">
                <a:solidFill>
                  <a:srgbClr val="FFD65A"/>
                </a:solidFill>
              </a:rPr>
              <a:t>What I would challenge before production</a:t>
            </a:r>
            <a:endParaRPr lang="en-US" sz="1350" dirty="0"/>
          </a:p>
        </p:txBody>
      </p:sp>
      <p:sp>
        <p:nvSpPr>
          <p:cNvPr id="23" name="Text 21"/>
          <p:cNvSpPr/>
          <p:nvPr/>
        </p:nvSpPr>
        <p:spPr>
          <a:xfrm>
            <a:off x="5833872" y="5431536"/>
            <a:ext cx="493776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Model quotas and throttling behavior
</a:t>
            </a:r>
            <a:endParaRPr lang="en-US" sz="1080" dirty="0"/>
          </a:p>
          <a:p>
            <a:r>
              <a:rPr lang="en-US" sz="1080" dirty="0">
                <a:solidFill>
                  <a:srgbClr val="B2BAC8"/>
                </a:solidFill>
              </a:rPr>
              <a:t>Regional failure stance and user-pool strategy
</a:t>
            </a:r>
            <a:endParaRPr lang="en-US" sz="1080" dirty="0"/>
          </a:p>
          <a:p>
            <a:r>
              <a:rPr lang="en-US" sz="1080" dirty="0">
                <a:solidFill>
                  <a:srgbClr val="B2BAC8"/>
                </a:solidFill>
              </a:rPr>
              <a:t>PII retention and report lifecycle policy
</a:t>
            </a:r>
            <a:endParaRPr lang="en-US" sz="1080" dirty="0"/>
          </a:p>
          <a:p>
            <a:r>
              <a:rPr lang="en-US" sz="1080" dirty="0">
                <a:solidFill>
                  <a:srgbClr val="B2BAC8"/>
                </a:solidFill>
              </a:rPr>
              <a:t>Evaluation result explainability and traceability</a:t>
            </a:r>
            <a:endParaRPr lang="en-US" sz="108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Architecture summarizes services described in project overview, flow, and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39" name="Oval 38">
            <a:extLst>
              <a:ext uri="{FF2B5EF4-FFF2-40B4-BE49-F238E27FC236}">
                <a16:creationId xmlns:a16="http://schemas.microsoft.com/office/drawing/2014/main" id="{EDEBE3A7-B248-1C7B-1EEF-80BB730D8A0F}"/>
              </a:ext>
            </a:extLst>
          </p:cNvPr>
          <p:cNvSpPr/>
          <p:nvPr/>
        </p:nvSpPr>
        <p:spPr>
          <a:xfrm>
            <a:off x="3295964" y="2737463"/>
            <a:ext cx="5478152" cy="3096589"/>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AI EVALUATION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agentic layer is composable by design</a:t>
            </a:r>
            <a:endParaRPr lang="en-US" sz="2950" dirty="0"/>
          </a:p>
        </p:txBody>
      </p:sp>
      <p:sp>
        <p:nvSpPr>
          <p:cNvPr id="4" name="Text 2"/>
          <p:cNvSpPr/>
          <p:nvPr/>
        </p:nvSpPr>
        <p:spPr>
          <a:xfrm>
            <a:off x="621792" y="1234440"/>
            <a:ext cx="9784080" cy="475488"/>
          </a:xfrm>
          <a:prstGeom prst="rect">
            <a:avLst/>
          </a:prstGeom>
          <a:noFill/>
          <a:ln/>
        </p:spPr>
        <p:txBody>
          <a:bodyPr wrap="square" lIns="254" tIns="254" rIns="254" bIns="254" rtlCol="0" anchor="t">
            <a:normAutofit lnSpcReduction="10000"/>
          </a:bodyPr>
          <a:lstStyle/>
          <a:p>
            <a:pPr marL="0" indent="0" algn="l">
              <a:buNone/>
            </a:pPr>
            <a:r>
              <a:rPr lang="en-US" sz="1640" dirty="0">
                <a:solidFill>
                  <a:srgbClr val="B2BAC8"/>
                </a:solidFill>
              </a:rPr>
              <a:t>This is the part that justifies an agentic approach. The value comes from multiple independent lenses reviewing the same asset, not from one big prompt pretending to be a committee.</a:t>
            </a:r>
            <a:endParaRPr lang="en-US" sz="1640" dirty="0"/>
          </a:p>
        </p:txBody>
      </p:sp>
      <p:sp>
        <p:nvSpPr>
          <p:cNvPr id="5" name="Text 3"/>
          <p:cNvSpPr/>
          <p:nvPr/>
        </p:nvSpPr>
        <p:spPr>
          <a:xfrm>
            <a:off x="5048025" y="3740794"/>
            <a:ext cx="2029968" cy="932688"/>
          </a:xfrm>
          <a:prstGeom prst="roundRect">
            <a:avLst>
              <a:gd name="adj" fmla="val 7843"/>
            </a:avLst>
          </a:prstGeom>
          <a:solidFill>
            <a:srgbClr val="2F9BFF"/>
          </a:solidFill>
          <a:ln w="13970">
            <a:solidFill>
              <a:srgbClr val="2F9BFF"/>
            </a:solidFill>
          </a:ln>
        </p:spPr>
        <p:txBody>
          <a:bodyPr wrap="square" lIns="1016" tIns="1016" rIns="1016" bIns="1016" rtlCol="0" anchor="ctr">
            <a:normAutofit/>
          </a:bodyPr>
          <a:lstStyle/>
          <a:p>
            <a:pPr algn="ctr"/>
            <a:r>
              <a:rPr lang="en-US" sz="1600" b="1" dirty="0">
                <a:solidFill>
                  <a:srgbClr val="03101D"/>
                </a:solidFill>
              </a:rPr>
              <a:t>Coaching</a:t>
            </a:r>
          </a:p>
          <a:p>
            <a:pPr algn="ctr"/>
            <a:r>
              <a:rPr lang="en-US" sz="1600" b="1" dirty="0">
                <a:solidFill>
                  <a:srgbClr val="03101D"/>
                </a:solidFill>
              </a:rPr>
              <a:t>Supervisor</a:t>
            </a:r>
          </a:p>
        </p:txBody>
      </p:sp>
      <p:sp>
        <p:nvSpPr>
          <p:cNvPr id="6" name="Text 4"/>
          <p:cNvSpPr/>
          <p:nvPr/>
        </p:nvSpPr>
        <p:spPr>
          <a:xfrm>
            <a:off x="3026664" y="3311025"/>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Delivery</a:t>
            </a:r>
            <a:endParaRPr lang="en-US" sz="1050" dirty="0"/>
          </a:p>
        </p:txBody>
      </p:sp>
      <p:sp>
        <p:nvSpPr>
          <p:cNvPr id="7" name="Text 5"/>
          <p:cNvSpPr/>
          <p:nvPr/>
        </p:nvSpPr>
        <p:spPr>
          <a:xfrm>
            <a:off x="2921508" y="4633230"/>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Structure</a:t>
            </a:r>
            <a:endParaRPr lang="en-US" sz="1050" dirty="0"/>
          </a:p>
        </p:txBody>
      </p:sp>
      <p:sp>
        <p:nvSpPr>
          <p:cNvPr id="8" name="Text 6"/>
          <p:cNvSpPr/>
          <p:nvPr/>
        </p:nvSpPr>
        <p:spPr>
          <a:xfrm>
            <a:off x="4590288" y="5663543"/>
            <a:ext cx="1444752" cy="621792"/>
          </a:xfrm>
          <a:prstGeom prst="roundRect">
            <a:avLst>
              <a:gd name="adj" fmla="val 11765"/>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b="1" dirty="0">
                <a:solidFill>
                  <a:srgbClr val="F5F7FA"/>
                </a:solidFill>
              </a:rPr>
              <a:t>Exec</a:t>
            </a:r>
            <a:endParaRPr lang="en-US" sz="1050" dirty="0"/>
          </a:p>
          <a:p>
            <a:pPr marL="0" indent="0" algn="ctr">
              <a:buNone/>
            </a:pPr>
            <a:r>
              <a:rPr lang="en-US" sz="1050" b="1" dirty="0">
                <a:solidFill>
                  <a:srgbClr val="F5F7FA"/>
                </a:solidFill>
              </a:rPr>
              <a:t>Presence</a:t>
            </a:r>
            <a:endParaRPr lang="en-US" sz="1050" dirty="0"/>
          </a:p>
        </p:txBody>
      </p:sp>
      <p:sp>
        <p:nvSpPr>
          <p:cNvPr id="9" name="Text 7"/>
          <p:cNvSpPr/>
          <p:nvPr/>
        </p:nvSpPr>
        <p:spPr>
          <a:xfrm>
            <a:off x="6583680" y="5663543"/>
            <a:ext cx="1444752" cy="621792"/>
          </a:xfrm>
          <a:prstGeom prst="roundRect">
            <a:avLst>
              <a:gd name="adj" fmla="val 11765"/>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50" b="1" dirty="0">
                <a:solidFill>
                  <a:srgbClr val="F5F7FA"/>
                </a:solidFill>
              </a:rPr>
              <a:t>Technical</a:t>
            </a:r>
            <a:endParaRPr lang="en-US" sz="1050" dirty="0"/>
          </a:p>
          <a:p>
            <a:pPr marL="0" indent="0" algn="ctr">
              <a:buNone/>
            </a:pPr>
            <a:r>
              <a:rPr lang="en-US" sz="1050" b="1" dirty="0">
                <a:solidFill>
                  <a:srgbClr val="F5F7FA"/>
                </a:solidFill>
              </a:rPr>
              <a:t>Communication</a:t>
            </a:r>
            <a:endParaRPr lang="en-US" sz="1050" dirty="0"/>
          </a:p>
        </p:txBody>
      </p:sp>
      <p:sp>
        <p:nvSpPr>
          <p:cNvPr id="10" name="Text 8"/>
          <p:cNvSpPr/>
          <p:nvPr/>
        </p:nvSpPr>
        <p:spPr>
          <a:xfrm>
            <a:off x="8028432" y="4633230"/>
            <a:ext cx="1444752" cy="621792"/>
          </a:xfrm>
          <a:prstGeom prst="roundRect">
            <a:avLst>
              <a:gd name="adj" fmla="val 11765"/>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b="1" dirty="0">
                <a:solidFill>
                  <a:srgbClr val="F5F7FA"/>
                </a:solidFill>
              </a:rPr>
              <a:t>Audience</a:t>
            </a:r>
            <a:endParaRPr lang="en-US" sz="1050" dirty="0"/>
          </a:p>
          <a:p>
            <a:pPr marL="0" indent="0" algn="ctr">
              <a:buNone/>
            </a:pPr>
            <a:r>
              <a:rPr lang="en-US" sz="1050" b="1" dirty="0">
                <a:solidFill>
                  <a:srgbClr val="F5F7FA"/>
                </a:solidFill>
              </a:rPr>
              <a:t>Engagement</a:t>
            </a:r>
            <a:endParaRPr lang="en-US" sz="1050" dirty="0"/>
          </a:p>
        </p:txBody>
      </p:sp>
      <p:sp>
        <p:nvSpPr>
          <p:cNvPr id="11" name="Text 9"/>
          <p:cNvSpPr/>
          <p:nvPr/>
        </p:nvSpPr>
        <p:spPr>
          <a:xfrm>
            <a:off x="7667334" y="3235811"/>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Pacing</a:t>
            </a:r>
            <a:endParaRPr lang="en-US" sz="1050" dirty="0"/>
          </a:p>
        </p:txBody>
      </p:sp>
      <p:sp>
        <p:nvSpPr>
          <p:cNvPr id="12" name="Text 10"/>
          <p:cNvSpPr/>
          <p:nvPr/>
        </p:nvSpPr>
        <p:spPr>
          <a:xfrm>
            <a:off x="5376672" y="2527151"/>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Persuasion</a:t>
            </a:r>
            <a:endParaRPr lang="en-US" sz="1050" dirty="0"/>
          </a:p>
        </p:txBody>
      </p:sp>
      <p:sp>
        <p:nvSpPr>
          <p:cNvPr id="13" name="Text 11"/>
          <p:cNvSpPr/>
          <p:nvPr/>
        </p:nvSpPr>
        <p:spPr>
          <a:xfrm>
            <a:off x="1120140" y="1793927"/>
            <a:ext cx="3108960" cy="731520"/>
          </a:xfrm>
          <a:prstGeom prst="roundRect">
            <a:avLst>
              <a:gd name="adj" fmla="val 10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Agent definitions live in a JSON manifest and can be enabled or disabled without code changes.</a:t>
            </a:r>
            <a:endParaRPr lang="en-US" sz="1150" dirty="0"/>
          </a:p>
        </p:txBody>
      </p:sp>
      <p:sp>
        <p:nvSpPr>
          <p:cNvPr id="14" name="Text 12"/>
          <p:cNvSpPr/>
          <p:nvPr/>
        </p:nvSpPr>
        <p:spPr>
          <a:xfrm>
            <a:off x="8247888" y="1786396"/>
            <a:ext cx="2697480" cy="731520"/>
          </a:xfrm>
          <a:prstGeom prst="roundRect">
            <a:avLst>
              <a:gd name="adj" fmla="val 10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The report generator assembles structured results into a 10-18 page PDF coaching report.</a:t>
            </a:r>
            <a:endParaRPr lang="en-US" sz="11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AND SCALE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economics are exactly why serverless fits</a:t>
            </a:r>
            <a:endParaRPr lang="en-US" sz="2950" dirty="0"/>
          </a:p>
        </p:txBody>
      </p:sp>
      <p:sp>
        <p:nvSpPr>
          <p:cNvPr id="4" name="Text 2"/>
          <p:cNvSpPr/>
          <p:nvPr/>
        </p:nvSpPr>
        <p:spPr>
          <a:xfrm>
            <a:off x="621792" y="1325880"/>
            <a:ext cx="10506456" cy="640080"/>
          </a:xfrm>
          <a:prstGeom prst="rect">
            <a:avLst/>
          </a:prstGeom>
          <a:noFill/>
          <a:ln/>
        </p:spPr>
        <p:txBody>
          <a:bodyPr wrap="square" lIns="254" tIns="254" rIns="254" bIns="254" rtlCol="0" anchor="t">
            <a:noAutofit/>
          </a:bodyPr>
          <a:lstStyle/>
          <a:p>
            <a:pPr marL="0" indent="0" algn="l">
              <a:buNone/>
            </a:pPr>
            <a:r>
              <a:rPr lang="en-US" sz="1650" dirty="0">
                <a:solidFill>
                  <a:srgbClr val="B2BAC8"/>
                </a:solidFill>
              </a:rPr>
              <a:t>For spiky, early-stage usage, the cost goal is not “cheapest at theoretical peak.” It is “do not pay for infrastructure while product-market fit is still loading” but will scale economically as usage takes off.</a:t>
            </a:r>
            <a:endParaRPr lang="en-US" sz="1650" dirty="0"/>
          </a:p>
        </p:txBody>
      </p:sp>
      <p:sp>
        <p:nvSpPr>
          <p:cNvPr id="5" name="Text 3"/>
          <p:cNvSpPr/>
          <p:nvPr/>
        </p:nvSpPr>
        <p:spPr>
          <a:xfrm>
            <a:off x="868680" y="270511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Demo / PoC</a:t>
            </a:r>
            <a:endParaRPr lang="en-US" sz="1080" dirty="0"/>
          </a:p>
        </p:txBody>
      </p:sp>
      <p:sp>
        <p:nvSpPr>
          <p:cNvPr id="6" name="Text 4"/>
          <p:cNvSpPr/>
          <p:nvPr/>
        </p:nvSpPr>
        <p:spPr>
          <a:xfrm>
            <a:off x="868680" y="298858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10/month</a:t>
            </a:r>
            <a:endParaRPr lang="en-US" sz="830" dirty="0"/>
          </a:p>
        </p:txBody>
      </p:sp>
      <p:sp>
        <p:nvSpPr>
          <p:cNvPr id="7" name="Shape 5"/>
          <p:cNvSpPr/>
          <p:nvPr/>
        </p:nvSpPr>
        <p:spPr>
          <a:xfrm>
            <a:off x="2423160" y="275083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8" name="Text 6"/>
          <p:cNvSpPr/>
          <p:nvPr/>
        </p:nvSpPr>
        <p:spPr>
          <a:xfrm>
            <a:off x="2596896" y="272340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$0.35</a:t>
            </a:r>
            <a:endParaRPr lang="en-US" sz="1050" dirty="0"/>
          </a:p>
        </p:txBody>
      </p:sp>
      <p:sp>
        <p:nvSpPr>
          <p:cNvPr id="9" name="Text 7"/>
          <p:cNvSpPr/>
          <p:nvPr/>
        </p:nvSpPr>
        <p:spPr>
          <a:xfrm>
            <a:off x="868680" y="352807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Regular use</a:t>
            </a:r>
            <a:endParaRPr lang="en-US" sz="1080" dirty="0"/>
          </a:p>
        </p:txBody>
      </p:sp>
      <p:sp>
        <p:nvSpPr>
          <p:cNvPr id="10" name="Text 8"/>
          <p:cNvSpPr/>
          <p:nvPr/>
        </p:nvSpPr>
        <p:spPr>
          <a:xfrm>
            <a:off x="868680" y="381154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500/month</a:t>
            </a:r>
            <a:endParaRPr lang="en-US" sz="830" dirty="0"/>
          </a:p>
        </p:txBody>
      </p:sp>
      <p:sp>
        <p:nvSpPr>
          <p:cNvPr id="11" name="Shape 9"/>
          <p:cNvSpPr/>
          <p:nvPr/>
        </p:nvSpPr>
        <p:spPr>
          <a:xfrm>
            <a:off x="2423160" y="3573796"/>
            <a:ext cx="306178"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12" name="Text 10"/>
          <p:cNvSpPr/>
          <p:nvPr/>
        </p:nvSpPr>
        <p:spPr>
          <a:xfrm>
            <a:off x="2802490" y="354636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$18</a:t>
            </a:r>
          </a:p>
          <a:p>
            <a:pPr marL="0" indent="0" algn="l">
              <a:buNone/>
            </a:pPr>
            <a:endParaRPr lang="en-US" sz="1050" dirty="0"/>
          </a:p>
        </p:txBody>
      </p:sp>
      <p:sp>
        <p:nvSpPr>
          <p:cNvPr id="13" name="Text 11"/>
          <p:cNvSpPr/>
          <p:nvPr/>
        </p:nvSpPr>
        <p:spPr>
          <a:xfrm>
            <a:off x="868680" y="435103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Conference spike</a:t>
            </a:r>
            <a:endParaRPr lang="en-US" sz="1080" dirty="0"/>
          </a:p>
        </p:txBody>
      </p:sp>
      <p:sp>
        <p:nvSpPr>
          <p:cNvPr id="14" name="Text 12"/>
          <p:cNvSpPr/>
          <p:nvPr/>
        </p:nvSpPr>
        <p:spPr>
          <a:xfrm>
            <a:off x="868680" y="463450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10,000/week</a:t>
            </a:r>
            <a:endParaRPr lang="en-US" sz="830" dirty="0"/>
          </a:p>
        </p:txBody>
      </p:sp>
      <p:sp>
        <p:nvSpPr>
          <p:cNvPr id="15" name="Shape 13"/>
          <p:cNvSpPr/>
          <p:nvPr/>
        </p:nvSpPr>
        <p:spPr>
          <a:xfrm>
            <a:off x="2423160" y="4396756"/>
            <a:ext cx="5806440" cy="292608"/>
          </a:xfrm>
          <a:prstGeom prst="rect">
            <a:avLst/>
          </a:prstGeom>
          <a:solidFill>
            <a:srgbClr val="FF9B55"/>
          </a:solidFill>
          <a:ln w="12700">
            <a:solidFill>
              <a:srgbClr val="2F9BFF">
                <a:alpha val="0"/>
              </a:srgbClr>
            </a:solidFill>
            <a:prstDash val="solid"/>
          </a:ln>
        </p:spPr>
        <p:txBody>
          <a:bodyPr/>
          <a:lstStyle/>
          <a:p>
            <a:endParaRPr lang="en-US"/>
          </a:p>
        </p:txBody>
      </p:sp>
      <p:sp>
        <p:nvSpPr>
          <p:cNvPr id="16" name="Text 14"/>
          <p:cNvSpPr/>
          <p:nvPr/>
        </p:nvSpPr>
        <p:spPr>
          <a:xfrm>
            <a:off x="8302752" y="436932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FF9B55"/>
                </a:solidFill>
              </a:rPr>
              <a:t>$350</a:t>
            </a:r>
            <a:endParaRPr lang="en-US" sz="1050" dirty="0"/>
          </a:p>
        </p:txBody>
      </p:sp>
      <p:sp>
        <p:nvSpPr>
          <p:cNvPr id="17" name="Text 15"/>
          <p:cNvSpPr/>
          <p:nvPr/>
        </p:nvSpPr>
        <p:spPr>
          <a:xfrm>
            <a:off x="868680" y="517399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Quiet after spike</a:t>
            </a:r>
            <a:endParaRPr lang="en-US" sz="1080" dirty="0"/>
          </a:p>
        </p:txBody>
      </p:sp>
      <p:sp>
        <p:nvSpPr>
          <p:cNvPr id="18" name="Text 16"/>
          <p:cNvSpPr/>
          <p:nvPr/>
        </p:nvSpPr>
        <p:spPr>
          <a:xfrm>
            <a:off x="868680" y="545746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following month</a:t>
            </a:r>
            <a:endParaRPr lang="en-US" sz="830" dirty="0"/>
          </a:p>
        </p:txBody>
      </p:sp>
      <p:sp>
        <p:nvSpPr>
          <p:cNvPr id="19" name="Shape 17"/>
          <p:cNvSpPr/>
          <p:nvPr/>
        </p:nvSpPr>
        <p:spPr>
          <a:xfrm>
            <a:off x="2423160" y="521971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20" name="Text 18"/>
          <p:cNvSpPr/>
          <p:nvPr/>
        </p:nvSpPr>
        <p:spPr>
          <a:xfrm>
            <a:off x="2596896" y="519228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$3.55</a:t>
            </a:r>
            <a:endParaRPr lang="en-US" sz="1050" dirty="0"/>
          </a:p>
        </p:txBody>
      </p:sp>
      <p:sp>
        <p:nvSpPr>
          <p:cNvPr id="21" name="Text 19"/>
          <p:cNvSpPr/>
          <p:nvPr/>
        </p:nvSpPr>
        <p:spPr>
          <a:xfrm>
            <a:off x="9491472" y="2010925"/>
            <a:ext cx="2029968" cy="804672"/>
          </a:xfrm>
          <a:prstGeom prst="roundRect">
            <a:avLst>
              <a:gd name="adj" fmla="val 9091"/>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300" b="1" dirty="0">
                <a:solidFill>
                  <a:srgbClr val="F5F7FA"/>
                </a:solidFill>
              </a:rPr>
              <a:t>Bedrock dominates</a:t>
            </a:r>
            <a:endParaRPr lang="en-US" sz="1300" dirty="0"/>
          </a:p>
          <a:p>
            <a:pPr marL="0" indent="0" algn="ctr">
              <a:buNone/>
            </a:pPr>
            <a:r>
              <a:rPr lang="en-US" sz="1300" b="1" dirty="0">
                <a:solidFill>
                  <a:srgbClr val="F5F7FA"/>
                </a:solidFill>
              </a:rPr>
              <a:t>the bill at scale</a:t>
            </a:r>
            <a:endParaRPr lang="en-US" sz="1300" dirty="0"/>
          </a:p>
        </p:txBody>
      </p:sp>
      <p:sp>
        <p:nvSpPr>
          <p:cNvPr id="22" name="Text 20"/>
          <p:cNvSpPr/>
          <p:nvPr/>
        </p:nvSpPr>
        <p:spPr>
          <a:xfrm>
            <a:off x="9491472" y="3071629"/>
            <a:ext cx="2029968" cy="1078992"/>
          </a:xfrm>
          <a:prstGeom prst="roundRect">
            <a:avLst>
              <a:gd name="adj" fmla="val 678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Zero idle</a:t>
            </a:r>
            <a:endParaRPr lang="en-US" sz="1150" dirty="0"/>
          </a:p>
          <a:p>
            <a:pPr marL="0" indent="0" algn="ctr">
              <a:buNone/>
            </a:pPr>
            <a:r>
              <a:rPr lang="en-US" sz="1150" b="1" dirty="0">
                <a:solidFill>
                  <a:srgbClr val="F5F7FA"/>
                </a:solidFill>
              </a:rPr>
              <a:t>for Lambda, API Gateway, Step Functions, SQS, SNS, Bedrock</a:t>
            </a:r>
            <a:endParaRPr lang="en-US" sz="1150" dirty="0"/>
          </a:p>
        </p:txBody>
      </p:sp>
      <p:sp>
        <p:nvSpPr>
          <p:cNvPr id="23" name="Text 21"/>
          <p:cNvSpPr/>
          <p:nvPr/>
        </p:nvSpPr>
        <p:spPr>
          <a:xfrm>
            <a:off x="9491472" y="4461517"/>
            <a:ext cx="2029968" cy="804672"/>
          </a:xfrm>
          <a:prstGeom prst="roundRect">
            <a:avLst>
              <a:gd name="adj" fmla="val 909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00" b="1" dirty="0">
                <a:solidFill>
                  <a:srgbClr val="F5F7FA"/>
                </a:solidFill>
              </a:rPr>
              <a:t>S3 vector store</a:t>
            </a:r>
            <a:endParaRPr lang="en-US" sz="1200" dirty="0"/>
          </a:p>
          <a:p>
            <a:pPr marL="0" indent="0" algn="ctr">
              <a:buNone/>
            </a:pPr>
            <a:r>
              <a:rPr lang="en-US" sz="1200" b="1" dirty="0">
                <a:solidFill>
                  <a:srgbClr val="F5F7FA"/>
                </a:solidFill>
              </a:rPr>
              <a:t>keeps MVP cost near zero</a:t>
            </a:r>
            <a:endParaRPr lang="en-US" sz="120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Cost scenarios and zero-idle principle come from project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28</a:t>
            </a:fld>
            <a:endParaRPr lang="en-US"/>
          </a:p>
        </p:txBody>
      </p:sp>
      <p:sp>
        <p:nvSpPr>
          <p:cNvPr id="26" name="TextBox 25">
            <a:extLst>
              <a:ext uri="{FF2B5EF4-FFF2-40B4-BE49-F238E27FC236}">
                <a16:creationId xmlns:a16="http://schemas.microsoft.com/office/drawing/2014/main" id="{F7AC91D0-748C-F4ED-345A-5602635F7B51}"/>
              </a:ext>
            </a:extLst>
          </p:cNvPr>
          <p:cNvSpPr txBox="1"/>
          <p:nvPr/>
        </p:nvSpPr>
        <p:spPr>
          <a:xfrm>
            <a:off x="621792" y="2039112"/>
            <a:ext cx="8353313" cy="579120"/>
          </a:xfrm>
          <a:prstGeom prst="rect">
            <a:avLst/>
          </a:prstGeom>
          <a:noFill/>
          <a:ln/>
        </p:spPr>
        <p:txBody>
          <a:bodyPr wrap="square" lIns="254" tIns="254" rIns="254" bIns="254" rtlCol="0" anchor="t">
            <a:noAutofit/>
          </a:bodyPr>
          <a:lstStyle>
            <a:lvl1pPr indent="0">
              <a:buNone/>
              <a:defRPr sz="1650">
                <a:solidFill>
                  <a:srgbClr val="B2BAC8"/>
                </a:solidFill>
              </a:defRPr>
            </a:lvl1pPr>
          </a:lstStyle>
          <a:p>
            <a:r>
              <a:rPr lang="en-US" dirty="0"/>
              <a:t>LLM selection must be evaluated and optimized. Costs and output quality differ for LLMs such as Claude Sonnet 4.6 vs Amazon Nova Pro and need to be evaluated.</a:t>
            </a:r>
          </a:p>
        </p:txBody>
      </p:sp>
      <p:sp>
        <p:nvSpPr>
          <p:cNvPr id="28" name="Text 21">
            <a:extLst>
              <a:ext uri="{FF2B5EF4-FFF2-40B4-BE49-F238E27FC236}">
                <a16:creationId xmlns:a16="http://schemas.microsoft.com/office/drawing/2014/main" id="{17E9A415-328C-242B-C7B6-44FF0341E3A8}"/>
              </a:ext>
            </a:extLst>
          </p:cNvPr>
          <p:cNvSpPr/>
          <p:nvPr/>
        </p:nvSpPr>
        <p:spPr>
          <a:xfrm>
            <a:off x="9501747" y="5526024"/>
            <a:ext cx="2029968" cy="804672"/>
          </a:xfrm>
          <a:prstGeom prst="roundRect">
            <a:avLst>
              <a:gd name="adj" fmla="val 9091"/>
            </a:avLst>
          </a:prstGeom>
          <a:solidFill>
            <a:srgbClr val="071A2D"/>
          </a:solidFill>
          <a:ln w="13970">
            <a:solidFill>
              <a:srgbClr val="B68CFF"/>
            </a:solidFill>
          </a:ln>
        </p:spPr>
        <p:txBody>
          <a:bodyPr wrap="square" lIns="1016" tIns="1016" rIns="1016" bIns="1016" rtlCol="0" anchor="ctr">
            <a:normAutofit/>
          </a:bodyPr>
          <a:lstStyle/>
          <a:p>
            <a:pPr algn="ctr"/>
            <a:r>
              <a:rPr lang="en-US" sz="1100" b="1" dirty="0">
                <a:solidFill>
                  <a:srgbClr val="F5F7FA"/>
                </a:solidFill>
              </a:rPr>
              <a:t>S3 vector store</a:t>
            </a:r>
          </a:p>
          <a:p>
            <a:pPr algn="ctr"/>
            <a:r>
              <a:rPr lang="en-US" sz="1100" b="1" dirty="0">
                <a:solidFill>
                  <a:srgbClr val="F5F7FA"/>
                </a:solidFill>
              </a:rPr>
              <a:t>keeps MVP cost near zero</a:t>
            </a:r>
          </a:p>
        </p:txBody>
      </p:sp>
      <p:sp>
        <p:nvSpPr>
          <p:cNvPr id="30" name="Text 2">
            <a:extLst>
              <a:ext uri="{FF2B5EF4-FFF2-40B4-BE49-F238E27FC236}">
                <a16:creationId xmlns:a16="http://schemas.microsoft.com/office/drawing/2014/main" id="{D2862B14-E8EA-A091-B5CD-68854CAECD61}"/>
              </a:ext>
            </a:extLst>
          </p:cNvPr>
          <p:cNvSpPr/>
          <p:nvPr/>
        </p:nvSpPr>
        <p:spPr>
          <a:xfrm>
            <a:off x="899692" y="5815584"/>
            <a:ext cx="8269291" cy="438912"/>
          </a:xfrm>
          <a:prstGeom prst="rect">
            <a:avLst/>
          </a:prstGeom>
          <a:noFill/>
          <a:ln/>
        </p:spPr>
        <p:txBody>
          <a:bodyPr wrap="square" lIns="254" tIns="254" rIns="254" bIns="254" rtlCol="0" anchor="t">
            <a:noAutofit/>
          </a:bodyPr>
          <a:lstStyle/>
          <a:p>
            <a:pPr marL="0" indent="0" algn="l">
              <a:buNone/>
            </a:pPr>
            <a:r>
              <a:rPr lang="en-US" sz="1200" dirty="0">
                <a:solidFill>
                  <a:schemeClr val="accent2"/>
                </a:solidFill>
              </a:rPr>
              <a:t>Infrastructure only: LLM costs must be determined; cost and output will vary based on LLMs used.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DECISION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S3 as the first vector store is the right kind of cheap</a:t>
            </a:r>
            <a:endParaRPr lang="en-US" sz="2950" dirty="0"/>
          </a:p>
        </p:txBody>
      </p:sp>
      <p:sp>
        <p:nvSpPr>
          <p:cNvPr id="4" name="Text 2"/>
          <p:cNvSpPr/>
          <p:nvPr/>
        </p:nvSpPr>
        <p:spPr>
          <a:xfrm>
            <a:off x="621792" y="1325880"/>
            <a:ext cx="10216537" cy="713232"/>
          </a:xfrm>
          <a:prstGeom prst="rect">
            <a:avLst/>
          </a:prstGeom>
          <a:noFill/>
          <a:ln/>
        </p:spPr>
        <p:txBody>
          <a:bodyPr wrap="square" lIns="254" tIns="254" rIns="254" bIns="254" rtlCol="0" anchor="t">
            <a:normAutofit/>
          </a:bodyPr>
          <a:lstStyle/>
          <a:p>
            <a:pPr marL="0" indent="0" algn="l">
              <a:buNone/>
            </a:pPr>
            <a:r>
              <a:rPr lang="en-US" sz="1600" dirty="0">
                <a:solidFill>
                  <a:srgbClr val="B2BAC8"/>
                </a:solidFill>
              </a:rPr>
              <a:t>This is one of those choices where CTO discipline matters. For the MVP, S3 is not the “best vector database.” It is the best way to avoid paying for one before the workload proves it deserves one; it is </a:t>
            </a:r>
            <a:r>
              <a:rPr lang="en-US" sz="1600" b="1" dirty="0">
                <a:solidFill>
                  <a:srgbClr val="B2BAC8"/>
                </a:solidFill>
              </a:rPr>
              <a:t>fit to purpose </a:t>
            </a:r>
            <a:r>
              <a:rPr lang="en-US" sz="1600" dirty="0">
                <a:solidFill>
                  <a:srgbClr val="B2BAC8"/>
                </a:solidFill>
              </a:rPr>
              <a:t>engineering.</a:t>
            </a:r>
            <a:endParaRPr lang="en-US" sz="1600" dirty="0"/>
          </a:p>
        </p:txBody>
      </p:sp>
      <p:sp>
        <p:nvSpPr>
          <p:cNvPr id="5" name="Text 3"/>
          <p:cNvSpPr/>
          <p:nvPr/>
        </p:nvSpPr>
        <p:spPr>
          <a:xfrm>
            <a:off x="2924285" y="2395728"/>
            <a:ext cx="2743200" cy="310896"/>
          </a:xfrm>
          <a:prstGeom prst="rect">
            <a:avLst/>
          </a:prstGeom>
          <a:noFill/>
          <a:ln/>
        </p:spPr>
        <p:txBody>
          <a:bodyPr wrap="square" lIns="254" tIns="254" rIns="254" bIns="254" rtlCol="0" anchor="t">
            <a:normAutofit/>
          </a:bodyPr>
          <a:lstStyle/>
          <a:p>
            <a:pPr marL="0" indent="0" algn="ctr">
              <a:buNone/>
            </a:pPr>
            <a:r>
              <a:rPr lang="en-US" sz="1400" b="1" dirty="0">
                <a:solidFill>
                  <a:srgbClr val="59C4FF"/>
                </a:solidFill>
              </a:rPr>
              <a:t>S3 JSON embeddings</a:t>
            </a:r>
            <a:endParaRPr lang="en-US" sz="1400" dirty="0"/>
          </a:p>
        </p:txBody>
      </p:sp>
      <p:sp>
        <p:nvSpPr>
          <p:cNvPr id="6" name="Text 4"/>
          <p:cNvSpPr/>
          <p:nvPr/>
        </p:nvSpPr>
        <p:spPr>
          <a:xfrm>
            <a:off x="6873238" y="2395728"/>
            <a:ext cx="3063240" cy="310896"/>
          </a:xfrm>
          <a:prstGeom prst="rect">
            <a:avLst/>
          </a:prstGeom>
          <a:noFill/>
          <a:ln/>
        </p:spPr>
        <p:txBody>
          <a:bodyPr wrap="square" lIns="254" tIns="254" rIns="254" bIns="254" rtlCol="0" anchor="t">
            <a:normAutofit/>
          </a:bodyPr>
          <a:lstStyle/>
          <a:p>
            <a:pPr marL="0" indent="0" algn="ctr">
              <a:buNone/>
            </a:pPr>
            <a:r>
              <a:rPr lang="en-US" sz="1400" b="1" dirty="0">
                <a:solidFill>
                  <a:srgbClr val="FFD65A"/>
                </a:solidFill>
              </a:rPr>
              <a:t>OpenSearch Serverless / pgvector</a:t>
            </a:r>
            <a:endParaRPr lang="en-US" sz="1400" dirty="0"/>
          </a:p>
        </p:txBody>
      </p:sp>
      <p:sp>
        <p:nvSpPr>
          <p:cNvPr id="7" name="Text 5"/>
          <p:cNvSpPr/>
          <p:nvPr/>
        </p:nvSpPr>
        <p:spPr>
          <a:xfrm>
            <a:off x="1235335" y="2834640"/>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Idle cost</a:t>
            </a:r>
            <a:endParaRPr lang="en-US" sz="950" dirty="0"/>
          </a:p>
        </p:txBody>
      </p:sp>
      <p:sp>
        <p:nvSpPr>
          <p:cNvPr id="8" name="Text 6"/>
          <p:cNvSpPr/>
          <p:nvPr/>
        </p:nvSpPr>
        <p:spPr>
          <a:xfrm>
            <a:off x="2862967" y="2779776"/>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$0 storage only</a:t>
            </a:r>
            <a:endParaRPr lang="en-US" sz="1080" dirty="0"/>
          </a:p>
        </p:txBody>
      </p:sp>
      <p:sp>
        <p:nvSpPr>
          <p:cNvPr id="9" name="Text 7"/>
          <p:cNvSpPr/>
          <p:nvPr/>
        </p:nvSpPr>
        <p:spPr>
          <a:xfrm>
            <a:off x="6840607" y="2779776"/>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~$175/month minimum</a:t>
            </a:r>
            <a:endParaRPr lang="en-US" sz="1080" dirty="0"/>
          </a:p>
        </p:txBody>
      </p:sp>
      <p:sp>
        <p:nvSpPr>
          <p:cNvPr id="10" name="Text 8"/>
          <p:cNvSpPr/>
          <p:nvPr/>
        </p:nvSpPr>
        <p:spPr>
          <a:xfrm>
            <a:off x="1235335" y="3493008"/>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Read pattern</a:t>
            </a:r>
            <a:endParaRPr lang="en-US" sz="950" dirty="0"/>
          </a:p>
        </p:txBody>
      </p:sp>
      <p:sp>
        <p:nvSpPr>
          <p:cNvPr id="11" name="Text 9"/>
          <p:cNvSpPr/>
          <p:nvPr/>
        </p:nvSpPr>
        <p:spPr>
          <a:xfrm>
            <a:off x="2862967" y="3438144"/>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Per-submission retrieval</a:t>
            </a:r>
            <a:endParaRPr lang="en-US" sz="1080" dirty="0"/>
          </a:p>
        </p:txBody>
      </p:sp>
      <p:sp>
        <p:nvSpPr>
          <p:cNvPr id="12" name="Text 10"/>
          <p:cNvSpPr/>
          <p:nvPr/>
        </p:nvSpPr>
        <p:spPr>
          <a:xfrm>
            <a:off x="6840607" y="3438144"/>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Similarity search across corpora</a:t>
            </a:r>
            <a:endParaRPr lang="en-US" sz="1080" dirty="0"/>
          </a:p>
        </p:txBody>
      </p:sp>
      <p:sp>
        <p:nvSpPr>
          <p:cNvPr id="13" name="Text 11"/>
          <p:cNvSpPr/>
          <p:nvPr/>
        </p:nvSpPr>
        <p:spPr>
          <a:xfrm>
            <a:off x="1235335" y="4151376"/>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Latency</a:t>
            </a:r>
            <a:endParaRPr lang="en-US" sz="950" dirty="0"/>
          </a:p>
        </p:txBody>
      </p:sp>
      <p:sp>
        <p:nvSpPr>
          <p:cNvPr id="14" name="Text 12"/>
          <p:cNvSpPr/>
          <p:nvPr/>
        </p:nvSpPr>
        <p:spPr>
          <a:xfrm>
            <a:off x="2862967" y="4096512"/>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~50-100 </a:t>
            </a:r>
            <a:r>
              <a:rPr lang="en-US" sz="1080" dirty="0" err="1">
                <a:solidFill>
                  <a:srgbClr val="F5F7FA"/>
                </a:solidFill>
              </a:rPr>
              <a:t>ms</a:t>
            </a:r>
            <a:endParaRPr lang="en-US" sz="1080" dirty="0"/>
          </a:p>
        </p:txBody>
      </p:sp>
      <p:sp>
        <p:nvSpPr>
          <p:cNvPr id="15" name="Text 13"/>
          <p:cNvSpPr/>
          <p:nvPr/>
        </p:nvSpPr>
        <p:spPr>
          <a:xfrm>
            <a:off x="6840607" y="4096512"/>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~10 ms query path</a:t>
            </a:r>
            <a:endParaRPr lang="en-US" sz="1080" dirty="0"/>
          </a:p>
        </p:txBody>
      </p:sp>
      <p:sp>
        <p:nvSpPr>
          <p:cNvPr id="16" name="Text 14"/>
          <p:cNvSpPr/>
          <p:nvPr/>
        </p:nvSpPr>
        <p:spPr>
          <a:xfrm>
            <a:off x="1235335" y="4809744"/>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Move when</a:t>
            </a:r>
            <a:endParaRPr lang="en-US" sz="950" dirty="0"/>
          </a:p>
        </p:txBody>
      </p:sp>
      <p:sp>
        <p:nvSpPr>
          <p:cNvPr id="17" name="Text 15"/>
          <p:cNvSpPr/>
          <p:nvPr/>
        </p:nvSpPr>
        <p:spPr>
          <a:xfrm>
            <a:off x="2862967" y="4754880"/>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MVP and variable load</a:t>
            </a:r>
            <a:endParaRPr lang="en-US" sz="1080" dirty="0"/>
          </a:p>
        </p:txBody>
      </p:sp>
      <p:sp>
        <p:nvSpPr>
          <p:cNvPr id="18" name="Text 16"/>
          <p:cNvSpPr/>
          <p:nvPr/>
        </p:nvSpPr>
        <p:spPr>
          <a:xfrm>
            <a:off x="6840607" y="4754880"/>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&gt;50K presentations/month or cross-submission search</a:t>
            </a:r>
            <a:endParaRPr lang="en-US" sz="1080" dirty="0"/>
          </a:p>
        </p:txBody>
      </p:sp>
      <p:sp>
        <p:nvSpPr>
          <p:cNvPr id="19" name="Text 17"/>
          <p:cNvSpPr/>
          <p:nvPr/>
        </p:nvSpPr>
        <p:spPr>
          <a:xfrm>
            <a:off x="2926080" y="5669280"/>
            <a:ext cx="6309360" cy="566928"/>
          </a:xfrm>
          <a:prstGeom prst="roundRect">
            <a:avLst>
              <a:gd name="adj" fmla="val 1290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50" dirty="0">
                <a:solidFill>
                  <a:srgbClr val="B2BAC8"/>
                </a:solidFill>
              </a:rPr>
              <a:t>Design win: vector-store-type and vector-store-endpoint are SSM parameters, so the upgrade path is operationally clean.</a:t>
            </a:r>
            <a:endParaRPr lang="en-US" sz="1250" dirty="0"/>
          </a:p>
        </p:txBody>
      </p:sp>
      <p:sp>
        <p:nvSpPr>
          <p:cNvPr id="20" name="Text 18"/>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S3 vs OpenSearch cost and upgrade guidance come from the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RESILIENCE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70000" lnSpcReduction="20000"/>
          </a:bodyPr>
          <a:lstStyle/>
          <a:p>
            <a:pPr marL="0" indent="0">
              <a:buNone/>
            </a:pPr>
            <a:r>
              <a:rPr lang="en-US" sz="2950" b="1" dirty="0">
                <a:solidFill>
                  <a:srgbClr val="F5F7FA"/>
                </a:solidFill>
              </a:rPr>
              <a:t>Operational resilience is solid for MVP and launch, but the regional stance is a decision</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lnSpcReduction="10000"/>
          </a:bodyPr>
          <a:lstStyle/>
          <a:p>
            <a:pPr marL="0" indent="0" algn="l">
              <a:buNone/>
            </a:pPr>
            <a:r>
              <a:rPr lang="en-US" sz="1620" dirty="0">
                <a:solidFill>
                  <a:srgbClr val="B2BAC8"/>
                </a:solidFill>
              </a:rPr>
              <a:t>Current state is single-region in us-east-1 and multi-AZ compatible by design and construction. </a:t>
            </a:r>
          </a:p>
          <a:p>
            <a:pPr marL="0" indent="0" algn="l">
              <a:buNone/>
            </a:pPr>
            <a:r>
              <a:rPr lang="en-US" sz="1620" dirty="0">
                <a:solidFill>
                  <a:srgbClr val="B2BAC8"/>
                </a:solidFill>
              </a:rPr>
              <a:t>Single Region is acceptable for an MVP, but production requires an explicit answer to how much regional failure the business will to tolerate. Multi-region is cost effective and does not require re-</a:t>
            </a:r>
            <a:r>
              <a:rPr lang="en-US" sz="1620" dirty="0" err="1">
                <a:solidFill>
                  <a:srgbClr val="B2BAC8"/>
                </a:solidFill>
              </a:rPr>
              <a:t>architecure</a:t>
            </a:r>
            <a:r>
              <a:rPr lang="en-US" sz="1620" dirty="0">
                <a:solidFill>
                  <a:srgbClr val="B2BAC8"/>
                </a:solidFill>
              </a:rPr>
              <a:t> work.</a:t>
            </a:r>
            <a:endParaRPr lang="en-US" sz="1620" dirty="0"/>
          </a:p>
        </p:txBody>
      </p:sp>
      <p:sp>
        <p:nvSpPr>
          <p:cNvPr id="5" name="Text 3"/>
          <p:cNvSpPr/>
          <p:nvPr/>
        </p:nvSpPr>
        <p:spPr>
          <a:xfrm>
            <a:off x="914400" y="2514600"/>
            <a:ext cx="1828800"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F5F7FA"/>
                </a:solidFill>
              </a:rPr>
              <a:t>Current</a:t>
            </a:r>
            <a:endParaRPr lang="en-US" sz="1400" dirty="0"/>
          </a:p>
          <a:p>
            <a:pPr marL="0" indent="0" algn="ctr">
              <a:buNone/>
            </a:pPr>
            <a:r>
              <a:rPr lang="en-US" sz="1400" b="1" dirty="0">
                <a:solidFill>
                  <a:srgbClr val="F5F7FA"/>
                </a:solidFill>
              </a:rPr>
              <a:t>Single region</a:t>
            </a:r>
            <a:endParaRPr lang="en-US" sz="1400" dirty="0"/>
          </a:p>
        </p:txBody>
      </p:sp>
      <p:sp>
        <p:nvSpPr>
          <p:cNvPr id="6" name="Text 4"/>
          <p:cNvSpPr/>
          <p:nvPr/>
        </p:nvSpPr>
        <p:spPr>
          <a:xfrm>
            <a:off x="914400" y="3611880"/>
            <a:ext cx="182880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Good for</a:t>
            </a:r>
            <a:endParaRPr lang="en-US" sz="1150" dirty="0"/>
          </a:p>
          <a:p>
            <a:pPr marL="0" indent="0" algn="ctr">
              <a:buNone/>
            </a:pPr>
            <a:r>
              <a:rPr lang="en-US" sz="1150" dirty="0">
                <a:solidFill>
                  <a:srgbClr val="B2BAC8"/>
                </a:solidFill>
              </a:rPr>
              <a:t>MVP, pilots, controlled demos</a:t>
            </a:r>
            <a:endParaRPr lang="en-US" sz="1150" dirty="0"/>
          </a:p>
        </p:txBody>
      </p:sp>
      <p:sp>
        <p:nvSpPr>
          <p:cNvPr id="7" name="Shape 5"/>
          <p:cNvSpPr/>
          <p:nvPr/>
        </p:nvSpPr>
        <p:spPr>
          <a:xfrm>
            <a:off x="2743200" y="2944368"/>
            <a:ext cx="1005840"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8" name="Text 6"/>
          <p:cNvSpPr/>
          <p:nvPr/>
        </p:nvSpPr>
        <p:spPr>
          <a:xfrm>
            <a:off x="3749040" y="2514600"/>
            <a:ext cx="2011680" cy="822960"/>
          </a:xfrm>
          <a:prstGeom prst="roundRect">
            <a:avLst>
              <a:gd name="adj" fmla="val 8889"/>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F5F7FA"/>
                </a:solidFill>
              </a:rPr>
              <a:t>Next</a:t>
            </a:r>
            <a:endParaRPr lang="en-US" sz="1400" dirty="0"/>
          </a:p>
          <a:p>
            <a:pPr marL="0" indent="0" algn="ctr">
              <a:buNone/>
            </a:pPr>
            <a:r>
              <a:rPr lang="en-US" sz="1400" b="1" dirty="0">
                <a:solidFill>
                  <a:srgbClr val="F5F7FA"/>
                </a:solidFill>
              </a:rPr>
              <a:t>Active-passive</a:t>
            </a:r>
            <a:endParaRPr lang="en-US" sz="1400" dirty="0"/>
          </a:p>
        </p:txBody>
      </p:sp>
      <p:sp>
        <p:nvSpPr>
          <p:cNvPr id="9" name="Text 7"/>
          <p:cNvSpPr/>
          <p:nvPr/>
        </p:nvSpPr>
        <p:spPr>
          <a:xfrm>
            <a:off x="3749040" y="3611880"/>
            <a:ext cx="20116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1-2 days</a:t>
            </a:r>
            <a:endParaRPr lang="en-US" sz="1150" dirty="0"/>
          </a:p>
          <a:p>
            <a:pPr marL="0" indent="0" algn="ctr">
              <a:buNone/>
            </a:pPr>
            <a:r>
              <a:rPr lang="en-US" sz="1150" dirty="0">
                <a:solidFill>
                  <a:srgbClr val="B2BAC8"/>
                </a:solidFill>
              </a:rPr>
              <a:t>secondary region + failover path</a:t>
            </a:r>
            <a:endParaRPr lang="en-US" sz="1150" dirty="0"/>
          </a:p>
        </p:txBody>
      </p:sp>
      <p:sp>
        <p:nvSpPr>
          <p:cNvPr id="10" name="Shape 8"/>
          <p:cNvSpPr/>
          <p:nvPr/>
        </p:nvSpPr>
        <p:spPr>
          <a:xfrm>
            <a:off x="5760720" y="2944368"/>
            <a:ext cx="987552"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1" name="Text 9"/>
          <p:cNvSpPr/>
          <p:nvPr/>
        </p:nvSpPr>
        <p:spPr>
          <a:xfrm>
            <a:off x="6748272" y="2514600"/>
            <a:ext cx="1965960" cy="822960"/>
          </a:xfrm>
          <a:prstGeom prst="roundRect">
            <a:avLst>
              <a:gd name="adj" fmla="val 8889"/>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F5F7FA"/>
                </a:solidFill>
              </a:rPr>
              <a:t>Later</a:t>
            </a:r>
            <a:endParaRPr lang="en-US" sz="1400" dirty="0"/>
          </a:p>
          <a:p>
            <a:pPr marL="0" indent="0" algn="ctr">
              <a:buNone/>
            </a:pPr>
            <a:r>
              <a:rPr lang="en-US" sz="1400" b="1" dirty="0">
                <a:solidFill>
                  <a:srgbClr val="F5F7FA"/>
                </a:solidFill>
              </a:rPr>
              <a:t>Active-active</a:t>
            </a:r>
            <a:endParaRPr lang="en-US" sz="1400" dirty="0"/>
          </a:p>
        </p:txBody>
      </p:sp>
      <p:sp>
        <p:nvSpPr>
          <p:cNvPr id="12" name="Text 10"/>
          <p:cNvSpPr/>
          <p:nvPr/>
        </p:nvSpPr>
        <p:spPr>
          <a:xfrm>
            <a:off x="6748272" y="3611880"/>
            <a:ext cx="196596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dirty="0">
                <a:solidFill>
                  <a:srgbClr val="B2BAC8"/>
                </a:solidFill>
              </a:rPr>
              <a:t>1-2 weeks</a:t>
            </a:r>
            <a:endParaRPr lang="en-US" sz="1150" dirty="0"/>
          </a:p>
          <a:p>
            <a:pPr marL="0" indent="0" algn="ctr">
              <a:buNone/>
            </a:pPr>
            <a:r>
              <a:rPr lang="en-US" sz="1150" dirty="0">
                <a:solidFill>
                  <a:srgbClr val="B2BAC8"/>
                </a:solidFill>
              </a:rPr>
              <a:t>conflict strategy + region affinity</a:t>
            </a:r>
            <a:endParaRPr lang="en-US" sz="1150" dirty="0"/>
          </a:p>
        </p:txBody>
      </p:sp>
      <p:sp>
        <p:nvSpPr>
          <p:cNvPr id="13" name="Text 11"/>
          <p:cNvSpPr/>
          <p:nvPr/>
        </p:nvSpPr>
        <p:spPr>
          <a:xfrm>
            <a:off x="9372600" y="2487168"/>
            <a:ext cx="1920240" cy="1965960"/>
          </a:xfrm>
          <a:prstGeom prst="roundRect">
            <a:avLst>
              <a:gd name="adj" fmla="val 381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120" b="1" dirty="0">
                <a:solidFill>
                  <a:srgbClr val="F5F7FA"/>
                </a:solidFill>
              </a:rPr>
              <a:t>CTO question</a:t>
            </a:r>
            <a:endParaRPr lang="en-US" sz="1120" dirty="0"/>
          </a:p>
          <a:p>
            <a:pPr marL="0" indent="0" algn="ctr">
              <a:buNone/>
            </a:pPr>
            <a:r>
              <a:rPr lang="en-US" sz="1120" b="1" dirty="0">
                <a:solidFill>
                  <a:srgbClr val="F5F7FA"/>
                </a:solidFill>
              </a:rPr>
              <a:t>Does coaching report availability justify multi-region complexity now, or after revenue proves demand?</a:t>
            </a:r>
            <a:endParaRPr lang="en-US" sz="1120" dirty="0"/>
          </a:p>
        </p:txBody>
      </p:sp>
      <p:sp>
        <p:nvSpPr>
          <p:cNvPr id="14" name="Text 12"/>
          <p:cNvSpPr/>
          <p:nvPr/>
        </p:nvSpPr>
        <p:spPr>
          <a:xfrm>
            <a:off x="914400" y="5193792"/>
            <a:ext cx="9829800" cy="457200"/>
          </a:xfrm>
          <a:prstGeom prst="rect">
            <a:avLst/>
          </a:prstGeom>
          <a:noFill/>
          <a:ln/>
        </p:spPr>
        <p:txBody>
          <a:bodyPr wrap="square" lIns="254" tIns="254" rIns="254" bIns="254" rtlCol="0" anchor="t">
            <a:normAutofit/>
          </a:bodyPr>
          <a:lstStyle/>
          <a:p>
            <a:pPr marL="0" indent="0" algn="ctr">
              <a:buNone/>
            </a:pPr>
            <a:r>
              <a:rPr lang="en-US" sz="1350" dirty="0">
                <a:solidFill>
                  <a:srgbClr val="B2BAC8"/>
                </a:solidFill>
              </a:rPr>
              <a:t>Low-friction upgrades to multi-region resilience: DynamoDB Global Tables, S3 CRR, second regional API Gateway, replicated Step Functions and Lambda stacks, CloudFront origin routing.</a:t>
            </a:r>
            <a:endParaRPr lang="en-US" sz="135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Multi-region path and estimated effort come from the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RISK REGISTER</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The production-hardening backlog is manageable, not mysterious</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system is deployed and the end-to-end pipeline runs. The remaining work is application-level correctness plus the usual enterprise-grade hardening. Good news: no smoke machine required.</a:t>
            </a:r>
            <a:endParaRPr lang="en-US" sz="1620" dirty="0"/>
          </a:p>
        </p:txBody>
      </p:sp>
      <p:sp>
        <p:nvSpPr>
          <p:cNvPr id="5" name="Text 3"/>
          <p:cNvSpPr/>
          <p:nvPr/>
        </p:nvSpPr>
        <p:spPr>
          <a:xfrm>
            <a:off x="822960" y="2249424"/>
            <a:ext cx="1920240" cy="438912"/>
          </a:xfrm>
          <a:prstGeom prst="roundRect">
            <a:avLst>
              <a:gd name="adj" fmla="val 16667"/>
            </a:avLst>
          </a:prstGeom>
          <a:solidFill>
            <a:srgbClr val="FF6B6B"/>
          </a:solidFill>
          <a:ln w="13970">
            <a:solidFill>
              <a:srgbClr val="FF6B6B"/>
            </a:solidFill>
          </a:ln>
        </p:spPr>
        <p:txBody>
          <a:bodyPr wrap="square" lIns="1016" tIns="1016" rIns="1016" bIns="1016" rtlCol="0" anchor="ctr">
            <a:normAutofit/>
          </a:bodyPr>
          <a:lstStyle/>
          <a:p>
            <a:pPr marL="0" indent="0" algn="ctr">
              <a:buNone/>
            </a:pPr>
            <a:r>
              <a:rPr lang="en-US" sz="1100" b="1" dirty="0">
                <a:solidFill>
                  <a:srgbClr val="07111E"/>
                </a:solidFill>
              </a:rPr>
              <a:t>Known app fixes</a:t>
            </a:r>
            <a:endParaRPr lang="en-US" sz="1100" dirty="0"/>
          </a:p>
        </p:txBody>
      </p:sp>
      <p:sp>
        <p:nvSpPr>
          <p:cNvPr id="6" name="Text 4"/>
          <p:cNvSpPr/>
          <p:nvPr/>
        </p:nvSpPr>
        <p:spPr>
          <a:xfrm>
            <a:off x="2944368" y="2267712"/>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Use Web Sockets instead of polling for Submissions page while a presentation is processing.</a:t>
            </a:r>
            <a:endParaRPr lang="en-US" sz="1130" dirty="0"/>
          </a:p>
        </p:txBody>
      </p:sp>
      <p:sp>
        <p:nvSpPr>
          <p:cNvPr id="7" name="Text 5"/>
          <p:cNvSpPr/>
          <p:nvPr/>
        </p:nvSpPr>
        <p:spPr>
          <a:xfrm>
            <a:off x="822960" y="2962656"/>
            <a:ext cx="1920240" cy="438912"/>
          </a:xfrm>
          <a:prstGeom prst="roundRect">
            <a:avLst>
              <a:gd name="adj" fmla="val 16667"/>
            </a:avLst>
          </a:prstGeom>
          <a:solidFill>
            <a:srgbClr val="FF9B55"/>
          </a:solidFill>
          <a:ln w="13970">
            <a:solidFill>
              <a:srgbClr val="FF9B55"/>
            </a:solidFill>
          </a:ln>
        </p:spPr>
        <p:txBody>
          <a:bodyPr wrap="square" lIns="1016" tIns="1016" rIns="1016" bIns="1016" rtlCol="0" anchor="ctr">
            <a:normAutofit/>
          </a:bodyPr>
          <a:lstStyle/>
          <a:p>
            <a:pPr marL="0" indent="0" algn="ctr">
              <a:buNone/>
            </a:pPr>
            <a:r>
              <a:rPr lang="en-US" sz="1100" b="1" dirty="0">
                <a:solidFill>
                  <a:srgbClr val="07111E"/>
                </a:solidFill>
              </a:rPr>
              <a:t>Security</a:t>
            </a:r>
            <a:endParaRPr lang="en-US" sz="1100" dirty="0"/>
          </a:p>
        </p:txBody>
      </p:sp>
      <p:sp>
        <p:nvSpPr>
          <p:cNvPr id="8" name="Text 6"/>
          <p:cNvSpPr/>
          <p:nvPr/>
        </p:nvSpPr>
        <p:spPr>
          <a:xfrm>
            <a:off x="2944368" y="2980944"/>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additional guardrails, add admin approvals for new users, enhance WAF rules, define data retention policies.</a:t>
            </a:r>
            <a:endParaRPr lang="en-US" sz="1130" dirty="0"/>
          </a:p>
        </p:txBody>
      </p:sp>
      <p:sp>
        <p:nvSpPr>
          <p:cNvPr id="9" name="Text 7"/>
          <p:cNvSpPr/>
          <p:nvPr/>
        </p:nvSpPr>
        <p:spPr>
          <a:xfrm>
            <a:off x="822960" y="3675888"/>
            <a:ext cx="1920240" cy="438912"/>
          </a:xfrm>
          <a:prstGeom prst="roundRect">
            <a:avLst>
              <a:gd name="adj" fmla="val 16667"/>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07111E"/>
                </a:solidFill>
              </a:rPr>
              <a:t>Reliability</a:t>
            </a:r>
            <a:endParaRPr lang="en-US" sz="1100" dirty="0"/>
          </a:p>
        </p:txBody>
      </p:sp>
      <p:sp>
        <p:nvSpPr>
          <p:cNvPr id="10" name="Text 8"/>
          <p:cNvSpPr/>
          <p:nvPr/>
        </p:nvSpPr>
        <p:spPr>
          <a:xfrm>
            <a:off x="2944368" y="3694176"/>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throttling policy by user and entire system, ECS Spot interruption handling, DLQ message runbooks, retry budgets, test idempotency fully.</a:t>
            </a:r>
            <a:endParaRPr lang="en-US" sz="1130" dirty="0"/>
          </a:p>
        </p:txBody>
      </p:sp>
      <p:sp>
        <p:nvSpPr>
          <p:cNvPr id="11" name="Text 9"/>
          <p:cNvSpPr/>
          <p:nvPr/>
        </p:nvSpPr>
        <p:spPr>
          <a:xfrm>
            <a:off x="822960" y="4389120"/>
            <a:ext cx="1920240" cy="438912"/>
          </a:xfrm>
          <a:prstGeom prst="roundRect">
            <a:avLst>
              <a:gd name="adj" fmla="val 16667"/>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07111E"/>
                </a:solidFill>
              </a:rPr>
              <a:t>Observability</a:t>
            </a:r>
            <a:endParaRPr lang="en-US" sz="1100" dirty="0"/>
          </a:p>
        </p:txBody>
      </p:sp>
      <p:sp>
        <p:nvSpPr>
          <p:cNvPr id="12" name="Text 10"/>
          <p:cNvSpPr/>
          <p:nvPr/>
        </p:nvSpPr>
        <p:spPr>
          <a:xfrm>
            <a:off x="2944368" y="4407408"/>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Correlation Id and additional logging to trace a submission across Cognito, API, S3, Step Functions, queues, ECS, Bedrock, and report generation.</a:t>
            </a:r>
            <a:endParaRPr lang="en-US" sz="1130" dirty="0"/>
          </a:p>
        </p:txBody>
      </p:sp>
      <p:sp>
        <p:nvSpPr>
          <p:cNvPr id="13" name="Text 11"/>
          <p:cNvSpPr/>
          <p:nvPr/>
        </p:nvSpPr>
        <p:spPr>
          <a:xfrm>
            <a:off x="822960" y="5102352"/>
            <a:ext cx="1920240" cy="438912"/>
          </a:xfrm>
          <a:prstGeom prst="roundRect">
            <a:avLst>
              <a:gd name="adj" fmla="val 16667"/>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07111E"/>
                </a:solidFill>
              </a:rPr>
              <a:t>FinOps</a:t>
            </a:r>
            <a:endParaRPr lang="en-US" sz="1100" dirty="0"/>
          </a:p>
        </p:txBody>
      </p:sp>
      <p:sp>
        <p:nvSpPr>
          <p:cNvPr id="14" name="Text 12"/>
          <p:cNvSpPr/>
          <p:nvPr/>
        </p:nvSpPr>
        <p:spPr>
          <a:xfrm>
            <a:off x="2944368" y="5120640"/>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budgets, Bedrock spend alarms, lifecycle policies, model-choice controls, chargeback by user or tenant.</a:t>
            </a:r>
            <a:endParaRPr lang="en-US" sz="1130" dirty="0"/>
          </a:p>
        </p:txBody>
      </p:sp>
      <p:sp>
        <p:nvSpPr>
          <p:cNvPr id="15" name="Text 13"/>
          <p:cNvSpPr/>
          <p:nvPr/>
        </p:nvSpPr>
        <p:spPr>
          <a:xfrm>
            <a:off x="3063240" y="5833872"/>
            <a:ext cx="6217920" cy="493776"/>
          </a:xfrm>
          <a:prstGeom prst="roundRect">
            <a:avLst>
              <a:gd name="adj" fmla="val 14815"/>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dirty="0">
                <a:solidFill>
                  <a:srgbClr val="B2BAC8"/>
                </a:solidFill>
              </a:rPr>
              <a:t>Evaluate items and prioritize: </a:t>
            </a:r>
          </a:p>
          <a:p>
            <a:pPr marL="0" indent="0" algn="ctr">
              <a:buNone/>
            </a:pPr>
            <a:r>
              <a:rPr lang="en-US" sz="1220" dirty="0">
                <a:solidFill>
                  <a:srgbClr val="B2BAC8"/>
                </a:solidFill>
              </a:rPr>
              <a:t>In this case the Security and Reliability issues have the highest priority</a:t>
            </a:r>
            <a:endParaRPr lang="en-US" sz="122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Known application issues come from project overview and source deck. Hardening items are CTO recommendations derived from the architecture.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4FA0F618-326A-9608-98AC-C6FBE3608DC3}"/>
              </a:ext>
            </a:extLst>
          </p:cNvPr>
          <p:cNvSpPr/>
          <p:nvPr/>
        </p:nvSpPr>
        <p:spPr>
          <a:xfrm>
            <a:off x="2628900" y="2048256"/>
            <a:ext cx="6729984" cy="3666744"/>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WHERE I WOULD SPEND TIME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CTO decision radar</a:t>
            </a:r>
            <a:endParaRPr lang="en-US" sz="2950" dirty="0"/>
          </a:p>
        </p:txBody>
      </p:sp>
      <p:sp>
        <p:nvSpPr>
          <p:cNvPr id="4" name="Text 2"/>
          <p:cNvSpPr/>
          <p:nvPr/>
        </p:nvSpPr>
        <p:spPr>
          <a:xfrm>
            <a:off x="621792" y="1243584"/>
            <a:ext cx="8549640" cy="493776"/>
          </a:xfrm>
          <a:prstGeom prst="rect">
            <a:avLst/>
          </a:prstGeom>
          <a:noFill/>
          <a:ln/>
        </p:spPr>
        <p:txBody>
          <a:bodyPr wrap="square" lIns="254" tIns="254" rIns="254" bIns="254" rtlCol="0" anchor="t">
            <a:normAutofit lnSpcReduction="10000"/>
          </a:bodyPr>
          <a:lstStyle/>
          <a:p>
            <a:pPr marL="0" indent="0" algn="l">
              <a:buNone/>
            </a:pPr>
            <a:r>
              <a:rPr lang="en-US" sz="1700" dirty="0">
                <a:solidFill>
                  <a:srgbClr val="B2BAC8"/>
                </a:solidFill>
              </a:rPr>
              <a:t>The architecture is good enough to advance. The discussion should move from “can this work?” to “what operating posture do we want?”</a:t>
            </a:r>
            <a:endParaRPr lang="en-US" sz="1700" dirty="0"/>
          </a:p>
        </p:txBody>
      </p:sp>
      <p:sp>
        <p:nvSpPr>
          <p:cNvPr id="5" name="Text 3"/>
          <p:cNvSpPr/>
          <p:nvPr/>
        </p:nvSpPr>
        <p:spPr>
          <a:xfrm>
            <a:off x="5074920" y="3255264"/>
            <a:ext cx="2011680" cy="1005840"/>
          </a:xfrm>
          <a:prstGeom prst="roundRect">
            <a:avLst>
              <a:gd name="adj" fmla="val 727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600" b="1" dirty="0">
                <a:solidFill>
                  <a:srgbClr val="03101D"/>
                </a:solidFill>
              </a:rPr>
              <a:t>CTO</a:t>
            </a:r>
            <a:endParaRPr lang="en-US" sz="1600" dirty="0"/>
          </a:p>
          <a:p>
            <a:pPr marL="0" indent="0" algn="ctr">
              <a:buNone/>
            </a:pPr>
            <a:r>
              <a:rPr lang="en-US" sz="1600" b="1" dirty="0">
                <a:solidFill>
                  <a:srgbClr val="03101D"/>
                </a:solidFill>
              </a:rPr>
              <a:t>Operating</a:t>
            </a:r>
            <a:endParaRPr lang="en-US" sz="1600" dirty="0"/>
          </a:p>
          <a:p>
            <a:pPr marL="0" indent="0" algn="ctr">
              <a:buNone/>
            </a:pPr>
            <a:r>
              <a:rPr lang="en-US" sz="1600" b="1" dirty="0">
                <a:solidFill>
                  <a:srgbClr val="03101D"/>
                </a:solidFill>
              </a:rPr>
              <a:t>Posture</a:t>
            </a:r>
            <a:endParaRPr lang="en-US" sz="1600" dirty="0"/>
          </a:p>
        </p:txBody>
      </p:sp>
      <p:sp>
        <p:nvSpPr>
          <p:cNvPr id="6" name="Text 4"/>
          <p:cNvSpPr/>
          <p:nvPr/>
        </p:nvSpPr>
        <p:spPr>
          <a:xfrm>
            <a:off x="4828032" y="1938528"/>
            <a:ext cx="2057400" cy="457200"/>
          </a:xfrm>
          <a:prstGeom prst="roundRect">
            <a:avLst>
              <a:gd name="adj" fmla="val 16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70" b="1" dirty="0">
                <a:solidFill>
                  <a:srgbClr val="F5F7FA"/>
                </a:solidFill>
              </a:rPr>
              <a:t>Ship MVP transcript-first</a:t>
            </a:r>
            <a:endParaRPr lang="en-US" sz="1070" dirty="0"/>
          </a:p>
        </p:txBody>
      </p:sp>
      <p:sp>
        <p:nvSpPr>
          <p:cNvPr id="7" name="Text 5"/>
          <p:cNvSpPr/>
          <p:nvPr/>
        </p:nvSpPr>
        <p:spPr>
          <a:xfrm>
            <a:off x="4919472" y="245973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Embeddings remain feature-flagged until retrieval is fixed and value is proven.</a:t>
            </a:r>
            <a:endParaRPr lang="en-US" sz="840" dirty="0"/>
          </a:p>
        </p:txBody>
      </p:sp>
      <p:sp>
        <p:nvSpPr>
          <p:cNvPr id="8" name="Text 6"/>
          <p:cNvSpPr/>
          <p:nvPr/>
        </p:nvSpPr>
        <p:spPr>
          <a:xfrm>
            <a:off x="8083296" y="3136392"/>
            <a:ext cx="2057400" cy="457200"/>
          </a:xfrm>
          <a:prstGeom prst="roundRect">
            <a:avLst>
              <a:gd name="adj" fmla="val 16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70" b="1" dirty="0">
                <a:solidFill>
                  <a:srgbClr val="F5F7FA"/>
                </a:solidFill>
              </a:rPr>
              <a:t>Keep S3 vectors for now</a:t>
            </a:r>
            <a:endParaRPr lang="en-US" sz="1070" dirty="0"/>
          </a:p>
        </p:txBody>
      </p:sp>
      <p:sp>
        <p:nvSpPr>
          <p:cNvPr id="9" name="Text 7"/>
          <p:cNvSpPr/>
          <p:nvPr/>
        </p:nvSpPr>
        <p:spPr>
          <a:xfrm>
            <a:off x="8174736" y="3657600"/>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Move to OpenSearch or pgvector when cross-submission similarity becomes real.</a:t>
            </a:r>
            <a:endParaRPr lang="en-US" sz="840" dirty="0"/>
          </a:p>
        </p:txBody>
      </p:sp>
      <p:sp>
        <p:nvSpPr>
          <p:cNvPr id="10" name="Text 8"/>
          <p:cNvSpPr/>
          <p:nvPr/>
        </p:nvSpPr>
        <p:spPr>
          <a:xfrm>
            <a:off x="7360920" y="4974336"/>
            <a:ext cx="2057400" cy="457200"/>
          </a:xfrm>
          <a:prstGeom prst="roundRect">
            <a:avLst>
              <a:gd name="adj" fmla="val 16000"/>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70" b="1" dirty="0">
                <a:solidFill>
                  <a:srgbClr val="F5F7FA"/>
                </a:solidFill>
              </a:rPr>
              <a:t>Fargate Spot is fine</a:t>
            </a:r>
            <a:endParaRPr lang="en-US" sz="1070" dirty="0"/>
          </a:p>
        </p:txBody>
      </p:sp>
      <p:sp>
        <p:nvSpPr>
          <p:cNvPr id="11" name="Text 9"/>
          <p:cNvSpPr/>
          <p:nvPr/>
        </p:nvSpPr>
        <p:spPr>
          <a:xfrm>
            <a:off x="7452360"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For low sustained volume, Spot tasks with DLQ and retries are a smart cost choice.</a:t>
            </a:r>
            <a:endParaRPr lang="en-US" sz="840" dirty="0"/>
          </a:p>
        </p:txBody>
      </p:sp>
      <p:sp>
        <p:nvSpPr>
          <p:cNvPr id="12" name="Text 10"/>
          <p:cNvSpPr/>
          <p:nvPr/>
        </p:nvSpPr>
        <p:spPr>
          <a:xfrm>
            <a:off x="3227832" y="4974336"/>
            <a:ext cx="2057400" cy="457200"/>
          </a:xfrm>
          <a:prstGeom prst="roundRect">
            <a:avLst>
              <a:gd name="adj" fmla="val 1600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70" b="1" dirty="0">
                <a:solidFill>
                  <a:srgbClr val="F5F7FA"/>
                </a:solidFill>
              </a:rPr>
              <a:t>Define regional intent</a:t>
            </a:r>
            <a:endParaRPr lang="en-US" sz="1070" dirty="0"/>
          </a:p>
        </p:txBody>
      </p:sp>
      <p:sp>
        <p:nvSpPr>
          <p:cNvPr id="13" name="Text 11"/>
          <p:cNvSpPr/>
          <p:nvPr/>
        </p:nvSpPr>
        <p:spPr>
          <a:xfrm>
            <a:off x="3319272"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Single region is fine for pilot. Production needs a written RTO/RPO answer.</a:t>
            </a:r>
            <a:endParaRPr lang="en-US" sz="840" dirty="0"/>
          </a:p>
        </p:txBody>
      </p:sp>
      <p:sp>
        <p:nvSpPr>
          <p:cNvPr id="14" name="Text 12"/>
          <p:cNvSpPr/>
          <p:nvPr/>
        </p:nvSpPr>
        <p:spPr>
          <a:xfrm>
            <a:off x="1956816" y="3127248"/>
            <a:ext cx="2057400" cy="457200"/>
          </a:xfrm>
          <a:prstGeom prst="roundRect">
            <a:avLst>
              <a:gd name="adj" fmla="val 16000"/>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70" b="1" dirty="0">
                <a:solidFill>
                  <a:srgbClr val="F5F7FA"/>
                </a:solidFill>
              </a:rPr>
              <a:t>Instrument the AI path</a:t>
            </a:r>
            <a:endParaRPr lang="en-US" sz="1070" dirty="0"/>
          </a:p>
        </p:txBody>
      </p:sp>
      <p:sp>
        <p:nvSpPr>
          <p:cNvPr id="15" name="Text 13"/>
          <p:cNvSpPr/>
          <p:nvPr/>
        </p:nvSpPr>
        <p:spPr>
          <a:xfrm>
            <a:off x="2048256" y="364845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Token cost, model latency, prompt version, agent output, parser failure, and report traceability.</a:t>
            </a:r>
            <a:endParaRPr lang="en-US" sz="84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This slide distills CTO decisions from the supplied architecture, flow, cost, and current-state documents.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NEXT MOVES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 Practical 15/30/60 Day Path to Production</a:t>
            </a:r>
            <a:endParaRPr lang="en-US" sz="2950" dirty="0"/>
          </a:p>
        </p:txBody>
      </p:sp>
      <p:sp>
        <p:nvSpPr>
          <p:cNvPr id="4" name="Text 2"/>
          <p:cNvSpPr/>
          <p:nvPr/>
        </p:nvSpPr>
        <p:spPr>
          <a:xfrm>
            <a:off x="621792" y="1316736"/>
            <a:ext cx="9784080" cy="658368"/>
          </a:xfrm>
          <a:prstGeom prst="rect">
            <a:avLst/>
          </a:prstGeom>
          <a:noFill/>
          <a:ln/>
        </p:spPr>
        <p:txBody>
          <a:bodyPr wrap="square" lIns="254" tIns="254" rIns="254" bIns="254" rtlCol="0" anchor="t">
            <a:normAutofit/>
          </a:bodyPr>
          <a:lstStyle/>
          <a:p>
            <a:pPr marL="0" indent="0" algn="l">
              <a:buNone/>
            </a:pPr>
            <a:r>
              <a:rPr lang="en-US" sz="1650" dirty="0">
                <a:solidFill>
                  <a:srgbClr val="B2BAC8"/>
                </a:solidFill>
              </a:rPr>
              <a:t>Do not boil the architecture ocean. Fix the known seams, prove the evaluator quality, then harden only the parts that have a user or revenue reason to exist.</a:t>
            </a:r>
            <a:endParaRPr lang="en-US" sz="1650" dirty="0"/>
          </a:p>
        </p:txBody>
      </p:sp>
      <p:sp>
        <p:nvSpPr>
          <p:cNvPr id="5" name="Text 3"/>
          <p:cNvSpPr/>
          <p:nvPr/>
        </p:nvSpPr>
        <p:spPr>
          <a:xfrm>
            <a:off x="822960" y="2286000"/>
            <a:ext cx="2377440"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07111E"/>
                </a:solidFill>
              </a:rPr>
              <a:t>15 days</a:t>
            </a:r>
            <a:endParaRPr lang="en-US" sz="1400" dirty="0"/>
          </a:p>
        </p:txBody>
      </p:sp>
      <p:sp>
        <p:nvSpPr>
          <p:cNvPr id="6" name="Text 4"/>
          <p:cNvSpPr/>
          <p:nvPr/>
        </p:nvSpPr>
        <p:spPr>
          <a:xfrm>
            <a:off x="82296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C4FF"/>
                </a:solidFill>
              </a:rPr>
              <a:t>Stabilize MVP</a:t>
            </a:r>
            <a:endParaRPr lang="en-US" sz="1250" dirty="0"/>
          </a:p>
        </p:txBody>
      </p:sp>
      <p:sp>
        <p:nvSpPr>
          <p:cNvPr id="7" name="Text 5"/>
          <p:cNvSpPr/>
          <p:nvPr/>
        </p:nvSpPr>
        <p:spPr>
          <a:xfrm>
            <a:off x="868680" y="3310128"/>
            <a:ext cx="2926080" cy="1444752"/>
          </a:xfrm>
          <a:prstGeom prst="rect">
            <a:avLst/>
          </a:prstGeom>
          <a:noFill/>
          <a:ln/>
        </p:spPr>
        <p:txBody>
          <a:bodyPr wrap="square" lIns="635" tIns="635" rIns="635" bIns="635" rtlCol="0" anchor="t">
            <a:noAutofit/>
          </a:bodyPr>
          <a:lstStyle/>
          <a:p>
            <a:r>
              <a:rPr lang="en-US" sz="1100" dirty="0">
                <a:solidFill>
                  <a:srgbClr val="B2BAC8"/>
                </a:solidFill>
              </a:rPr>
              <a:t>Observability and monitoring enhancement </a:t>
            </a:r>
          </a:p>
          <a:p>
            <a:endParaRPr lang="en-US" sz="1100" dirty="0">
              <a:solidFill>
                <a:srgbClr val="B2BAC8"/>
              </a:solidFill>
            </a:endParaRPr>
          </a:p>
          <a:p>
            <a:r>
              <a:rPr lang="en-US" sz="1100" dirty="0">
                <a:solidFill>
                  <a:srgbClr val="B2BAC8"/>
                </a:solidFill>
              </a:rPr>
              <a:t>Administrator Menus </a:t>
            </a:r>
          </a:p>
          <a:p>
            <a:endParaRPr lang="en-US" sz="1100" dirty="0">
              <a:solidFill>
                <a:srgbClr val="B2BAC8"/>
              </a:solidFill>
            </a:endParaRPr>
          </a:p>
          <a:p>
            <a:r>
              <a:rPr lang="en-US" sz="1100" dirty="0">
                <a:solidFill>
                  <a:srgbClr val="B2BAC8"/>
                </a:solidFill>
              </a:rPr>
              <a:t>Refine throttling policy</a:t>
            </a:r>
          </a:p>
          <a:p>
            <a:endParaRPr lang="en-US" sz="1100" dirty="0">
              <a:solidFill>
                <a:srgbClr val="B2BAC8"/>
              </a:solidFill>
            </a:endParaRPr>
          </a:p>
          <a:p>
            <a:r>
              <a:rPr lang="en-US" sz="1100" dirty="0">
                <a:solidFill>
                  <a:srgbClr val="B2BAC8"/>
                </a:solidFill>
              </a:rPr>
              <a:t>ECS Spot interruption handling, </a:t>
            </a:r>
          </a:p>
          <a:p>
            <a:endParaRPr lang="en-US" sz="1060" dirty="0">
              <a:solidFill>
                <a:srgbClr val="B2BAC8"/>
              </a:solidFill>
            </a:endParaRPr>
          </a:p>
          <a:p>
            <a:r>
              <a:rPr lang="en-US" sz="1060" dirty="0">
                <a:solidFill>
                  <a:srgbClr val="B2BAC8"/>
                </a:solidFill>
              </a:rPr>
              <a:t>Budget alarms on Bedrock usage</a:t>
            </a:r>
            <a:endParaRPr lang="en-US" sz="1060" dirty="0"/>
          </a:p>
        </p:txBody>
      </p:sp>
      <p:sp>
        <p:nvSpPr>
          <p:cNvPr id="8" name="Text 6"/>
          <p:cNvSpPr/>
          <p:nvPr/>
        </p:nvSpPr>
        <p:spPr>
          <a:xfrm>
            <a:off x="4617720" y="2286000"/>
            <a:ext cx="2377440"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07111E"/>
                </a:solidFill>
              </a:rPr>
              <a:t>30 days</a:t>
            </a:r>
            <a:endParaRPr lang="en-US" sz="1400" dirty="0"/>
          </a:p>
        </p:txBody>
      </p:sp>
      <p:sp>
        <p:nvSpPr>
          <p:cNvPr id="9" name="Text 7"/>
          <p:cNvSpPr/>
          <p:nvPr/>
        </p:nvSpPr>
        <p:spPr>
          <a:xfrm>
            <a:off x="461772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D08F"/>
                </a:solidFill>
              </a:rPr>
              <a:t>Prove quality</a:t>
            </a:r>
            <a:endParaRPr lang="en-US" sz="1250" dirty="0"/>
          </a:p>
        </p:txBody>
      </p:sp>
      <p:sp>
        <p:nvSpPr>
          <p:cNvPr id="10" name="Text 8"/>
          <p:cNvSpPr/>
          <p:nvPr/>
        </p:nvSpPr>
        <p:spPr>
          <a:xfrm>
            <a:off x="4663440" y="3310128"/>
            <a:ext cx="2926080" cy="1444752"/>
          </a:xfrm>
          <a:prstGeom prst="rect">
            <a:avLst/>
          </a:prstGeom>
          <a:noFill/>
          <a:ln/>
        </p:spPr>
        <p:txBody>
          <a:bodyPr wrap="square" lIns="635" tIns="635" rIns="635" bIns="635" rtlCol="0" anchor="t">
            <a:noAutofit/>
          </a:bodyPr>
          <a:lstStyle/>
          <a:p>
            <a:r>
              <a:rPr lang="en-US" sz="1060" dirty="0">
                <a:solidFill>
                  <a:srgbClr val="B2BAC8"/>
                </a:solidFill>
              </a:rPr>
              <a:t>Golden set for coaching quality
</a:t>
            </a:r>
            <a:endParaRPr lang="en-US" sz="1060" dirty="0"/>
          </a:p>
          <a:p>
            <a:r>
              <a:rPr lang="en-US" sz="1060" dirty="0">
                <a:solidFill>
                  <a:srgbClr val="B2BAC8"/>
                </a:solidFill>
              </a:rPr>
              <a:t>Prompt and model versioning
</a:t>
            </a:r>
            <a:endParaRPr lang="en-US" sz="1060" dirty="0"/>
          </a:p>
          <a:p>
            <a:r>
              <a:rPr lang="en-US" sz="1060" dirty="0">
                <a:solidFill>
                  <a:srgbClr val="B2BAC8"/>
                </a:solidFill>
              </a:rPr>
              <a:t>Agent output schema enforcement
</a:t>
            </a:r>
            <a:endParaRPr lang="en-US" sz="1060" dirty="0"/>
          </a:p>
          <a:p>
            <a:r>
              <a:rPr lang="en-US" sz="1060" dirty="0">
                <a:solidFill>
                  <a:srgbClr val="B2BAC8"/>
                </a:solidFill>
              </a:rPr>
              <a:t>Report scoring calibration</a:t>
            </a:r>
            <a:endParaRPr lang="en-US" sz="1060" dirty="0"/>
          </a:p>
        </p:txBody>
      </p:sp>
      <p:sp>
        <p:nvSpPr>
          <p:cNvPr id="11" name="Text 9"/>
          <p:cNvSpPr/>
          <p:nvPr/>
        </p:nvSpPr>
        <p:spPr>
          <a:xfrm>
            <a:off x="8412480" y="2286000"/>
            <a:ext cx="2377440"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07111E"/>
                </a:solidFill>
              </a:rPr>
              <a:t>60 days</a:t>
            </a:r>
            <a:endParaRPr lang="en-US" sz="1400" dirty="0"/>
          </a:p>
        </p:txBody>
      </p:sp>
      <p:sp>
        <p:nvSpPr>
          <p:cNvPr id="12" name="Text 10"/>
          <p:cNvSpPr/>
          <p:nvPr/>
        </p:nvSpPr>
        <p:spPr>
          <a:xfrm>
            <a:off x="841248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FFD65A"/>
                </a:solidFill>
              </a:rPr>
              <a:t>Prepare production posture</a:t>
            </a:r>
            <a:endParaRPr lang="en-US" sz="1250" dirty="0"/>
          </a:p>
        </p:txBody>
      </p:sp>
      <p:sp>
        <p:nvSpPr>
          <p:cNvPr id="13" name="Text 11"/>
          <p:cNvSpPr/>
          <p:nvPr/>
        </p:nvSpPr>
        <p:spPr>
          <a:xfrm>
            <a:off x="8458200" y="3310128"/>
            <a:ext cx="2926080" cy="1444752"/>
          </a:xfrm>
          <a:prstGeom prst="rect">
            <a:avLst/>
          </a:prstGeom>
          <a:noFill/>
          <a:ln/>
        </p:spPr>
        <p:txBody>
          <a:bodyPr wrap="square" lIns="635" tIns="635" rIns="635" bIns="635" rtlCol="0" anchor="t">
            <a:noAutofit/>
          </a:bodyPr>
          <a:lstStyle/>
          <a:p>
            <a:r>
              <a:rPr lang="en-US" sz="1060" dirty="0">
                <a:solidFill>
                  <a:srgbClr val="B2BAC8"/>
                </a:solidFill>
              </a:rPr>
              <a:t>Retention and PII controls
</a:t>
            </a:r>
          </a:p>
          <a:p>
            <a:r>
              <a:rPr lang="en-US" sz="1060" dirty="0">
                <a:solidFill>
                  <a:srgbClr val="B2BAC8"/>
                </a:solidFill>
              </a:rPr>
              <a:t>Other Responsible AI controls</a:t>
            </a:r>
          </a:p>
          <a:p>
            <a:endParaRPr lang="en-US" sz="1060" dirty="0"/>
          </a:p>
          <a:p>
            <a:r>
              <a:rPr lang="en-US" sz="1060" dirty="0">
                <a:solidFill>
                  <a:srgbClr val="B2BAC8"/>
                </a:solidFill>
              </a:rPr>
              <a:t>RTO/RPO decisions
</a:t>
            </a:r>
            <a:endParaRPr lang="en-US" sz="1060" dirty="0"/>
          </a:p>
          <a:p>
            <a:r>
              <a:rPr lang="en-US" sz="1060" dirty="0">
                <a:solidFill>
                  <a:srgbClr val="B2BAC8"/>
                </a:solidFill>
              </a:rPr>
              <a:t>Quotas and load test
</a:t>
            </a:r>
            <a:endParaRPr lang="en-US" sz="1060" dirty="0"/>
          </a:p>
          <a:p>
            <a:r>
              <a:rPr lang="en-US" sz="1060" dirty="0">
                <a:solidFill>
                  <a:srgbClr val="B2BAC8"/>
                </a:solidFill>
              </a:rPr>
              <a:t>Tenant or user-level cost attribution</a:t>
            </a:r>
            <a:endParaRPr lang="en-US" sz="1060" dirty="0"/>
          </a:p>
        </p:txBody>
      </p:sp>
      <p:sp>
        <p:nvSpPr>
          <p:cNvPr id="14" name="Text 12"/>
          <p:cNvSpPr/>
          <p:nvPr/>
        </p:nvSpPr>
        <p:spPr>
          <a:xfrm>
            <a:off x="2606040" y="5210286"/>
            <a:ext cx="7040880" cy="676656"/>
          </a:xfrm>
          <a:prstGeom prst="roundRect">
            <a:avLst>
              <a:gd name="adj" fmla="val 1081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60" dirty="0">
                <a:solidFill>
                  <a:srgbClr val="B2BAC8"/>
                </a:solidFill>
              </a:rPr>
              <a:t>Exit criteria</a:t>
            </a:r>
            <a:endParaRPr lang="en-US" sz="1260" dirty="0"/>
          </a:p>
          <a:p>
            <a:pPr marL="0" indent="0" algn="ctr">
              <a:buNone/>
            </a:pPr>
            <a:r>
              <a:rPr lang="en-US" sz="1260" dirty="0">
                <a:solidFill>
                  <a:srgbClr val="B2BAC8"/>
                </a:solidFill>
              </a:rPr>
              <a:t>A CTO should be able to trace one submission from upload to report, explain one agent’s score, and predict the cost of the next 1,000 runs.</a:t>
            </a:r>
            <a:endParaRPr lang="en-US" sz="126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Path is a recommendation built from the documented current state and CTO operating concerns.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CLOSE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CTO-to-CTO takeaway</a:t>
            </a:r>
            <a:endParaRPr lang="en-US" sz="2950" dirty="0"/>
          </a:p>
        </p:txBody>
      </p:sp>
      <p:sp>
        <p:nvSpPr>
          <p:cNvPr id="4" name="Text 2"/>
          <p:cNvSpPr/>
          <p:nvPr/>
        </p:nvSpPr>
        <p:spPr>
          <a:xfrm>
            <a:off x="749808" y="1481328"/>
            <a:ext cx="10241280" cy="822960"/>
          </a:xfrm>
          <a:prstGeom prst="rect">
            <a:avLst/>
          </a:prstGeom>
          <a:noFill/>
          <a:ln/>
        </p:spPr>
        <p:txBody>
          <a:bodyPr wrap="square" lIns="254" tIns="254" rIns="254" bIns="254" rtlCol="0" anchor="t">
            <a:normAutofit lnSpcReduction="10000"/>
          </a:bodyPr>
          <a:lstStyle/>
          <a:p>
            <a:pPr marL="0" indent="0" algn="l">
              <a:buNone/>
            </a:pPr>
            <a:r>
              <a:rPr lang="en-US" sz="1820" b="1" dirty="0">
                <a:solidFill>
                  <a:srgbClr val="F5F7FA"/>
                </a:solidFill>
              </a:rPr>
              <a:t>PresCoach is a strong pattern because it combines three things that usually get separated: a useful product experience, an AWS-native cost model, and an AI-DLC delivery method that keeps architecture boundaries visible.</a:t>
            </a:r>
            <a:endParaRPr lang="en-US" sz="1820" dirty="0"/>
          </a:p>
        </p:txBody>
      </p:sp>
      <p:sp>
        <p:nvSpPr>
          <p:cNvPr id="5" name="Text 3"/>
          <p:cNvSpPr/>
          <p:nvPr/>
        </p:nvSpPr>
        <p:spPr>
          <a:xfrm>
            <a:off x="914400" y="2788920"/>
            <a:ext cx="2907792" cy="1234440"/>
          </a:xfrm>
          <a:prstGeom prst="roundRect">
            <a:avLst>
              <a:gd name="adj" fmla="val 592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20" b="1" dirty="0">
                <a:solidFill>
                  <a:schemeClr val="bg1"/>
                </a:solidFill>
              </a:rPr>
              <a:t>What is working</a:t>
            </a:r>
          </a:p>
          <a:p>
            <a:pPr marL="0" indent="0" algn="ctr">
              <a:buNone/>
            </a:pPr>
            <a:r>
              <a:rPr lang="en-US" sz="1220" dirty="0">
                <a:solidFill>
                  <a:srgbClr val="B2BAC8"/>
                </a:solidFill>
              </a:rPr>
              <a:t>Clear work-unit boundaries, async flow, managed services, zero idle cost, composable agents.</a:t>
            </a:r>
            <a:endParaRPr lang="en-US" sz="1220" dirty="0"/>
          </a:p>
        </p:txBody>
      </p:sp>
      <p:sp>
        <p:nvSpPr>
          <p:cNvPr id="6" name="Text 4"/>
          <p:cNvSpPr/>
          <p:nvPr/>
        </p:nvSpPr>
        <p:spPr>
          <a:xfrm>
            <a:off x="4645152" y="2788920"/>
            <a:ext cx="2907792" cy="1234440"/>
          </a:xfrm>
          <a:prstGeom prst="roundRect">
            <a:avLst>
              <a:gd name="adj" fmla="val 592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20" b="1" dirty="0">
                <a:solidFill>
                  <a:schemeClr val="bg1"/>
                </a:solidFill>
              </a:rPr>
              <a:t>What to fix</a:t>
            </a:r>
          </a:p>
          <a:p>
            <a:pPr marL="0" indent="0" algn="ctr">
              <a:buNone/>
            </a:pPr>
            <a:r>
              <a:rPr lang="en-US" sz="1220" dirty="0">
                <a:solidFill>
                  <a:srgbClr val="B2BAC8"/>
                </a:solidFill>
              </a:rPr>
              <a:t>Retrieval, parser handling, traceability, hardening of AI and data controls.</a:t>
            </a:r>
            <a:endParaRPr lang="en-US" sz="1220" dirty="0"/>
          </a:p>
        </p:txBody>
      </p:sp>
      <p:sp>
        <p:nvSpPr>
          <p:cNvPr id="7" name="Text 5"/>
          <p:cNvSpPr/>
          <p:nvPr/>
        </p:nvSpPr>
        <p:spPr>
          <a:xfrm>
            <a:off x="8375904" y="2788920"/>
            <a:ext cx="2907792" cy="1234440"/>
          </a:xfrm>
          <a:prstGeom prst="roundRect">
            <a:avLst>
              <a:gd name="adj" fmla="val 592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b="1" dirty="0">
                <a:solidFill>
                  <a:schemeClr val="bg1"/>
                </a:solidFill>
              </a:rPr>
              <a:t>What to decide</a:t>
            </a:r>
          </a:p>
          <a:p>
            <a:pPr marL="0" indent="0" algn="ctr">
              <a:buNone/>
            </a:pPr>
            <a:r>
              <a:rPr lang="en-US" sz="1220" dirty="0">
                <a:solidFill>
                  <a:srgbClr val="B2BAC8"/>
                </a:solidFill>
              </a:rPr>
              <a:t>Regional posture, vector store timing, quality gates, model spend controls, production-readiness threshold.</a:t>
            </a:r>
            <a:endParaRPr lang="en-US" sz="1220" dirty="0"/>
          </a:p>
        </p:txBody>
      </p:sp>
      <p:sp>
        <p:nvSpPr>
          <p:cNvPr id="8" name="Text 6"/>
          <p:cNvSpPr/>
          <p:nvPr/>
        </p:nvSpPr>
        <p:spPr>
          <a:xfrm>
            <a:off x="960120" y="5138928"/>
            <a:ext cx="9966960" cy="566928"/>
          </a:xfrm>
          <a:prstGeom prst="rect">
            <a:avLst/>
          </a:prstGeom>
          <a:noFill/>
          <a:ln/>
        </p:spPr>
        <p:txBody>
          <a:bodyPr wrap="square" lIns="254" tIns="254" rIns="254" bIns="254" rtlCol="0" anchor="t">
            <a:normAutofit/>
          </a:bodyPr>
          <a:lstStyle/>
          <a:p>
            <a:pPr marL="0" indent="0" algn="ctr">
              <a:buNone/>
            </a:pPr>
            <a:r>
              <a:rPr lang="en-US" sz="1730" b="1" dirty="0">
                <a:solidFill>
                  <a:srgbClr val="59C4FF"/>
                </a:solidFill>
              </a:rPr>
              <a:t>Bottom line: advance it but make the next phase </a:t>
            </a:r>
            <a:r>
              <a:rPr lang="en-US" sz="1730" b="1" i="1" dirty="0">
                <a:solidFill>
                  <a:srgbClr val="59C4FF"/>
                </a:solidFill>
              </a:rPr>
              <a:t>boring</a:t>
            </a:r>
            <a:r>
              <a:rPr lang="en-US" sz="1730" b="1" dirty="0">
                <a:solidFill>
                  <a:srgbClr val="59C4FF"/>
                </a:solidFill>
              </a:rPr>
              <a:t> in the best possible enterprise way. Boring is where systems go to become dependable.</a:t>
            </a:r>
            <a:endParaRPr lang="en-US" sz="1730" dirty="0"/>
          </a:p>
        </p:txBody>
      </p:sp>
      <p:sp>
        <p:nvSpPr>
          <p:cNvPr id="9" name="Text 7"/>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Prepared from the source PowerPoint and three supporting PDFs.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8156AC-8223-9AA1-ABAB-9A9687FE2C16}"/>
              </a:ext>
            </a:extLst>
          </p:cNvPr>
          <p:cNvSpPr txBox="1"/>
          <p:nvPr/>
        </p:nvSpPr>
        <p:spPr>
          <a:xfrm>
            <a:off x="3727210" y="2563905"/>
            <a:ext cx="4737579" cy="769441"/>
          </a:xfrm>
          <a:prstGeom prst="rect">
            <a:avLst/>
          </a:prstGeom>
          <a:noFill/>
        </p:spPr>
        <p:txBody>
          <a:bodyPr wrap="none" rtlCol="0">
            <a:spAutoFit/>
          </a:bodyPr>
          <a:lstStyle/>
          <a:p>
            <a:pPr algn="ctr"/>
            <a:r>
              <a:rPr lang="en-US" sz="4400" dirty="0">
                <a:solidFill>
                  <a:schemeClr val="bg1"/>
                </a:solidFill>
              </a:rPr>
              <a:t>Appendix Material</a:t>
            </a:r>
          </a:p>
        </p:txBody>
      </p:sp>
    </p:spTree>
    <p:extLst>
      <p:ext uri="{BB962C8B-B14F-4D97-AF65-F5344CB8AC3E}">
        <p14:creationId xmlns:p14="http://schemas.microsoft.com/office/powerpoint/2010/main" val="2487847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0505B83-FABA-FFE5-68AF-BE1DB8239A67}"/>
              </a:ext>
            </a:extLst>
          </p:cNvPr>
          <p:cNvSpPr txBox="1"/>
          <p:nvPr/>
        </p:nvSpPr>
        <p:spPr>
          <a:xfrm>
            <a:off x="2594118" y="2563905"/>
            <a:ext cx="7003777" cy="769441"/>
          </a:xfrm>
          <a:prstGeom prst="rect">
            <a:avLst/>
          </a:prstGeom>
          <a:noFill/>
        </p:spPr>
        <p:txBody>
          <a:bodyPr wrap="none" rtlCol="0">
            <a:spAutoFit/>
          </a:bodyPr>
          <a:lstStyle/>
          <a:p>
            <a:pPr algn="ctr"/>
            <a:r>
              <a:rPr lang="en-US" sz="4400" dirty="0">
                <a:solidFill>
                  <a:schemeClr val="bg1"/>
                </a:solidFill>
              </a:rPr>
              <a:t>Architecture Flow Diagrams</a:t>
            </a:r>
          </a:p>
        </p:txBody>
      </p:sp>
    </p:spTree>
    <p:extLst>
      <p:ext uri="{BB962C8B-B14F-4D97-AF65-F5344CB8AC3E}">
        <p14:creationId xmlns:p14="http://schemas.microsoft.com/office/powerpoint/2010/main" val="10757745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A32F4CC8-D3D6-738E-7824-DE62B6BB84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9600" y="137873"/>
            <a:ext cx="10972800" cy="6858000"/>
          </a:xfrm>
          <a:prstGeom prst="rect">
            <a:avLst/>
          </a:prstGeom>
        </p:spPr>
      </p:pic>
    </p:spTree>
    <p:extLst>
      <p:ext uri="{BB962C8B-B14F-4D97-AF65-F5344CB8AC3E}">
        <p14:creationId xmlns:p14="http://schemas.microsoft.com/office/powerpoint/2010/main" val="231495738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3C1CA9C8-F26D-AC50-DFE1-764F86FC03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1789" y="0"/>
            <a:ext cx="10828421" cy="6858000"/>
          </a:xfrm>
          <a:prstGeom prst="rect">
            <a:avLst/>
          </a:prstGeom>
        </p:spPr>
      </p:pic>
    </p:spTree>
    <p:extLst>
      <p:ext uri="{BB962C8B-B14F-4D97-AF65-F5344CB8AC3E}">
        <p14:creationId xmlns:p14="http://schemas.microsoft.com/office/powerpoint/2010/main" val="30692055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957F5EC3-C126-09B7-8657-447C304DE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 y="0"/>
            <a:ext cx="11049000" cy="6858000"/>
          </a:xfrm>
          <a:prstGeom prst="rect">
            <a:avLst/>
          </a:prstGeom>
        </p:spPr>
      </p:pic>
    </p:spTree>
    <p:extLst>
      <p:ext uri="{BB962C8B-B14F-4D97-AF65-F5344CB8AC3E}">
        <p14:creationId xmlns:p14="http://schemas.microsoft.com/office/powerpoint/2010/main" val="8361859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25BF99C-49C9-29BD-EF7A-35B19BA097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91460" y="365598"/>
            <a:ext cx="8572500" cy="1905000"/>
          </a:xfrm>
          <a:prstGeom prst="rect">
            <a:avLst/>
          </a:prstGeom>
        </p:spPr>
      </p:pic>
    </p:spTree>
    <p:extLst>
      <p:ext uri="{BB962C8B-B14F-4D97-AF65-F5344CB8AC3E}">
        <p14:creationId xmlns:p14="http://schemas.microsoft.com/office/powerpoint/2010/main" val="5917078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B443F74-4D50-BC18-55E6-FD095FF7258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6529" y="0"/>
            <a:ext cx="11698941" cy="6858000"/>
          </a:xfrm>
          <a:prstGeom prst="rect">
            <a:avLst/>
          </a:prstGeom>
        </p:spPr>
      </p:pic>
    </p:spTree>
    <p:extLst>
      <p:ext uri="{BB962C8B-B14F-4D97-AF65-F5344CB8AC3E}">
        <p14:creationId xmlns:p14="http://schemas.microsoft.com/office/powerpoint/2010/main" val="25882421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FF067-AA9C-3FF2-D920-2762A56875AC}"/>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CC7FBE37-A2F4-EAF7-B615-5614DAAD0C0D}"/>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5BB975B7-5E7B-093C-838A-A91A8CF2FA75}"/>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C0851031-C2F4-27C6-E72E-F60FCD3D5648}"/>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D9A1F930-8DE6-E5E4-43AF-9931CC2BB015}"/>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A227BE9D-4734-A0CD-1A0B-C0974124D523}"/>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746BF37F-EE89-8934-0ACC-70F1FFB1705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3018FBF-440C-FAB1-673B-200872FEEFD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DF054ACD-1323-AA37-84D6-D1F4C42A1E1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20B28456-5F2B-0A01-2227-D0C122225610}"/>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40BE12B-56B5-AD2C-7F67-7481F4B78C91}"/>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2D6B98D-BDBF-399E-F8F9-92DA2EBAB5DF}"/>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2CF7CFA-8F2A-087D-E31B-5462F455CE09}"/>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55088193-0070-397B-BFE8-B15C22958EB1}"/>
              </a:ext>
            </a:extLst>
          </p:cNvPr>
          <p:cNvCxnSpPr>
            <a:cxnSpLocks/>
            <a:stCxn id="23" idx="3"/>
            <a:endCxn id="21" idx="1"/>
          </p:cNvCxnSpPr>
          <p:nvPr/>
        </p:nvCxnSpPr>
        <p:spPr>
          <a:xfrm flipV="1">
            <a:off x="1392066" y="4854173"/>
            <a:ext cx="7975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41822E9C-463C-6E6C-539B-47029EE49269}"/>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014D1E09-EF75-9A42-BB1E-F64C71B6F99F}"/>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E289536B-47E6-C0AE-C6B0-1B1BDB0058D9}"/>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1A26D869-7764-6D0F-52E3-8A931567F523}"/>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7420444-2F72-6C7D-F6E1-0C327D402424}"/>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1741BD43-3441-AA6A-0AA7-A4FB9D680F30}"/>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26D9C0C8-C9F1-DB2B-4B49-A7C69F1A2E2A}"/>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B192770A-E56C-053A-ADE2-DBEBE7C467A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B41DDC29-9C33-441A-7DC2-2C94CAEB0970}"/>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42C1524-125F-FDF5-6C95-0281FE62A06C}"/>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292F2157-9D2B-6B6D-5F5E-E6064FE38DA5}"/>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9F6CD574-24F4-AB2F-6712-CAE55495F9E4}"/>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942C712A-54A9-5F42-711E-D3EBC3F70419}"/>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8F9A1FF1-72A5-D378-7495-09FFE169F7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42FA2C58-5160-92DB-2098-F20D8A62E036}"/>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D5584AA8-AE1C-3C77-DBC7-B938690EBE6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05B4F95-297F-77A0-E8EE-4385739B97DF}"/>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3FD3D41-A8A1-69A8-323F-576FB572DB6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537E93D8-0FB6-2AE1-18E4-03B709D8A56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B7AD6944-6E57-E149-BC8A-FB5AFBB6DD4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DA1727B-E953-C596-3DFE-8BE17A46120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31583AF-E740-CA76-9B59-A0D9A9899863}"/>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CBB01567-67C3-F78A-056D-8B999FD8ADC3}"/>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45405CCE-5A8E-186F-401B-01C96C4E1D80}"/>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84532511-C722-CEA0-6D77-FF3C295CCD9C}"/>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E3ACCF1-02D2-D245-47AB-339163AC4409}"/>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F32CD279-7CB6-6F16-7E22-3BD6040AFE80}"/>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6D9C482-0A43-EF48-DFAC-A45BFD9A39C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95BA550-C231-8349-5834-EC0B5E657267}"/>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81944782-B615-F8DD-CCB1-A3238547A600}"/>
              </a:ext>
            </a:extLst>
          </p:cNvPr>
          <p:cNvSpPr txBox="1">
            <a:spLocks noChangeArrowheads="1"/>
          </p:cNvSpPr>
          <p:nvPr/>
        </p:nvSpPr>
        <p:spPr bwMode="auto">
          <a:xfrm>
            <a:off x="186652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7EF9940F-06B5-652E-FF8E-C96C9F997B14}"/>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F3B8703-0CD0-523D-066A-9C7F8CEC70B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CA5DC46E-9601-55CE-ECDF-A7331381938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E649085-2D98-12A1-2479-807950BA5A2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90BDF1C-7463-D92B-07E6-B159B6B3B621}"/>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8C46670D-7E5A-85D6-387B-840D91E36018}"/>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6E8DF963-35F5-DFBA-D06C-6C3DCB99215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960620A5-9E47-B5CD-7C27-8ACA91734DED}"/>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C5BDEFFA-F7A6-9750-EBEF-1B8CB14458B0}"/>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8820AA28-358A-5026-D4C7-09113CE91E4A}"/>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BBA16313-1F69-7313-2285-29DBAE654B20}"/>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0D669FBE-E69A-5F79-D949-DF857F7BEDFB}"/>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5B3EECFE-2A96-3D33-657B-ECABA9A27DBA}"/>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A692BD19-EA63-6170-1430-F78348618F5B}"/>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36CABF53-AB76-C72A-CABC-A2A20C78DD5C}"/>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50AE38E6-E9AF-A5AB-9ACF-9D7FB1D66846}"/>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488E62B-08FA-228E-E3A0-3123FD8DC1C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7623060B-A1F0-7BB0-4995-44EDB373A93B}"/>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947A1619-C914-A201-FBD2-234226E77C79}"/>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6A43C615-9FE5-FDD6-6251-5FC49E21FEC8}"/>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4C78552-59DE-2064-E0E2-B002A72666F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C6AE716C-30FC-8E35-57DD-BC9F86639BA4}"/>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F6C2A328-F94F-3C9E-974E-896718A97F4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65F6150D-64D4-16BE-8AD7-C95DC5D17933}"/>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B820CB97-BAAA-EAE7-D0DD-01A1EB2A5D5B}"/>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263F9649-FB51-EFB9-B68F-141A00568A37}"/>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DD629F68-EA09-4D71-DFB4-6822A2B7BAD0}"/>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1A02C4A0-EE2D-0735-1CBC-971D2B692DA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7FF4494C-549A-2715-7F68-FF6CDA222F25}"/>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657395FE-6180-11E6-C9F7-CEF7FC31C05E}"/>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CCE4AA23-46BA-F1DD-FB9C-0EEDECC158AA}"/>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3DCAE508-8645-8E74-3A5A-1F2E6CE19D72}"/>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AC70F281-F414-29A1-2202-AC16A745CBC3}"/>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DB8C3156-E634-BBF7-B58C-19D72813D2EB}"/>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85D12217-AD4B-D561-C973-B38CF621BAC5}"/>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3DDDA6D6-0440-30BC-5F6B-B7DAF5E9230C}"/>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22F91AE6-17CB-B671-0A2E-35EAA1D6D1F5}"/>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4BD24F20-9174-DA5C-42F5-C48FDB844EC5}"/>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25B4A676-B1A6-7B9F-C7B0-68B56148A2C0}"/>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32001EDB-50D6-769D-1B88-CD2EECA1FBF1}"/>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FFDA0294-CBE6-32CE-B43B-1BA14E13958B}"/>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18B6B2FD-5236-4583-7688-DFEF5ACA1904}"/>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F32020E9-8158-5C5A-69BB-21BA9C89CA63}"/>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52E1BFF4-44D4-C7A8-C4E9-D392816E61FA}"/>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295CCE2B-9653-F66E-A81F-238554F1ED6E}"/>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4B078DB7-435B-64CD-7642-592D02B774E0}"/>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E4E706C1-604D-3D48-3C4B-8AB571C10127}"/>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1BBBF9C-22B7-23CF-28BA-002817CE520E}"/>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22289D0B-96EA-5E72-42F4-26267001236E}"/>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454533A-181A-B12D-A454-548735AF84E9}"/>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D437D7F2-F23D-28FD-70A2-3DD93F463D0E}"/>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17C64EDD-DC22-742B-34C0-21754C48D4D8}"/>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92832FA4-2C70-E828-B4DE-5D301F7F20E4}"/>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0193FCA4-0EAB-F871-E353-C072C7CB9887}"/>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4EA5C718-0599-D838-1173-0B848026469C}"/>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2F6F8B6C-1013-956F-A865-EBAD8761D31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9712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15C85-F579-3234-7BE9-8047578B9120}"/>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411DFDF1-C6C5-35EB-A114-39F874393925}"/>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0056496-050D-3F96-813A-2D01EA26241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E4812213-8A37-257D-EF4B-EA213CB3099C}"/>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FF3C2280-63B1-020D-C171-E28FA70AA9D5}"/>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31D94B79-A5BB-64E2-55B0-4007182F920B}"/>
                </a:ext>
              </a:extLst>
            </p:cNvPr>
            <p:cNvSpPr>
              <a:spLocks noChangeArrowheads="1"/>
            </p:cNvSpPr>
            <p:nvPr/>
          </p:nvSpPr>
          <p:spPr bwMode="auto">
            <a:xfrm>
              <a:off x="4328036" y="1576639"/>
              <a:ext cx="597595" cy="129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us-west-2 </a:t>
              </a:r>
            </a:p>
          </p:txBody>
        </p:sp>
      </p:grpSp>
      <p:pic>
        <p:nvPicPr>
          <p:cNvPr id="10" name="Graphic 9" descr="Region group icon.">
            <a:extLst>
              <a:ext uri="{FF2B5EF4-FFF2-40B4-BE49-F238E27FC236}">
                <a16:creationId xmlns:a16="http://schemas.microsoft.com/office/drawing/2014/main" id="{240E9A02-3883-0D79-06FE-3F63A3FF943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129A9E0-C724-265E-CE13-82DCC586FED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BB281DCA-3CF7-338C-1ECD-68821DB37C9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D7BB2778-A100-1D66-7AF0-5170B88008C3}"/>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ADF3CEA-C831-81C3-BED5-24AD26A62AC3}"/>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6E5C62E4-0FCE-4257-8425-BCD93BBB4669}"/>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9" name="Group 18">
            <a:extLst>
              <a:ext uri="{FF2B5EF4-FFF2-40B4-BE49-F238E27FC236}">
                <a16:creationId xmlns:a16="http://schemas.microsoft.com/office/drawing/2014/main" id="{BCBE1A5F-8629-E8E3-E030-23502361642E}"/>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2875D506-42A0-F769-C3BA-436F077A335F}"/>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2EADE961-5262-3827-BCAA-22801C3B1BAF}"/>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B2735054-E11D-3299-EF3D-6A9F8C70304F}"/>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pic>
        <p:nvPicPr>
          <p:cNvPr id="24" name="Graphic 8" descr="Amazon Simple Storage Service (Amazon S3) service icon.">
            <a:extLst>
              <a:ext uri="{FF2B5EF4-FFF2-40B4-BE49-F238E27FC236}">
                <a16:creationId xmlns:a16="http://schemas.microsoft.com/office/drawing/2014/main" id="{B55283DF-7DCB-A2D9-3718-BDCFCC918D0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3FC3DFAE-ACEE-C9E7-5BC6-18222DF9062B}"/>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66D82E93-1D8A-4307-1334-9E0BBBA5B5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5F42A744-BFC0-C2F5-1EA5-4A508DA9B82D}"/>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7055B0EC-3743-046C-8C57-E1D3DA991DF3}"/>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4" name="Graphic 17" descr="Amazon Cognito service icon.">
            <a:extLst>
              <a:ext uri="{FF2B5EF4-FFF2-40B4-BE49-F238E27FC236}">
                <a16:creationId xmlns:a16="http://schemas.microsoft.com/office/drawing/2014/main" id="{806A547F-64BC-BB52-F1FE-A65830DCC41A}"/>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A45FD5B2-904D-4C86-19CE-B3E44883407F}"/>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A9902F13-77E5-8B06-5903-45964FD063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D2ADB3BB-3AA4-DE30-ACC9-79ED9F498316}"/>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9C2F40A-72D6-C546-EA9C-25A90B3287D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CDBD96B-CC4D-4F93-FCD3-74E11C8FCCB1}"/>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DC60ABE2-97AD-AA20-9335-A2880B70E1CC}"/>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8BE849B8-B668-B70C-7682-DD65DA7BF57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E2706BA2-C04B-D665-F667-893E7A665E82}"/>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FB0E028-A5F3-FF43-2235-AE3581AC4FBF}"/>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D3ADCBB-77DD-4D69-76C5-6D7BEB59A258}"/>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7211225A-73A4-3295-4EAB-666AA620352A}"/>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3052BAE-EFD1-0792-8D20-86F98F711C4D}"/>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F3FBEE31-5660-C3BC-AC11-9C3FD78482C4}"/>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5571FF2D-A935-E21A-765F-1374D2585B4A}"/>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1EF1BF0-0445-5C6D-F9AF-5E3F8671A4A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1BDA19EB-148D-DCDB-1287-E9DC140C32E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BD4325B0-DD90-93EB-50E5-7A27BC284071}"/>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2ECCC520-8A87-7BBC-ABA9-96B5E1309791}"/>
              </a:ext>
            </a:extLst>
          </p:cNvPr>
          <p:cNvSpPr txBox="1">
            <a:spLocks noChangeArrowheads="1"/>
          </p:cNvSpPr>
          <p:nvPr/>
        </p:nvSpPr>
        <p:spPr bwMode="auto">
          <a:xfrm>
            <a:off x="1848240"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800511F-F799-2EA6-AF0E-8C56C47A04A3}"/>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4D1EAAD2-811E-2CDF-6F9A-AC928C55E04B}"/>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298DB9FC-0E48-C22D-688A-1C60BC2F33AC}"/>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29917E0-51DD-12A2-F0E1-D0C57CF71A89}"/>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C45BFD2-BD2C-7321-A2AD-CEDEE1E558BF}"/>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26DADCB8-555C-6B37-7B2E-814CDCE37132}"/>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9BC791DB-B478-EA5F-90F9-86F0E91023E4}"/>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6B9F5CA7-9890-E3B8-D546-61FBD1AB317C}"/>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5E45BD83-6F9E-3AD9-1F64-4F43D014FAAB}"/>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1D530101-DBCC-9647-AAE0-FFC2D877FF70}"/>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5397C309-B23A-5378-92F4-8D12CB382388}"/>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45F83971-FD99-E2C3-4025-6ED7372881D4}"/>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7423EF05-7A16-5318-4384-601ED0219BE2}"/>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98F3C0D7-B564-BC33-BABA-EFE52B2D4E04}"/>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500D2EA7-8CF5-AB73-F2E3-6586368468D9}"/>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670FA714-FFF8-907D-1B62-742090BE766F}"/>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A378B53A-886D-988F-DF7D-550ED0C59C16}"/>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CE18E241-186C-139C-7B17-8A8BDE838F99}"/>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FD20DE3-8ABD-07AB-64F0-529519CD32EA}"/>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85B8D637-4DFF-5521-EA08-FB526107F86A}"/>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AC8A9F0-7945-2130-BC22-AC11EF6F5BAB}"/>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3A2C3E1C-C6C8-7FE3-45C3-F1D18D3B23B2}"/>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735A2BBA-D9D5-90B8-21F1-E4D736ADB51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A4B3EA9D-CF00-E201-4F6F-279F5F55C0F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3ED86D09-BF41-EEA5-41BD-2A2DBEB2B073}"/>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EC10742E-5C6E-E0FB-7F8B-4D6651D9ED8E}"/>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CD6AF326-6F21-4778-B2A4-C532E7DDF926}"/>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10E0AEE1-FA06-FCA8-954A-F2190C879A6A}"/>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6FF82072-B993-CF3E-3775-9713532215F5}"/>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186BBE59-C75B-9AD8-07DF-476F6ED7CCC5}"/>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E5A62BDC-24D3-7856-941E-56F386A8A91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02C51F8B-47D8-25A4-48B5-373C53062C7D}"/>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B9E437E0-8F67-A146-45F8-7AF1D9F91F5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E8774A83-3181-C5DF-3C12-31939388E1FC}"/>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262F9817-B704-9FA5-8AAB-85139A73FB5F}"/>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AB949F26-9D73-FA1A-539C-89FDBC6E7CF4}"/>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F900A567-8743-F3BA-8883-7020D5D5F71B}"/>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59557CD-42CB-84DD-771C-960877E9F87D}"/>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744456DE-CFED-2F22-6BE0-E654908520D5}"/>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1620ED11-852F-9675-B121-538C503E4313}"/>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A679381-1F2E-B706-3598-36C6D652A3E7}"/>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437BBE7D-8C62-47FA-8796-9F8F7280E5AF}"/>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180019F7-D9B6-8714-1A37-DBD3BDB332BB}"/>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274B9D93-6ADC-E8C3-7FFB-36F3CD5770C5}"/>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EBC4C141-C06E-7A1D-FF7A-B121E69BF4E2}"/>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98DFAD7D-E060-7593-7A4C-337A4EA8244F}"/>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AD3D6BCC-92E2-EA5E-CC5A-F5DB5D3708E0}"/>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9310650-BF95-7E5C-FF19-B0C91F83B606}"/>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EB685B1D-2163-D725-B0CC-199D72245B9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F9BCF6F-832C-6763-E2A6-09817E13BDBF}"/>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6436E979-CDEB-6E2D-06FD-1718CAB68647}"/>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E6A8BF5-7CE3-C6BC-6303-BE6C35515D01}"/>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spTree>
    <p:extLst>
      <p:ext uri="{BB962C8B-B14F-4D97-AF65-F5344CB8AC3E}">
        <p14:creationId xmlns:p14="http://schemas.microsoft.com/office/powerpoint/2010/main" val="33811585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B646B-2032-BDF3-A490-D551F9C7B215}"/>
            </a:ext>
          </a:extLst>
        </p:cNvPr>
        <p:cNvGrpSpPr/>
        <p:nvPr/>
      </p:nvGrpSpPr>
      <p:grpSpPr>
        <a:xfrm>
          <a:off x="0" y="0"/>
          <a:ext cx="0" cy="0"/>
          <a:chOff x="0" y="0"/>
          <a:chExt cx="0" cy="0"/>
        </a:xfrm>
      </p:grpSpPr>
      <p:pic>
        <p:nvPicPr>
          <p:cNvPr id="235" name="Picture 234">
            <a:extLst>
              <a:ext uri="{FF2B5EF4-FFF2-40B4-BE49-F238E27FC236}">
                <a16:creationId xmlns:a16="http://schemas.microsoft.com/office/drawing/2014/main" id="{1C46E6A2-3A36-9616-270D-59DB59D64A18}"/>
              </a:ext>
            </a:extLst>
          </p:cNvPr>
          <p:cNvPicPr>
            <a:picLocks noChangeAspect="1"/>
          </p:cNvPicPr>
          <p:nvPr/>
        </p:nvPicPr>
        <p:blipFill>
          <a:blip r:embed="rId2"/>
          <a:stretch>
            <a:fillRect/>
          </a:stretch>
        </p:blipFill>
        <p:spPr>
          <a:xfrm>
            <a:off x="3035808" y="3467688"/>
            <a:ext cx="6663334" cy="3175005"/>
          </a:xfrm>
          <a:prstGeom prst="rect">
            <a:avLst/>
          </a:prstGeom>
        </p:spPr>
      </p:pic>
      <p:pic>
        <p:nvPicPr>
          <p:cNvPr id="233" name="Picture 232">
            <a:extLst>
              <a:ext uri="{FF2B5EF4-FFF2-40B4-BE49-F238E27FC236}">
                <a16:creationId xmlns:a16="http://schemas.microsoft.com/office/drawing/2014/main" id="{09E5222A-99A1-E7DE-7B67-99D3B78D7074}"/>
              </a:ext>
            </a:extLst>
          </p:cNvPr>
          <p:cNvPicPr>
            <a:picLocks noChangeAspect="1"/>
          </p:cNvPicPr>
          <p:nvPr/>
        </p:nvPicPr>
        <p:blipFill>
          <a:blip r:embed="rId3"/>
          <a:stretch>
            <a:fillRect/>
          </a:stretch>
        </p:blipFill>
        <p:spPr>
          <a:xfrm>
            <a:off x="1847809" y="263092"/>
            <a:ext cx="7851333" cy="3173944"/>
          </a:xfrm>
          <a:prstGeom prst="rect">
            <a:avLst/>
          </a:prstGeom>
        </p:spPr>
      </p:pic>
      <p:pic>
        <p:nvPicPr>
          <p:cNvPr id="306" name="Graphic 305">
            <a:extLst>
              <a:ext uri="{FF2B5EF4-FFF2-40B4-BE49-F238E27FC236}">
                <a16:creationId xmlns:a16="http://schemas.microsoft.com/office/drawing/2014/main" id="{07A90302-83D5-EE67-ADF1-7CC772BA31C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6097" y="208031"/>
            <a:ext cx="334453" cy="384962"/>
          </a:xfrm>
          <a:prstGeom prst="rect">
            <a:avLst/>
          </a:prstGeom>
        </p:spPr>
      </p:pic>
      <p:sp>
        <p:nvSpPr>
          <p:cNvPr id="310" name="Rectangle 309">
            <a:extLst>
              <a:ext uri="{FF2B5EF4-FFF2-40B4-BE49-F238E27FC236}">
                <a16:creationId xmlns:a16="http://schemas.microsoft.com/office/drawing/2014/main" id="{F7DB6D99-05E4-DA03-0D60-75F4C15A3CED}"/>
              </a:ext>
            </a:extLst>
          </p:cNvPr>
          <p:cNvSpPr/>
          <p:nvPr/>
        </p:nvSpPr>
        <p:spPr>
          <a:xfrm>
            <a:off x="3136097" y="208031"/>
            <a:ext cx="6847875" cy="646531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311" name="TextBox 310">
            <a:extLst>
              <a:ext uri="{FF2B5EF4-FFF2-40B4-BE49-F238E27FC236}">
                <a16:creationId xmlns:a16="http://schemas.microsoft.com/office/drawing/2014/main" id="{0E60F63A-1E61-6882-93F1-2C995BBDC8AA}"/>
              </a:ext>
            </a:extLst>
          </p:cNvPr>
          <p:cNvSpPr txBox="1"/>
          <p:nvPr/>
        </p:nvSpPr>
        <p:spPr>
          <a:xfrm>
            <a:off x="1322834" y="4481786"/>
            <a:ext cx="1552354" cy="147732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Replication</a:t>
            </a:r>
          </a:p>
          <a:p>
            <a:r>
              <a:rPr lang="en-US" sz="1400" dirty="0"/>
              <a:t>S3 CRR</a:t>
            </a:r>
          </a:p>
          <a:p>
            <a:r>
              <a:rPr lang="en-US" sz="1400" dirty="0"/>
              <a:t>&amp;</a:t>
            </a:r>
          </a:p>
          <a:p>
            <a:r>
              <a:rPr lang="en-US" sz="1400" dirty="0"/>
              <a:t>Dynamo Global Tables </a:t>
            </a:r>
          </a:p>
        </p:txBody>
      </p:sp>
      <p:sp>
        <p:nvSpPr>
          <p:cNvPr id="312" name="Oval 311">
            <a:extLst>
              <a:ext uri="{FF2B5EF4-FFF2-40B4-BE49-F238E27FC236}">
                <a16:creationId xmlns:a16="http://schemas.microsoft.com/office/drawing/2014/main" id="{58C3FA9B-1732-F3F4-0AC4-6905A50F2B4A}"/>
              </a:ext>
            </a:extLst>
          </p:cNvPr>
          <p:cNvSpPr/>
          <p:nvPr/>
        </p:nvSpPr>
        <p:spPr>
          <a:xfrm>
            <a:off x="4620482" y="2693221"/>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A493F572-5E25-DE27-150C-E3802CAD12C8}"/>
              </a:ext>
            </a:extLst>
          </p:cNvPr>
          <p:cNvSpPr/>
          <p:nvPr/>
        </p:nvSpPr>
        <p:spPr>
          <a:xfrm>
            <a:off x="4629626" y="5930347"/>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6" name="Straight Connector 315">
            <a:extLst>
              <a:ext uri="{FF2B5EF4-FFF2-40B4-BE49-F238E27FC236}">
                <a16:creationId xmlns:a16="http://schemas.microsoft.com/office/drawing/2014/main" id="{7C7420FE-2432-E0ED-C95A-36042C0C3560}"/>
              </a:ext>
            </a:extLst>
          </p:cNvPr>
          <p:cNvCxnSpPr>
            <a:cxnSpLocks/>
            <a:stCxn id="311" idx="3"/>
            <a:endCxn id="312" idx="2"/>
          </p:cNvCxnSpPr>
          <p:nvPr/>
        </p:nvCxnSpPr>
        <p:spPr>
          <a:xfrm flipV="1">
            <a:off x="2875188" y="3014856"/>
            <a:ext cx="1745294" cy="220559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149E2A2A-49A6-DCF4-39BB-9FC24B70204E}"/>
              </a:ext>
            </a:extLst>
          </p:cNvPr>
          <p:cNvCxnSpPr>
            <a:cxnSpLocks/>
            <a:stCxn id="311" idx="3"/>
            <a:endCxn id="314" idx="2"/>
          </p:cNvCxnSpPr>
          <p:nvPr/>
        </p:nvCxnSpPr>
        <p:spPr>
          <a:xfrm>
            <a:off x="2875188" y="5220450"/>
            <a:ext cx="1754438" cy="1031532"/>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48153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8735</TotalTime>
  <Words>2662</Words>
  <Application>Microsoft Office PowerPoint</Application>
  <PresentationFormat>Widescreen</PresentationFormat>
  <Paragraphs>585</Paragraphs>
  <Slides>44</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44</vt:i4>
      </vt:variant>
    </vt:vector>
  </HeadingPairs>
  <TitlesOfParts>
    <vt:vector size="49" baseType="lpstr">
      <vt:lpstr>Aptos</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PresCoach CTO-to-CTO Deck</dc:title>
  <dc:subject>PresCoach CTO-to-CTO architecture review</dc:subject>
  <dc:creator>OpenAI</dc:creator>
  <cp:lastModifiedBy>Michael Geiser</cp:lastModifiedBy>
  <cp:revision>29</cp:revision>
  <dcterms:created xsi:type="dcterms:W3CDTF">2026-06-20T22:34:29Z</dcterms:created>
  <dcterms:modified xsi:type="dcterms:W3CDTF">2026-08-10T16:48:27Z</dcterms:modified>
</cp:coreProperties>
</file>