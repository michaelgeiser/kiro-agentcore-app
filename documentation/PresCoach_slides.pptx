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147482010" r:id="rId17"/>
    <p:sldId id="271" r:id="rId18"/>
    <p:sldId id="272" r:id="rId19"/>
    <p:sldId id="273" r:id="rId20"/>
    <p:sldId id="274" r:id="rId21"/>
    <p:sldId id="275" r:id="rId22"/>
    <p:sldId id="276" r:id="rId23"/>
    <p:sldId id="2147482006" r:id="rId24"/>
    <p:sldId id="2147482011" r:id="rId25"/>
    <p:sldId id="2147482008" r:id="rId26"/>
    <p:sldId id="2147482002" r:id="rId27"/>
    <p:sldId id="2147482003" r:id="rId28"/>
    <p:sldId id="2147482004" r:id="rId29"/>
    <p:sldId id="2147482005" r:id="rId30"/>
    <p:sldId id="2147482009"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7" d="100"/>
          <a:sy n="107" d="100"/>
        </p:scale>
        <p:origin x="63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0664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completed and will report is being created, the My Submissions page throws a 500 error</a:t>
            </a:r>
          </a:p>
        </p:txBody>
      </p:sp>
      <p:sp>
        <p:nvSpPr>
          <p:cNvPr id="4" name="Slide Number Placeholder 3"/>
          <p:cNvSpPr>
            <a:spLocks noGrp="1"/>
          </p:cNvSpPr>
          <p:nvPr>
            <p:ph type="sldNum" sz="quarter" idx="5"/>
          </p:nvPr>
        </p:nvSpPr>
        <p:spPr/>
        <p:txBody>
          <a:bodyPr/>
          <a:lstStyle/>
          <a:p>
            <a:fld id="{2A840CD0-598D-447F-B58B-41C1046D6E11}" type="slidenum">
              <a:rPr lang="en-US" smtClean="0"/>
              <a:t>21</a:t>
            </a:fld>
            <a:endParaRPr lang="en-US"/>
          </a:p>
        </p:txBody>
      </p:sp>
    </p:spTree>
    <p:extLst>
      <p:ext uri="{BB962C8B-B14F-4D97-AF65-F5344CB8AC3E}">
        <p14:creationId xmlns:p14="http://schemas.microsoft.com/office/powerpoint/2010/main" val="2614405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411480" y="256032"/>
            <a:ext cx="11384280" cy="0"/>
          </a:xfrm>
          <a:prstGeom prst="line">
            <a:avLst/>
          </a:prstGeom>
          <a:noFill/>
          <a:ln w="12700">
            <a:solidFill>
              <a:srgbClr val="123B5E">
                <a:alpha val="78000"/>
              </a:srgbClr>
            </a:solidFill>
            <a:prstDash val="solid"/>
          </a:ln>
        </p:spPr>
        <p:txBody>
          <a:bodyPr/>
          <a:lstStyle/>
          <a:p>
            <a:endParaRPr lang="en-US"/>
          </a:p>
        </p:txBody>
      </p:sp>
      <p:sp>
        <p:nvSpPr>
          <p:cNvPr id="3" name="Text 1"/>
          <p:cNvSpPr/>
          <p:nvPr/>
        </p:nvSpPr>
        <p:spPr>
          <a:xfrm>
            <a:off x="9555480" y="128016"/>
            <a:ext cx="2148840" cy="228600"/>
          </a:xfrm>
          <a:prstGeom prst="rect">
            <a:avLst/>
          </a:prstGeom>
          <a:noFill/>
          <a:ln/>
        </p:spPr>
        <p:txBody>
          <a:bodyPr wrap="square" lIns="0" tIns="0" rIns="0" bIns="0" rtlCol="0" anchor="ctr"/>
          <a:lstStyle/>
          <a:p>
            <a:pPr marL="0" indent="0" algn="r">
              <a:buNone/>
            </a:pPr>
            <a:r>
              <a:rPr lang="en-US" sz="750" dirty="0">
                <a:solidFill>
                  <a:srgbClr val="6EA8FF"/>
                </a:solidFill>
                <a:latin typeface="Segoe UI" pitchFamily="34" charset="0"/>
                <a:ea typeface="Segoe UI" pitchFamily="34" charset="-122"/>
                <a:cs typeface="Segoe UI" pitchFamily="34" charset="-120"/>
              </a:rPr>
              <a:t>PresCoach CTO Review</a:t>
            </a:r>
            <a:endParaRPr lang="en-US" sz="7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Dark_Blank">
    <p:bg>
      <p:bgPr>
        <a:solidFill>
          <a:schemeClr val="tx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944AF13-45F5-0F9F-82FD-CEA8B87ADA18}"/>
              </a:ext>
            </a:extLst>
          </p:cNvPr>
          <p:cNvSpPr>
            <a:spLocks noGrp="1"/>
          </p:cNvSpPr>
          <p:nvPr>
            <p:ph type="sldNum" sz="quarter" idx="12"/>
          </p:nvPr>
        </p:nvSpPr>
        <p:spPr>
          <a:xfrm>
            <a:off x="8610600" y="6356350"/>
            <a:ext cx="2743200" cy="365125"/>
          </a:xfrm>
          <a:prstGeom prst="rect">
            <a:avLst/>
          </a:prstGeom>
        </p:spPr>
        <p:txBody>
          <a:bodyPr/>
          <a:lstStyle/>
          <a:p>
            <a:fld id="{32C6CF2F-657D-49C6-BC9A-22E3A8FC8808}" type="slidenum">
              <a:rPr lang="en-US" smtClean="0"/>
              <a:t>‹#›</a:t>
            </a:fld>
            <a:endParaRPr lang="en-US"/>
          </a:p>
        </p:txBody>
      </p:sp>
    </p:spTree>
    <p:extLst>
      <p:ext uri="{BB962C8B-B14F-4D97-AF65-F5344CB8AC3E}">
        <p14:creationId xmlns:p14="http://schemas.microsoft.com/office/powerpoint/2010/main" val="8760787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21.svg"/><Relationship Id="rId13" Type="http://schemas.openxmlformats.org/officeDocument/2006/relationships/image" Target="../media/image26.svg"/><Relationship Id="rId18" Type="http://schemas.openxmlformats.org/officeDocument/2006/relationships/image" Target="../media/image31.svg"/><Relationship Id="rId3" Type="http://schemas.openxmlformats.org/officeDocument/2006/relationships/image" Target="../media/image16.svg"/><Relationship Id="rId7" Type="http://schemas.openxmlformats.org/officeDocument/2006/relationships/image" Target="../media/image20.svg"/><Relationship Id="rId12" Type="http://schemas.openxmlformats.org/officeDocument/2006/relationships/image" Target="../media/image25.svg"/><Relationship Id="rId17" Type="http://schemas.openxmlformats.org/officeDocument/2006/relationships/image" Target="../media/image30.svg"/><Relationship Id="rId2" Type="http://schemas.openxmlformats.org/officeDocument/2006/relationships/image" Target="../media/image15.svg"/><Relationship Id="rId16" Type="http://schemas.openxmlformats.org/officeDocument/2006/relationships/image" Target="../media/image29.svg"/><Relationship Id="rId20" Type="http://schemas.openxmlformats.org/officeDocument/2006/relationships/image" Target="../media/image33.svg"/><Relationship Id="rId1" Type="http://schemas.openxmlformats.org/officeDocument/2006/relationships/slideLayout" Target="../slideLayouts/slideLayout3.xml"/><Relationship Id="rId6" Type="http://schemas.openxmlformats.org/officeDocument/2006/relationships/image" Target="../media/image19.svg"/><Relationship Id="rId11" Type="http://schemas.openxmlformats.org/officeDocument/2006/relationships/image" Target="../media/image24.svg"/><Relationship Id="rId5" Type="http://schemas.openxmlformats.org/officeDocument/2006/relationships/image" Target="../media/image18.svg"/><Relationship Id="rId15" Type="http://schemas.openxmlformats.org/officeDocument/2006/relationships/image" Target="../media/image28.svg"/><Relationship Id="rId10" Type="http://schemas.openxmlformats.org/officeDocument/2006/relationships/image" Target="../media/image23.svg"/><Relationship Id="rId19" Type="http://schemas.openxmlformats.org/officeDocument/2006/relationships/image" Target="../media/image32.svg"/><Relationship Id="rId4" Type="http://schemas.openxmlformats.org/officeDocument/2006/relationships/image" Target="../media/image17.svg"/><Relationship Id="rId9" Type="http://schemas.openxmlformats.org/officeDocument/2006/relationships/image" Target="../media/image22.svg"/><Relationship Id="rId14" Type="http://schemas.openxmlformats.org/officeDocument/2006/relationships/image" Target="../media/image27.svg"/></Relationships>
</file>

<file path=ppt/slides/_rels/slide26.xml.rels><?xml version="1.0" encoding="UTF-8" standalone="yes"?>
<Relationships xmlns="http://schemas.openxmlformats.org/package/2006/relationships"><Relationship Id="rId2" Type="http://schemas.openxmlformats.org/officeDocument/2006/relationships/image" Target="../media/image34.sv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5.sv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6.sv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37.sv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8.sv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566928"/>
            <a:ext cx="4937760" cy="530352"/>
          </a:xfrm>
          <a:prstGeom prst="rect">
            <a:avLst/>
          </a:prstGeom>
          <a:noFill/>
          <a:ln/>
        </p:spPr>
        <p:txBody>
          <a:bodyPr wrap="square" lIns="0" tIns="0" rIns="0" bIns="0" rtlCol="0" anchor="ctr"/>
          <a:lstStyle/>
          <a:p>
            <a:pPr marL="0" indent="0">
              <a:buNone/>
            </a:pPr>
            <a:r>
              <a:rPr lang="en-US" sz="3800" b="1" dirty="0">
                <a:solidFill>
                  <a:srgbClr val="F5F7FA"/>
                </a:solidFill>
              </a:rPr>
              <a:t>PresCoach</a:t>
            </a:r>
            <a:endParaRPr lang="en-US" sz="3800" dirty="0"/>
          </a:p>
        </p:txBody>
      </p:sp>
      <p:sp>
        <p:nvSpPr>
          <p:cNvPr id="3" name="Text 1"/>
          <p:cNvSpPr/>
          <p:nvPr/>
        </p:nvSpPr>
        <p:spPr>
          <a:xfrm>
            <a:off x="603504" y="1115568"/>
            <a:ext cx="5303520" cy="384048"/>
          </a:xfrm>
          <a:prstGeom prst="rect">
            <a:avLst/>
          </a:prstGeom>
          <a:noFill/>
          <a:ln/>
        </p:spPr>
        <p:txBody>
          <a:bodyPr wrap="square" lIns="0" tIns="0" rIns="0" bIns="0" rtlCol="0" anchor="ctr"/>
          <a:lstStyle/>
          <a:p>
            <a:pPr marL="0" indent="0">
              <a:buNone/>
            </a:pPr>
            <a:r>
              <a:rPr lang="en-US" sz="1800" dirty="0">
                <a:solidFill>
                  <a:srgbClr val="59C4FF"/>
                </a:solidFill>
              </a:rPr>
              <a:t>CTO-to-CTO architecture review</a:t>
            </a:r>
            <a:endParaRPr lang="en-US" sz="1800" dirty="0"/>
          </a:p>
        </p:txBody>
      </p:sp>
      <p:sp>
        <p:nvSpPr>
          <p:cNvPr id="4" name="Text 2"/>
          <p:cNvSpPr/>
          <p:nvPr/>
        </p:nvSpPr>
        <p:spPr>
          <a:xfrm>
            <a:off x="603504" y="1755648"/>
            <a:ext cx="5303520" cy="960120"/>
          </a:xfrm>
          <a:prstGeom prst="rect">
            <a:avLst/>
          </a:prstGeom>
          <a:noFill/>
          <a:ln/>
        </p:spPr>
        <p:txBody>
          <a:bodyPr wrap="square" lIns="0" tIns="0" rIns="0" bIns="0" rtlCol="0" anchor="ctr">
            <a:normAutofit lnSpcReduction="10000"/>
          </a:bodyPr>
          <a:lstStyle/>
          <a:p>
            <a:pPr marL="0" indent="0">
              <a:buNone/>
            </a:pPr>
            <a:r>
              <a:rPr lang="en-US" sz="2300" b="1" dirty="0">
                <a:solidFill>
                  <a:srgbClr val="F5F7FA"/>
                </a:solidFill>
              </a:rPr>
              <a:t>An AWS-native agentic presentation coaching platform built with Kiro and AI-DLC practices.</a:t>
            </a:r>
            <a:endParaRPr lang="en-US" sz="2300" dirty="0"/>
          </a:p>
        </p:txBody>
      </p:sp>
      <p:sp>
        <p:nvSpPr>
          <p:cNvPr id="5" name="Text 3"/>
          <p:cNvSpPr/>
          <p:nvPr/>
        </p:nvSpPr>
        <p:spPr>
          <a:xfrm>
            <a:off x="621792" y="2907792"/>
            <a:ext cx="5212080" cy="1005840"/>
          </a:xfrm>
          <a:prstGeom prst="rect">
            <a:avLst/>
          </a:prstGeom>
          <a:noFill/>
          <a:ln/>
        </p:spPr>
        <p:txBody>
          <a:bodyPr wrap="square" lIns="254" tIns="254" rIns="254" bIns="254" rtlCol="0" anchor="ctr">
            <a:normAutofit/>
          </a:bodyPr>
          <a:lstStyle/>
          <a:p>
            <a:pPr marL="0" indent="0">
              <a:buNone/>
            </a:pPr>
            <a:r>
              <a:rPr lang="en-US" sz="1480" dirty="0">
                <a:solidFill>
                  <a:srgbClr val="B2BAC8"/>
                </a:solidFill>
              </a:rPr>
              <a:t>The punchline: this is not just a demo. It is a useful pattern for taking agentic systems from idea to governed software delivery without pretending the robots can skip architecture review. Nice try, robots.</a:t>
            </a:r>
            <a:endParaRPr lang="en-US" sz="1480" dirty="0"/>
          </a:p>
        </p:txBody>
      </p:sp>
      <p:pic>
        <p:nvPicPr>
          <p:cNvPr id="6" name="Image 0" descr="/mnt/data/app_hero.png"/>
          <p:cNvPicPr>
            <a:picLocks noChangeAspect="1"/>
          </p:cNvPicPr>
          <p:nvPr/>
        </p:nvPicPr>
        <p:blipFill>
          <a:blip r:embed="rId3"/>
          <a:srcRect l="30" r="30"/>
          <a:stretch/>
        </p:blipFill>
        <p:spPr>
          <a:xfrm>
            <a:off x="6419088" y="749808"/>
            <a:ext cx="5102352" cy="3063240"/>
          </a:xfrm>
          <a:prstGeom prst="rect">
            <a:avLst/>
          </a:prstGeom>
        </p:spPr>
      </p:pic>
      <p:pic>
        <p:nvPicPr>
          <p:cNvPr id="7" name="Image 1" descr="/mnt/data/report_doc.png"/>
          <p:cNvPicPr>
            <a:picLocks noChangeAspect="1"/>
          </p:cNvPicPr>
          <p:nvPr/>
        </p:nvPicPr>
        <p:blipFill>
          <a:blip r:embed="rId4"/>
          <a:srcRect t="6659" b="6659"/>
          <a:stretch/>
        </p:blipFill>
        <p:spPr>
          <a:xfrm>
            <a:off x="7077456" y="3858768"/>
            <a:ext cx="2395728" cy="2606040"/>
          </a:xfrm>
          <a:prstGeom prst="rect">
            <a:avLst/>
          </a:prstGeom>
        </p:spPr>
      </p:pic>
      <p:sp>
        <p:nvSpPr>
          <p:cNvPr id="8" name="Text 4"/>
          <p:cNvSpPr/>
          <p:nvPr/>
        </p:nvSpPr>
        <p:spPr>
          <a:xfrm>
            <a:off x="9930384" y="4087368"/>
            <a:ext cx="1499616" cy="822960"/>
          </a:xfrm>
          <a:prstGeom prst="roundRect">
            <a:avLst>
              <a:gd name="adj" fmla="val 8889"/>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250" b="1" dirty="0">
                <a:solidFill>
                  <a:srgbClr val="F5F7FA"/>
                </a:solidFill>
              </a:rPr>
              <a:t>AWS-native</a:t>
            </a:r>
            <a:endParaRPr lang="en-US" sz="1250" dirty="0"/>
          </a:p>
          <a:p>
            <a:pPr marL="0" indent="0" algn="ctr">
              <a:buNone/>
            </a:pPr>
            <a:r>
              <a:rPr lang="en-US" sz="1250" b="1" dirty="0">
                <a:solidFill>
                  <a:srgbClr val="F5F7FA"/>
                </a:solidFill>
              </a:rPr>
              <a:t>serverless + agentic</a:t>
            </a:r>
            <a:endParaRPr lang="en-US" sz="1250" dirty="0"/>
          </a:p>
        </p:txBody>
      </p:sp>
      <p:sp>
        <p:nvSpPr>
          <p:cNvPr id="9" name="Text 5"/>
          <p:cNvSpPr/>
          <p:nvPr/>
        </p:nvSpPr>
        <p:spPr>
          <a:xfrm>
            <a:off x="9930384" y="5102352"/>
            <a:ext cx="1499616" cy="786384"/>
          </a:xfrm>
          <a:prstGeom prst="roundRect">
            <a:avLst>
              <a:gd name="adj" fmla="val 9302"/>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250" b="1" dirty="0">
                <a:solidFill>
                  <a:srgbClr val="F5F7FA"/>
                </a:solidFill>
              </a:rPr>
              <a:t>Built for</a:t>
            </a:r>
            <a:endParaRPr lang="en-US" sz="1250" dirty="0"/>
          </a:p>
          <a:p>
            <a:pPr marL="0" indent="0" algn="ctr">
              <a:buNone/>
            </a:pPr>
            <a:r>
              <a:rPr lang="en-US" sz="1250" b="1" dirty="0">
                <a:solidFill>
                  <a:srgbClr val="F5F7FA"/>
                </a:solidFill>
              </a:rPr>
              <a:t>zero idle cost</a:t>
            </a:r>
            <a:endParaRPr lang="en-US" sz="1250" dirty="0"/>
          </a:p>
        </p:txBody>
      </p:sp>
      <p:sp>
        <p:nvSpPr>
          <p:cNvPr id="10" name="Text 6"/>
          <p:cNvSpPr/>
          <p:nvPr/>
        </p:nvSpPr>
        <p:spPr>
          <a:xfrm>
            <a:off x="603504" y="6327648"/>
            <a:ext cx="5760720" cy="219456"/>
          </a:xfrm>
          <a:prstGeom prst="rect">
            <a:avLst/>
          </a:prstGeom>
          <a:noFill/>
          <a:ln/>
        </p:spPr>
        <p:txBody>
          <a:bodyPr wrap="square" lIns="0" tIns="0" rIns="0" bIns="0" rtlCol="0" anchor="ctr"/>
          <a:lstStyle/>
          <a:p>
            <a:pPr marL="0" indent="0">
              <a:buNone/>
            </a:pPr>
            <a:r>
              <a:rPr lang="en-US" sz="850" dirty="0">
                <a:solidFill>
                  <a:srgbClr val="7E8796"/>
                </a:solidFill>
              </a:rPr>
              <a:t>Dark theme retained from the working deck</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EXECUTIVE LENS</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The CTO readout</a:t>
            </a:r>
            <a:endParaRPr lang="en-US" sz="2950" dirty="0"/>
          </a:p>
        </p:txBody>
      </p:sp>
      <p:sp>
        <p:nvSpPr>
          <p:cNvPr id="4" name="Text 2"/>
          <p:cNvSpPr/>
          <p:nvPr/>
        </p:nvSpPr>
        <p:spPr>
          <a:xfrm>
            <a:off x="621792" y="1426464"/>
            <a:ext cx="7680960" cy="749808"/>
          </a:xfrm>
          <a:prstGeom prst="rect">
            <a:avLst/>
          </a:prstGeom>
          <a:noFill/>
          <a:ln/>
        </p:spPr>
        <p:txBody>
          <a:bodyPr wrap="square" lIns="254" tIns="254" rIns="254" bIns="254" rtlCol="0" anchor="t">
            <a:normAutofit lnSpcReduction="10000"/>
          </a:bodyPr>
          <a:lstStyle/>
          <a:p>
            <a:pPr marL="0" indent="0" algn="l">
              <a:buNone/>
            </a:pPr>
            <a:r>
              <a:rPr lang="en-US" sz="1800" dirty="0">
                <a:solidFill>
                  <a:srgbClr val="B2BAC8"/>
                </a:solidFill>
              </a:rPr>
              <a:t>PresCoach is a working AWS-native product pattern, not a lab toy. It accepts audio, prepares it deterministically, then hands it to independent AI evaluators that produce a coaching report.</a:t>
            </a:r>
            <a:endParaRPr lang="en-US" sz="1800" dirty="0"/>
          </a:p>
        </p:txBody>
      </p:sp>
      <p:sp>
        <p:nvSpPr>
          <p:cNvPr id="5" name="Text 3"/>
          <p:cNvSpPr/>
          <p:nvPr/>
        </p:nvSpPr>
        <p:spPr>
          <a:xfrm>
            <a:off x="658368" y="2761488"/>
            <a:ext cx="1920240" cy="530352"/>
          </a:xfrm>
          <a:prstGeom prst="rect">
            <a:avLst/>
          </a:prstGeom>
          <a:noFill/>
          <a:ln/>
        </p:spPr>
        <p:txBody>
          <a:bodyPr wrap="square" lIns="0" tIns="0" rIns="0" bIns="0" rtlCol="0" anchor="ctr">
            <a:normAutofit/>
          </a:bodyPr>
          <a:lstStyle/>
          <a:p>
            <a:pPr marL="0" indent="0" algn="ctr">
              <a:buNone/>
            </a:pPr>
            <a:r>
              <a:rPr lang="en-US" sz="2600" b="1" dirty="0">
                <a:solidFill>
                  <a:srgbClr val="59C4FF"/>
                </a:solidFill>
              </a:rPr>
              <a:t>7</a:t>
            </a:r>
            <a:endParaRPr lang="en-US" sz="2600" dirty="0"/>
          </a:p>
        </p:txBody>
      </p:sp>
      <p:sp>
        <p:nvSpPr>
          <p:cNvPr id="6" name="Text 4"/>
          <p:cNvSpPr/>
          <p:nvPr/>
        </p:nvSpPr>
        <p:spPr>
          <a:xfrm>
            <a:off x="658368" y="3346704"/>
            <a:ext cx="1920240" cy="384048"/>
          </a:xfrm>
          <a:prstGeom prst="rect">
            <a:avLst/>
          </a:prstGeom>
          <a:noFill/>
          <a:ln/>
        </p:spPr>
        <p:txBody>
          <a:bodyPr wrap="square" lIns="254" tIns="254" rIns="254" bIns="254" rtlCol="0" anchor="ctr">
            <a:normAutofit/>
          </a:bodyPr>
          <a:lstStyle/>
          <a:p>
            <a:pPr marL="0" indent="0" algn="ctr">
              <a:buNone/>
            </a:pPr>
            <a:r>
              <a:rPr lang="en-US" sz="1050" dirty="0">
                <a:solidFill>
                  <a:srgbClr val="B2BAC8"/>
                </a:solidFill>
              </a:rPr>
              <a:t>AI coaching dimensions</a:t>
            </a:r>
            <a:endParaRPr lang="en-US" sz="1050" dirty="0"/>
          </a:p>
        </p:txBody>
      </p:sp>
      <p:sp>
        <p:nvSpPr>
          <p:cNvPr id="7" name="Text 5"/>
          <p:cNvSpPr/>
          <p:nvPr/>
        </p:nvSpPr>
        <p:spPr>
          <a:xfrm>
            <a:off x="2788920" y="2761488"/>
            <a:ext cx="1920240" cy="530352"/>
          </a:xfrm>
          <a:prstGeom prst="rect">
            <a:avLst/>
          </a:prstGeom>
          <a:noFill/>
          <a:ln/>
        </p:spPr>
        <p:txBody>
          <a:bodyPr wrap="square" lIns="0" tIns="0" rIns="0" bIns="0" rtlCol="0" anchor="ctr">
            <a:normAutofit/>
          </a:bodyPr>
          <a:lstStyle/>
          <a:p>
            <a:pPr marL="0" indent="0" algn="ctr">
              <a:buNone/>
            </a:pPr>
            <a:r>
              <a:rPr lang="en-US" sz="2600" b="1" dirty="0">
                <a:solidFill>
                  <a:srgbClr val="59D08F"/>
                </a:solidFill>
              </a:rPr>
              <a:t>20</a:t>
            </a:r>
            <a:endParaRPr lang="en-US" sz="2600" dirty="0"/>
          </a:p>
        </p:txBody>
      </p:sp>
      <p:sp>
        <p:nvSpPr>
          <p:cNvPr id="8" name="Text 6"/>
          <p:cNvSpPr/>
          <p:nvPr/>
        </p:nvSpPr>
        <p:spPr>
          <a:xfrm>
            <a:off x="2788920" y="3346704"/>
            <a:ext cx="1920240" cy="384048"/>
          </a:xfrm>
          <a:prstGeom prst="rect">
            <a:avLst/>
          </a:prstGeom>
          <a:noFill/>
          <a:ln/>
        </p:spPr>
        <p:txBody>
          <a:bodyPr wrap="square" lIns="254" tIns="254" rIns="254" bIns="254" rtlCol="0" anchor="ctr">
            <a:normAutofit/>
          </a:bodyPr>
          <a:lstStyle/>
          <a:p>
            <a:pPr marL="0" indent="0" algn="ctr">
              <a:buNone/>
            </a:pPr>
            <a:r>
              <a:rPr lang="en-US" sz="1050" dirty="0">
                <a:solidFill>
                  <a:srgbClr val="B2BAC8"/>
                </a:solidFill>
              </a:rPr>
              <a:t>AWS services used</a:t>
            </a:r>
            <a:endParaRPr lang="en-US" sz="1050" dirty="0"/>
          </a:p>
        </p:txBody>
      </p:sp>
      <p:sp>
        <p:nvSpPr>
          <p:cNvPr id="9" name="Text 7"/>
          <p:cNvSpPr/>
          <p:nvPr/>
        </p:nvSpPr>
        <p:spPr>
          <a:xfrm>
            <a:off x="4919472" y="2761488"/>
            <a:ext cx="2011680" cy="530352"/>
          </a:xfrm>
          <a:prstGeom prst="rect">
            <a:avLst/>
          </a:prstGeom>
          <a:noFill/>
          <a:ln/>
        </p:spPr>
        <p:txBody>
          <a:bodyPr wrap="square" lIns="0" tIns="0" rIns="0" bIns="0" rtlCol="0" anchor="ctr">
            <a:normAutofit/>
          </a:bodyPr>
          <a:lstStyle/>
          <a:p>
            <a:pPr marL="0" indent="0" algn="ctr">
              <a:buNone/>
            </a:pPr>
            <a:r>
              <a:rPr lang="en-US" sz="2600" b="1" dirty="0">
                <a:solidFill>
                  <a:srgbClr val="FFD65A"/>
                </a:solidFill>
              </a:rPr>
              <a:t>726</a:t>
            </a:r>
            <a:endParaRPr lang="en-US" sz="2600" dirty="0"/>
          </a:p>
        </p:txBody>
      </p:sp>
      <p:sp>
        <p:nvSpPr>
          <p:cNvPr id="10" name="Text 8"/>
          <p:cNvSpPr/>
          <p:nvPr/>
        </p:nvSpPr>
        <p:spPr>
          <a:xfrm>
            <a:off x="4919472" y="3346704"/>
            <a:ext cx="2011680" cy="384048"/>
          </a:xfrm>
          <a:prstGeom prst="rect">
            <a:avLst/>
          </a:prstGeom>
          <a:noFill/>
          <a:ln/>
        </p:spPr>
        <p:txBody>
          <a:bodyPr wrap="square" lIns="254" tIns="254" rIns="254" bIns="254" rtlCol="0" anchor="ctr">
            <a:normAutofit/>
          </a:bodyPr>
          <a:lstStyle/>
          <a:p>
            <a:pPr marL="0" indent="0" algn="ctr">
              <a:buNone/>
            </a:pPr>
            <a:r>
              <a:rPr lang="en-US" sz="1050" dirty="0">
                <a:solidFill>
                  <a:srgbClr val="B2BAC8"/>
                </a:solidFill>
              </a:rPr>
              <a:t>tests in all workflows</a:t>
            </a:r>
            <a:endParaRPr lang="en-US" sz="1050" dirty="0"/>
          </a:p>
        </p:txBody>
      </p:sp>
      <p:sp>
        <p:nvSpPr>
          <p:cNvPr id="11" name="Text 9"/>
          <p:cNvSpPr/>
          <p:nvPr/>
        </p:nvSpPr>
        <p:spPr>
          <a:xfrm>
            <a:off x="7150608" y="2761488"/>
            <a:ext cx="2011680" cy="530352"/>
          </a:xfrm>
          <a:prstGeom prst="rect">
            <a:avLst/>
          </a:prstGeom>
          <a:noFill/>
          <a:ln/>
        </p:spPr>
        <p:txBody>
          <a:bodyPr wrap="square" lIns="0" tIns="0" rIns="0" bIns="0" rtlCol="0" anchor="ctr">
            <a:normAutofit/>
          </a:bodyPr>
          <a:lstStyle/>
          <a:p>
            <a:pPr marL="0" indent="0" algn="ctr">
              <a:buNone/>
            </a:pPr>
            <a:r>
              <a:rPr lang="en-US" sz="2600" b="1" dirty="0">
                <a:solidFill>
                  <a:srgbClr val="FF9B55"/>
                </a:solidFill>
              </a:rPr>
              <a:t>$33.69</a:t>
            </a:r>
            <a:endParaRPr lang="en-US" sz="2600" dirty="0"/>
          </a:p>
        </p:txBody>
      </p:sp>
      <p:sp>
        <p:nvSpPr>
          <p:cNvPr id="12" name="Text 10"/>
          <p:cNvSpPr/>
          <p:nvPr/>
        </p:nvSpPr>
        <p:spPr>
          <a:xfrm>
            <a:off x="7150608" y="3346704"/>
            <a:ext cx="2011680" cy="384048"/>
          </a:xfrm>
          <a:prstGeom prst="rect">
            <a:avLst/>
          </a:prstGeom>
          <a:noFill/>
          <a:ln/>
        </p:spPr>
        <p:txBody>
          <a:bodyPr wrap="square" lIns="254" tIns="254" rIns="254" bIns="254" rtlCol="0" anchor="ctr">
            <a:normAutofit/>
          </a:bodyPr>
          <a:lstStyle/>
          <a:p>
            <a:pPr marL="0" indent="0" algn="ctr">
              <a:buNone/>
            </a:pPr>
            <a:r>
              <a:rPr lang="en-US" sz="1050" dirty="0">
                <a:solidFill>
                  <a:srgbClr val="B2BAC8"/>
                </a:solidFill>
              </a:rPr>
              <a:t>Build spend for </a:t>
            </a:r>
            <a:br>
              <a:rPr lang="en-US" sz="1050" dirty="0">
                <a:solidFill>
                  <a:srgbClr val="B2BAC8"/>
                </a:solidFill>
              </a:rPr>
            </a:br>
            <a:r>
              <a:rPr lang="en-US" sz="1050" dirty="0">
                <a:solidFill>
                  <a:srgbClr val="B2BAC8"/>
                </a:solidFill>
              </a:rPr>
              <a:t>Environment and AI Tool </a:t>
            </a:r>
            <a:endParaRPr lang="en-US" sz="1050" dirty="0"/>
          </a:p>
        </p:txBody>
      </p:sp>
      <p:sp>
        <p:nvSpPr>
          <p:cNvPr id="13" name="Text 11"/>
          <p:cNvSpPr/>
          <p:nvPr/>
        </p:nvSpPr>
        <p:spPr>
          <a:xfrm>
            <a:off x="7150608" y="3813048"/>
            <a:ext cx="2011680" cy="219456"/>
          </a:xfrm>
          <a:prstGeom prst="rect">
            <a:avLst/>
          </a:prstGeom>
          <a:noFill/>
          <a:ln/>
        </p:spPr>
        <p:txBody>
          <a:bodyPr wrap="square" lIns="0" tIns="0" rIns="0" bIns="0" rtlCol="0" anchor="ctr">
            <a:normAutofit/>
          </a:bodyPr>
          <a:lstStyle/>
          <a:p>
            <a:pPr marL="0" indent="0" algn="ctr">
              <a:buNone/>
            </a:pPr>
            <a:r>
              <a:rPr lang="en-US" sz="830" dirty="0">
                <a:solidFill>
                  <a:srgbClr val="7E8796"/>
                </a:solidFill>
              </a:rPr>
              <a:t>$6.59 AWS + $27.10 Kiro</a:t>
            </a:r>
            <a:endParaRPr lang="en-US" sz="830" dirty="0"/>
          </a:p>
        </p:txBody>
      </p:sp>
      <p:sp>
        <p:nvSpPr>
          <p:cNvPr id="14" name="Text 12"/>
          <p:cNvSpPr/>
          <p:nvPr/>
        </p:nvSpPr>
        <p:spPr>
          <a:xfrm>
            <a:off x="9528048" y="1536192"/>
            <a:ext cx="1783080" cy="749808"/>
          </a:xfrm>
          <a:prstGeom prst="roundRect">
            <a:avLst>
              <a:gd name="adj" fmla="val 9756"/>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150" b="1" dirty="0">
                <a:solidFill>
                  <a:srgbClr val="F5F7FA"/>
                </a:solidFill>
              </a:rPr>
              <a:t>Architecture decision</a:t>
            </a:r>
            <a:endParaRPr lang="en-US" sz="1150" dirty="0"/>
          </a:p>
          <a:p>
            <a:pPr marL="0" indent="0" algn="ctr">
              <a:buNone/>
            </a:pPr>
            <a:r>
              <a:rPr lang="en-US" sz="1150" b="1" dirty="0">
                <a:solidFill>
                  <a:srgbClr val="F5F7FA"/>
                </a:solidFill>
              </a:rPr>
              <a:t>worth a CTO review</a:t>
            </a:r>
            <a:endParaRPr lang="en-US" sz="1150" dirty="0"/>
          </a:p>
        </p:txBody>
      </p:sp>
      <p:sp>
        <p:nvSpPr>
          <p:cNvPr id="15" name="Text 13"/>
          <p:cNvSpPr/>
          <p:nvPr/>
        </p:nvSpPr>
        <p:spPr>
          <a:xfrm>
            <a:off x="9528048" y="2633472"/>
            <a:ext cx="1783080" cy="749808"/>
          </a:xfrm>
          <a:prstGeom prst="roundRect">
            <a:avLst>
              <a:gd name="adj" fmla="val 9756"/>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150" b="1" dirty="0">
                <a:solidFill>
                  <a:srgbClr val="F5F7FA"/>
                </a:solidFill>
              </a:rPr>
              <a:t>Where to harden</a:t>
            </a:r>
            <a:endParaRPr lang="en-US" sz="1150" dirty="0"/>
          </a:p>
          <a:p>
            <a:pPr marL="0" indent="0" algn="ctr">
              <a:buNone/>
            </a:pPr>
            <a:r>
              <a:rPr lang="en-US" sz="1150" b="1" dirty="0">
                <a:solidFill>
                  <a:srgbClr val="F5F7FA"/>
                </a:solidFill>
              </a:rPr>
              <a:t>before real users</a:t>
            </a:r>
            <a:endParaRPr lang="en-US" sz="1150" dirty="0"/>
          </a:p>
        </p:txBody>
      </p:sp>
      <p:sp>
        <p:nvSpPr>
          <p:cNvPr id="16" name="Text 14"/>
          <p:cNvSpPr/>
          <p:nvPr/>
        </p:nvSpPr>
        <p:spPr>
          <a:xfrm>
            <a:off x="9528048" y="3730752"/>
            <a:ext cx="1783080" cy="749808"/>
          </a:xfrm>
          <a:prstGeom prst="roundRect">
            <a:avLst>
              <a:gd name="adj" fmla="val 9756"/>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150" b="1" dirty="0">
                <a:solidFill>
                  <a:srgbClr val="F5F7FA"/>
                </a:solidFill>
              </a:rPr>
              <a:t>How to scale</a:t>
            </a:r>
            <a:endParaRPr lang="en-US" sz="1150" dirty="0"/>
          </a:p>
          <a:p>
            <a:pPr marL="0" indent="0" algn="ctr">
              <a:buNone/>
            </a:pPr>
            <a:r>
              <a:rPr lang="en-US" sz="1150" b="1" dirty="0">
                <a:solidFill>
                  <a:srgbClr val="F5F7FA"/>
                </a:solidFill>
              </a:rPr>
              <a:t>without cost traps</a:t>
            </a:r>
            <a:endParaRPr lang="en-US" sz="1150" dirty="0"/>
          </a:p>
        </p:txBody>
      </p:sp>
      <p:sp>
        <p:nvSpPr>
          <p:cNvPr id="17" name="Text 15"/>
          <p:cNvSpPr/>
          <p:nvPr/>
        </p:nvSpPr>
        <p:spPr>
          <a:xfrm>
            <a:off x="9528048" y="4828032"/>
            <a:ext cx="1783080" cy="749808"/>
          </a:xfrm>
          <a:prstGeom prst="roundRect">
            <a:avLst>
              <a:gd name="adj" fmla="val 9756"/>
            </a:avLst>
          </a:prstGeom>
          <a:solidFill>
            <a:srgbClr val="0B1828"/>
          </a:solidFill>
          <a:ln w="13970">
            <a:solidFill>
              <a:srgbClr val="B68CFF"/>
            </a:solidFill>
          </a:ln>
        </p:spPr>
        <p:txBody>
          <a:bodyPr wrap="square" lIns="1016" tIns="1016" rIns="1016" bIns="1016" rtlCol="0" anchor="ctr">
            <a:normAutofit/>
          </a:bodyPr>
          <a:lstStyle/>
          <a:p>
            <a:pPr marL="0" indent="0" algn="ctr">
              <a:buNone/>
            </a:pPr>
            <a:r>
              <a:rPr lang="en-US" sz="1150" b="1" dirty="0">
                <a:solidFill>
                  <a:srgbClr val="F5F7FA"/>
                </a:solidFill>
              </a:rPr>
              <a:t>What AI-DLC</a:t>
            </a:r>
            <a:endParaRPr lang="en-US" sz="1150" dirty="0"/>
          </a:p>
          <a:p>
            <a:pPr marL="0" indent="0" algn="ctr">
              <a:buNone/>
            </a:pPr>
            <a:r>
              <a:rPr lang="en-US" sz="1150" b="1" dirty="0">
                <a:solidFill>
                  <a:srgbClr val="F5F7FA"/>
                </a:solidFill>
              </a:rPr>
              <a:t>actually changed</a:t>
            </a:r>
            <a:endParaRPr lang="en-US" sz="1150" dirty="0"/>
          </a:p>
        </p:txBody>
      </p:sp>
      <p:sp>
        <p:nvSpPr>
          <p:cNvPr id="18" name="Text 16"/>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Source deck reported development cost; project overview and retrospective supplied architecture, services, test count, and operating model.</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WHAT IT DOES</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The product loop is simple, the system behind it is not</a:t>
            </a:r>
            <a:endParaRPr lang="en-US" sz="2950" dirty="0"/>
          </a:p>
        </p:txBody>
      </p:sp>
      <p:pic>
        <p:nvPicPr>
          <p:cNvPr id="4" name="Image 0" descr="/mnt/data/upload_form.png"/>
          <p:cNvPicPr>
            <a:picLocks noChangeAspect="1"/>
          </p:cNvPicPr>
          <p:nvPr/>
        </p:nvPicPr>
        <p:blipFill>
          <a:blip r:embed="rId3"/>
          <a:srcRect t="602" b="602"/>
          <a:stretch/>
        </p:blipFill>
        <p:spPr>
          <a:xfrm>
            <a:off x="621792" y="1325880"/>
            <a:ext cx="3794760" cy="1874520"/>
          </a:xfrm>
          <a:prstGeom prst="rect">
            <a:avLst/>
          </a:prstGeom>
        </p:spPr>
      </p:pic>
      <p:pic>
        <p:nvPicPr>
          <p:cNvPr id="5" name="Image 1" descr="/mnt/data/list_processing.png"/>
          <p:cNvPicPr>
            <a:picLocks noChangeAspect="1"/>
          </p:cNvPicPr>
          <p:nvPr/>
        </p:nvPicPr>
        <p:blipFill>
          <a:blip r:embed="rId4"/>
          <a:srcRect l="430" r="430"/>
          <a:stretch/>
        </p:blipFill>
        <p:spPr>
          <a:xfrm>
            <a:off x="621792" y="3584448"/>
            <a:ext cx="3794760" cy="2103120"/>
          </a:xfrm>
          <a:prstGeom prst="rect">
            <a:avLst/>
          </a:prstGeom>
        </p:spPr>
      </p:pic>
      <p:sp>
        <p:nvSpPr>
          <p:cNvPr id="6" name="Text 2"/>
          <p:cNvSpPr/>
          <p:nvPr/>
        </p:nvSpPr>
        <p:spPr>
          <a:xfrm>
            <a:off x="749808" y="5742432"/>
            <a:ext cx="3474720" cy="274320"/>
          </a:xfrm>
          <a:prstGeom prst="rect">
            <a:avLst/>
          </a:prstGeom>
          <a:noFill/>
          <a:ln/>
        </p:spPr>
        <p:txBody>
          <a:bodyPr wrap="square" lIns="254" tIns="254" rIns="254" bIns="254" rtlCol="0" anchor="t">
            <a:normAutofit/>
          </a:bodyPr>
          <a:lstStyle/>
          <a:p>
            <a:pPr marL="0" indent="0" algn="ctr">
              <a:buNone/>
            </a:pPr>
            <a:r>
              <a:rPr lang="en-US" sz="1150" b="1" dirty="0">
                <a:solidFill>
                  <a:srgbClr val="59C4FF"/>
                </a:solidFill>
              </a:rPr>
              <a:t>User-facing flow</a:t>
            </a:r>
            <a:endParaRPr lang="en-US" sz="1150" dirty="0"/>
          </a:p>
        </p:txBody>
      </p:sp>
      <p:sp>
        <p:nvSpPr>
          <p:cNvPr id="7" name="Shape 3"/>
          <p:cNvSpPr/>
          <p:nvPr/>
        </p:nvSpPr>
        <p:spPr>
          <a:xfrm>
            <a:off x="4663440" y="2194560"/>
            <a:ext cx="914400" cy="0"/>
          </a:xfrm>
          <a:prstGeom prst="line">
            <a:avLst/>
          </a:prstGeom>
          <a:noFill/>
          <a:ln w="22860">
            <a:solidFill>
              <a:srgbClr val="2F9BFF"/>
            </a:solidFill>
            <a:prstDash val="solid"/>
            <a:headEnd type="none"/>
            <a:tailEnd type="triangle"/>
          </a:ln>
        </p:spPr>
        <p:txBody>
          <a:bodyPr/>
          <a:lstStyle/>
          <a:p>
            <a:endParaRPr lang="en-US"/>
          </a:p>
        </p:txBody>
      </p:sp>
      <p:sp>
        <p:nvSpPr>
          <p:cNvPr id="8" name="Shape 4"/>
          <p:cNvSpPr/>
          <p:nvPr/>
        </p:nvSpPr>
        <p:spPr>
          <a:xfrm>
            <a:off x="6729984" y="2194560"/>
            <a:ext cx="859536" cy="0"/>
          </a:xfrm>
          <a:prstGeom prst="line">
            <a:avLst/>
          </a:prstGeom>
          <a:noFill/>
          <a:ln w="22860">
            <a:solidFill>
              <a:srgbClr val="2F9BFF"/>
            </a:solidFill>
            <a:prstDash val="solid"/>
            <a:headEnd type="none"/>
            <a:tailEnd type="triangle"/>
          </a:ln>
        </p:spPr>
        <p:txBody>
          <a:bodyPr/>
          <a:lstStyle/>
          <a:p>
            <a:endParaRPr lang="en-US"/>
          </a:p>
        </p:txBody>
      </p:sp>
      <p:sp>
        <p:nvSpPr>
          <p:cNvPr id="9" name="Shape 5"/>
          <p:cNvSpPr/>
          <p:nvPr/>
        </p:nvSpPr>
        <p:spPr>
          <a:xfrm>
            <a:off x="8759952" y="2194560"/>
            <a:ext cx="859536" cy="0"/>
          </a:xfrm>
          <a:prstGeom prst="line">
            <a:avLst/>
          </a:prstGeom>
          <a:noFill/>
          <a:ln w="22860">
            <a:solidFill>
              <a:srgbClr val="2F9BFF"/>
            </a:solidFill>
            <a:prstDash val="solid"/>
            <a:headEnd type="none"/>
            <a:tailEnd type="triangle"/>
          </a:ln>
        </p:spPr>
        <p:txBody>
          <a:bodyPr/>
          <a:lstStyle/>
          <a:p>
            <a:endParaRPr lang="en-US"/>
          </a:p>
        </p:txBody>
      </p:sp>
      <p:sp>
        <p:nvSpPr>
          <p:cNvPr id="10" name="Text 6"/>
          <p:cNvSpPr/>
          <p:nvPr/>
        </p:nvSpPr>
        <p:spPr>
          <a:xfrm>
            <a:off x="4828032" y="1664208"/>
            <a:ext cx="1554480" cy="1042416"/>
          </a:xfrm>
          <a:prstGeom prst="roundRect">
            <a:avLst>
              <a:gd name="adj" fmla="val 7018"/>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140" b="1" dirty="0">
                <a:solidFill>
                  <a:srgbClr val="F5F7FA"/>
                </a:solidFill>
              </a:rPr>
              <a:t>Upload</a:t>
            </a:r>
            <a:endParaRPr lang="en-US" sz="1140" dirty="0"/>
          </a:p>
          <a:p>
            <a:pPr marL="0" indent="0" algn="ctr">
              <a:buNone/>
            </a:pPr>
            <a:r>
              <a:rPr lang="en-US" sz="1140" b="1" dirty="0">
                <a:solidFill>
                  <a:srgbClr val="F5F7FA"/>
                </a:solidFill>
              </a:rPr>
              <a:t>mp3, wav, m4a, aac</a:t>
            </a:r>
            <a:endParaRPr lang="en-US" sz="1140" dirty="0"/>
          </a:p>
        </p:txBody>
      </p:sp>
      <p:sp>
        <p:nvSpPr>
          <p:cNvPr id="11" name="Text 7"/>
          <p:cNvSpPr/>
          <p:nvPr/>
        </p:nvSpPr>
        <p:spPr>
          <a:xfrm>
            <a:off x="6510528" y="1664208"/>
            <a:ext cx="1783080" cy="1042416"/>
          </a:xfrm>
          <a:prstGeom prst="roundRect">
            <a:avLst>
              <a:gd name="adj" fmla="val 7018"/>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140" b="1" dirty="0">
                <a:solidFill>
                  <a:srgbClr val="F5F7FA"/>
                </a:solidFill>
              </a:rPr>
              <a:t>Prepare</a:t>
            </a:r>
            <a:endParaRPr lang="en-US" sz="1140" dirty="0"/>
          </a:p>
          <a:p>
            <a:pPr marL="0" indent="0" algn="ctr">
              <a:buNone/>
            </a:pPr>
            <a:r>
              <a:rPr lang="en-US" sz="1140" b="1" dirty="0">
                <a:solidFill>
                  <a:srgbClr val="F5F7FA"/>
                </a:solidFill>
              </a:rPr>
              <a:t>transcribe + chunk + embed</a:t>
            </a:r>
            <a:endParaRPr lang="en-US" sz="1140" dirty="0"/>
          </a:p>
        </p:txBody>
      </p:sp>
      <p:sp>
        <p:nvSpPr>
          <p:cNvPr id="12" name="Text 8"/>
          <p:cNvSpPr/>
          <p:nvPr/>
        </p:nvSpPr>
        <p:spPr>
          <a:xfrm>
            <a:off x="8467344" y="1664208"/>
            <a:ext cx="1600200" cy="1042416"/>
          </a:xfrm>
          <a:prstGeom prst="roundRect">
            <a:avLst>
              <a:gd name="adj" fmla="val 7018"/>
            </a:avLst>
          </a:prstGeom>
          <a:solidFill>
            <a:srgbClr val="071A2D"/>
          </a:solidFill>
          <a:ln w="13970">
            <a:solidFill>
              <a:srgbClr val="B68CFF"/>
            </a:solidFill>
          </a:ln>
        </p:spPr>
        <p:txBody>
          <a:bodyPr wrap="square" lIns="1016" tIns="1016" rIns="1016" bIns="1016" rtlCol="0" anchor="ctr">
            <a:normAutofit/>
          </a:bodyPr>
          <a:lstStyle/>
          <a:p>
            <a:pPr marL="0" indent="0" algn="ctr">
              <a:buNone/>
            </a:pPr>
            <a:r>
              <a:rPr lang="en-US" sz="1140" b="1" dirty="0">
                <a:solidFill>
                  <a:srgbClr val="F5F7FA"/>
                </a:solidFill>
              </a:rPr>
              <a:t>Evaluate with</a:t>
            </a:r>
            <a:endParaRPr lang="en-US" sz="1140" dirty="0"/>
          </a:p>
          <a:p>
            <a:pPr marL="0" indent="0" algn="ctr">
              <a:buNone/>
            </a:pPr>
            <a:r>
              <a:rPr lang="en-US" sz="1140" b="1" dirty="0">
                <a:solidFill>
                  <a:srgbClr val="F5F7FA"/>
                </a:solidFill>
              </a:rPr>
              <a:t>seven agent lenses</a:t>
            </a:r>
            <a:endParaRPr lang="en-US" sz="1140" dirty="0"/>
          </a:p>
        </p:txBody>
      </p:sp>
      <p:sp>
        <p:nvSpPr>
          <p:cNvPr id="13" name="Text 9"/>
          <p:cNvSpPr/>
          <p:nvPr/>
        </p:nvSpPr>
        <p:spPr>
          <a:xfrm>
            <a:off x="10241280" y="1664208"/>
            <a:ext cx="1417320" cy="1042416"/>
          </a:xfrm>
          <a:prstGeom prst="roundRect">
            <a:avLst>
              <a:gd name="adj" fmla="val 7018"/>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140" b="1" dirty="0">
                <a:solidFill>
                  <a:srgbClr val="F5F7FA"/>
                </a:solidFill>
              </a:rPr>
              <a:t>Report</a:t>
            </a:r>
            <a:endParaRPr lang="en-US" sz="1140" dirty="0"/>
          </a:p>
          <a:p>
            <a:pPr marL="0" indent="0" algn="ctr">
              <a:buNone/>
            </a:pPr>
            <a:r>
              <a:rPr lang="en-US" sz="1140" b="1" dirty="0">
                <a:solidFill>
                  <a:srgbClr val="F5F7FA"/>
                </a:solidFill>
              </a:rPr>
              <a:t>PDF coaching output</a:t>
            </a:r>
            <a:endParaRPr lang="en-US" sz="1140" dirty="0"/>
          </a:p>
        </p:txBody>
      </p:sp>
      <p:sp>
        <p:nvSpPr>
          <p:cNvPr id="14" name="Text 10"/>
          <p:cNvSpPr/>
          <p:nvPr/>
        </p:nvSpPr>
        <p:spPr>
          <a:xfrm>
            <a:off x="4882896" y="3337560"/>
            <a:ext cx="6537960" cy="1005840"/>
          </a:xfrm>
          <a:prstGeom prst="rect">
            <a:avLst/>
          </a:prstGeom>
          <a:noFill/>
          <a:ln/>
        </p:spPr>
        <p:txBody>
          <a:bodyPr wrap="square" lIns="254" tIns="254" rIns="254" bIns="254" rtlCol="0" anchor="t">
            <a:normAutofit/>
          </a:bodyPr>
          <a:lstStyle/>
          <a:p>
            <a:pPr marL="0" indent="0" algn="l">
              <a:buNone/>
            </a:pPr>
            <a:r>
              <a:rPr lang="en-US" sz="1620" dirty="0">
                <a:solidFill>
                  <a:srgbClr val="B2BAC8"/>
                </a:solidFill>
              </a:rPr>
              <a:t>The deliberate split: deterministic processing does the mechanical work, while the agentic layer handles judgment. That separation is what makes the design easier to govern.</a:t>
            </a:r>
            <a:endParaRPr lang="en-US" sz="1620" dirty="0"/>
          </a:p>
        </p:txBody>
      </p:sp>
      <p:sp>
        <p:nvSpPr>
          <p:cNvPr id="15" name="Text 11"/>
          <p:cNvSpPr/>
          <p:nvPr/>
        </p:nvSpPr>
        <p:spPr>
          <a:xfrm>
            <a:off x="5961888" y="4901184"/>
            <a:ext cx="3913632" cy="338328"/>
          </a:xfrm>
          <a:prstGeom prst="roundRect">
            <a:avLst>
              <a:gd name="adj" fmla="val 13514"/>
            </a:avLst>
          </a:prstGeom>
          <a:solidFill>
            <a:srgbClr val="1C2430"/>
          </a:solidFill>
          <a:ln>
            <a:solidFill>
              <a:srgbClr val="1C2430">
                <a:alpha val="0"/>
              </a:srgbClr>
            </a:solidFill>
          </a:ln>
        </p:spPr>
        <p:txBody>
          <a:bodyPr wrap="square" lIns="635" tIns="635" rIns="635" bIns="635" rtlCol="0" anchor="ctr">
            <a:normAutofit/>
          </a:bodyPr>
          <a:lstStyle/>
          <a:p>
            <a:pPr marL="0" indent="0" algn="ctr">
              <a:buNone/>
            </a:pPr>
            <a:r>
              <a:rPr lang="en-US" sz="1000" b="1" dirty="0">
                <a:solidFill>
                  <a:srgbClr val="B2BAC8"/>
                </a:solidFill>
              </a:rPr>
              <a:t>Video is recognized but feature-flagged off in the MVP</a:t>
            </a:r>
            <a:endParaRPr lang="en-US" sz="1000" dirty="0"/>
          </a:p>
        </p:txBody>
      </p:sp>
      <p:sp>
        <p:nvSpPr>
          <p:cNvPr id="16" name="Text 12"/>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Accepted audio formats and video flag behavior come from the end-to-end processing flow.</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DELIVERY MODEL</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fontScale="92500"/>
          </a:bodyPr>
          <a:lstStyle/>
          <a:p>
            <a:pPr marL="0" indent="0">
              <a:buNone/>
            </a:pPr>
            <a:r>
              <a:rPr lang="en-US" sz="2950" b="1" dirty="0">
                <a:solidFill>
                  <a:srgbClr val="F5F7FA"/>
                </a:solidFill>
              </a:rPr>
              <a:t>Build approach: AI-DLC turned the idea into deployable work units</a:t>
            </a:r>
            <a:endParaRPr lang="en-US" sz="2950" dirty="0"/>
          </a:p>
        </p:txBody>
      </p:sp>
      <p:sp>
        <p:nvSpPr>
          <p:cNvPr id="4" name="Text 2"/>
          <p:cNvSpPr/>
          <p:nvPr/>
        </p:nvSpPr>
        <p:spPr>
          <a:xfrm>
            <a:off x="621792" y="1353312"/>
            <a:ext cx="8503920" cy="749808"/>
          </a:xfrm>
          <a:prstGeom prst="rect">
            <a:avLst/>
          </a:prstGeom>
          <a:noFill/>
          <a:ln/>
        </p:spPr>
        <p:txBody>
          <a:bodyPr wrap="square" lIns="254" tIns="254" rIns="254" bIns="254" rtlCol="0" anchor="t">
            <a:normAutofit/>
          </a:bodyPr>
          <a:lstStyle/>
          <a:p>
            <a:pPr marL="0" indent="0" algn="l">
              <a:buNone/>
            </a:pPr>
            <a:r>
              <a:rPr lang="en-US" sz="1720" dirty="0">
                <a:solidFill>
                  <a:srgbClr val="B2BAC8"/>
                </a:solidFill>
              </a:rPr>
              <a:t>The useful lesson is not that code was generated quickly. The useful lesson is that the work was decomposed into independently testable “bolts” with clear contracts.</a:t>
            </a:r>
            <a:endParaRPr lang="en-US" sz="1720" dirty="0"/>
          </a:p>
        </p:txBody>
      </p:sp>
      <p:sp>
        <p:nvSpPr>
          <p:cNvPr id="5" name="Text 3"/>
          <p:cNvSpPr/>
          <p:nvPr/>
        </p:nvSpPr>
        <p:spPr>
          <a:xfrm>
            <a:off x="658368" y="2761488"/>
            <a:ext cx="2084832" cy="530352"/>
          </a:xfrm>
          <a:prstGeom prst="roundRect">
            <a:avLst>
              <a:gd name="adj" fmla="val 13793"/>
            </a:avLst>
          </a:prstGeom>
          <a:solidFill>
            <a:srgbClr val="2F9BFF"/>
          </a:solidFill>
          <a:ln w="13970">
            <a:solidFill>
              <a:srgbClr val="2F9BFF"/>
            </a:solidFill>
          </a:ln>
        </p:spPr>
        <p:txBody>
          <a:bodyPr wrap="square" lIns="1016" tIns="1016" rIns="1016" bIns="1016" rtlCol="0" anchor="ctr">
            <a:normAutofit/>
          </a:bodyPr>
          <a:lstStyle/>
          <a:p>
            <a:pPr marL="0" indent="0" algn="ctr">
              <a:buNone/>
            </a:pPr>
            <a:r>
              <a:rPr lang="en-US" sz="1220" b="1" dirty="0">
                <a:solidFill>
                  <a:srgbClr val="07111E"/>
                </a:solidFill>
              </a:rPr>
              <a:t>Frontend SPA</a:t>
            </a:r>
            <a:endParaRPr lang="en-US" sz="1220" dirty="0"/>
          </a:p>
        </p:txBody>
      </p:sp>
      <p:sp>
        <p:nvSpPr>
          <p:cNvPr id="6" name="Text 4"/>
          <p:cNvSpPr/>
          <p:nvPr/>
        </p:nvSpPr>
        <p:spPr>
          <a:xfrm>
            <a:off x="658368" y="3419856"/>
            <a:ext cx="2084832" cy="987552"/>
          </a:xfrm>
          <a:prstGeom prst="roundRect">
            <a:avLst>
              <a:gd name="adj" fmla="val 7407"/>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050" dirty="0">
                <a:solidFill>
                  <a:srgbClr val="B2BAC8"/>
                </a:solidFill>
              </a:rPr>
              <a:t>Auth, upload UX, responsive web app</a:t>
            </a:r>
            <a:endParaRPr lang="en-US" sz="1050" dirty="0"/>
          </a:p>
        </p:txBody>
      </p:sp>
      <p:sp>
        <p:nvSpPr>
          <p:cNvPr id="7" name="Shape 5"/>
          <p:cNvSpPr/>
          <p:nvPr/>
        </p:nvSpPr>
        <p:spPr>
          <a:xfrm>
            <a:off x="2788920" y="3904488"/>
            <a:ext cx="466344" cy="0"/>
          </a:xfrm>
          <a:prstGeom prst="line">
            <a:avLst/>
          </a:prstGeom>
          <a:noFill/>
          <a:ln w="22860">
            <a:solidFill>
              <a:srgbClr val="1B4C78"/>
            </a:solidFill>
            <a:prstDash val="solid"/>
            <a:headEnd type="none"/>
            <a:tailEnd type="triangle"/>
          </a:ln>
        </p:spPr>
        <p:txBody>
          <a:bodyPr/>
          <a:lstStyle/>
          <a:p>
            <a:endParaRPr lang="en-US"/>
          </a:p>
        </p:txBody>
      </p:sp>
      <p:sp>
        <p:nvSpPr>
          <p:cNvPr id="8" name="Text 6"/>
          <p:cNvSpPr/>
          <p:nvPr/>
        </p:nvSpPr>
        <p:spPr>
          <a:xfrm>
            <a:off x="3337560" y="2761488"/>
            <a:ext cx="2084832" cy="530352"/>
          </a:xfrm>
          <a:prstGeom prst="roundRect">
            <a:avLst>
              <a:gd name="adj" fmla="val 13793"/>
            </a:avLst>
          </a:prstGeom>
          <a:solidFill>
            <a:srgbClr val="59D08F"/>
          </a:solidFill>
          <a:ln w="13970">
            <a:solidFill>
              <a:srgbClr val="59D08F"/>
            </a:solidFill>
          </a:ln>
        </p:spPr>
        <p:txBody>
          <a:bodyPr wrap="square" lIns="1016" tIns="1016" rIns="1016" bIns="1016" rtlCol="0" anchor="ctr">
            <a:normAutofit/>
          </a:bodyPr>
          <a:lstStyle/>
          <a:p>
            <a:pPr marL="0" indent="0" algn="ctr">
              <a:buNone/>
            </a:pPr>
            <a:r>
              <a:rPr lang="en-US" sz="1220" b="1" dirty="0">
                <a:solidFill>
                  <a:srgbClr val="07111E"/>
                </a:solidFill>
              </a:rPr>
              <a:t>Upload &amp; Storage</a:t>
            </a:r>
            <a:endParaRPr lang="en-US" sz="1220" dirty="0"/>
          </a:p>
        </p:txBody>
      </p:sp>
      <p:sp>
        <p:nvSpPr>
          <p:cNvPr id="9" name="Text 7"/>
          <p:cNvSpPr/>
          <p:nvPr/>
        </p:nvSpPr>
        <p:spPr>
          <a:xfrm>
            <a:off x="3337560" y="3419856"/>
            <a:ext cx="2084832" cy="987552"/>
          </a:xfrm>
          <a:prstGeom prst="roundRect">
            <a:avLst>
              <a:gd name="adj" fmla="val 7407"/>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050" dirty="0">
                <a:solidFill>
                  <a:srgbClr val="B2BAC8"/>
                </a:solidFill>
              </a:rPr>
              <a:t>Presigned S3 URL, DynamoDB record, SQS trigger</a:t>
            </a:r>
            <a:endParaRPr lang="en-US" sz="1050" dirty="0"/>
          </a:p>
        </p:txBody>
      </p:sp>
      <p:sp>
        <p:nvSpPr>
          <p:cNvPr id="10" name="Shape 8"/>
          <p:cNvSpPr/>
          <p:nvPr/>
        </p:nvSpPr>
        <p:spPr>
          <a:xfrm>
            <a:off x="5468112" y="3904488"/>
            <a:ext cx="466344" cy="0"/>
          </a:xfrm>
          <a:prstGeom prst="line">
            <a:avLst/>
          </a:prstGeom>
          <a:noFill/>
          <a:ln w="22860">
            <a:solidFill>
              <a:srgbClr val="1B4C78"/>
            </a:solidFill>
            <a:prstDash val="solid"/>
            <a:headEnd type="none"/>
            <a:tailEnd type="triangle"/>
          </a:ln>
        </p:spPr>
        <p:txBody>
          <a:bodyPr/>
          <a:lstStyle/>
          <a:p>
            <a:endParaRPr lang="en-US"/>
          </a:p>
        </p:txBody>
      </p:sp>
      <p:sp>
        <p:nvSpPr>
          <p:cNvPr id="11" name="Text 9"/>
          <p:cNvSpPr/>
          <p:nvPr/>
        </p:nvSpPr>
        <p:spPr>
          <a:xfrm>
            <a:off x="6016752" y="2761488"/>
            <a:ext cx="2084832" cy="530352"/>
          </a:xfrm>
          <a:prstGeom prst="roundRect">
            <a:avLst>
              <a:gd name="adj" fmla="val 13793"/>
            </a:avLst>
          </a:prstGeom>
          <a:solidFill>
            <a:srgbClr val="FFD65A"/>
          </a:solidFill>
          <a:ln w="13970">
            <a:solidFill>
              <a:srgbClr val="FFD65A"/>
            </a:solidFill>
          </a:ln>
        </p:spPr>
        <p:txBody>
          <a:bodyPr wrap="square" lIns="1016" tIns="1016" rIns="1016" bIns="1016" rtlCol="0" anchor="ctr">
            <a:normAutofit/>
          </a:bodyPr>
          <a:lstStyle/>
          <a:p>
            <a:pPr marL="0" indent="0" algn="ctr">
              <a:buNone/>
            </a:pPr>
            <a:r>
              <a:rPr lang="en-US" sz="1220" b="1" dirty="0">
                <a:solidFill>
                  <a:srgbClr val="07111E"/>
                </a:solidFill>
              </a:rPr>
              <a:t>Preparation Workflow</a:t>
            </a:r>
            <a:endParaRPr lang="en-US" sz="1220" dirty="0"/>
          </a:p>
        </p:txBody>
      </p:sp>
      <p:sp>
        <p:nvSpPr>
          <p:cNvPr id="12" name="Text 10"/>
          <p:cNvSpPr/>
          <p:nvPr/>
        </p:nvSpPr>
        <p:spPr>
          <a:xfrm>
            <a:off x="6016752" y="3419856"/>
            <a:ext cx="2084832" cy="987552"/>
          </a:xfrm>
          <a:prstGeom prst="roundRect">
            <a:avLst>
              <a:gd name="adj" fmla="val 7407"/>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050" dirty="0">
                <a:solidFill>
                  <a:srgbClr val="B2BAC8"/>
                </a:solidFill>
              </a:rPr>
              <a:t>Step Functions, Transcribe, chunks, embeddings</a:t>
            </a:r>
            <a:endParaRPr lang="en-US" sz="1050" dirty="0"/>
          </a:p>
        </p:txBody>
      </p:sp>
      <p:sp>
        <p:nvSpPr>
          <p:cNvPr id="13" name="Shape 11"/>
          <p:cNvSpPr/>
          <p:nvPr/>
        </p:nvSpPr>
        <p:spPr>
          <a:xfrm>
            <a:off x="8147304" y="3904488"/>
            <a:ext cx="475488" cy="0"/>
          </a:xfrm>
          <a:prstGeom prst="line">
            <a:avLst/>
          </a:prstGeom>
          <a:noFill/>
          <a:ln w="22860">
            <a:solidFill>
              <a:srgbClr val="1B4C78"/>
            </a:solidFill>
            <a:prstDash val="solid"/>
            <a:headEnd type="none"/>
            <a:tailEnd type="triangle"/>
          </a:ln>
        </p:spPr>
        <p:txBody>
          <a:bodyPr/>
          <a:lstStyle/>
          <a:p>
            <a:endParaRPr lang="en-US"/>
          </a:p>
        </p:txBody>
      </p:sp>
      <p:sp>
        <p:nvSpPr>
          <p:cNvPr id="14" name="Text 12"/>
          <p:cNvSpPr/>
          <p:nvPr/>
        </p:nvSpPr>
        <p:spPr>
          <a:xfrm>
            <a:off x="8705088" y="2761488"/>
            <a:ext cx="2084832" cy="530352"/>
          </a:xfrm>
          <a:prstGeom prst="roundRect">
            <a:avLst>
              <a:gd name="adj" fmla="val 13793"/>
            </a:avLst>
          </a:prstGeom>
          <a:solidFill>
            <a:srgbClr val="B68CFF"/>
          </a:solidFill>
          <a:ln w="13970">
            <a:solidFill>
              <a:srgbClr val="B68CFF"/>
            </a:solidFill>
          </a:ln>
        </p:spPr>
        <p:txBody>
          <a:bodyPr wrap="square" lIns="1016" tIns="1016" rIns="1016" bIns="1016" rtlCol="0" anchor="ctr">
            <a:normAutofit/>
          </a:bodyPr>
          <a:lstStyle/>
          <a:p>
            <a:pPr marL="0" indent="0" algn="ctr">
              <a:buNone/>
            </a:pPr>
            <a:r>
              <a:rPr lang="en-US" sz="1220" b="1" dirty="0">
                <a:solidFill>
                  <a:srgbClr val="07111E"/>
                </a:solidFill>
              </a:rPr>
              <a:t>Agentic Evaluation</a:t>
            </a:r>
            <a:endParaRPr lang="en-US" sz="1220" dirty="0"/>
          </a:p>
        </p:txBody>
      </p:sp>
      <p:sp>
        <p:nvSpPr>
          <p:cNvPr id="15" name="Text 13"/>
          <p:cNvSpPr/>
          <p:nvPr/>
        </p:nvSpPr>
        <p:spPr>
          <a:xfrm>
            <a:off x="8705088" y="3419856"/>
            <a:ext cx="2084832" cy="987552"/>
          </a:xfrm>
          <a:prstGeom prst="roundRect">
            <a:avLst>
              <a:gd name="adj" fmla="val 7407"/>
            </a:avLst>
          </a:prstGeom>
          <a:solidFill>
            <a:srgbClr val="0B1828"/>
          </a:solidFill>
          <a:ln w="13970">
            <a:solidFill>
              <a:srgbClr val="B68CFF"/>
            </a:solidFill>
          </a:ln>
        </p:spPr>
        <p:txBody>
          <a:bodyPr wrap="square" lIns="1016" tIns="1016" rIns="1016" bIns="1016" rtlCol="0" anchor="ctr">
            <a:normAutofit/>
          </a:bodyPr>
          <a:lstStyle/>
          <a:p>
            <a:pPr marL="0" indent="0" algn="ctr">
              <a:buNone/>
            </a:pPr>
            <a:r>
              <a:rPr lang="en-US" sz="1050" dirty="0">
                <a:solidFill>
                  <a:srgbClr val="B2BAC8"/>
                </a:solidFill>
              </a:rPr>
              <a:t>Supervisor + seven evaluators + report generator</a:t>
            </a:r>
            <a:endParaRPr lang="en-US" sz="1050" dirty="0"/>
          </a:p>
        </p:txBody>
      </p:sp>
      <p:sp>
        <p:nvSpPr>
          <p:cNvPr id="16" name="Text 14"/>
          <p:cNvSpPr/>
          <p:nvPr/>
        </p:nvSpPr>
        <p:spPr>
          <a:xfrm>
            <a:off x="950976" y="5084064"/>
            <a:ext cx="2011680" cy="530352"/>
          </a:xfrm>
          <a:prstGeom prst="rect">
            <a:avLst/>
          </a:prstGeom>
          <a:noFill/>
          <a:ln/>
        </p:spPr>
        <p:txBody>
          <a:bodyPr wrap="square" lIns="0" tIns="0" rIns="0" bIns="0" rtlCol="0" anchor="ctr">
            <a:normAutofit/>
          </a:bodyPr>
          <a:lstStyle/>
          <a:p>
            <a:pPr marL="0" indent="0" algn="ctr">
              <a:buNone/>
            </a:pPr>
            <a:r>
              <a:rPr lang="en-US" sz="2600" b="1" dirty="0">
                <a:solidFill>
                  <a:srgbClr val="59C4FF"/>
                </a:solidFill>
              </a:rPr>
              <a:t>&lt;7 days</a:t>
            </a:r>
            <a:endParaRPr lang="en-US" sz="2600" dirty="0"/>
          </a:p>
        </p:txBody>
      </p:sp>
      <p:sp>
        <p:nvSpPr>
          <p:cNvPr id="17" name="Text 15"/>
          <p:cNvSpPr/>
          <p:nvPr/>
        </p:nvSpPr>
        <p:spPr>
          <a:xfrm>
            <a:off x="950976" y="5669280"/>
            <a:ext cx="2011680" cy="384048"/>
          </a:xfrm>
          <a:prstGeom prst="rect">
            <a:avLst/>
          </a:prstGeom>
          <a:noFill/>
          <a:ln/>
        </p:spPr>
        <p:txBody>
          <a:bodyPr wrap="square" lIns="254" tIns="254" rIns="254" bIns="254" rtlCol="0" anchor="ctr">
            <a:normAutofit/>
          </a:bodyPr>
          <a:lstStyle/>
          <a:p>
            <a:pPr marL="0" indent="0" algn="ctr">
              <a:buNone/>
            </a:pPr>
            <a:r>
              <a:rPr lang="en-US" sz="1050" dirty="0">
                <a:solidFill>
                  <a:srgbClr val="B2BAC8"/>
                </a:solidFill>
              </a:rPr>
              <a:t>elapsed build window</a:t>
            </a:r>
            <a:endParaRPr lang="en-US" sz="1050" dirty="0"/>
          </a:p>
        </p:txBody>
      </p:sp>
      <p:sp>
        <p:nvSpPr>
          <p:cNvPr id="18" name="Text 16"/>
          <p:cNvSpPr/>
          <p:nvPr/>
        </p:nvSpPr>
        <p:spPr>
          <a:xfrm>
            <a:off x="3767328" y="5084064"/>
            <a:ext cx="1828800" cy="530352"/>
          </a:xfrm>
          <a:prstGeom prst="rect">
            <a:avLst/>
          </a:prstGeom>
          <a:noFill/>
          <a:ln/>
        </p:spPr>
        <p:txBody>
          <a:bodyPr wrap="square" lIns="0" tIns="0" rIns="0" bIns="0" rtlCol="0" anchor="ctr">
            <a:normAutofit/>
          </a:bodyPr>
          <a:lstStyle/>
          <a:p>
            <a:pPr marL="0" indent="0" algn="ctr">
              <a:buNone/>
            </a:pPr>
            <a:r>
              <a:rPr lang="en-US" sz="2600" b="1" dirty="0">
                <a:solidFill>
                  <a:srgbClr val="59D08F"/>
                </a:solidFill>
              </a:rPr>
              <a:t>9</a:t>
            </a:r>
            <a:endParaRPr lang="en-US" sz="2600" dirty="0"/>
          </a:p>
        </p:txBody>
      </p:sp>
      <p:sp>
        <p:nvSpPr>
          <p:cNvPr id="19" name="Text 17"/>
          <p:cNvSpPr/>
          <p:nvPr/>
        </p:nvSpPr>
        <p:spPr>
          <a:xfrm>
            <a:off x="3767328" y="5669280"/>
            <a:ext cx="1828800" cy="384048"/>
          </a:xfrm>
          <a:prstGeom prst="rect">
            <a:avLst/>
          </a:prstGeom>
          <a:noFill/>
          <a:ln/>
        </p:spPr>
        <p:txBody>
          <a:bodyPr wrap="square" lIns="254" tIns="254" rIns="254" bIns="254" rtlCol="0" anchor="ctr">
            <a:normAutofit/>
          </a:bodyPr>
          <a:lstStyle/>
          <a:p>
            <a:pPr marL="0" indent="0" algn="ctr">
              <a:buNone/>
            </a:pPr>
            <a:r>
              <a:rPr lang="en-US" sz="1050" dirty="0">
                <a:solidFill>
                  <a:srgbClr val="B2BAC8"/>
                </a:solidFill>
              </a:rPr>
              <a:t>CI/CD pipelines</a:t>
            </a:r>
            <a:endParaRPr lang="en-US" sz="1050" dirty="0"/>
          </a:p>
        </p:txBody>
      </p:sp>
      <p:sp>
        <p:nvSpPr>
          <p:cNvPr id="20" name="Text 18"/>
          <p:cNvSpPr/>
          <p:nvPr/>
        </p:nvSpPr>
        <p:spPr>
          <a:xfrm>
            <a:off x="6291072" y="5084064"/>
            <a:ext cx="1645920" cy="530352"/>
          </a:xfrm>
          <a:prstGeom prst="rect">
            <a:avLst/>
          </a:prstGeom>
          <a:noFill/>
          <a:ln/>
        </p:spPr>
        <p:txBody>
          <a:bodyPr wrap="square" lIns="0" tIns="0" rIns="0" bIns="0" rtlCol="0" anchor="ctr">
            <a:normAutofit/>
          </a:bodyPr>
          <a:lstStyle/>
          <a:p>
            <a:pPr marL="0" indent="0" algn="ctr">
              <a:buNone/>
            </a:pPr>
            <a:r>
              <a:rPr lang="en-US" sz="2600" b="1" dirty="0">
                <a:solidFill>
                  <a:srgbClr val="FFD65A"/>
                </a:solidFill>
              </a:rPr>
              <a:t>0</a:t>
            </a:r>
            <a:endParaRPr lang="en-US" sz="2600" dirty="0"/>
          </a:p>
        </p:txBody>
      </p:sp>
      <p:sp>
        <p:nvSpPr>
          <p:cNvPr id="21" name="Text 19"/>
          <p:cNvSpPr/>
          <p:nvPr/>
        </p:nvSpPr>
        <p:spPr>
          <a:xfrm>
            <a:off x="6291072" y="5669280"/>
            <a:ext cx="1645920" cy="384048"/>
          </a:xfrm>
          <a:prstGeom prst="rect">
            <a:avLst/>
          </a:prstGeom>
          <a:noFill/>
          <a:ln/>
        </p:spPr>
        <p:txBody>
          <a:bodyPr wrap="square" lIns="254" tIns="254" rIns="254" bIns="254" rtlCol="0" anchor="ctr">
            <a:normAutofit/>
          </a:bodyPr>
          <a:lstStyle/>
          <a:p>
            <a:pPr marL="0" indent="0" algn="ctr">
              <a:buNone/>
            </a:pPr>
            <a:r>
              <a:rPr lang="en-US" sz="1050" dirty="0">
                <a:solidFill>
                  <a:srgbClr val="B2BAC8"/>
                </a:solidFill>
              </a:rPr>
              <a:t>servers managed</a:t>
            </a:r>
            <a:endParaRPr lang="en-US" sz="1050" dirty="0"/>
          </a:p>
        </p:txBody>
      </p:sp>
      <p:sp>
        <p:nvSpPr>
          <p:cNvPr id="22" name="Text 20"/>
          <p:cNvSpPr/>
          <p:nvPr/>
        </p:nvSpPr>
        <p:spPr>
          <a:xfrm>
            <a:off x="8540496" y="5084064"/>
            <a:ext cx="2011680" cy="530352"/>
          </a:xfrm>
          <a:prstGeom prst="rect">
            <a:avLst/>
          </a:prstGeom>
          <a:noFill/>
          <a:ln/>
        </p:spPr>
        <p:txBody>
          <a:bodyPr wrap="square" lIns="0" tIns="0" rIns="0" bIns="0" rtlCol="0" anchor="ctr">
            <a:normAutofit/>
          </a:bodyPr>
          <a:lstStyle/>
          <a:p>
            <a:pPr marL="0" indent="0" algn="ctr">
              <a:buNone/>
            </a:pPr>
            <a:r>
              <a:rPr lang="en-US" sz="2600" b="1" dirty="0">
                <a:solidFill>
                  <a:srgbClr val="FF9B55"/>
                </a:solidFill>
              </a:rPr>
              <a:t>~$0</a:t>
            </a:r>
            <a:endParaRPr lang="en-US" sz="2600" dirty="0"/>
          </a:p>
        </p:txBody>
      </p:sp>
      <p:sp>
        <p:nvSpPr>
          <p:cNvPr id="23" name="Text 21"/>
          <p:cNvSpPr/>
          <p:nvPr/>
        </p:nvSpPr>
        <p:spPr>
          <a:xfrm>
            <a:off x="8540496" y="5669280"/>
            <a:ext cx="2011680" cy="384048"/>
          </a:xfrm>
          <a:prstGeom prst="rect">
            <a:avLst/>
          </a:prstGeom>
          <a:noFill/>
          <a:ln/>
        </p:spPr>
        <p:txBody>
          <a:bodyPr wrap="square" lIns="254" tIns="254" rIns="254" bIns="254" rtlCol="0" anchor="ctr">
            <a:normAutofit/>
          </a:bodyPr>
          <a:lstStyle/>
          <a:p>
            <a:pPr marL="0" indent="0" algn="ctr">
              <a:buNone/>
            </a:pPr>
            <a:r>
              <a:rPr lang="en-US" sz="1050" dirty="0">
                <a:solidFill>
                  <a:srgbClr val="B2BAC8"/>
                </a:solidFill>
              </a:rPr>
              <a:t>idle architecture cost</a:t>
            </a:r>
            <a:endParaRPr lang="en-US" sz="1050" dirty="0"/>
          </a:p>
        </p:txBody>
      </p:sp>
      <p:sp>
        <p:nvSpPr>
          <p:cNvPr id="24" name="Text 22"/>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Retrospective describes four work units, bolt-based interfaces, CI/CD pipelines, and zero-idle service selection.</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RUNTIME FLOW</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End-to-end processing is event-driven and inspectable</a:t>
            </a:r>
            <a:endParaRPr lang="en-US" sz="2950" dirty="0"/>
          </a:p>
        </p:txBody>
      </p:sp>
      <p:sp>
        <p:nvSpPr>
          <p:cNvPr id="4" name="Text 2"/>
          <p:cNvSpPr/>
          <p:nvPr/>
        </p:nvSpPr>
        <p:spPr>
          <a:xfrm>
            <a:off x="502920" y="1828800"/>
            <a:ext cx="1417320" cy="512064"/>
          </a:xfrm>
          <a:prstGeom prst="roundRect">
            <a:avLst>
              <a:gd name="adj" fmla="val 14286"/>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20" b="1" dirty="0">
                <a:solidFill>
                  <a:srgbClr val="F5F7FA"/>
                </a:solidFill>
              </a:rPr>
              <a:t>Cognito + SPA</a:t>
            </a:r>
            <a:endParaRPr lang="en-US" sz="1020" dirty="0"/>
          </a:p>
        </p:txBody>
      </p:sp>
      <p:sp>
        <p:nvSpPr>
          <p:cNvPr id="5" name="Text 3"/>
          <p:cNvSpPr/>
          <p:nvPr/>
        </p:nvSpPr>
        <p:spPr>
          <a:xfrm>
            <a:off x="502920"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User signs in and submits metadata</a:t>
            </a:r>
            <a:endParaRPr lang="en-US" sz="880" dirty="0"/>
          </a:p>
        </p:txBody>
      </p:sp>
      <p:sp>
        <p:nvSpPr>
          <p:cNvPr id="6" name="Shape 4"/>
          <p:cNvSpPr/>
          <p:nvPr/>
        </p:nvSpPr>
        <p:spPr>
          <a:xfrm>
            <a:off x="1947672" y="2084832"/>
            <a:ext cx="274320" cy="0"/>
          </a:xfrm>
          <a:prstGeom prst="line">
            <a:avLst/>
          </a:prstGeom>
          <a:noFill/>
          <a:ln w="22860">
            <a:solidFill>
              <a:srgbClr val="1B4C78"/>
            </a:solidFill>
            <a:prstDash val="solid"/>
            <a:headEnd type="none"/>
            <a:tailEnd type="triangle"/>
          </a:ln>
        </p:spPr>
        <p:txBody>
          <a:bodyPr/>
          <a:lstStyle/>
          <a:p>
            <a:endParaRPr lang="en-US"/>
          </a:p>
        </p:txBody>
      </p:sp>
      <p:sp>
        <p:nvSpPr>
          <p:cNvPr id="7" name="Text 5"/>
          <p:cNvSpPr/>
          <p:nvPr/>
        </p:nvSpPr>
        <p:spPr>
          <a:xfrm>
            <a:off x="2167128" y="1828800"/>
            <a:ext cx="1417320" cy="512064"/>
          </a:xfrm>
          <a:prstGeom prst="roundRect">
            <a:avLst>
              <a:gd name="adj" fmla="val 14286"/>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20" b="1" dirty="0">
                <a:solidFill>
                  <a:srgbClr val="F5F7FA"/>
                </a:solidFill>
              </a:rPr>
              <a:t>S3 upload</a:t>
            </a:r>
            <a:endParaRPr lang="en-US" sz="1020" dirty="0"/>
          </a:p>
        </p:txBody>
      </p:sp>
      <p:sp>
        <p:nvSpPr>
          <p:cNvPr id="8" name="Text 6"/>
          <p:cNvSpPr/>
          <p:nvPr/>
        </p:nvSpPr>
        <p:spPr>
          <a:xfrm>
            <a:off x="2167128"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Client uploads directly through presigned URL</a:t>
            </a:r>
            <a:endParaRPr lang="en-US" sz="880" dirty="0"/>
          </a:p>
        </p:txBody>
      </p:sp>
      <p:sp>
        <p:nvSpPr>
          <p:cNvPr id="9" name="Shape 7"/>
          <p:cNvSpPr/>
          <p:nvPr/>
        </p:nvSpPr>
        <p:spPr>
          <a:xfrm>
            <a:off x="3611880" y="2084832"/>
            <a:ext cx="274320" cy="0"/>
          </a:xfrm>
          <a:prstGeom prst="line">
            <a:avLst/>
          </a:prstGeom>
          <a:noFill/>
          <a:ln w="22860">
            <a:solidFill>
              <a:srgbClr val="1B4C78"/>
            </a:solidFill>
            <a:prstDash val="solid"/>
            <a:headEnd type="none"/>
            <a:tailEnd type="triangle"/>
          </a:ln>
        </p:spPr>
        <p:txBody>
          <a:bodyPr/>
          <a:lstStyle/>
          <a:p>
            <a:endParaRPr lang="en-US"/>
          </a:p>
        </p:txBody>
      </p:sp>
      <p:sp>
        <p:nvSpPr>
          <p:cNvPr id="10" name="Text 8"/>
          <p:cNvSpPr/>
          <p:nvPr/>
        </p:nvSpPr>
        <p:spPr>
          <a:xfrm>
            <a:off x="3831336" y="1828800"/>
            <a:ext cx="1417320" cy="512064"/>
          </a:xfrm>
          <a:prstGeom prst="roundRect">
            <a:avLst>
              <a:gd name="adj" fmla="val 14286"/>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20" b="1" dirty="0">
                <a:solidFill>
                  <a:srgbClr val="F5F7FA"/>
                </a:solidFill>
              </a:rPr>
              <a:t>DynamoDB</a:t>
            </a:r>
            <a:endParaRPr lang="en-US" sz="1020" dirty="0"/>
          </a:p>
        </p:txBody>
      </p:sp>
      <p:sp>
        <p:nvSpPr>
          <p:cNvPr id="11" name="Text 9"/>
          <p:cNvSpPr/>
          <p:nvPr/>
        </p:nvSpPr>
        <p:spPr>
          <a:xfrm>
            <a:off x="3831336"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Submission state starts as Pending</a:t>
            </a:r>
            <a:endParaRPr lang="en-US" sz="880" dirty="0"/>
          </a:p>
        </p:txBody>
      </p:sp>
      <p:sp>
        <p:nvSpPr>
          <p:cNvPr id="12" name="Shape 10"/>
          <p:cNvSpPr/>
          <p:nvPr/>
        </p:nvSpPr>
        <p:spPr>
          <a:xfrm>
            <a:off x="5276088" y="2084832"/>
            <a:ext cx="274320" cy="0"/>
          </a:xfrm>
          <a:prstGeom prst="line">
            <a:avLst/>
          </a:prstGeom>
          <a:noFill/>
          <a:ln w="22860">
            <a:solidFill>
              <a:srgbClr val="1B4C78"/>
            </a:solidFill>
            <a:prstDash val="solid"/>
            <a:headEnd type="none"/>
            <a:tailEnd type="triangle"/>
          </a:ln>
        </p:spPr>
        <p:txBody>
          <a:bodyPr/>
          <a:lstStyle/>
          <a:p>
            <a:endParaRPr lang="en-US"/>
          </a:p>
        </p:txBody>
      </p:sp>
      <p:sp>
        <p:nvSpPr>
          <p:cNvPr id="13" name="Text 11"/>
          <p:cNvSpPr/>
          <p:nvPr/>
        </p:nvSpPr>
        <p:spPr>
          <a:xfrm>
            <a:off x="5495544" y="1828800"/>
            <a:ext cx="1417320" cy="512064"/>
          </a:xfrm>
          <a:prstGeom prst="roundRect">
            <a:avLst>
              <a:gd name="adj" fmla="val 14286"/>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20" b="1" dirty="0">
                <a:solidFill>
                  <a:srgbClr val="F5F7FA"/>
                </a:solidFill>
              </a:rPr>
              <a:t>SQS → Pipe</a:t>
            </a:r>
            <a:endParaRPr lang="en-US" sz="1020" dirty="0"/>
          </a:p>
        </p:txBody>
      </p:sp>
      <p:sp>
        <p:nvSpPr>
          <p:cNvPr id="14" name="Text 12"/>
          <p:cNvSpPr/>
          <p:nvPr/>
        </p:nvSpPr>
        <p:spPr>
          <a:xfrm>
            <a:off x="5495544"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EventBridge starts one workflow per message</a:t>
            </a:r>
            <a:endParaRPr lang="en-US" sz="880" dirty="0"/>
          </a:p>
        </p:txBody>
      </p:sp>
      <p:sp>
        <p:nvSpPr>
          <p:cNvPr id="15" name="Shape 13"/>
          <p:cNvSpPr/>
          <p:nvPr/>
        </p:nvSpPr>
        <p:spPr>
          <a:xfrm>
            <a:off x="6940296" y="2084832"/>
            <a:ext cx="274320" cy="0"/>
          </a:xfrm>
          <a:prstGeom prst="line">
            <a:avLst/>
          </a:prstGeom>
          <a:noFill/>
          <a:ln w="22860">
            <a:solidFill>
              <a:srgbClr val="1B4C78"/>
            </a:solidFill>
            <a:prstDash val="solid"/>
            <a:headEnd type="none"/>
            <a:tailEnd type="triangle"/>
          </a:ln>
        </p:spPr>
        <p:txBody>
          <a:bodyPr/>
          <a:lstStyle/>
          <a:p>
            <a:endParaRPr lang="en-US"/>
          </a:p>
        </p:txBody>
      </p:sp>
      <p:sp>
        <p:nvSpPr>
          <p:cNvPr id="16" name="Text 14"/>
          <p:cNvSpPr/>
          <p:nvPr/>
        </p:nvSpPr>
        <p:spPr>
          <a:xfrm>
            <a:off x="7159752" y="1828800"/>
            <a:ext cx="1417320" cy="512064"/>
          </a:xfrm>
          <a:prstGeom prst="roundRect">
            <a:avLst>
              <a:gd name="adj" fmla="val 14286"/>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020" b="1" dirty="0">
                <a:solidFill>
                  <a:srgbClr val="F5F7FA"/>
                </a:solidFill>
              </a:rPr>
              <a:t>Step Functions</a:t>
            </a:r>
            <a:endParaRPr lang="en-US" sz="1020" dirty="0"/>
          </a:p>
        </p:txBody>
      </p:sp>
      <p:sp>
        <p:nvSpPr>
          <p:cNvPr id="17" name="Text 15"/>
          <p:cNvSpPr/>
          <p:nvPr/>
        </p:nvSpPr>
        <p:spPr>
          <a:xfrm>
            <a:off x="7159752"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Validate, transcribe, chunk, optionally embed</a:t>
            </a:r>
            <a:endParaRPr lang="en-US" sz="880" dirty="0"/>
          </a:p>
        </p:txBody>
      </p:sp>
      <p:sp>
        <p:nvSpPr>
          <p:cNvPr id="18" name="Shape 16"/>
          <p:cNvSpPr/>
          <p:nvPr/>
        </p:nvSpPr>
        <p:spPr>
          <a:xfrm>
            <a:off x="8604504" y="2084832"/>
            <a:ext cx="274320" cy="0"/>
          </a:xfrm>
          <a:prstGeom prst="line">
            <a:avLst/>
          </a:prstGeom>
          <a:noFill/>
          <a:ln w="22860">
            <a:solidFill>
              <a:srgbClr val="1B4C78"/>
            </a:solidFill>
            <a:prstDash val="solid"/>
            <a:headEnd type="none"/>
            <a:tailEnd type="triangle"/>
          </a:ln>
        </p:spPr>
        <p:txBody>
          <a:bodyPr/>
          <a:lstStyle/>
          <a:p>
            <a:endParaRPr lang="en-US"/>
          </a:p>
        </p:txBody>
      </p:sp>
      <p:sp>
        <p:nvSpPr>
          <p:cNvPr id="19" name="Text 17"/>
          <p:cNvSpPr/>
          <p:nvPr/>
        </p:nvSpPr>
        <p:spPr>
          <a:xfrm>
            <a:off x="8823960" y="1828800"/>
            <a:ext cx="1417320" cy="512064"/>
          </a:xfrm>
          <a:prstGeom prst="roundRect">
            <a:avLst>
              <a:gd name="adj" fmla="val 14286"/>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020" b="1" dirty="0">
                <a:solidFill>
                  <a:srgbClr val="F5F7FA"/>
                </a:solidFill>
              </a:rPr>
              <a:t>ECS Task</a:t>
            </a:r>
            <a:endParaRPr lang="en-US" sz="1020" dirty="0"/>
          </a:p>
        </p:txBody>
      </p:sp>
      <p:sp>
        <p:nvSpPr>
          <p:cNvPr id="20" name="Text 18"/>
          <p:cNvSpPr/>
          <p:nvPr/>
        </p:nvSpPr>
        <p:spPr>
          <a:xfrm>
            <a:off x="8823960"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Supervisor Agent and other key Functions</a:t>
            </a:r>
            <a:endParaRPr lang="en-US" sz="880" dirty="0"/>
          </a:p>
        </p:txBody>
      </p:sp>
      <p:sp>
        <p:nvSpPr>
          <p:cNvPr id="21" name="Shape 19"/>
          <p:cNvSpPr/>
          <p:nvPr/>
        </p:nvSpPr>
        <p:spPr>
          <a:xfrm>
            <a:off x="10268712" y="2084832"/>
            <a:ext cx="274320" cy="0"/>
          </a:xfrm>
          <a:prstGeom prst="line">
            <a:avLst/>
          </a:prstGeom>
          <a:noFill/>
          <a:ln w="22860">
            <a:solidFill>
              <a:srgbClr val="1B4C78"/>
            </a:solidFill>
            <a:prstDash val="solid"/>
            <a:headEnd type="none"/>
            <a:tailEnd type="triangle"/>
          </a:ln>
        </p:spPr>
        <p:txBody>
          <a:bodyPr/>
          <a:lstStyle/>
          <a:p>
            <a:endParaRPr lang="en-US"/>
          </a:p>
        </p:txBody>
      </p:sp>
      <p:sp>
        <p:nvSpPr>
          <p:cNvPr id="22" name="Text 20"/>
          <p:cNvSpPr/>
          <p:nvPr/>
        </p:nvSpPr>
        <p:spPr>
          <a:xfrm>
            <a:off x="10488168" y="1828800"/>
            <a:ext cx="1417320" cy="512064"/>
          </a:xfrm>
          <a:prstGeom prst="roundRect">
            <a:avLst>
              <a:gd name="adj" fmla="val 14286"/>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020" b="1" dirty="0" err="1">
                <a:solidFill>
                  <a:srgbClr val="F5F7FA"/>
                </a:solidFill>
              </a:rPr>
              <a:t>AgentCore</a:t>
            </a:r>
            <a:endParaRPr lang="en-US" sz="1020" dirty="0"/>
          </a:p>
        </p:txBody>
      </p:sp>
      <p:sp>
        <p:nvSpPr>
          <p:cNvPr id="23" name="Text 21"/>
          <p:cNvSpPr/>
          <p:nvPr/>
        </p:nvSpPr>
        <p:spPr>
          <a:xfrm>
            <a:off x="10488168" y="2432304"/>
            <a:ext cx="1417320" cy="768096"/>
          </a:xfrm>
          <a:prstGeom prst="rect">
            <a:avLst/>
          </a:prstGeom>
          <a:noFill/>
          <a:ln/>
        </p:spPr>
        <p:txBody>
          <a:bodyPr wrap="square" lIns="254" tIns="254" rIns="254" bIns="254" rtlCol="0" anchor="t">
            <a:normAutofit/>
          </a:bodyPr>
          <a:lstStyle/>
          <a:p>
            <a:pPr marL="0" indent="0" algn="ctr">
              <a:buNone/>
            </a:pPr>
            <a:r>
              <a:rPr lang="en-US" sz="880" dirty="0">
                <a:solidFill>
                  <a:srgbClr val="B2BAC8"/>
                </a:solidFill>
              </a:rPr>
              <a:t>Agents evaluate and generate report</a:t>
            </a:r>
            <a:endParaRPr lang="en-US" sz="880" dirty="0"/>
          </a:p>
        </p:txBody>
      </p:sp>
      <p:sp>
        <p:nvSpPr>
          <p:cNvPr id="24" name="Text 22"/>
          <p:cNvSpPr/>
          <p:nvPr/>
        </p:nvSpPr>
        <p:spPr>
          <a:xfrm>
            <a:off x="749808" y="4151376"/>
            <a:ext cx="6766560" cy="960120"/>
          </a:xfrm>
          <a:prstGeom prst="rect">
            <a:avLst/>
          </a:prstGeom>
          <a:noFill/>
          <a:ln/>
        </p:spPr>
        <p:txBody>
          <a:bodyPr wrap="square" lIns="254" tIns="254" rIns="254" bIns="254" rtlCol="0" anchor="t">
            <a:normAutofit/>
          </a:bodyPr>
          <a:lstStyle/>
          <a:p>
            <a:pPr marL="0" indent="0" algn="l">
              <a:buNone/>
            </a:pPr>
            <a:r>
              <a:rPr lang="en-US" sz="1550" dirty="0">
                <a:solidFill>
                  <a:srgbClr val="B2BAC8"/>
                </a:solidFill>
              </a:rPr>
              <a:t>The handoff contract matters more than the tool choice. The upload service does not know how evaluation works. The evaluator does not care how the file arrived. That keeps each boundary testable and replaceable.</a:t>
            </a:r>
            <a:endParaRPr lang="en-US" sz="1550" dirty="0"/>
          </a:p>
        </p:txBody>
      </p:sp>
      <p:sp>
        <p:nvSpPr>
          <p:cNvPr id="25" name="Text 23"/>
          <p:cNvSpPr/>
          <p:nvPr/>
        </p:nvSpPr>
        <p:spPr>
          <a:xfrm>
            <a:off x="8101584" y="3950208"/>
            <a:ext cx="2962656" cy="768096"/>
          </a:xfrm>
          <a:prstGeom prst="roundRect">
            <a:avLst>
              <a:gd name="adj" fmla="val 9524"/>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240" b="1" dirty="0">
                <a:solidFill>
                  <a:srgbClr val="F5F7FA"/>
                </a:solidFill>
              </a:rPr>
              <a:t>State transitions</a:t>
            </a:r>
            <a:endParaRPr lang="en-US" sz="1240" dirty="0"/>
          </a:p>
          <a:p>
            <a:pPr marL="0" indent="0" algn="ctr">
              <a:buNone/>
            </a:pPr>
            <a:r>
              <a:rPr lang="en-US" sz="1240" b="1" dirty="0">
                <a:solidFill>
                  <a:srgbClr val="F5F7FA"/>
                </a:solidFill>
              </a:rPr>
              <a:t>Pending → Processing → Completed</a:t>
            </a:r>
            <a:endParaRPr lang="en-US" sz="1240" dirty="0"/>
          </a:p>
          <a:p>
            <a:pPr marL="0" indent="0" algn="ctr">
              <a:buNone/>
            </a:pPr>
            <a:r>
              <a:rPr lang="en-US" sz="1240" b="1" dirty="0">
                <a:solidFill>
                  <a:srgbClr val="F5F7FA"/>
                </a:solidFill>
              </a:rPr>
              <a:t>or Failed</a:t>
            </a:r>
            <a:endParaRPr lang="en-US" sz="1240" dirty="0"/>
          </a:p>
        </p:txBody>
      </p:sp>
      <p:sp>
        <p:nvSpPr>
          <p:cNvPr id="26" name="Text 24"/>
          <p:cNvSpPr/>
          <p:nvPr/>
        </p:nvSpPr>
        <p:spPr>
          <a:xfrm>
            <a:off x="8101584" y="4974336"/>
            <a:ext cx="2962656" cy="768096"/>
          </a:xfrm>
          <a:prstGeom prst="roundRect">
            <a:avLst>
              <a:gd name="adj" fmla="val 9524"/>
            </a:avLst>
          </a:prstGeom>
          <a:solidFill>
            <a:srgbClr val="0B1828"/>
          </a:solidFill>
          <a:ln w="13970">
            <a:solidFill>
              <a:srgbClr val="FF6B6B"/>
            </a:solidFill>
          </a:ln>
        </p:spPr>
        <p:txBody>
          <a:bodyPr wrap="square" lIns="1016" tIns="1016" rIns="1016" bIns="1016" rtlCol="0" anchor="ctr">
            <a:normAutofit/>
          </a:bodyPr>
          <a:lstStyle/>
          <a:p>
            <a:pPr marL="0" indent="0" algn="ctr">
              <a:buNone/>
            </a:pPr>
            <a:r>
              <a:rPr lang="en-US" sz="1240" b="1" dirty="0">
                <a:solidFill>
                  <a:srgbClr val="F5F7FA"/>
                </a:solidFill>
              </a:rPr>
              <a:t>Failure path</a:t>
            </a:r>
            <a:endParaRPr lang="en-US" sz="1240" dirty="0"/>
          </a:p>
          <a:p>
            <a:pPr marL="0" indent="0" algn="ctr">
              <a:buNone/>
            </a:pPr>
            <a:r>
              <a:rPr lang="en-US" sz="1240" b="1" dirty="0">
                <a:solidFill>
                  <a:srgbClr val="F5F7FA"/>
                </a:solidFill>
              </a:rPr>
              <a:t>retries → HandleFailure → SNS + DLQ</a:t>
            </a:r>
            <a:endParaRPr lang="en-US" sz="1240" dirty="0"/>
          </a:p>
        </p:txBody>
      </p:sp>
      <p:sp>
        <p:nvSpPr>
          <p:cNvPr id="27" name="Text 25"/>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Flow reflects the documented happy path, state machine sequence, S3 objects, DynamoDB transitions, retries, SNS, and DLQs.</a:t>
            </a:r>
            <a:endParaRPr lang="en-US" sz="850" dirty="0"/>
          </a:p>
        </p:txBody>
      </p:sp>
      <p:sp>
        <p:nvSpPr>
          <p:cNvPr id="28"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AWS DESIGN</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Architecture, viewed like a CTO would review it</a:t>
            </a:r>
            <a:endParaRPr lang="en-US" sz="2950" dirty="0"/>
          </a:p>
        </p:txBody>
      </p:sp>
      <p:sp>
        <p:nvSpPr>
          <p:cNvPr id="4" name="Shape 2"/>
          <p:cNvSpPr/>
          <p:nvPr/>
        </p:nvSpPr>
        <p:spPr>
          <a:xfrm>
            <a:off x="1527048" y="2011680"/>
            <a:ext cx="832104" cy="0"/>
          </a:xfrm>
          <a:prstGeom prst="line">
            <a:avLst/>
          </a:prstGeom>
          <a:noFill/>
          <a:ln w="22860">
            <a:solidFill>
              <a:srgbClr val="2F9BFF"/>
            </a:solidFill>
            <a:prstDash val="solid"/>
            <a:headEnd type="none"/>
            <a:tailEnd type="triangle"/>
          </a:ln>
        </p:spPr>
        <p:txBody>
          <a:bodyPr/>
          <a:lstStyle/>
          <a:p>
            <a:endParaRPr lang="en-US"/>
          </a:p>
        </p:txBody>
      </p:sp>
      <p:sp>
        <p:nvSpPr>
          <p:cNvPr id="5" name="Shape 3"/>
          <p:cNvSpPr/>
          <p:nvPr/>
        </p:nvSpPr>
        <p:spPr>
          <a:xfrm>
            <a:off x="3547872" y="2011680"/>
            <a:ext cx="768096" cy="0"/>
          </a:xfrm>
          <a:prstGeom prst="line">
            <a:avLst/>
          </a:prstGeom>
          <a:noFill/>
          <a:ln w="22860">
            <a:solidFill>
              <a:srgbClr val="2F9BFF"/>
            </a:solidFill>
            <a:prstDash val="solid"/>
            <a:headEnd type="none"/>
            <a:tailEnd type="triangle"/>
          </a:ln>
        </p:spPr>
        <p:txBody>
          <a:bodyPr/>
          <a:lstStyle/>
          <a:p>
            <a:endParaRPr lang="en-US"/>
          </a:p>
        </p:txBody>
      </p:sp>
      <p:sp>
        <p:nvSpPr>
          <p:cNvPr id="6" name="Shape 4"/>
          <p:cNvSpPr/>
          <p:nvPr/>
        </p:nvSpPr>
        <p:spPr>
          <a:xfrm>
            <a:off x="5486400" y="2011680"/>
            <a:ext cx="713232" cy="0"/>
          </a:xfrm>
          <a:prstGeom prst="line">
            <a:avLst/>
          </a:prstGeom>
          <a:noFill/>
          <a:ln w="22860">
            <a:solidFill>
              <a:srgbClr val="59D08F"/>
            </a:solidFill>
            <a:prstDash val="solid"/>
            <a:headEnd type="none"/>
            <a:tailEnd type="triangle"/>
          </a:ln>
        </p:spPr>
        <p:txBody>
          <a:bodyPr/>
          <a:lstStyle/>
          <a:p>
            <a:endParaRPr lang="en-US"/>
          </a:p>
        </p:txBody>
      </p:sp>
      <p:sp>
        <p:nvSpPr>
          <p:cNvPr id="7" name="Shape 5"/>
          <p:cNvSpPr/>
          <p:nvPr/>
        </p:nvSpPr>
        <p:spPr>
          <a:xfrm>
            <a:off x="7360920" y="2011680"/>
            <a:ext cx="704088" cy="0"/>
          </a:xfrm>
          <a:prstGeom prst="line">
            <a:avLst/>
          </a:prstGeom>
          <a:noFill/>
          <a:ln w="22860">
            <a:solidFill>
              <a:srgbClr val="59D08F"/>
            </a:solidFill>
            <a:prstDash val="solid"/>
            <a:headEnd type="none"/>
            <a:tailEnd type="triangle"/>
          </a:ln>
        </p:spPr>
        <p:txBody>
          <a:bodyPr/>
          <a:lstStyle/>
          <a:p>
            <a:endParaRPr lang="en-US"/>
          </a:p>
        </p:txBody>
      </p:sp>
      <p:sp>
        <p:nvSpPr>
          <p:cNvPr id="8" name="Shape 6"/>
          <p:cNvSpPr/>
          <p:nvPr/>
        </p:nvSpPr>
        <p:spPr>
          <a:xfrm>
            <a:off x="9281160" y="2011680"/>
            <a:ext cx="704088" cy="0"/>
          </a:xfrm>
          <a:prstGeom prst="line">
            <a:avLst/>
          </a:prstGeom>
          <a:noFill/>
          <a:ln w="22860">
            <a:solidFill>
              <a:srgbClr val="B68CFF"/>
            </a:solidFill>
            <a:prstDash val="solid"/>
            <a:headEnd type="none"/>
            <a:tailEnd type="triangle"/>
          </a:ln>
        </p:spPr>
        <p:txBody>
          <a:bodyPr/>
          <a:lstStyle/>
          <a:p>
            <a:endParaRPr lang="en-US"/>
          </a:p>
        </p:txBody>
      </p:sp>
      <p:sp>
        <p:nvSpPr>
          <p:cNvPr id="9" name="Shape 7"/>
          <p:cNvSpPr/>
          <p:nvPr/>
        </p:nvSpPr>
        <p:spPr>
          <a:xfrm>
            <a:off x="5596128" y="4050792"/>
            <a:ext cx="822960" cy="0"/>
          </a:xfrm>
          <a:prstGeom prst="line">
            <a:avLst/>
          </a:prstGeom>
          <a:noFill/>
          <a:ln w="22860">
            <a:solidFill>
              <a:srgbClr val="FFD65A"/>
            </a:solidFill>
            <a:prstDash val="solid"/>
            <a:headEnd type="none"/>
            <a:tailEnd type="triangle"/>
          </a:ln>
        </p:spPr>
        <p:txBody>
          <a:bodyPr/>
          <a:lstStyle/>
          <a:p>
            <a:endParaRPr lang="en-US"/>
          </a:p>
        </p:txBody>
      </p:sp>
      <p:sp>
        <p:nvSpPr>
          <p:cNvPr id="10" name="Text 8"/>
          <p:cNvSpPr/>
          <p:nvPr/>
        </p:nvSpPr>
        <p:spPr>
          <a:xfrm>
            <a:off x="621792" y="1536192"/>
            <a:ext cx="1261872" cy="932688"/>
          </a:xfrm>
          <a:prstGeom prst="roundRect">
            <a:avLst>
              <a:gd name="adj" fmla="val 7843"/>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100" b="1" dirty="0">
                <a:solidFill>
                  <a:srgbClr val="F5F7FA"/>
                </a:solidFill>
              </a:rPr>
              <a:t>Edge</a:t>
            </a:r>
            <a:endParaRPr lang="en-US" sz="1100" dirty="0"/>
          </a:p>
          <a:p>
            <a:pPr marL="0" indent="0" algn="ctr">
              <a:buNone/>
            </a:pPr>
            <a:r>
              <a:rPr lang="en-US" sz="1100" b="1" dirty="0">
                <a:solidFill>
                  <a:srgbClr val="F5F7FA"/>
                </a:solidFill>
              </a:rPr>
              <a:t>CloudFront + WAF</a:t>
            </a:r>
            <a:endParaRPr lang="en-US" sz="1100" dirty="0"/>
          </a:p>
        </p:txBody>
      </p:sp>
      <p:sp>
        <p:nvSpPr>
          <p:cNvPr id="11" name="Text 9"/>
          <p:cNvSpPr/>
          <p:nvPr/>
        </p:nvSpPr>
        <p:spPr>
          <a:xfrm>
            <a:off x="2267712" y="1536192"/>
            <a:ext cx="1389888" cy="932688"/>
          </a:xfrm>
          <a:prstGeom prst="roundRect">
            <a:avLst>
              <a:gd name="adj" fmla="val 7843"/>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100" b="1" dirty="0">
                <a:solidFill>
                  <a:srgbClr val="F5F7FA"/>
                </a:solidFill>
              </a:rPr>
              <a:t>Identity</a:t>
            </a:r>
            <a:endParaRPr lang="en-US" sz="1100" dirty="0"/>
          </a:p>
          <a:p>
            <a:pPr marL="0" indent="0" algn="ctr">
              <a:buNone/>
            </a:pPr>
            <a:r>
              <a:rPr lang="en-US" sz="1100" b="1" dirty="0">
                <a:solidFill>
                  <a:srgbClr val="F5F7FA"/>
                </a:solidFill>
              </a:rPr>
              <a:t>Cognito hosted UI</a:t>
            </a:r>
            <a:endParaRPr lang="en-US" sz="1100" dirty="0"/>
          </a:p>
        </p:txBody>
      </p:sp>
      <p:sp>
        <p:nvSpPr>
          <p:cNvPr id="12" name="Text 10"/>
          <p:cNvSpPr/>
          <p:nvPr/>
        </p:nvSpPr>
        <p:spPr>
          <a:xfrm>
            <a:off x="4142232" y="1536192"/>
            <a:ext cx="1426464" cy="932688"/>
          </a:xfrm>
          <a:prstGeom prst="roundRect">
            <a:avLst>
              <a:gd name="adj" fmla="val 7843"/>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100" b="1" dirty="0">
                <a:solidFill>
                  <a:srgbClr val="F5F7FA"/>
                </a:solidFill>
              </a:rPr>
              <a:t>API</a:t>
            </a:r>
            <a:endParaRPr lang="en-US" sz="1100" dirty="0"/>
          </a:p>
          <a:p>
            <a:pPr marL="0" indent="0" algn="ctr">
              <a:buNone/>
            </a:pPr>
            <a:r>
              <a:rPr lang="en-US" sz="1100" b="1" dirty="0">
                <a:solidFill>
                  <a:srgbClr val="F5F7FA"/>
                </a:solidFill>
              </a:rPr>
              <a:t>Gateway + Lambda</a:t>
            </a:r>
            <a:endParaRPr lang="en-US" sz="1100" dirty="0"/>
          </a:p>
        </p:txBody>
      </p:sp>
      <p:sp>
        <p:nvSpPr>
          <p:cNvPr id="13" name="Text 11"/>
          <p:cNvSpPr/>
          <p:nvPr/>
        </p:nvSpPr>
        <p:spPr>
          <a:xfrm>
            <a:off x="6053328" y="1536192"/>
            <a:ext cx="1444752" cy="932688"/>
          </a:xfrm>
          <a:prstGeom prst="roundRect">
            <a:avLst>
              <a:gd name="adj" fmla="val 7843"/>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100" b="1" dirty="0">
                <a:solidFill>
                  <a:srgbClr val="F5F7FA"/>
                </a:solidFill>
              </a:rPr>
              <a:t>Storage</a:t>
            </a:r>
            <a:endParaRPr lang="en-US" sz="1100" dirty="0"/>
          </a:p>
          <a:p>
            <a:pPr marL="0" indent="0" algn="ctr">
              <a:buNone/>
            </a:pPr>
            <a:r>
              <a:rPr lang="en-US" sz="1100" b="1" dirty="0">
                <a:solidFill>
                  <a:srgbClr val="F5F7FA"/>
                </a:solidFill>
              </a:rPr>
              <a:t>S3 + DynamoDB</a:t>
            </a:r>
            <a:endParaRPr lang="en-US" sz="1100" dirty="0"/>
          </a:p>
        </p:txBody>
      </p:sp>
      <p:sp>
        <p:nvSpPr>
          <p:cNvPr id="14" name="Text 12"/>
          <p:cNvSpPr/>
          <p:nvPr/>
        </p:nvSpPr>
        <p:spPr>
          <a:xfrm>
            <a:off x="7882128" y="1536192"/>
            <a:ext cx="1444752" cy="932688"/>
          </a:xfrm>
          <a:prstGeom prst="roundRect">
            <a:avLst>
              <a:gd name="adj" fmla="val 7843"/>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100" b="1" dirty="0">
                <a:solidFill>
                  <a:srgbClr val="F5F7FA"/>
                </a:solidFill>
              </a:rPr>
              <a:t>Prep</a:t>
            </a:r>
            <a:endParaRPr lang="en-US" sz="1100" dirty="0"/>
          </a:p>
          <a:p>
            <a:pPr marL="0" indent="0" algn="ctr">
              <a:buNone/>
            </a:pPr>
            <a:r>
              <a:rPr lang="en-US" sz="1100" b="1" dirty="0">
                <a:solidFill>
                  <a:srgbClr val="F5F7FA"/>
                </a:solidFill>
              </a:rPr>
              <a:t>Step Functions</a:t>
            </a:r>
            <a:endParaRPr lang="en-US" sz="1100" dirty="0"/>
          </a:p>
        </p:txBody>
      </p:sp>
      <p:sp>
        <p:nvSpPr>
          <p:cNvPr id="15" name="Text 13"/>
          <p:cNvSpPr/>
          <p:nvPr/>
        </p:nvSpPr>
        <p:spPr>
          <a:xfrm>
            <a:off x="9765792" y="1536192"/>
            <a:ext cx="1554480" cy="932688"/>
          </a:xfrm>
          <a:prstGeom prst="roundRect">
            <a:avLst>
              <a:gd name="adj" fmla="val 7843"/>
            </a:avLst>
          </a:prstGeom>
          <a:solidFill>
            <a:srgbClr val="071A2D"/>
          </a:solidFill>
          <a:ln w="13970">
            <a:solidFill>
              <a:srgbClr val="B68CFF"/>
            </a:solidFill>
          </a:ln>
        </p:spPr>
        <p:txBody>
          <a:bodyPr wrap="square" lIns="1016" tIns="1016" rIns="1016" bIns="1016" rtlCol="0" anchor="ctr">
            <a:normAutofit/>
          </a:bodyPr>
          <a:lstStyle/>
          <a:p>
            <a:pPr marL="0" indent="0" algn="ctr">
              <a:buNone/>
            </a:pPr>
            <a:r>
              <a:rPr lang="en-US" sz="1100" b="1" dirty="0">
                <a:solidFill>
                  <a:srgbClr val="F5F7FA"/>
                </a:solidFill>
              </a:rPr>
              <a:t>AI</a:t>
            </a:r>
            <a:endParaRPr lang="en-US" sz="1100" dirty="0"/>
          </a:p>
          <a:p>
            <a:pPr marL="0" indent="0" algn="ctr">
              <a:buNone/>
            </a:pPr>
            <a:r>
              <a:rPr lang="en-US" sz="1100" b="1" dirty="0">
                <a:solidFill>
                  <a:srgbClr val="F5F7FA"/>
                </a:solidFill>
              </a:rPr>
              <a:t>Bedrock + Transcribe</a:t>
            </a:r>
            <a:endParaRPr lang="en-US" sz="1100" dirty="0"/>
          </a:p>
        </p:txBody>
      </p:sp>
      <p:sp>
        <p:nvSpPr>
          <p:cNvPr id="16" name="Text 14"/>
          <p:cNvSpPr/>
          <p:nvPr/>
        </p:nvSpPr>
        <p:spPr>
          <a:xfrm>
            <a:off x="3968496" y="3584448"/>
            <a:ext cx="1627632" cy="932688"/>
          </a:xfrm>
          <a:prstGeom prst="roundRect">
            <a:avLst>
              <a:gd name="adj" fmla="val 7843"/>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100" b="1" dirty="0">
                <a:solidFill>
                  <a:srgbClr val="F5F7FA"/>
                </a:solidFill>
              </a:rPr>
              <a:t>Queues</a:t>
            </a:r>
            <a:endParaRPr lang="en-US" sz="1100" dirty="0"/>
          </a:p>
          <a:p>
            <a:pPr marL="0" indent="0" algn="ctr">
              <a:buNone/>
            </a:pPr>
            <a:r>
              <a:rPr lang="en-US" sz="1100" b="1" dirty="0">
                <a:solidFill>
                  <a:srgbClr val="F5F7FA"/>
                </a:solidFill>
              </a:rPr>
              <a:t>SQS FIFO + DLQ</a:t>
            </a:r>
            <a:endParaRPr lang="en-US" sz="1100" dirty="0"/>
          </a:p>
        </p:txBody>
      </p:sp>
      <p:sp>
        <p:nvSpPr>
          <p:cNvPr id="17" name="Text 15"/>
          <p:cNvSpPr/>
          <p:nvPr/>
        </p:nvSpPr>
        <p:spPr>
          <a:xfrm>
            <a:off x="6400800" y="3584448"/>
            <a:ext cx="1783080" cy="932688"/>
          </a:xfrm>
          <a:prstGeom prst="roundRect">
            <a:avLst>
              <a:gd name="adj" fmla="val 7843"/>
            </a:avLst>
          </a:prstGeom>
          <a:solidFill>
            <a:srgbClr val="0B1828"/>
          </a:solidFill>
          <a:ln w="13970">
            <a:solidFill>
              <a:srgbClr val="B68CFF"/>
            </a:solidFill>
          </a:ln>
        </p:spPr>
        <p:txBody>
          <a:bodyPr wrap="square" lIns="1016" tIns="1016" rIns="1016" bIns="1016" rtlCol="0" anchor="ctr">
            <a:normAutofit/>
          </a:bodyPr>
          <a:lstStyle/>
          <a:p>
            <a:pPr marL="0" indent="0" algn="ctr">
              <a:buNone/>
            </a:pPr>
            <a:r>
              <a:rPr lang="en-US" sz="1100" b="1" dirty="0">
                <a:solidFill>
                  <a:srgbClr val="F5F7FA"/>
                </a:solidFill>
              </a:rPr>
              <a:t>Evaluation</a:t>
            </a:r>
            <a:endParaRPr lang="en-US" sz="1100" dirty="0"/>
          </a:p>
          <a:p>
            <a:pPr marL="0" indent="0" algn="ctr">
              <a:buNone/>
            </a:pPr>
            <a:r>
              <a:rPr lang="en-US" sz="1100" b="1" dirty="0">
                <a:solidFill>
                  <a:srgbClr val="F5F7FA"/>
                </a:solidFill>
              </a:rPr>
              <a:t>ECS Fargate Spot and </a:t>
            </a:r>
            <a:r>
              <a:rPr lang="en-US" sz="1100" b="1" dirty="0" err="1">
                <a:solidFill>
                  <a:srgbClr val="F5F7FA"/>
                </a:solidFill>
              </a:rPr>
              <a:t>AgentCore</a:t>
            </a:r>
            <a:endParaRPr lang="en-US" sz="1100" dirty="0"/>
          </a:p>
        </p:txBody>
      </p:sp>
      <p:sp>
        <p:nvSpPr>
          <p:cNvPr id="18" name="Text 16"/>
          <p:cNvSpPr/>
          <p:nvPr/>
        </p:nvSpPr>
        <p:spPr>
          <a:xfrm>
            <a:off x="8979408" y="3584448"/>
            <a:ext cx="1645920" cy="932688"/>
          </a:xfrm>
          <a:prstGeom prst="roundRect">
            <a:avLst>
              <a:gd name="adj" fmla="val 7843"/>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100" b="1" dirty="0">
                <a:solidFill>
                  <a:srgbClr val="F5F7FA"/>
                </a:solidFill>
              </a:rPr>
              <a:t>Output</a:t>
            </a:r>
            <a:endParaRPr lang="en-US" sz="1100" dirty="0"/>
          </a:p>
          <a:p>
            <a:pPr marL="0" indent="0" algn="ctr">
              <a:buNone/>
            </a:pPr>
            <a:r>
              <a:rPr lang="en-US" sz="1100" b="1" dirty="0">
                <a:solidFill>
                  <a:srgbClr val="F5F7FA"/>
                </a:solidFill>
              </a:rPr>
              <a:t>PDF report in S3</a:t>
            </a:r>
            <a:endParaRPr lang="en-US" sz="1100" dirty="0"/>
          </a:p>
        </p:txBody>
      </p:sp>
      <p:sp>
        <p:nvSpPr>
          <p:cNvPr id="19" name="Shape 17"/>
          <p:cNvSpPr/>
          <p:nvPr/>
        </p:nvSpPr>
        <p:spPr>
          <a:xfrm>
            <a:off x="8183880" y="4050792"/>
            <a:ext cx="795528" cy="0"/>
          </a:xfrm>
          <a:prstGeom prst="line">
            <a:avLst/>
          </a:prstGeom>
          <a:noFill/>
          <a:ln w="22860">
            <a:solidFill>
              <a:srgbClr val="B68CFF"/>
            </a:solidFill>
            <a:prstDash val="solid"/>
            <a:headEnd type="none"/>
            <a:tailEnd type="triangle"/>
          </a:ln>
        </p:spPr>
        <p:txBody>
          <a:bodyPr/>
          <a:lstStyle/>
          <a:p>
            <a:endParaRPr lang="en-US"/>
          </a:p>
        </p:txBody>
      </p:sp>
      <p:sp>
        <p:nvSpPr>
          <p:cNvPr id="20" name="Text 18"/>
          <p:cNvSpPr/>
          <p:nvPr/>
        </p:nvSpPr>
        <p:spPr>
          <a:xfrm>
            <a:off x="731520" y="5065776"/>
            <a:ext cx="3383280" cy="329184"/>
          </a:xfrm>
          <a:prstGeom prst="rect">
            <a:avLst/>
          </a:prstGeom>
          <a:noFill/>
          <a:ln/>
        </p:spPr>
        <p:txBody>
          <a:bodyPr wrap="square" lIns="254" tIns="254" rIns="254" bIns="254" rtlCol="0" anchor="t">
            <a:normAutofit/>
          </a:bodyPr>
          <a:lstStyle/>
          <a:p>
            <a:pPr marL="0" indent="0" algn="l">
              <a:buNone/>
            </a:pPr>
            <a:r>
              <a:rPr lang="en-US" sz="1350" b="1" dirty="0">
                <a:solidFill>
                  <a:srgbClr val="59C4FF"/>
                </a:solidFill>
              </a:rPr>
              <a:t>Why this is a good MVP architecture</a:t>
            </a:r>
            <a:endParaRPr lang="en-US" sz="1350" dirty="0"/>
          </a:p>
        </p:txBody>
      </p:sp>
      <p:sp>
        <p:nvSpPr>
          <p:cNvPr id="21" name="Text 19"/>
          <p:cNvSpPr/>
          <p:nvPr/>
        </p:nvSpPr>
        <p:spPr>
          <a:xfrm>
            <a:off x="731520" y="5431536"/>
            <a:ext cx="4663440" cy="749808"/>
          </a:xfrm>
          <a:prstGeom prst="rect">
            <a:avLst/>
          </a:prstGeom>
          <a:noFill/>
          <a:ln/>
        </p:spPr>
        <p:txBody>
          <a:bodyPr wrap="square" lIns="635" tIns="635" rIns="635" bIns="635" rtlCol="0" anchor="ctr">
            <a:normAutofit fontScale="77500" lnSpcReduction="20000"/>
          </a:bodyPr>
          <a:lstStyle/>
          <a:p>
            <a:r>
              <a:rPr lang="en-US" sz="1080" dirty="0">
                <a:solidFill>
                  <a:srgbClr val="B2BAC8"/>
                </a:solidFill>
              </a:rPr>
              <a:t>Files never pass through Lambda
</a:t>
            </a:r>
            <a:endParaRPr lang="en-US" sz="1080" dirty="0"/>
          </a:p>
          <a:p>
            <a:r>
              <a:rPr lang="en-US" sz="1080" dirty="0">
                <a:solidFill>
                  <a:srgbClr val="B2BAC8"/>
                </a:solidFill>
              </a:rPr>
              <a:t>Async processing gives back-pressure
</a:t>
            </a:r>
            <a:endParaRPr lang="en-US" sz="1080" dirty="0"/>
          </a:p>
          <a:p>
            <a:r>
              <a:rPr lang="en-US" sz="1080" dirty="0">
                <a:solidFill>
                  <a:srgbClr val="B2BAC8"/>
                </a:solidFill>
              </a:rPr>
              <a:t>Feature flags allow runtime tuning
</a:t>
            </a:r>
            <a:endParaRPr lang="en-US" sz="1080" dirty="0"/>
          </a:p>
          <a:p>
            <a:r>
              <a:rPr lang="en-US" sz="1080" dirty="0">
                <a:solidFill>
                  <a:srgbClr val="B2BAC8"/>
                </a:solidFill>
              </a:rPr>
              <a:t>Least-privilege IAM can be reviewed per work unit</a:t>
            </a:r>
            <a:endParaRPr lang="en-US" sz="1080" dirty="0"/>
          </a:p>
        </p:txBody>
      </p:sp>
      <p:sp>
        <p:nvSpPr>
          <p:cNvPr id="22" name="Text 20"/>
          <p:cNvSpPr/>
          <p:nvPr/>
        </p:nvSpPr>
        <p:spPr>
          <a:xfrm>
            <a:off x="5833872" y="5065776"/>
            <a:ext cx="3840480" cy="329184"/>
          </a:xfrm>
          <a:prstGeom prst="rect">
            <a:avLst/>
          </a:prstGeom>
          <a:noFill/>
          <a:ln/>
        </p:spPr>
        <p:txBody>
          <a:bodyPr wrap="square" lIns="254" tIns="254" rIns="254" bIns="254" rtlCol="0" anchor="t">
            <a:normAutofit/>
          </a:bodyPr>
          <a:lstStyle/>
          <a:p>
            <a:pPr marL="0" indent="0" algn="l">
              <a:buNone/>
            </a:pPr>
            <a:r>
              <a:rPr lang="en-US" sz="1350" b="1" dirty="0">
                <a:solidFill>
                  <a:srgbClr val="FFD65A"/>
                </a:solidFill>
              </a:rPr>
              <a:t>What I would challenge before production</a:t>
            </a:r>
            <a:endParaRPr lang="en-US" sz="1350" dirty="0"/>
          </a:p>
        </p:txBody>
      </p:sp>
      <p:sp>
        <p:nvSpPr>
          <p:cNvPr id="23" name="Text 21"/>
          <p:cNvSpPr/>
          <p:nvPr/>
        </p:nvSpPr>
        <p:spPr>
          <a:xfrm>
            <a:off x="5833872" y="5431536"/>
            <a:ext cx="4937760" cy="749808"/>
          </a:xfrm>
          <a:prstGeom prst="rect">
            <a:avLst/>
          </a:prstGeom>
          <a:noFill/>
          <a:ln/>
        </p:spPr>
        <p:txBody>
          <a:bodyPr wrap="square" lIns="635" tIns="635" rIns="635" bIns="635" rtlCol="0" anchor="ctr">
            <a:normAutofit fontScale="77500" lnSpcReduction="20000"/>
          </a:bodyPr>
          <a:lstStyle/>
          <a:p>
            <a:r>
              <a:rPr lang="en-US" sz="1080" dirty="0">
                <a:solidFill>
                  <a:srgbClr val="B2BAC8"/>
                </a:solidFill>
              </a:rPr>
              <a:t>Model quotas and throttling behavior
</a:t>
            </a:r>
            <a:endParaRPr lang="en-US" sz="1080" dirty="0"/>
          </a:p>
          <a:p>
            <a:r>
              <a:rPr lang="en-US" sz="1080" dirty="0">
                <a:solidFill>
                  <a:srgbClr val="B2BAC8"/>
                </a:solidFill>
              </a:rPr>
              <a:t>Regional failure stance and user-pool strategy
</a:t>
            </a:r>
            <a:endParaRPr lang="en-US" sz="1080" dirty="0"/>
          </a:p>
          <a:p>
            <a:r>
              <a:rPr lang="en-US" sz="1080" dirty="0">
                <a:solidFill>
                  <a:srgbClr val="B2BAC8"/>
                </a:solidFill>
              </a:rPr>
              <a:t>PII retention and report lifecycle policy
</a:t>
            </a:r>
            <a:endParaRPr lang="en-US" sz="1080" dirty="0"/>
          </a:p>
          <a:p>
            <a:r>
              <a:rPr lang="en-US" sz="1080" dirty="0">
                <a:solidFill>
                  <a:srgbClr val="B2BAC8"/>
                </a:solidFill>
              </a:rPr>
              <a:t>Evaluation result explainability and traceability</a:t>
            </a:r>
            <a:endParaRPr lang="en-US" sz="1080" dirty="0"/>
          </a:p>
        </p:txBody>
      </p:sp>
      <p:sp>
        <p:nvSpPr>
          <p:cNvPr id="24" name="Text 22"/>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Architecture summarizes services described in project overview, flow, and retrospective.</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39" name="Oval 38">
            <a:extLst>
              <a:ext uri="{FF2B5EF4-FFF2-40B4-BE49-F238E27FC236}">
                <a16:creationId xmlns:a16="http://schemas.microsoft.com/office/drawing/2014/main" id="{EDEBE3A7-B248-1C7B-1EEF-80BB730D8A0F}"/>
              </a:ext>
            </a:extLst>
          </p:cNvPr>
          <p:cNvSpPr/>
          <p:nvPr/>
        </p:nvSpPr>
        <p:spPr>
          <a:xfrm>
            <a:off x="3295964" y="2737463"/>
            <a:ext cx="5478152" cy="30965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AI EVALUATION</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The agentic layer is composable by design</a:t>
            </a:r>
            <a:endParaRPr lang="en-US" sz="2950" dirty="0"/>
          </a:p>
        </p:txBody>
      </p:sp>
      <p:sp>
        <p:nvSpPr>
          <p:cNvPr id="4" name="Text 2"/>
          <p:cNvSpPr/>
          <p:nvPr/>
        </p:nvSpPr>
        <p:spPr>
          <a:xfrm>
            <a:off x="621792" y="1234440"/>
            <a:ext cx="9784080" cy="475488"/>
          </a:xfrm>
          <a:prstGeom prst="rect">
            <a:avLst/>
          </a:prstGeom>
          <a:noFill/>
          <a:ln/>
        </p:spPr>
        <p:txBody>
          <a:bodyPr wrap="square" lIns="254" tIns="254" rIns="254" bIns="254" rtlCol="0" anchor="t">
            <a:normAutofit lnSpcReduction="10000"/>
          </a:bodyPr>
          <a:lstStyle/>
          <a:p>
            <a:pPr marL="0" indent="0" algn="l">
              <a:buNone/>
            </a:pPr>
            <a:r>
              <a:rPr lang="en-US" sz="1640" dirty="0">
                <a:solidFill>
                  <a:srgbClr val="B2BAC8"/>
                </a:solidFill>
              </a:rPr>
              <a:t>This is the part that justifies an agentic approach. The value comes from multiple independent lenses reviewing the same asset, not from one big prompt pretending to be a committee.</a:t>
            </a:r>
            <a:endParaRPr lang="en-US" sz="1640" dirty="0"/>
          </a:p>
        </p:txBody>
      </p:sp>
      <p:sp>
        <p:nvSpPr>
          <p:cNvPr id="5" name="Text 3"/>
          <p:cNvSpPr/>
          <p:nvPr/>
        </p:nvSpPr>
        <p:spPr>
          <a:xfrm>
            <a:off x="5048025" y="3740794"/>
            <a:ext cx="2029968" cy="932688"/>
          </a:xfrm>
          <a:prstGeom prst="roundRect">
            <a:avLst>
              <a:gd name="adj" fmla="val 7843"/>
            </a:avLst>
          </a:prstGeom>
          <a:solidFill>
            <a:srgbClr val="2F9BFF"/>
          </a:solidFill>
          <a:ln w="13970">
            <a:solidFill>
              <a:srgbClr val="2F9BFF"/>
            </a:solidFill>
          </a:ln>
        </p:spPr>
        <p:txBody>
          <a:bodyPr wrap="square" lIns="1016" tIns="1016" rIns="1016" bIns="1016" rtlCol="0" anchor="ctr">
            <a:normAutofit/>
          </a:bodyPr>
          <a:lstStyle/>
          <a:p>
            <a:pPr marL="0" indent="0" algn="ctr">
              <a:buNone/>
            </a:pPr>
            <a:r>
              <a:rPr lang="en-US" sz="1500" b="1" dirty="0">
                <a:solidFill>
                  <a:srgbClr val="03101D"/>
                </a:solidFill>
              </a:rPr>
              <a:t>Coaching</a:t>
            </a:r>
            <a:endParaRPr lang="en-US" sz="1500" dirty="0"/>
          </a:p>
          <a:p>
            <a:pPr marL="0" indent="0" algn="ctr">
              <a:buNone/>
            </a:pPr>
            <a:r>
              <a:rPr lang="en-US" sz="1500" b="1" dirty="0">
                <a:solidFill>
                  <a:srgbClr val="03101D"/>
                </a:solidFill>
              </a:rPr>
              <a:t>Supervisor</a:t>
            </a:r>
            <a:endParaRPr lang="en-US" sz="1500" dirty="0"/>
          </a:p>
        </p:txBody>
      </p:sp>
      <p:sp>
        <p:nvSpPr>
          <p:cNvPr id="6" name="Text 4"/>
          <p:cNvSpPr/>
          <p:nvPr/>
        </p:nvSpPr>
        <p:spPr>
          <a:xfrm>
            <a:off x="3136392" y="3018417"/>
            <a:ext cx="1444752" cy="621792"/>
          </a:xfrm>
          <a:prstGeom prst="roundRect">
            <a:avLst>
              <a:gd name="adj" fmla="val 11765"/>
            </a:avLst>
          </a:prstGeom>
          <a:solidFill>
            <a:srgbClr val="0B1828"/>
          </a:solidFill>
          <a:ln w="13970">
            <a:solidFill>
              <a:srgbClr val="59C4FF"/>
            </a:solidFill>
          </a:ln>
        </p:spPr>
        <p:txBody>
          <a:bodyPr wrap="square" lIns="1016" tIns="1016" rIns="1016" bIns="1016" rtlCol="0" anchor="ctr">
            <a:normAutofit/>
          </a:bodyPr>
          <a:lstStyle/>
          <a:p>
            <a:pPr marL="0" indent="0" algn="ctr">
              <a:buNone/>
            </a:pPr>
            <a:r>
              <a:rPr lang="en-US" sz="1050" b="1" dirty="0">
                <a:solidFill>
                  <a:srgbClr val="F5F7FA"/>
                </a:solidFill>
              </a:rPr>
              <a:t>Delivery</a:t>
            </a:r>
            <a:endParaRPr lang="en-US" sz="1050" dirty="0"/>
          </a:p>
        </p:txBody>
      </p:sp>
      <p:sp>
        <p:nvSpPr>
          <p:cNvPr id="7" name="Text 5"/>
          <p:cNvSpPr/>
          <p:nvPr/>
        </p:nvSpPr>
        <p:spPr>
          <a:xfrm>
            <a:off x="2784348" y="4953270"/>
            <a:ext cx="1444752" cy="621792"/>
          </a:xfrm>
          <a:prstGeom prst="roundRect">
            <a:avLst>
              <a:gd name="adj" fmla="val 11765"/>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050" b="1" dirty="0">
                <a:solidFill>
                  <a:srgbClr val="F5F7FA"/>
                </a:solidFill>
              </a:rPr>
              <a:t>Structure</a:t>
            </a:r>
            <a:endParaRPr lang="en-US" sz="1050" dirty="0"/>
          </a:p>
        </p:txBody>
      </p:sp>
      <p:sp>
        <p:nvSpPr>
          <p:cNvPr id="8" name="Text 6"/>
          <p:cNvSpPr/>
          <p:nvPr/>
        </p:nvSpPr>
        <p:spPr>
          <a:xfrm>
            <a:off x="4590288" y="5663543"/>
            <a:ext cx="1444752" cy="621792"/>
          </a:xfrm>
          <a:prstGeom prst="roundRect">
            <a:avLst>
              <a:gd name="adj" fmla="val 11765"/>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050" b="1" dirty="0">
                <a:solidFill>
                  <a:srgbClr val="F5F7FA"/>
                </a:solidFill>
              </a:rPr>
              <a:t>Exec</a:t>
            </a:r>
            <a:endParaRPr lang="en-US" sz="1050" dirty="0"/>
          </a:p>
          <a:p>
            <a:pPr marL="0" indent="0" algn="ctr">
              <a:buNone/>
            </a:pPr>
            <a:r>
              <a:rPr lang="en-US" sz="1050" b="1" dirty="0">
                <a:solidFill>
                  <a:srgbClr val="F5F7FA"/>
                </a:solidFill>
              </a:rPr>
              <a:t>Presence</a:t>
            </a:r>
            <a:endParaRPr lang="en-US" sz="1050" dirty="0"/>
          </a:p>
        </p:txBody>
      </p:sp>
      <p:sp>
        <p:nvSpPr>
          <p:cNvPr id="9" name="Text 7"/>
          <p:cNvSpPr/>
          <p:nvPr/>
        </p:nvSpPr>
        <p:spPr>
          <a:xfrm>
            <a:off x="6583680" y="5663543"/>
            <a:ext cx="1444752" cy="621792"/>
          </a:xfrm>
          <a:prstGeom prst="roundRect">
            <a:avLst>
              <a:gd name="adj" fmla="val 11765"/>
            </a:avLst>
          </a:prstGeom>
          <a:solidFill>
            <a:srgbClr val="0B1828"/>
          </a:solidFill>
          <a:ln w="13970">
            <a:solidFill>
              <a:srgbClr val="FF9B55"/>
            </a:solidFill>
          </a:ln>
        </p:spPr>
        <p:txBody>
          <a:bodyPr wrap="square" lIns="1016" tIns="1016" rIns="1016" bIns="1016" rtlCol="0" anchor="ctr">
            <a:normAutofit/>
          </a:bodyPr>
          <a:lstStyle/>
          <a:p>
            <a:pPr marL="0" indent="0" algn="ctr">
              <a:buNone/>
            </a:pPr>
            <a:r>
              <a:rPr lang="en-US" sz="1050" b="1" dirty="0">
                <a:solidFill>
                  <a:srgbClr val="F5F7FA"/>
                </a:solidFill>
              </a:rPr>
              <a:t>Technical</a:t>
            </a:r>
            <a:endParaRPr lang="en-US" sz="1050" dirty="0"/>
          </a:p>
          <a:p>
            <a:pPr marL="0" indent="0" algn="ctr">
              <a:buNone/>
            </a:pPr>
            <a:r>
              <a:rPr lang="en-US" sz="1050" b="1" dirty="0">
                <a:solidFill>
                  <a:srgbClr val="F5F7FA"/>
                </a:solidFill>
              </a:rPr>
              <a:t>Communication</a:t>
            </a:r>
            <a:endParaRPr lang="en-US" sz="1050" dirty="0"/>
          </a:p>
        </p:txBody>
      </p:sp>
      <p:sp>
        <p:nvSpPr>
          <p:cNvPr id="10" name="Text 8"/>
          <p:cNvSpPr/>
          <p:nvPr/>
        </p:nvSpPr>
        <p:spPr>
          <a:xfrm>
            <a:off x="8028432" y="4642374"/>
            <a:ext cx="1444752" cy="621792"/>
          </a:xfrm>
          <a:prstGeom prst="roundRect">
            <a:avLst>
              <a:gd name="adj" fmla="val 11765"/>
            </a:avLst>
          </a:prstGeom>
          <a:solidFill>
            <a:srgbClr val="0B1828"/>
          </a:solidFill>
          <a:ln w="13970">
            <a:solidFill>
              <a:srgbClr val="B68CFF"/>
            </a:solidFill>
          </a:ln>
        </p:spPr>
        <p:txBody>
          <a:bodyPr wrap="square" lIns="1016" tIns="1016" rIns="1016" bIns="1016" rtlCol="0" anchor="ctr">
            <a:normAutofit/>
          </a:bodyPr>
          <a:lstStyle/>
          <a:p>
            <a:pPr marL="0" indent="0" algn="ctr">
              <a:buNone/>
            </a:pPr>
            <a:r>
              <a:rPr lang="en-US" sz="1050" b="1" dirty="0">
                <a:solidFill>
                  <a:srgbClr val="F5F7FA"/>
                </a:solidFill>
              </a:rPr>
              <a:t>Audience</a:t>
            </a:r>
            <a:endParaRPr lang="en-US" sz="1050" dirty="0"/>
          </a:p>
          <a:p>
            <a:pPr marL="0" indent="0" algn="ctr">
              <a:buNone/>
            </a:pPr>
            <a:r>
              <a:rPr lang="en-US" sz="1050" b="1" dirty="0">
                <a:solidFill>
                  <a:srgbClr val="F5F7FA"/>
                </a:solidFill>
              </a:rPr>
              <a:t>Engagement</a:t>
            </a:r>
            <a:endParaRPr lang="en-US" sz="1050" dirty="0"/>
          </a:p>
        </p:txBody>
      </p:sp>
      <p:sp>
        <p:nvSpPr>
          <p:cNvPr id="11" name="Text 9"/>
          <p:cNvSpPr/>
          <p:nvPr/>
        </p:nvSpPr>
        <p:spPr>
          <a:xfrm>
            <a:off x="7667334" y="2943203"/>
            <a:ext cx="1444752" cy="621792"/>
          </a:xfrm>
          <a:prstGeom prst="roundRect">
            <a:avLst>
              <a:gd name="adj" fmla="val 11765"/>
            </a:avLst>
          </a:prstGeom>
          <a:solidFill>
            <a:srgbClr val="0B1828"/>
          </a:solidFill>
          <a:ln w="13970">
            <a:solidFill>
              <a:srgbClr val="59C4FF"/>
            </a:solidFill>
          </a:ln>
        </p:spPr>
        <p:txBody>
          <a:bodyPr wrap="square" lIns="1016" tIns="1016" rIns="1016" bIns="1016" rtlCol="0" anchor="ctr">
            <a:normAutofit/>
          </a:bodyPr>
          <a:lstStyle/>
          <a:p>
            <a:pPr marL="0" indent="0" algn="ctr">
              <a:buNone/>
            </a:pPr>
            <a:r>
              <a:rPr lang="en-US" sz="1050" b="1" dirty="0">
                <a:solidFill>
                  <a:srgbClr val="F5F7FA"/>
                </a:solidFill>
              </a:rPr>
              <a:t>Pacing</a:t>
            </a:r>
            <a:endParaRPr lang="en-US" sz="1050" dirty="0"/>
          </a:p>
        </p:txBody>
      </p:sp>
      <p:sp>
        <p:nvSpPr>
          <p:cNvPr id="12" name="Text 10"/>
          <p:cNvSpPr/>
          <p:nvPr/>
        </p:nvSpPr>
        <p:spPr>
          <a:xfrm>
            <a:off x="5376672" y="2527151"/>
            <a:ext cx="1444752" cy="621792"/>
          </a:xfrm>
          <a:prstGeom prst="roundRect">
            <a:avLst>
              <a:gd name="adj" fmla="val 11765"/>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050" b="1" dirty="0">
                <a:solidFill>
                  <a:srgbClr val="F5F7FA"/>
                </a:solidFill>
              </a:rPr>
              <a:t>Persuasion</a:t>
            </a:r>
            <a:endParaRPr lang="en-US" sz="1050" dirty="0"/>
          </a:p>
        </p:txBody>
      </p:sp>
      <p:sp>
        <p:nvSpPr>
          <p:cNvPr id="13" name="Text 11"/>
          <p:cNvSpPr/>
          <p:nvPr/>
        </p:nvSpPr>
        <p:spPr>
          <a:xfrm>
            <a:off x="1120140" y="1793927"/>
            <a:ext cx="3108960" cy="731520"/>
          </a:xfrm>
          <a:prstGeom prst="roundRect">
            <a:avLst>
              <a:gd name="adj" fmla="val 10000"/>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150" dirty="0">
                <a:solidFill>
                  <a:srgbClr val="B2BAC8"/>
                </a:solidFill>
              </a:rPr>
              <a:t>Agent definitions live in a JSON manifest and can be enabled or disabled without code changes.</a:t>
            </a:r>
            <a:endParaRPr lang="en-US" sz="1150" dirty="0"/>
          </a:p>
        </p:txBody>
      </p:sp>
      <p:sp>
        <p:nvSpPr>
          <p:cNvPr id="14" name="Text 12"/>
          <p:cNvSpPr/>
          <p:nvPr/>
        </p:nvSpPr>
        <p:spPr>
          <a:xfrm>
            <a:off x="8247888" y="1786396"/>
            <a:ext cx="2697480" cy="731520"/>
          </a:xfrm>
          <a:prstGeom prst="roundRect">
            <a:avLst>
              <a:gd name="adj" fmla="val 10000"/>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150" dirty="0">
                <a:solidFill>
                  <a:srgbClr val="B2BAC8"/>
                </a:solidFill>
              </a:rPr>
              <a:t>The report generator assembles structured results into a 10-13 page PDF coaching report.</a:t>
            </a:r>
            <a:endParaRPr lang="en-US" sz="1150" dirty="0"/>
          </a:p>
        </p:txBody>
      </p:sp>
      <p:sp>
        <p:nvSpPr>
          <p:cNvPr id="15" name="Text 13"/>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Seven dimensions and JSON manifest behavior come from project overview and source deck.</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COST AND SCALE</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The economics are exactly why serverless fits</a:t>
            </a:r>
            <a:endParaRPr lang="en-US" sz="2950" dirty="0"/>
          </a:p>
        </p:txBody>
      </p:sp>
      <p:sp>
        <p:nvSpPr>
          <p:cNvPr id="4" name="Text 2"/>
          <p:cNvSpPr/>
          <p:nvPr/>
        </p:nvSpPr>
        <p:spPr>
          <a:xfrm>
            <a:off x="621792" y="1325880"/>
            <a:ext cx="9144000" cy="640080"/>
          </a:xfrm>
          <a:prstGeom prst="rect">
            <a:avLst/>
          </a:prstGeom>
          <a:noFill/>
          <a:ln/>
        </p:spPr>
        <p:txBody>
          <a:bodyPr wrap="square" lIns="254" tIns="254" rIns="254" bIns="254" rtlCol="0" anchor="t">
            <a:normAutofit/>
          </a:bodyPr>
          <a:lstStyle/>
          <a:p>
            <a:pPr marL="0" indent="0" algn="l">
              <a:buNone/>
            </a:pPr>
            <a:r>
              <a:rPr lang="en-US" sz="1650" dirty="0">
                <a:solidFill>
                  <a:srgbClr val="B2BAC8"/>
                </a:solidFill>
              </a:rPr>
              <a:t>For spiky, early-stage usage, the cost goal is not “cheapest at theoretical peak.” It is “do not pay for infrastructure while product-market fit is still loading.”</a:t>
            </a:r>
            <a:endParaRPr lang="en-US" sz="1650" dirty="0"/>
          </a:p>
        </p:txBody>
      </p:sp>
      <p:sp>
        <p:nvSpPr>
          <p:cNvPr id="5" name="Text 3"/>
          <p:cNvSpPr/>
          <p:nvPr/>
        </p:nvSpPr>
        <p:spPr>
          <a:xfrm>
            <a:off x="868680" y="2450592"/>
            <a:ext cx="1508760" cy="256032"/>
          </a:xfrm>
          <a:prstGeom prst="rect">
            <a:avLst/>
          </a:prstGeom>
          <a:noFill/>
          <a:ln/>
        </p:spPr>
        <p:txBody>
          <a:bodyPr wrap="square" lIns="254" tIns="254" rIns="254" bIns="254" rtlCol="0" anchor="t">
            <a:normAutofit/>
          </a:bodyPr>
          <a:lstStyle/>
          <a:p>
            <a:pPr marL="0" indent="0" algn="l">
              <a:buNone/>
            </a:pPr>
            <a:r>
              <a:rPr lang="en-US" sz="1080" b="1" dirty="0">
                <a:solidFill>
                  <a:srgbClr val="F5F7FA"/>
                </a:solidFill>
              </a:rPr>
              <a:t>Demo / PoC</a:t>
            </a:r>
            <a:endParaRPr lang="en-US" sz="1080" dirty="0"/>
          </a:p>
        </p:txBody>
      </p:sp>
      <p:sp>
        <p:nvSpPr>
          <p:cNvPr id="6" name="Text 4"/>
          <p:cNvSpPr/>
          <p:nvPr/>
        </p:nvSpPr>
        <p:spPr>
          <a:xfrm>
            <a:off x="868680" y="2734056"/>
            <a:ext cx="1508760" cy="201168"/>
          </a:xfrm>
          <a:prstGeom prst="rect">
            <a:avLst/>
          </a:prstGeom>
          <a:noFill/>
          <a:ln/>
        </p:spPr>
        <p:txBody>
          <a:bodyPr wrap="square" lIns="254" tIns="254" rIns="254" bIns="254" rtlCol="0" anchor="t">
            <a:normAutofit/>
          </a:bodyPr>
          <a:lstStyle/>
          <a:p>
            <a:pPr marL="0" indent="0" algn="l">
              <a:buNone/>
            </a:pPr>
            <a:r>
              <a:rPr lang="en-US" sz="830" dirty="0">
                <a:solidFill>
                  <a:srgbClr val="7E8796"/>
                </a:solidFill>
              </a:rPr>
              <a:t>10/month</a:t>
            </a:r>
            <a:endParaRPr lang="en-US" sz="830" dirty="0"/>
          </a:p>
        </p:txBody>
      </p:sp>
      <p:sp>
        <p:nvSpPr>
          <p:cNvPr id="7" name="Shape 5"/>
          <p:cNvSpPr/>
          <p:nvPr/>
        </p:nvSpPr>
        <p:spPr>
          <a:xfrm>
            <a:off x="2423160" y="2496312"/>
            <a:ext cx="100584" cy="292608"/>
          </a:xfrm>
          <a:prstGeom prst="rect">
            <a:avLst/>
          </a:prstGeom>
          <a:solidFill>
            <a:srgbClr val="2F9BFF"/>
          </a:solidFill>
          <a:ln w="12700">
            <a:solidFill>
              <a:srgbClr val="2F9BFF">
                <a:alpha val="0"/>
              </a:srgbClr>
            </a:solidFill>
            <a:prstDash val="solid"/>
          </a:ln>
        </p:spPr>
        <p:txBody>
          <a:bodyPr/>
          <a:lstStyle/>
          <a:p>
            <a:endParaRPr lang="en-US"/>
          </a:p>
        </p:txBody>
      </p:sp>
      <p:sp>
        <p:nvSpPr>
          <p:cNvPr id="8" name="Text 6"/>
          <p:cNvSpPr/>
          <p:nvPr/>
        </p:nvSpPr>
        <p:spPr>
          <a:xfrm>
            <a:off x="2596896" y="2468880"/>
            <a:ext cx="749808" cy="256032"/>
          </a:xfrm>
          <a:prstGeom prst="rect">
            <a:avLst/>
          </a:prstGeom>
          <a:noFill/>
          <a:ln/>
        </p:spPr>
        <p:txBody>
          <a:bodyPr wrap="square" lIns="254" tIns="254" rIns="254" bIns="254" rtlCol="0" anchor="t">
            <a:normAutofit/>
          </a:bodyPr>
          <a:lstStyle/>
          <a:p>
            <a:pPr marL="0" indent="0" algn="l">
              <a:buNone/>
            </a:pPr>
            <a:r>
              <a:rPr lang="en-US" sz="1050" b="1" dirty="0">
                <a:solidFill>
                  <a:srgbClr val="59C4FF"/>
                </a:solidFill>
              </a:rPr>
              <a:t>$0.55</a:t>
            </a:r>
            <a:endParaRPr lang="en-US" sz="1050" dirty="0"/>
          </a:p>
        </p:txBody>
      </p:sp>
      <p:sp>
        <p:nvSpPr>
          <p:cNvPr id="9" name="Text 7"/>
          <p:cNvSpPr/>
          <p:nvPr/>
        </p:nvSpPr>
        <p:spPr>
          <a:xfrm>
            <a:off x="868680" y="3273552"/>
            <a:ext cx="1508760" cy="256032"/>
          </a:xfrm>
          <a:prstGeom prst="rect">
            <a:avLst/>
          </a:prstGeom>
          <a:noFill/>
          <a:ln/>
        </p:spPr>
        <p:txBody>
          <a:bodyPr wrap="square" lIns="254" tIns="254" rIns="254" bIns="254" rtlCol="0" anchor="t">
            <a:normAutofit/>
          </a:bodyPr>
          <a:lstStyle/>
          <a:p>
            <a:pPr marL="0" indent="0" algn="l">
              <a:buNone/>
            </a:pPr>
            <a:r>
              <a:rPr lang="en-US" sz="1080" b="1" dirty="0">
                <a:solidFill>
                  <a:srgbClr val="F5F7FA"/>
                </a:solidFill>
              </a:rPr>
              <a:t>Regular use</a:t>
            </a:r>
            <a:endParaRPr lang="en-US" sz="1080" dirty="0"/>
          </a:p>
        </p:txBody>
      </p:sp>
      <p:sp>
        <p:nvSpPr>
          <p:cNvPr id="10" name="Text 8"/>
          <p:cNvSpPr/>
          <p:nvPr/>
        </p:nvSpPr>
        <p:spPr>
          <a:xfrm>
            <a:off x="868680" y="3557016"/>
            <a:ext cx="1508760" cy="201168"/>
          </a:xfrm>
          <a:prstGeom prst="rect">
            <a:avLst/>
          </a:prstGeom>
          <a:noFill/>
          <a:ln/>
        </p:spPr>
        <p:txBody>
          <a:bodyPr wrap="square" lIns="254" tIns="254" rIns="254" bIns="254" rtlCol="0" anchor="t">
            <a:normAutofit/>
          </a:bodyPr>
          <a:lstStyle/>
          <a:p>
            <a:pPr marL="0" indent="0" algn="l">
              <a:buNone/>
            </a:pPr>
            <a:r>
              <a:rPr lang="en-US" sz="830" dirty="0">
                <a:solidFill>
                  <a:srgbClr val="7E8796"/>
                </a:solidFill>
              </a:rPr>
              <a:t>500/month</a:t>
            </a:r>
            <a:endParaRPr lang="en-US" sz="830" dirty="0"/>
          </a:p>
        </p:txBody>
      </p:sp>
      <p:sp>
        <p:nvSpPr>
          <p:cNvPr id="11" name="Shape 9"/>
          <p:cNvSpPr/>
          <p:nvPr/>
        </p:nvSpPr>
        <p:spPr>
          <a:xfrm>
            <a:off x="2423160" y="3319272"/>
            <a:ext cx="306178" cy="292608"/>
          </a:xfrm>
          <a:prstGeom prst="rect">
            <a:avLst/>
          </a:prstGeom>
          <a:solidFill>
            <a:srgbClr val="2F9BFF"/>
          </a:solidFill>
          <a:ln w="12700">
            <a:solidFill>
              <a:srgbClr val="2F9BFF">
                <a:alpha val="0"/>
              </a:srgbClr>
            </a:solidFill>
            <a:prstDash val="solid"/>
          </a:ln>
        </p:spPr>
        <p:txBody>
          <a:bodyPr/>
          <a:lstStyle/>
          <a:p>
            <a:endParaRPr lang="en-US"/>
          </a:p>
        </p:txBody>
      </p:sp>
      <p:sp>
        <p:nvSpPr>
          <p:cNvPr id="12" name="Text 10"/>
          <p:cNvSpPr/>
          <p:nvPr/>
        </p:nvSpPr>
        <p:spPr>
          <a:xfrm>
            <a:off x="2802490" y="3291840"/>
            <a:ext cx="749808" cy="256032"/>
          </a:xfrm>
          <a:prstGeom prst="rect">
            <a:avLst/>
          </a:prstGeom>
          <a:noFill/>
          <a:ln/>
        </p:spPr>
        <p:txBody>
          <a:bodyPr wrap="square" lIns="254" tIns="254" rIns="254" bIns="254" rtlCol="0" anchor="t">
            <a:normAutofit/>
          </a:bodyPr>
          <a:lstStyle/>
          <a:p>
            <a:pPr marL="0" indent="0" algn="l">
              <a:buNone/>
            </a:pPr>
            <a:r>
              <a:rPr lang="en-US" sz="1050" b="1" dirty="0">
                <a:solidFill>
                  <a:srgbClr val="59C4FF"/>
                </a:solidFill>
              </a:rPr>
              <a:t>$28</a:t>
            </a:r>
            <a:endParaRPr lang="en-US" sz="1050" dirty="0"/>
          </a:p>
        </p:txBody>
      </p:sp>
      <p:sp>
        <p:nvSpPr>
          <p:cNvPr id="13" name="Text 11"/>
          <p:cNvSpPr/>
          <p:nvPr/>
        </p:nvSpPr>
        <p:spPr>
          <a:xfrm>
            <a:off x="868680" y="4096512"/>
            <a:ext cx="1508760" cy="256032"/>
          </a:xfrm>
          <a:prstGeom prst="rect">
            <a:avLst/>
          </a:prstGeom>
          <a:noFill/>
          <a:ln/>
        </p:spPr>
        <p:txBody>
          <a:bodyPr wrap="square" lIns="254" tIns="254" rIns="254" bIns="254" rtlCol="0" anchor="t">
            <a:normAutofit/>
          </a:bodyPr>
          <a:lstStyle/>
          <a:p>
            <a:pPr marL="0" indent="0" algn="l">
              <a:buNone/>
            </a:pPr>
            <a:r>
              <a:rPr lang="en-US" sz="1080" b="1" dirty="0">
                <a:solidFill>
                  <a:srgbClr val="F5F7FA"/>
                </a:solidFill>
              </a:rPr>
              <a:t>Conference spike</a:t>
            </a:r>
            <a:endParaRPr lang="en-US" sz="1080" dirty="0"/>
          </a:p>
        </p:txBody>
      </p:sp>
      <p:sp>
        <p:nvSpPr>
          <p:cNvPr id="14" name="Text 12"/>
          <p:cNvSpPr/>
          <p:nvPr/>
        </p:nvSpPr>
        <p:spPr>
          <a:xfrm>
            <a:off x="868680" y="4379976"/>
            <a:ext cx="1508760" cy="201168"/>
          </a:xfrm>
          <a:prstGeom prst="rect">
            <a:avLst/>
          </a:prstGeom>
          <a:noFill/>
          <a:ln/>
        </p:spPr>
        <p:txBody>
          <a:bodyPr wrap="square" lIns="254" tIns="254" rIns="254" bIns="254" rtlCol="0" anchor="t">
            <a:normAutofit/>
          </a:bodyPr>
          <a:lstStyle/>
          <a:p>
            <a:pPr marL="0" indent="0" algn="l">
              <a:buNone/>
            </a:pPr>
            <a:r>
              <a:rPr lang="en-US" sz="830" dirty="0">
                <a:solidFill>
                  <a:srgbClr val="7E8796"/>
                </a:solidFill>
              </a:rPr>
              <a:t>10,000/week</a:t>
            </a:r>
            <a:endParaRPr lang="en-US" sz="830" dirty="0"/>
          </a:p>
        </p:txBody>
      </p:sp>
      <p:sp>
        <p:nvSpPr>
          <p:cNvPr id="15" name="Shape 13"/>
          <p:cNvSpPr/>
          <p:nvPr/>
        </p:nvSpPr>
        <p:spPr>
          <a:xfrm>
            <a:off x="2423160" y="4142232"/>
            <a:ext cx="5806440" cy="292608"/>
          </a:xfrm>
          <a:prstGeom prst="rect">
            <a:avLst/>
          </a:prstGeom>
          <a:solidFill>
            <a:srgbClr val="FF9B55"/>
          </a:solidFill>
          <a:ln w="12700">
            <a:solidFill>
              <a:srgbClr val="2F9BFF">
                <a:alpha val="0"/>
              </a:srgbClr>
            </a:solidFill>
            <a:prstDash val="solid"/>
          </a:ln>
        </p:spPr>
        <p:txBody>
          <a:bodyPr/>
          <a:lstStyle/>
          <a:p>
            <a:endParaRPr lang="en-US"/>
          </a:p>
        </p:txBody>
      </p:sp>
      <p:sp>
        <p:nvSpPr>
          <p:cNvPr id="16" name="Text 14"/>
          <p:cNvSpPr/>
          <p:nvPr/>
        </p:nvSpPr>
        <p:spPr>
          <a:xfrm>
            <a:off x="8302752" y="4114800"/>
            <a:ext cx="749808" cy="256032"/>
          </a:xfrm>
          <a:prstGeom prst="rect">
            <a:avLst/>
          </a:prstGeom>
          <a:noFill/>
          <a:ln/>
        </p:spPr>
        <p:txBody>
          <a:bodyPr wrap="square" lIns="254" tIns="254" rIns="254" bIns="254" rtlCol="0" anchor="t">
            <a:normAutofit/>
          </a:bodyPr>
          <a:lstStyle/>
          <a:p>
            <a:pPr marL="0" indent="0" algn="l">
              <a:buNone/>
            </a:pPr>
            <a:r>
              <a:rPr lang="en-US" sz="1050" b="1" dirty="0">
                <a:solidFill>
                  <a:srgbClr val="FF9B55"/>
                </a:solidFill>
              </a:rPr>
              <a:t>$531</a:t>
            </a:r>
            <a:endParaRPr lang="en-US" sz="1050" dirty="0"/>
          </a:p>
        </p:txBody>
      </p:sp>
      <p:sp>
        <p:nvSpPr>
          <p:cNvPr id="17" name="Text 15"/>
          <p:cNvSpPr/>
          <p:nvPr/>
        </p:nvSpPr>
        <p:spPr>
          <a:xfrm>
            <a:off x="868680" y="4919472"/>
            <a:ext cx="1508760" cy="256032"/>
          </a:xfrm>
          <a:prstGeom prst="rect">
            <a:avLst/>
          </a:prstGeom>
          <a:noFill/>
          <a:ln/>
        </p:spPr>
        <p:txBody>
          <a:bodyPr wrap="square" lIns="254" tIns="254" rIns="254" bIns="254" rtlCol="0" anchor="t">
            <a:normAutofit/>
          </a:bodyPr>
          <a:lstStyle/>
          <a:p>
            <a:pPr marL="0" indent="0" algn="l">
              <a:buNone/>
            </a:pPr>
            <a:r>
              <a:rPr lang="en-US" sz="1080" b="1" dirty="0">
                <a:solidFill>
                  <a:srgbClr val="F5F7FA"/>
                </a:solidFill>
              </a:rPr>
              <a:t>Quiet after spike</a:t>
            </a:r>
            <a:endParaRPr lang="en-US" sz="1080" dirty="0"/>
          </a:p>
        </p:txBody>
      </p:sp>
      <p:sp>
        <p:nvSpPr>
          <p:cNvPr id="18" name="Text 16"/>
          <p:cNvSpPr/>
          <p:nvPr/>
        </p:nvSpPr>
        <p:spPr>
          <a:xfrm>
            <a:off x="868680" y="5202936"/>
            <a:ext cx="1508760" cy="201168"/>
          </a:xfrm>
          <a:prstGeom prst="rect">
            <a:avLst/>
          </a:prstGeom>
          <a:noFill/>
          <a:ln/>
        </p:spPr>
        <p:txBody>
          <a:bodyPr wrap="square" lIns="254" tIns="254" rIns="254" bIns="254" rtlCol="0" anchor="t">
            <a:normAutofit/>
          </a:bodyPr>
          <a:lstStyle/>
          <a:p>
            <a:pPr marL="0" indent="0" algn="l">
              <a:buNone/>
            </a:pPr>
            <a:r>
              <a:rPr lang="en-US" sz="830" dirty="0">
                <a:solidFill>
                  <a:srgbClr val="7E8796"/>
                </a:solidFill>
              </a:rPr>
              <a:t>following month</a:t>
            </a:r>
            <a:endParaRPr lang="en-US" sz="830" dirty="0"/>
          </a:p>
        </p:txBody>
      </p:sp>
      <p:sp>
        <p:nvSpPr>
          <p:cNvPr id="19" name="Shape 17"/>
          <p:cNvSpPr/>
          <p:nvPr/>
        </p:nvSpPr>
        <p:spPr>
          <a:xfrm>
            <a:off x="2423160" y="4965192"/>
            <a:ext cx="100584" cy="292608"/>
          </a:xfrm>
          <a:prstGeom prst="rect">
            <a:avLst/>
          </a:prstGeom>
          <a:solidFill>
            <a:srgbClr val="2F9BFF"/>
          </a:solidFill>
          <a:ln w="12700">
            <a:solidFill>
              <a:srgbClr val="2F9BFF">
                <a:alpha val="0"/>
              </a:srgbClr>
            </a:solidFill>
            <a:prstDash val="solid"/>
          </a:ln>
        </p:spPr>
        <p:txBody>
          <a:bodyPr/>
          <a:lstStyle/>
          <a:p>
            <a:endParaRPr lang="en-US"/>
          </a:p>
        </p:txBody>
      </p:sp>
      <p:sp>
        <p:nvSpPr>
          <p:cNvPr id="20" name="Text 18"/>
          <p:cNvSpPr/>
          <p:nvPr/>
        </p:nvSpPr>
        <p:spPr>
          <a:xfrm>
            <a:off x="2596896" y="4937760"/>
            <a:ext cx="749808" cy="256032"/>
          </a:xfrm>
          <a:prstGeom prst="rect">
            <a:avLst/>
          </a:prstGeom>
          <a:noFill/>
          <a:ln/>
        </p:spPr>
        <p:txBody>
          <a:bodyPr wrap="square" lIns="254" tIns="254" rIns="254" bIns="254" rtlCol="0" anchor="t">
            <a:normAutofit/>
          </a:bodyPr>
          <a:lstStyle/>
          <a:p>
            <a:pPr marL="0" indent="0" algn="l">
              <a:buNone/>
            </a:pPr>
            <a:r>
              <a:rPr lang="en-US" sz="1050" b="1" dirty="0">
                <a:solidFill>
                  <a:srgbClr val="59C4FF"/>
                </a:solidFill>
              </a:rPr>
              <a:t>$2.35</a:t>
            </a:r>
            <a:endParaRPr lang="en-US" sz="1050" dirty="0"/>
          </a:p>
        </p:txBody>
      </p:sp>
      <p:sp>
        <p:nvSpPr>
          <p:cNvPr id="21" name="Text 19"/>
          <p:cNvSpPr/>
          <p:nvPr/>
        </p:nvSpPr>
        <p:spPr>
          <a:xfrm>
            <a:off x="9491472" y="2340864"/>
            <a:ext cx="2029968" cy="804672"/>
          </a:xfrm>
          <a:prstGeom prst="roundRect">
            <a:avLst>
              <a:gd name="adj" fmla="val 9091"/>
            </a:avLst>
          </a:prstGeom>
          <a:solidFill>
            <a:srgbClr val="0B1828"/>
          </a:solidFill>
          <a:ln w="13970">
            <a:solidFill>
              <a:srgbClr val="FF9B55"/>
            </a:solidFill>
          </a:ln>
        </p:spPr>
        <p:txBody>
          <a:bodyPr wrap="square" lIns="1016" tIns="1016" rIns="1016" bIns="1016" rtlCol="0" anchor="ctr">
            <a:normAutofit/>
          </a:bodyPr>
          <a:lstStyle/>
          <a:p>
            <a:pPr marL="0" indent="0" algn="ctr">
              <a:buNone/>
            </a:pPr>
            <a:r>
              <a:rPr lang="en-US" sz="1300" b="1" dirty="0">
                <a:solidFill>
                  <a:srgbClr val="F5F7FA"/>
                </a:solidFill>
              </a:rPr>
              <a:t>Bedrock dominates</a:t>
            </a:r>
            <a:endParaRPr lang="en-US" sz="1300" dirty="0"/>
          </a:p>
          <a:p>
            <a:pPr marL="0" indent="0" algn="ctr">
              <a:buNone/>
            </a:pPr>
            <a:r>
              <a:rPr lang="en-US" sz="1300" b="1" dirty="0">
                <a:solidFill>
                  <a:srgbClr val="F5F7FA"/>
                </a:solidFill>
              </a:rPr>
              <a:t>the bill at scale</a:t>
            </a:r>
            <a:endParaRPr lang="en-US" sz="1300" dirty="0"/>
          </a:p>
        </p:txBody>
      </p:sp>
      <p:sp>
        <p:nvSpPr>
          <p:cNvPr id="22" name="Text 20"/>
          <p:cNvSpPr/>
          <p:nvPr/>
        </p:nvSpPr>
        <p:spPr>
          <a:xfrm>
            <a:off x="9491472" y="3401568"/>
            <a:ext cx="2029968" cy="1078992"/>
          </a:xfrm>
          <a:prstGeom prst="roundRect">
            <a:avLst>
              <a:gd name="adj" fmla="val 6780"/>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150" b="1" dirty="0">
                <a:solidFill>
                  <a:srgbClr val="F5F7FA"/>
                </a:solidFill>
              </a:rPr>
              <a:t>Zero idle</a:t>
            </a:r>
            <a:endParaRPr lang="en-US" sz="1150" dirty="0"/>
          </a:p>
          <a:p>
            <a:pPr marL="0" indent="0" algn="ctr">
              <a:buNone/>
            </a:pPr>
            <a:r>
              <a:rPr lang="en-US" sz="1150" b="1" dirty="0">
                <a:solidFill>
                  <a:srgbClr val="F5F7FA"/>
                </a:solidFill>
              </a:rPr>
              <a:t>for Lambda, API Gateway, Step Functions, SQS, SNS, Bedrock</a:t>
            </a:r>
            <a:endParaRPr lang="en-US" sz="1150" dirty="0"/>
          </a:p>
        </p:txBody>
      </p:sp>
      <p:sp>
        <p:nvSpPr>
          <p:cNvPr id="23" name="Text 21"/>
          <p:cNvSpPr/>
          <p:nvPr/>
        </p:nvSpPr>
        <p:spPr>
          <a:xfrm>
            <a:off x="9491472" y="4791456"/>
            <a:ext cx="2029968" cy="804672"/>
          </a:xfrm>
          <a:prstGeom prst="roundRect">
            <a:avLst>
              <a:gd name="adj" fmla="val 9091"/>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200" b="1" dirty="0">
                <a:solidFill>
                  <a:srgbClr val="F5F7FA"/>
                </a:solidFill>
              </a:rPr>
              <a:t>S3 vector store</a:t>
            </a:r>
            <a:endParaRPr lang="en-US" sz="1200" dirty="0"/>
          </a:p>
          <a:p>
            <a:pPr marL="0" indent="0" algn="ctr">
              <a:buNone/>
            </a:pPr>
            <a:r>
              <a:rPr lang="en-US" sz="1200" b="1" dirty="0">
                <a:solidFill>
                  <a:srgbClr val="F5F7FA"/>
                </a:solidFill>
              </a:rPr>
              <a:t>keeps MVP cost near zero</a:t>
            </a:r>
            <a:endParaRPr lang="en-US" sz="1200" dirty="0"/>
          </a:p>
        </p:txBody>
      </p:sp>
      <p:sp>
        <p:nvSpPr>
          <p:cNvPr id="24" name="Text 22"/>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Cost scenarios and zero-idle principle come from project retrospective cost analysis.</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COST DECISION</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S3 as the first vector store is the right kind of cheap</a:t>
            </a:r>
            <a:endParaRPr lang="en-US" sz="2950" dirty="0"/>
          </a:p>
        </p:txBody>
      </p:sp>
      <p:sp>
        <p:nvSpPr>
          <p:cNvPr id="4" name="Text 2"/>
          <p:cNvSpPr/>
          <p:nvPr/>
        </p:nvSpPr>
        <p:spPr>
          <a:xfrm>
            <a:off x="621792" y="1325880"/>
            <a:ext cx="9966960" cy="713232"/>
          </a:xfrm>
          <a:prstGeom prst="rect">
            <a:avLst/>
          </a:prstGeom>
          <a:noFill/>
          <a:ln/>
        </p:spPr>
        <p:txBody>
          <a:bodyPr wrap="square" lIns="254" tIns="254" rIns="254" bIns="254" rtlCol="0" anchor="t">
            <a:normAutofit/>
          </a:bodyPr>
          <a:lstStyle/>
          <a:p>
            <a:pPr marL="0" indent="0" algn="l">
              <a:buNone/>
            </a:pPr>
            <a:r>
              <a:rPr lang="en-US" sz="1600" dirty="0">
                <a:solidFill>
                  <a:srgbClr val="B2BAC8"/>
                </a:solidFill>
              </a:rPr>
              <a:t>This is one of those choices where CTO discipline matters. For the MVP, S3 is not the “best vector database.” It is the best way to avoid paying for one before the workload proves it deserves one.</a:t>
            </a:r>
            <a:endParaRPr lang="en-US" sz="1600" dirty="0"/>
          </a:p>
        </p:txBody>
      </p:sp>
      <p:sp>
        <p:nvSpPr>
          <p:cNvPr id="5" name="Text 3"/>
          <p:cNvSpPr/>
          <p:nvPr/>
        </p:nvSpPr>
        <p:spPr>
          <a:xfrm>
            <a:off x="2511910" y="2395728"/>
            <a:ext cx="2743200" cy="310896"/>
          </a:xfrm>
          <a:prstGeom prst="rect">
            <a:avLst/>
          </a:prstGeom>
          <a:noFill/>
          <a:ln/>
        </p:spPr>
        <p:txBody>
          <a:bodyPr wrap="square" lIns="254" tIns="254" rIns="254" bIns="254" rtlCol="0" anchor="t">
            <a:normAutofit/>
          </a:bodyPr>
          <a:lstStyle/>
          <a:p>
            <a:pPr marL="0" indent="0" algn="ctr">
              <a:buNone/>
            </a:pPr>
            <a:r>
              <a:rPr lang="en-US" sz="1400" b="1" dirty="0">
                <a:solidFill>
                  <a:srgbClr val="59C4FF"/>
                </a:solidFill>
              </a:rPr>
              <a:t>S3 JSON embeddings</a:t>
            </a:r>
            <a:endParaRPr lang="en-US" sz="1400" dirty="0"/>
          </a:p>
        </p:txBody>
      </p:sp>
      <p:sp>
        <p:nvSpPr>
          <p:cNvPr id="6" name="Text 4"/>
          <p:cNvSpPr/>
          <p:nvPr/>
        </p:nvSpPr>
        <p:spPr>
          <a:xfrm>
            <a:off x="6460863" y="2395728"/>
            <a:ext cx="3063240" cy="310896"/>
          </a:xfrm>
          <a:prstGeom prst="rect">
            <a:avLst/>
          </a:prstGeom>
          <a:noFill/>
          <a:ln/>
        </p:spPr>
        <p:txBody>
          <a:bodyPr wrap="square" lIns="254" tIns="254" rIns="254" bIns="254" rtlCol="0" anchor="t">
            <a:normAutofit/>
          </a:bodyPr>
          <a:lstStyle/>
          <a:p>
            <a:pPr marL="0" indent="0" algn="ctr">
              <a:buNone/>
            </a:pPr>
            <a:r>
              <a:rPr lang="en-US" sz="1400" b="1" dirty="0">
                <a:solidFill>
                  <a:srgbClr val="FFD65A"/>
                </a:solidFill>
              </a:rPr>
              <a:t>OpenSearch Serverless / pgvector</a:t>
            </a:r>
            <a:endParaRPr lang="en-US" sz="1400" dirty="0"/>
          </a:p>
        </p:txBody>
      </p:sp>
      <p:sp>
        <p:nvSpPr>
          <p:cNvPr id="7" name="Text 5"/>
          <p:cNvSpPr/>
          <p:nvPr/>
        </p:nvSpPr>
        <p:spPr>
          <a:xfrm>
            <a:off x="822960" y="2834640"/>
            <a:ext cx="1508760" cy="347472"/>
          </a:xfrm>
          <a:prstGeom prst="roundRect">
            <a:avLst>
              <a:gd name="adj" fmla="val 13158"/>
            </a:avLst>
          </a:prstGeom>
          <a:solidFill>
            <a:srgbClr val="1C2430"/>
          </a:solidFill>
          <a:ln>
            <a:solidFill>
              <a:srgbClr val="1C2430">
                <a:alpha val="0"/>
              </a:srgbClr>
            </a:solidFill>
          </a:ln>
        </p:spPr>
        <p:txBody>
          <a:bodyPr wrap="square" lIns="635" tIns="635" rIns="635" bIns="635" rtlCol="0" anchor="ctr">
            <a:normAutofit/>
          </a:bodyPr>
          <a:lstStyle/>
          <a:p>
            <a:pPr marL="0" indent="0" algn="ctr">
              <a:buNone/>
            </a:pPr>
            <a:r>
              <a:rPr lang="en-US" sz="950" b="1" dirty="0">
                <a:solidFill>
                  <a:srgbClr val="B2BAC8"/>
                </a:solidFill>
              </a:rPr>
              <a:t>Idle cost</a:t>
            </a:r>
            <a:endParaRPr lang="en-US" sz="950" dirty="0"/>
          </a:p>
        </p:txBody>
      </p:sp>
      <p:sp>
        <p:nvSpPr>
          <p:cNvPr id="8" name="Text 6"/>
          <p:cNvSpPr/>
          <p:nvPr/>
        </p:nvSpPr>
        <p:spPr>
          <a:xfrm>
            <a:off x="2450592" y="2779776"/>
            <a:ext cx="2743200" cy="457200"/>
          </a:xfrm>
          <a:prstGeom prst="roundRect">
            <a:avLst>
              <a:gd name="adj" fmla="val 16000"/>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80" dirty="0">
                <a:solidFill>
                  <a:srgbClr val="F5F7FA"/>
                </a:solidFill>
              </a:rPr>
              <a:t>$0 storage only</a:t>
            </a:r>
            <a:endParaRPr lang="en-US" sz="1080" dirty="0"/>
          </a:p>
        </p:txBody>
      </p:sp>
      <p:sp>
        <p:nvSpPr>
          <p:cNvPr id="9" name="Text 7"/>
          <p:cNvSpPr/>
          <p:nvPr/>
        </p:nvSpPr>
        <p:spPr>
          <a:xfrm>
            <a:off x="6428232" y="2779776"/>
            <a:ext cx="3154680" cy="457200"/>
          </a:xfrm>
          <a:prstGeom prst="roundRect">
            <a:avLst>
              <a:gd name="adj" fmla="val 16000"/>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080" dirty="0">
                <a:solidFill>
                  <a:srgbClr val="F5F7FA"/>
                </a:solidFill>
              </a:rPr>
              <a:t>~$175/month minimum</a:t>
            </a:r>
            <a:endParaRPr lang="en-US" sz="1080" dirty="0"/>
          </a:p>
        </p:txBody>
      </p:sp>
      <p:sp>
        <p:nvSpPr>
          <p:cNvPr id="10" name="Text 8"/>
          <p:cNvSpPr/>
          <p:nvPr/>
        </p:nvSpPr>
        <p:spPr>
          <a:xfrm>
            <a:off x="822960" y="3493008"/>
            <a:ext cx="1508760" cy="347472"/>
          </a:xfrm>
          <a:prstGeom prst="roundRect">
            <a:avLst>
              <a:gd name="adj" fmla="val 13158"/>
            </a:avLst>
          </a:prstGeom>
          <a:solidFill>
            <a:srgbClr val="1C2430"/>
          </a:solidFill>
          <a:ln>
            <a:solidFill>
              <a:srgbClr val="1C2430">
                <a:alpha val="0"/>
              </a:srgbClr>
            </a:solidFill>
          </a:ln>
        </p:spPr>
        <p:txBody>
          <a:bodyPr wrap="square" lIns="635" tIns="635" rIns="635" bIns="635" rtlCol="0" anchor="ctr">
            <a:normAutofit/>
          </a:bodyPr>
          <a:lstStyle/>
          <a:p>
            <a:pPr marL="0" indent="0" algn="ctr">
              <a:buNone/>
            </a:pPr>
            <a:r>
              <a:rPr lang="en-US" sz="950" b="1" dirty="0">
                <a:solidFill>
                  <a:srgbClr val="B2BAC8"/>
                </a:solidFill>
              </a:rPr>
              <a:t>Read pattern</a:t>
            </a:r>
            <a:endParaRPr lang="en-US" sz="950" dirty="0"/>
          </a:p>
        </p:txBody>
      </p:sp>
      <p:sp>
        <p:nvSpPr>
          <p:cNvPr id="11" name="Text 9"/>
          <p:cNvSpPr/>
          <p:nvPr/>
        </p:nvSpPr>
        <p:spPr>
          <a:xfrm>
            <a:off x="2450592" y="3438144"/>
            <a:ext cx="2743200" cy="457200"/>
          </a:xfrm>
          <a:prstGeom prst="roundRect">
            <a:avLst>
              <a:gd name="adj" fmla="val 16000"/>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80" dirty="0">
                <a:solidFill>
                  <a:srgbClr val="F5F7FA"/>
                </a:solidFill>
              </a:rPr>
              <a:t>Per-submission retrieval</a:t>
            </a:r>
            <a:endParaRPr lang="en-US" sz="1080" dirty="0"/>
          </a:p>
        </p:txBody>
      </p:sp>
      <p:sp>
        <p:nvSpPr>
          <p:cNvPr id="12" name="Text 10"/>
          <p:cNvSpPr/>
          <p:nvPr/>
        </p:nvSpPr>
        <p:spPr>
          <a:xfrm>
            <a:off x="6428232" y="3438144"/>
            <a:ext cx="3154680" cy="457200"/>
          </a:xfrm>
          <a:prstGeom prst="roundRect">
            <a:avLst>
              <a:gd name="adj" fmla="val 16000"/>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080" dirty="0">
                <a:solidFill>
                  <a:srgbClr val="F5F7FA"/>
                </a:solidFill>
              </a:rPr>
              <a:t>Similarity search across corpora</a:t>
            </a:r>
            <a:endParaRPr lang="en-US" sz="1080" dirty="0"/>
          </a:p>
        </p:txBody>
      </p:sp>
      <p:sp>
        <p:nvSpPr>
          <p:cNvPr id="13" name="Text 11"/>
          <p:cNvSpPr/>
          <p:nvPr/>
        </p:nvSpPr>
        <p:spPr>
          <a:xfrm>
            <a:off x="822960" y="4151376"/>
            <a:ext cx="1508760" cy="347472"/>
          </a:xfrm>
          <a:prstGeom prst="roundRect">
            <a:avLst>
              <a:gd name="adj" fmla="val 13158"/>
            </a:avLst>
          </a:prstGeom>
          <a:solidFill>
            <a:srgbClr val="1C2430"/>
          </a:solidFill>
          <a:ln>
            <a:solidFill>
              <a:srgbClr val="1C2430">
                <a:alpha val="0"/>
              </a:srgbClr>
            </a:solidFill>
          </a:ln>
        </p:spPr>
        <p:txBody>
          <a:bodyPr wrap="square" lIns="635" tIns="635" rIns="635" bIns="635" rtlCol="0" anchor="ctr">
            <a:normAutofit/>
          </a:bodyPr>
          <a:lstStyle/>
          <a:p>
            <a:pPr marL="0" indent="0" algn="ctr">
              <a:buNone/>
            </a:pPr>
            <a:r>
              <a:rPr lang="en-US" sz="950" b="1" dirty="0">
                <a:solidFill>
                  <a:srgbClr val="B2BAC8"/>
                </a:solidFill>
              </a:rPr>
              <a:t>Latency</a:t>
            </a:r>
            <a:endParaRPr lang="en-US" sz="950" dirty="0"/>
          </a:p>
        </p:txBody>
      </p:sp>
      <p:sp>
        <p:nvSpPr>
          <p:cNvPr id="14" name="Text 12"/>
          <p:cNvSpPr/>
          <p:nvPr/>
        </p:nvSpPr>
        <p:spPr>
          <a:xfrm>
            <a:off x="2450592" y="4096512"/>
            <a:ext cx="2743200" cy="457200"/>
          </a:xfrm>
          <a:prstGeom prst="roundRect">
            <a:avLst>
              <a:gd name="adj" fmla="val 16000"/>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80" dirty="0">
                <a:solidFill>
                  <a:srgbClr val="F5F7FA"/>
                </a:solidFill>
              </a:rPr>
              <a:t>~50-100 ms per file</a:t>
            </a:r>
            <a:endParaRPr lang="en-US" sz="1080" dirty="0"/>
          </a:p>
        </p:txBody>
      </p:sp>
      <p:sp>
        <p:nvSpPr>
          <p:cNvPr id="15" name="Text 13"/>
          <p:cNvSpPr/>
          <p:nvPr/>
        </p:nvSpPr>
        <p:spPr>
          <a:xfrm>
            <a:off x="6428232" y="4096512"/>
            <a:ext cx="3154680" cy="457200"/>
          </a:xfrm>
          <a:prstGeom prst="roundRect">
            <a:avLst>
              <a:gd name="adj" fmla="val 16000"/>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080" dirty="0">
                <a:solidFill>
                  <a:srgbClr val="F5F7FA"/>
                </a:solidFill>
              </a:rPr>
              <a:t>~10 ms query path</a:t>
            </a:r>
            <a:endParaRPr lang="en-US" sz="1080" dirty="0"/>
          </a:p>
        </p:txBody>
      </p:sp>
      <p:sp>
        <p:nvSpPr>
          <p:cNvPr id="16" name="Text 14"/>
          <p:cNvSpPr/>
          <p:nvPr/>
        </p:nvSpPr>
        <p:spPr>
          <a:xfrm>
            <a:off x="822960" y="4809744"/>
            <a:ext cx="1508760" cy="347472"/>
          </a:xfrm>
          <a:prstGeom prst="roundRect">
            <a:avLst>
              <a:gd name="adj" fmla="val 13158"/>
            </a:avLst>
          </a:prstGeom>
          <a:solidFill>
            <a:srgbClr val="1C2430"/>
          </a:solidFill>
          <a:ln>
            <a:solidFill>
              <a:srgbClr val="1C2430">
                <a:alpha val="0"/>
              </a:srgbClr>
            </a:solidFill>
          </a:ln>
        </p:spPr>
        <p:txBody>
          <a:bodyPr wrap="square" lIns="635" tIns="635" rIns="635" bIns="635" rtlCol="0" anchor="ctr">
            <a:normAutofit/>
          </a:bodyPr>
          <a:lstStyle/>
          <a:p>
            <a:pPr marL="0" indent="0" algn="ctr">
              <a:buNone/>
            </a:pPr>
            <a:r>
              <a:rPr lang="en-US" sz="950" b="1" dirty="0">
                <a:solidFill>
                  <a:srgbClr val="B2BAC8"/>
                </a:solidFill>
              </a:rPr>
              <a:t>Move when</a:t>
            </a:r>
            <a:endParaRPr lang="en-US" sz="950" dirty="0"/>
          </a:p>
        </p:txBody>
      </p:sp>
      <p:sp>
        <p:nvSpPr>
          <p:cNvPr id="17" name="Text 15"/>
          <p:cNvSpPr/>
          <p:nvPr/>
        </p:nvSpPr>
        <p:spPr>
          <a:xfrm>
            <a:off x="2450592" y="4754880"/>
            <a:ext cx="2743200" cy="457200"/>
          </a:xfrm>
          <a:prstGeom prst="roundRect">
            <a:avLst>
              <a:gd name="adj" fmla="val 16000"/>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080" dirty="0">
                <a:solidFill>
                  <a:srgbClr val="F5F7FA"/>
                </a:solidFill>
              </a:rPr>
              <a:t>MVP and variable load</a:t>
            </a:r>
            <a:endParaRPr lang="en-US" sz="1080" dirty="0"/>
          </a:p>
        </p:txBody>
      </p:sp>
      <p:sp>
        <p:nvSpPr>
          <p:cNvPr id="18" name="Text 16"/>
          <p:cNvSpPr/>
          <p:nvPr/>
        </p:nvSpPr>
        <p:spPr>
          <a:xfrm>
            <a:off x="6428232" y="4754880"/>
            <a:ext cx="3154680" cy="457200"/>
          </a:xfrm>
          <a:prstGeom prst="roundRect">
            <a:avLst>
              <a:gd name="adj" fmla="val 16000"/>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080" dirty="0">
                <a:solidFill>
                  <a:srgbClr val="F5F7FA"/>
                </a:solidFill>
              </a:rPr>
              <a:t>&gt;50K presentations/month or cross-submission search</a:t>
            </a:r>
            <a:endParaRPr lang="en-US" sz="1080" dirty="0"/>
          </a:p>
        </p:txBody>
      </p:sp>
      <p:sp>
        <p:nvSpPr>
          <p:cNvPr id="19" name="Text 17"/>
          <p:cNvSpPr/>
          <p:nvPr/>
        </p:nvSpPr>
        <p:spPr>
          <a:xfrm>
            <a:off x="2926080" y="5669280"/>
            <a:ext cx="6309360" cy="566928"/>
          </a:xfrm>
          <a:prstGeom prst="roundRect">
            <a:avLst>
              <a:gd name="adj" fmla="val 12903"/>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250" dirty="0">
                <a:solidFill>
                  <a:srgbClr val="B2BAC8"/>
                </a:solidFill>
              </a:rPr>
              <a:t>Design win: vector-store-type and vector-store-endpoint are SSM parameters, so the upgrade path is operationally clean.</a:t>
            </a:r>
            <a:endParaRPr lang="en-US" sz="1250" dirty="0"/>
          </a:p>
        </p:txBody>
      </p:sp>
      <p:sp>
        <p:nvSpPr>
          <p:cNvPr id="20" name="Text 18"/>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S3 vs OpenSearch cost and upgrade guidance come from the retrospective cost analysis.</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RESILIENCE</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fontScale="77500" lnSpcReduction="20000"/>
          </a:bodyPr>
          <a:lstStyle/>
          <a:p>
            <a:pPr marL="0" indent="0">
              <a:buNone/>
            </a:pPr>
            <a:r>
              <a:rPr lang="en-US" sz="2950" b="1" dirty="0">
                <a:solidFill>
                  <a:srgbClr val="F5F7FA"/>
                </a:solidFill>
              </a:rPr>
              <a:t>Operational resilience is solid for MVP, but the regional stance is a decision</a:t>
            </a:r>
            <a:endParaRPr lang="en-US" sz="2950" dirty="0"/>
          </a:p>
        </p:txBody>
      </p:sp>
      <p:sp>
        <p:nvSpPr>
          <p:cNvPr id="4" name="Text 2"/>
          <p:cNvSpPr/>
          <p:nvPr/>
        </p:nvSpPr>
        <p:spPr>
          <a:xfrm>
            <a:off x="621792" y="1298448"/>
            <a:ext cx="9875520" cy="713232"/>
          </a:xfrm>
          <a:prstGeom prst="rect">
            <a:avLst/>
          </a:prstGeom>
          <a:noFill/>
          <a:ln/>
        </p:spPr>
        <p:txBody>
          <a:bodyPr wrap="square" lIns="254" tIns="254" rIns="254" bIns="254" rtlCol="0" anchor="t">
            <a:normAutofit lnSpcReduction="10000"/>
          </a:bodyPr>
          <a:lstStyle/>
          <a:p>
            <a:pPr marL="0" indent="0" algn="l">
              <a:buNone/>
            </a:pPr>
            <a:r>
              <a:rPr lang="en-US" sz="1620" dirty="0">
                <a:solidFill>
                  <a:srgbClr val="B2BAC8"/>
                </a:solidFill>
              </a:rPr>
              <a:t>Current state is single-region in us-east-1 but multi-AZ compatible by design and construction. </a:t>
            </a:r>
          </a:p>
          <a:p>
            <a:pPr marL="0" indent="0" algn="l">
              <a:buNone/>
            </a:pPr>
            <a:r>
              <a:rPr lang="en-US" sz="1620" dirty="0">
                <a:solidFill>
                  <a:srgbClr val="B2BAC8"/>
                </a:solidFill>
              </a:rPr>
              <a:t>Single Region is acceptable for an MVP, but production requires an explicit answer to how much regional failure the business will to tolerate.</a:t>
            </a:r>
            <a:endParaRPr lang="en-US" sz="1620" dirty="0"/>
          </a:p>
        </p:txBody>
      </p:sp>
      <p:sp>
        <p:nvSpPr>
          <p:cNvPr id="5" name="Text 3"/>
          <p:cNvSpPr/>
          <p:nvPr/>
        </p:nvSpPr>
        <p:spPr>
          <a:xfrm>
            <a:off x="914400" y="2514600"/>
            <a:ext cx="1828800" cy="822960"/>
          </a:xfrm>
          <a:prstGeom prst="roundRect">
            <a:avLst>
              <a:gd name="adj" fmla="val 8889"/>
            </a:avLst>
          </a:prstGeom>
          <a:solidFill>
            <a:srgbClr val="071A2D"/>
          </a:solidFill>
          <a:ln w="13970">
            <a:solidFill>
              <a:srgbClr val="2F9BFF"/>
            </a:solidFill>
          </a:ln>
        </p:spPr>
        <p:txBody>
          <a:bodyPr wrap="square" lIns="1016" tIns="1016" rIns="1016" bIns="1016" rtlCol="0" anchor="ctr">
            <a:normAutofit/>
          </a:bodyPr>
          <a:lstStyle/>
          <a:p>
            <a:pPr marL="0" indent="0" algn="ctr">
              <a:buNone/>
            </a:pPr>
            <a:r>
              <a:rPr lang="en-US" sz="1400" b="1" dirty="0">
                <a:solidFill>
                  <a:srgbClr val="F5F7FA"/>
                </a:solidFill>
              </a:rPr>
              <a:t>Current</a:t>
            </a:r>
            <a:endParaRPr lang="en-US" sz="1400" dirty="0"/>
          </a:p>
          <a:p>
            <a:pPr marL="0" indent="0" algn="ctr">
              <a:buNone/>
            </a:pPr>
            <a:r>
              <a:rPr lang="en-US" sz="1400" b="1" dirty="0">
                <a:solidFill>
                  <a:srgbClr val="F5F7FA"/>
                </a:solidFill>
              </a:rPr>
              <a:t>Single region</a:t>
            </a:r>
            <a:endParaRPr lang="en-US" sz="1400" dirty="0"/>
          </a:p>
        </p:txBody>
      </p:sp>
      <p:sp>
        <p:nvSpPr>
          <p:cNvPr id="6" name="Text 4"/>
          <p:cNvSpPr/>
          <p:nvPr/>
        </p:nvSpPr>
        <p:spPr>
          <a:xfrm>
            <a:off x="914400" y="3611880"/>
            <a:ext cx="1828800" cy="749808"/>
          </a:xfrm>
          <a:prstGeom prst="roundRect">
            <a:avLst>
              <a:gd name="adj" fmla="val 9756"/>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150" dirty="0">
                <a:solidFill>
                  <a:srgbClr val="B2BAC8"/>
                </a:solidFill>
              </a:rPr>
              <a:t>Good for</a:t>
            </a:r>
            <a:endParaRPr lang="en-US" sz="1150" dirty="0"/>
          </a:p>
          <a:p>
            <a:pPr marL="0" indent="0" algn="ctr">
              <a:buNone/>
            </a:pPr>
            <a:r>
              <a:rPr lang="en-US" sz="1150" dirty="0">
                <a:solidFill>
                  <a:srgbClr val="B2BAC8"/>
                </a:solidFill>
              </a:rPr>
              <a:t>MVP, pilots, controlled demos</a:t>
            </a:r>
            <a:endParaRPr lang="en-US" sz="1150" dirty="0"/>
          </a:p>
        </p:txBody>
      </p:sp>
      <p:sp>
        <p:nvSpPr>
          <p:cNvPr id="7" name="Shape 5"/>
          <p:cNvSpPr/>
          <p:nvPr/>
        </p:nvSpPr>
        <p:spPr>
          <a:xfrm>
            <a:off x="2743200" y="2944368"/>
            <a:ext cx="1005840" cy="0"/>
          </a:xfrm>
          <a:prstGeom prst="line">
            <a:avLst/>
          </a:prstGeom>
          <a:ln w="381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8" name="Text 6"/>
          <p:cNvSpPr/>
          <p:nvPr/>
        </p:nvSpPr>
        <p:spPr>
          <a:xfrm>
            <a:off x="3749040" y="2514600"/>
            <a:ext cx="2011680" cy="822960"/>
          </a:xfrm>
          <a:prstGeom prst="roundRect">
            <a:avLst>
              <a:gd name="adj" fmla="val 8889"/>
            </a:avLst>
          </a:prstGeom>
          <a:solidFill>
            <a:srgbClr val="071A2D"/>
          </a:solidFill>
          <a:ln w="13970">
            <a:solidFill>
              <a:srgbClr val="59D08F"/>
            </a:solidFill>
          </a:ln>
        </p:spPr>
        <p:txBody>
          <a:bodyPr wrap="square" lIns="1016" tIns="1016" rIns="1016" bIns="1016" rtlCol="0" anchor="ctr">
            <a:normAutofit/>
          </a:bodyPr>
          <a:lstStyle/>
          <a:p>
            <a:pPr marL="0" indent="0" algn="ctr">
              <a:buNone/>
            </a:pPr>
            <a:r>
              <a:rPr lang="en-US" sz="1400" b="1" dirty="0">
                <a:solidFill>
                  <a:srgbClr val="F5F7FA"/>
                </a:solidFill>
              </a:rPr>
              <a:t>Next</a:t>
            </a:r>
            <a:endParaRPr lang="en-US" sz="1400" dirty="0"/>
          </a:p>
          <a:p>
            <a:pPr marL="0" indent="0" algn="ctr">
              <a:buNone/>
            </a:pPr>
            <a:r>
              <a:rPr lang="en-US" sz="1400" b="1" dirty="0">
                <a:solidFill>
                  <a:srgbClr val="F5F7FA"/>
                </a:solidFill>
              </a:rPr>
              <a:t>Active-passive</a:t>
            </a:r>
            <a:endParaRPr lang="en-US" sz="1400" dirty="0"/>
          </a:p>
        </p:txBody>
      </p:sp>
      <p:sp>
        <p:nvSpPr>
          <p:cNvPr id="9" name="Text 7"/>
          <p:cNvSpPr/>
          <p:nvPr/>
        </p:nvSpPr>
        <p:spPr>
          <a:xfrm>
            <a:off x="3749040" y="3611880"/>
            <a:ext cx="2011680" cy="749808"/>
          </a:xfrm>
          <a:prstGeom prst="roundRect">
            <a:avLst>
              <a:gd name="adj" fmla="val 9756"/>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150" dirty="0">
                <a:solidFill>
                  <a:srgbClr val="B2BAC8"/>
                </a:solidFill>
              </a:rPr>
              <a:t>1-2 days</a:t>
            </a:r>
            <a:endParaRPr lang="en-US" sz="1150" dirty="0"/>
          </a:p>
          <a:p>
            <a:pPr marL="0" indent="0" algn="ctr">
              <a:buNone/>
            </a:pPr>
            <a:r>
              <a:rPr lang="en-US" sz="1150" dirty="0">
                <a:solidFill>
                  <a:srgbClr val="B2BAC8"/>
                </a:solidFill>
              </a:rPr>
              <a:t>secondary region + failover path</a:t>
            </a:r>
            <a:endParaRPr lang="en-US" sz="1150" dirty="0"/>
          </a:p>
        </p:txBody>
      </p:sp>
      <p:sp>
        <p:nvSpPr>
          <p:cNvPr id="10" name="Shape 8"/>
          <p:cNvSpPr/>
          <p:nvPr/>
        </p:nvSpPr>
        <p:spPr>
          <a:xfrm>
            <a:off x="5760720" y="2944368"/>
            <a:ext cx="987552" cy="0"/>
          </a:xfrm>
          <a:prstGeom prst="line">
            <a:avLst/>
          </a:prstGeom>
          <a:ln w="381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US"/>
          </a:p>
        </p:txBody>
      </p:sp>
      <p:sp>
        <p:nvSpPr>
          <p:cNvPr id="11" name="Text 9"/>
          <p:cNvSpPr/>
          <p:nvPr/>
        </p:nvSpPr>
        <p:spPr>
          <a:xfrm>
            <a:off x="6748272" y="2514600"/>
            <a:ext cx="1965960" cy="822960"/>
          </a:xfrm>
          <a:prstGeom prst="roundRect">
            <a:avLst>
              <a:gd name="adj" fmla="val 8889"/>
            </a:avLst>
          </a:prstGeom>
          <a:solidFill>
            <a:srgbClr val="071A2D"/>
          </a:solidFill>
          <a:ln w="13970">
            <a:solidFill>
              <a:srgbClr val="FFD65A"/>
            </a:solidFill>
          </a:ln>
        </p:spPr>
        <p:txBody>
          <a:bodyPr wrap="square" lIns="1016" tIns="1016" rIns="1016" bIns="1016" rtlCol="0" anchor="ctr">
            <a:normAutofit/>
          </a:bodyPr>
          <a:lstStyle/>
          <a:p>
            <a:pPr marL="0" indent="0" algn="ctr">
              <a:buNone/>
            </a:pPr>
            <a:r>
              <a:rPr lang="en-US" sz="1400" b="1" dirty="0">
                <a:solidFill>
                  <a:srgbClr val="F5F7FA"/>
                </a:solidFill>
              </a:rPr>
              <a:t>Later</a:t>
            </a:r>
            <a:endParaRPr lang="en-US" sz="1400" dirty="0"/>
          </a:p>
          <a:p>
            <a:pPr marL="0" indent="0" algn="ctr">
              <a:buNone/>
            </a:pPr>
            <a:r>
              <a:rPr lang="en-US" sz="1400" b="1" dirty="0">
                <a:solidFill>
                  <a:srgbClr val="F5F7FA"/>
                </a:solidFill>
              </a:rPr>
              <a:t>Active-active</a:t>
            </a:r>
            <a:endParaRPr lang="en-US" sz="1400" dirty="0"/>
          </a:p>
        </p:txBody>
      </p:sp>
      <p:sp>
        <p:nvSpPr>
          <p:cNvPr id="12" name="Text 10"/>
          <p:cNvSpPr/>
          <p:nvPr/>
        </p:nvSpPr>
        <p:spPr>
          <a:xfrm>
            <a:off x="6748272" y="3611880"/>
            <a:ext cx="1965960" cy="749808"/>
          </a:xfrm>
          <a:prstGeom prst="roundRect">
            <a:avLst>
              <a:gd name="adj" fmla="val 9756"/>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150" dirty="0">
                <a:solidFill>
                  <a:srgbClr val="B2BAC8"/>
                </a:solidFill>
              </a:rPr>
              <a:t>1-2 weeks</a:t>
            </a:r>
            <a:endParaRPr lang="en-US" sz="1150" dirty="0"/>
          </a:p>
          <a:p>
            <a:pPr marL="0" indent="0" algn="ctr">
              <a:buNone/>
            </a:pPr>
            <a:r>
              <a:rPr lang="en-US" sz="1150" dirty="0">
                <a:solidFill>
                  <a:srgbClr val="B2BAC8"/>
                </a:solidFill>
              </a:rPr>
              <a:t>conflict strategy + region affinity</a:t>
            </a:r>
            <a:endParaRPr lang="en-US" sz="1150" dirty="0"/>
          </a:p>
        </p:txBody>
      </p:sp>
      <p:sp>
        <p:nvSpPr>
          <p:cNvPr id="13" name="Text 11"/>
          <p:cNvSpPr/>
          <p:nvPr/>
        </p:nvSpPr>
        <p:spPr>
          <a:xfrm>
            <a:off x="9372600" y="2487168"/>
            <a:ext cx="1920240" cy="1965960"/>
          </a:xfrm>
          <a:prstGeom prst="roundRect">
            <a:avLst>
              <a:gd name="adj" fmla="val 3810"/>
            </a:avLst>
          </a:prstGeom>
          <a:solidFill>
            <a:srgbClr val="0B1828"/>
          </a:solidFill>
          <a:ln w="13970">
            <a:solidFill>
              <a:srgbClr val="FF9B55"/>
            </a:solidFill>
          </a:ln>
        </p:spPr>
        <p:txBody>
          <a:bodyPr wrap="square" lIns="1016" tIns="1016" rIns="1016" bIns="1016" rtlCol="0" anchor="ctr">
            <a:normAutofit/>
          </a:bodyPr>
          <a:lstStyle/>
          <a:p>
            <a:pPr marL="0" indent="0" algn="ctr">
              <a:buNone/>
            </a:pPr>
            <a:r>
              <a:rPr lang="en-US" sz="1120" b="1" dirty="0">
                <a:solidFill>
                  <a:srgbClr val="F5F7FA"/>
                </a:solidFill>
              </a:rPr>
              <a:t>CTO question</a:t>
            </a:r>
            <a:endParaRPr lang="en-US" sz="1120" dirty="0"/>
          </a:p>
          <a:p>
            <a:pPr marL="0" indent="0" algn="ctr">
              <a:buNone/>
            </a:pPr>
            <a:r>
              <a:rPr lang="en-US" sz="1120" b="1" dirty="0">
                <a:solidFill>
                  <a:srgbClr val="F5F7FA"/>
                </a:solidFill>
              </a:rPr>
              <a:t>Does coaching report availability justify multi-region complexity now, or after revenue proves demand?</a:t>
            </a:r>
            <a:endParaRPr lang="en-US" sz="1120" dirty="0"/>
          </a:p>
        </p:txBody>
      </p:sp>
      <p:sp>
        <p:nvSpPr>
          <p:cNvPr id="14" name="Text 12"/>
          <p:cNvSpPr/>
          <p:nvPr/>
        </p:nvSpPr>
        <p:spPr>
          <a:xfrm>
            <a:off x="914400" y="5193792"/>
            <a:ext cx="9829800" cy="457200"/>
          </a:xfrm>
          <a:prstGeom prst="rect">
            <a:avLst/>
          </a:prstGeom>
          <a:noFill/>
          <a:ln/>
        </p:spPr>
        <p:txBody>
          <a:bodyPr wrap="square" lIns="254" tIns="254" rIns="254" bIns="254" rtlCol="0" anchor="t">
            <a:normAutofit/>
          </a:bodyPr>
          <a:lstStyle/>
          <a:p>
            <a:pPr marL="0" indent="0" algn="ctr">
              <a:buNone/>
            </a:pPr>
            <a:r>
              <a:rPr lang="en-US" sz="1350" dirty="0">
                <a:solidFill>
                  <a:srgbClr val="B2BAC8"/>
                </a:solidFill>
              </a:rPr>
              <a:t>Low-friction upgrades: DynamoDB Global Tables, S3 CRR, second regional API Gateway, replicated Step Functions and Lambda stacks, CloudFront origin routing.</a:t>
            </a:r>
            <a:endParaRPr lang="en-US" sz="1350" dirty="0"/>
          </a:p>
        </p:txBody>
      </p:sp>
      <p:sp>
        <p:nvSpPr>
          <p:cNvPr id="15" name="Text 13"/>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Multi-region path and estimated effort come from the retrospective.</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RISK REGISTER</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fontScale="92500"/>
          </a:bodyPr>
          <a:lstStyle/>
          <a:p>
            <a:pPr marL="0" indent="0">
              <a:buNone/>
            </a:pPr>
            <a:r>
              <a:rPr lang="en-US" sz="2950" b="1" dirty="0">
                <a:solidFill>
                  <a:srgbClr val="F5F7FA"/>
                </a:solidFill>
              </a:rPr>
              <a:t>The production-hardening backlog is manageable, not mysterious</a:t>
            </a:r>
            <a:endParaRPr lang="en-US" sz="2950" dirty="0"/>
          </a:p>
        </p:txBody>
      </p:sp>
      <p:sp>
        <p:nvSpPr>
          <p:cNvPr id="4" name="Text 2"/>
          <p:cNvSpPr/>
          <p:nvPr/>
        </p:nvSpPr>
        <p:spPr>
          <a:xfrm>
            <a:off x="621792" y="1298448"/>
            <a:ext cx="9875520" cy="713232"/>
          </a:xfrm>
          <a:prstGeom prst="rect">
            <a:avLst/>
          </a:prstGeom>
          <a:noFill/>
          <a:ln/>
        </p:spPr>
        <p:txBody>
          <a:bodyPr wrap="square" lIns="254" tIns="254" rIns="254" bIns="254" rtlCol="0" anchor="t">
            <a:normAutofit/>
          </a:bodyPr>
          <a:lstStyle/>
          <a:p>
            <a:pPr marL="0" indent="0" algn="l">
              <a:buNone/>
            </a:pPr>
            <a:r>
              <a:rPr lang="en-US" sz="1620" dirty="0">
                <a:solidFill>
                  <a:srgbClr val="B2BAC8"/>
                </a:solidFill>
              </a:rPr>
              <a:t>The system is deployed and the end-to-end pipeline runs. The remaining work is application-level correctness plus the usual enterprise-grade hardening. Good news: no smoke machine required.</a:t>
            </a:r>
            <a:endParaRPr lang="en-US" sz="1620" dirty="0"/>
          </a:p>
        </p:txBody>
      </p:sp>
      <p:sp>
        <p:nvSpPr>
          <p:cNvPr id="5" name="Text 3"/>
          <p:cNvSpPr/>
          <p:nvPr/>
        </p:nvSpPr>
        <p:spPr>
          <a:xfrm>
            <a:off x="822960" y="2249424"/>
            <a:ext cx="1920240" cy="438912"/>
          </a:xfrm>
          <a:prstGeom prst="roundRect">
            <a:avLst>
              <a:gd name="adj" fmla="val 16667"/>
            </a:avLst>
          </a:prstGeom>
          <a:solidFill>
            <a:srgbClr val="FF6B6B"/>
          </a:solidFill>
          <a:ln w="13970">
            <a:solidFill>
              <a:srgbClr val="FF6B6B"/>
            </a:solidFill>
          </a:ln>
        </p:spPr>
        <p:txBody>
          <a:bodyPr wrap="square" lIns="1016" tIns="1016" rIns="1016" bIns="1016" rtlCol="0" anchor="ctr">
            <a:normAutofit/>
          </a:bodyPr>
          <a:lstStyle/>
          <a:p>
            <a:pPr marL="0" indent="0" algn="ctr">
              <a:buNone/>
            </a:pPr>
            <a:r>
              <a:rPr lang="en-US" sz="1100" b="1" dirty="0">
                <a:solidFill>
                  <a:srgbClr val="07111E"/>
                </a:solidFill>
              </a:rPr>
              <a:t>Known app fixes</a:t>
            </a:r>
            <a:endParaRPr lang="en-US" sz="1100" dirty="0"/>
          </a:p>
        </p:txBody>
      </p:sp>
      <p:sp>
        <p:nvSpPr>
          <p:cNvPr id="6" name="Text 4"/>
          <p:cNvSpPr/>
          <p:nvPr/>
        </p:nvSpPr>
        <p:spPr>
          <a:xfrm>
            <a:off x="2944368" y="2267712"/>
            <a:ext cx="7818120" cy="384048"/>
          </a:xfrm>
          <a:prstGeom prst="rect">
            <a:avLst/>
          </a:prstGeom>
          <a:noFill/>
          <a:ln/>
        </p:spPr>
        <p:txBody>
          <a:bodyPr wrap="square" lIns="254" tIns="254" rIns="254" bIns="254" rtlCol="0" anchor="t">
            <a:normAutofit/>
          </a:bodyPr>
          <a:lstStyle/>
          <a:p>
            <a:pPr marL="0" indent="0" algn="l">
              <a:buNone/>
            </a:pPr>
            <a:r>
              <a:rPr lang="en-US" sz="1130" dirty="0">
                <a:solidFill>
                  <a:srgbClr val="B2BAC8"/>
                </a:solidFill>
              </a:rPr>
              <a:t>Vector retrieval uses the wrong API. Supervisor results need parser handling. My Submissions page throws a 500 after report creation.</a:t>
            </a:r>
            <a:endParaRPr lang="en-US" sz="1130" dirty="0"/>
          </a:p>
        </p:txBody>
      </p:sp>
      <p:sp>
        <p:nvSpPr>
          <p:cNvPr id="7" name="Text 5"/>
          <p:cNvSpPr/>
          <p:nvPr/>
        </p:nvSpPr>
        <p:spPr>
          <a:xfrm>
            <a:off x="822960" y="2962656"/>
            <a:ext cx="1920240" cy="438912"/>
          </a:xfrm>
          <a:prstGeom prst="roundRect">
            <a:avLst>
              <a:gd name="adj" fmla="val 16667"/>
            </a:avLst>
          </a:prstGeom>
          <a:solidFill>
            <a:srgbClr val="FF9B55"/>
          </a:solidFill>
          <a:ln w="13970">
            <a:solidFill>
              <a:srgbClr val="FF9B55"/>
            </a:solidFill>
          </a:ln>
        </p:spPr>
        <p:txBody>
          <a:bodyPr wrap="square" lIns="1016" tIns="1016" rIns="1016" bIns="1016" rtlCol="0" anchor="ctr">
            <a:normAutofit/>
          </a:bodyPr>
          <a:lstStyle/>
          <a:p>
            <a:pPr marL="0" indent="0" algn="ctr">
              <a:buNone/>
            </a:pPr>
            <a:r>
              <a:rPr lang="en-US" sz="1100" b="1" dirty="0">
                <a:solidFill>
                  <a:srgbClr val="07111E"/>
                </a:solidFill>
              </a:rPr>
              <a:t>Security</a:t>
            </a:r>
            <a:endParaRPr lang="en-US" sz="1100" dirty="0"/>
          </a:p>
        </p:txBody>
      </p:sp>
      <p:sp>
        <p:nvSpPr>
          <p:cNvPr id="8" name="Text 6"/>
          <p:cNvSpPr/>
          <p:nvPr/>
        </p:nvSpPr>
        <p:spPr>
          <a:xfrm>
            <a:off x="2944368" y="2980944"/>
            <a:ext cx="7818120" cy="384048"/>
          </a:xfrm>
          <a:prstGeom prst="rect">
            <a:avLst/>
          </a:prstGeom>
          <a:noFill/>
          <a:ln/>
        </p:spPr>
        <p:txBody>
          <a:bodyPr wrap="square" lIns="254" tIns="254" rIns="254" bIns="254" rtlCol="0" anchor="t">
            <a:normAutofit/>
          </a:bodyPr>
          <a:lstStyle/>
          <a:p>
            <a:pPr marL="0" indent="0" algn="l">
              <a:buNone/>
            </a:pPr>
            <a:r>
              <a:rPr lang="en-US" sz="1130" dirty="0">
                <a:solidFill>
                  <a:srgbClr val="B2BAC8"/>
                </a:solidFill>
              </a:rPr>
              <a:t>Token storage posture, signed URL TTLs, WAF rules, IAM boundaries, data retention, PII handling.</a:t>
            </a:r>
            <a:endParaRPr lang="en-US" sz="1130" dirty="0"/>
          </a:p>
        </p:txBody>
      </p:sp>
      <p:sp>
        <p:nvSpPr>
          <p:cNvPr id="9" name="Text 7"/>
          <p:cNvSpPr/>
          <p:nvPr/>
        </p:nvSpPr>
        <p:spPr>
          <a:xfrm>
            <a:off x="822960" y="3675888"/>
            <a:ext cx="1920240" cy="438912"/>
          </a:xfrm>
          <a:prstGeom prst="roundRect">
            <a:avLst>
              <a:gd name="adj" fmla="val 16667"/>
            </a:avLst>
          </a:prstGeom>
          <a:solidFill>
            <a:srgbClr val="FFD65A"/>
          </a:solidFill>
          <a:ln w="13970">
            <a:solidFill>
              <a:srgbClr val="FFD65A"/>
            </a:solidFill>
          </a:ln>
        </p:spPr>
        <p:txBody>
          <a:bodyPr wrap="square" lIns="1016" tIns="1016" rIns="1016" bIns="1016" rtlCol="0" anchor="ctr">
            <a:normAutofit/>
          </a:bodyPr>
          <a:lstStyle/>
          <a:p>
            <a:pPr marL="0" indent="0" algn="ctr">
              <a:buNone/>
            </a:pPr>
            <a:r>
              <a:rPr lang="en-US" sz="1100" b="1" dirty="0">
                <a:solidFill>
                  <a:srgbClr val="07111E"/>
                </a:solidFill>
              </a:rPr>
              <a:t>Reliability</a:t>
            </a:r>
            <a:endParaRPr lang="en-US" sz="1100" dirty="0"/>
          </a:p>
        </p:txBody>
      </p:sp>
      <p:sp>
        <p:nvSpPr>
          <p:cNvPr id="10" name="Text 8"/>
          <p:cNvSpPr/>
          <p:nvPr/>
        </p:nvSpPr>
        <p:spPr>
          <a:xfrm>
            <a:off x="2944368" y="3694176"/>
            <a:ext cx="7818120" cy="384048"/>
          </a:xfrm>
          <a:prstGeom prst="rect">
            <a:avLst/>
          </a:prstGeom>
          <a:noFill/>
          <a:ln/>
        </p:spPr>
        <p:txBody>
          <a:bodyPr wrap="square" lIns="254" tIns="254" rIns="254" bIns="254" rtlCol="0" anchor="t">
            <a:normAutofit/>
          </a:bodyPr>
          <a:lstStyle/>
          <a:p>
            <a:pPr marL="0" indent="0" algn="l">
              <a:buNone/>
            </a:pPr>
            <a:r>
              <a:rPr lang="en-US" sz="1130" dirty="0">
                <a:solidFill>
                  <a:srgbClr val="B2BAC8"/>
                </a:solidFill>
              </a:rPr>
              <a:t>Bedrock throttling policy, ECS Spot interruption handling, DLQ runbooks, retry budgets, idempotency.</a:t>
            </a:r>
            <a:endParaRPr lang="en-US" sz="1130" dirty="0"/>
          </a:p>
        </p:txBody>
      </p:sp>
      <p:sp>
        <p:nvSpPr>
          <p:cNvPr id="11" name="Text 9"/>
          <p:cNvSpPr/>
          <p:nvPr/>
        </p:nvSpPr>
        <p:spPr>
          <a:xfrm>
            <a:off x="822960" y="4389120"/>
            <a:ext cx="1920240" cy="438912"/>
          </a:xfrm>
          <a:prstGeom prst="roundRect">
            <a:avLst>
              <a:gd name="adj" fmla="val 16667"/>
            </a:avLst>
          </a:prstGeom>
          <a:solidFill>
            <a:srgbClr val="59D08F"/>
          </a:solidFill>
          <a:ln w="13970">
            <a:solidFill>
              <a:srgbClr val="59D08F"/>
            </a:solidFill>
          </a:ln>
        </p:spPr>
        <p:txBody>
          <a:bodyPr wrap="square" lIns="1016" tIns="1016" rIns="1016" bIns="1016" rtlCol="0" anchor="ctr">
            <a:normAutofit/>
          </a:bodyPr>
          <a:lstStyle/>
          <a:p>
            <a:pPr marL="0" indent="0" algn="ctr">
              <a:buNone/>
            </a:pPr>
            <a:r>
              <a:rPr lang="en-US" sz="1100" b="1" dirty="0">
                <a:solidFill>
                  <a:srgbClr val="07111E"/>
                </a:solidFill>
              </a:rPr>
              <a:t>Observability</a:t>
            </a:r>
            <a:endParaRPr lang="en-US" sz="1100" dirty="0"/>
          </a:p>
        </p:txBody>
      </p:sp>
      <p:sp>
        <p:nvSpPr>
          <p:cNvPr id="12" name="Text 10"/>
          <p:cNvSpPr/>
          <p:nvPr/>
        </p:nvSpPr>
        <p:spPr>
          <a:xfrm>
            <a:off x="2944368" y="4407408"/>
            <a:ext cx="7818120" cy="384048"/>
          </a:xfrm>
          <a:prstGeom prst="rect">
            <a:avLst/>
          </a:prstGeom>
          <a:noFill/>
          <a:ln/>
        </p:spPr>
        <p:txBody>
          <a:bodyPr wrap="square" lIns="254" tIns="254" rIns="254" bIns="254" rtlCol="0" anchor="t">
            <a:normAutofit/>
          </a:bodyPr>
          <a:lstStyle/>
          <a:p>
            <a:pPr marL="0" indent="0" algn="l">
              <a:buNone/>
            </a:pPr>
            <a:r>
              <a:rPr lang="en-US" sz="1130" dirty="0">
                <a:solidFill>
                  <a:srgbClr val="B2BAC8"/>
                </a:solidFill>
              </a:rPr>
              <a:t>Trace a submission across Cognito, API, S3, Step Functions, queues, ECS, Bedrock, and report generation.</a:t>
            </a:r>
            <a:endParaRPr lang="en-US" sz="1130" dirty="0"/>
          </a:p>
        </p:txBody>
      </p:sp>
      <p:sp>
        <p:nvSpPr>
          <p:cNvPr id="13" name="Text 11"/>
          <p:cNvSpPr/>
          <p:nvPr/>
        </p:nvSpPr>
        <p:spPr>
          <a:xfrm>
            <a:off x="822960" y="5102352"/>
            <a:ext cx="1920240" cy="438912"/>
          </a:xfrm>
          <a:prstGeom prst="roundRect">
            <a:avLst>
              <a:gd name="adj" fmla="val 16667"/>
            </a:avLst>
          </a:prstGeom>
          <a:solidFill>
            <a:srgbClr val="2F9BFF"/>
          </a:solidFill>
          <a:ln w="13970">
            <a:solidFill>
              <a:srgbClr val="2F9BFF"/>
            </a:solidFill>
          </a:ln>
        </p:spPr>
        <p:txBody>
          <a:bodyPr wrap="square" lIns="1016" tIns="1016" rIns="1016" bIns="1016" rtlCol="0" anchor="ctr">
            <a:normAutofit/>
          </a:bodyPr>
          <a:lstStyle/>
          <a:p>
            <a:pPr marL="0" indent="0" algn="ctr">
              <a:buNone/>
            </a:pPr>
            <a:r>
              <a:rPr lang="en-US" sz="1100" b="1" dirty="0">
                <a:solidFill>
                  <a:srgbClr val="07111E"/>
                </a:solidFill>
              </a:rPr>
              <a:t>FinOps</a:t>
            </a:r>
            <a:endParaRPr lang="en-US" sz="1100" dirty="0"/>
          </a:p>
        </p:txBody>
      </p:sp>
      <p:sp>
        <p:nvSpPr>
          <p:cNvPr id="14" name="Text 12"/>
          <p:cNvSpPr/>
          <p:nvPr/>
        </p:nvSpPr>
        <p:spPr>
          <a:xfrm>
            <a:off x="2944368" y="5120640"/>
            <a:ext cx="7818120" cy="384048"/>
          </a:xfrm>
          <a:prstGeom prst="rect">
            <a:avLst/>
          </a:prstGeom>
          <a:noFill/>
          <a:ln/>
        </p:spPr>
        <p:txBody>
          <a:bodyPr wrap="square" lIns="254" tIns="254" rIns="254" bIns="254" rtlCol="0" anchor="t">
            <a:normAutofit/>
          </a:bodyPr>
          <a:lstStyle/>
          <a:p>
            <a:pPr marL="0" indent="0" algn="l">
              <a:buNone/>
            </a:pPr>
            <a:r>
              <a:rPr lang="en-US" sz="1130" dirty="0">
                <a:solidFill>
                  <a:srgbClr val="B2BAC8"/>
                </a:solidFill>
              </a:rPr>
              <a:t>Budgets, Bedrock spend alarms, lifecycle policies, model-choice controls, chargeback by user or tenant.</a:t>
            </a:r>
            <a:endParaRPr lang="en-US" sz="1130" dirty="0"/>
          </a:p>
        </p:txBody>
      </p:sp>
      <p:sp>
        <p:nvSpPr>
          <p:cNvPr id="15" name="Text 13"/>
          <p:cNvSpPr/>
          <p:nvPr/>
        </p:nvSpPr>
        <p:spPr>
          <a:xfrm>
            <a:off x="3063240" y="5833872"/>
            <a:ext cx="6217920" cy="493776"/>
          </a:xfrm>
          <a:prstGeom prst="roundRect">
            <a:avLst>
              <a:gd name="adj" fmla="val 14815"/>
            </a:avLst>
          </a:prstGeom>
          <a:solidFill>
            <a:srgbClr val="0B1828"/>
          </a:solidFill>
          <a:ln w="13970">
            <a:solidFill>
              <a:srgbClr val="2F9BFF"/>
            </a:solidFill>
          </a:ln>
        </p:spPr>
        <p:txBody>
          <a:bodyPr wrap="square" lIns="1016" tIns="1016" rIns="1016" bIns="1016" rtlCol="0" anchor="ctr">
            <a:normAutofit fontScale="92500" lnSpcReduction="20000"/>
          </a:bodyPr>
          <a:lstStyle/>
          <a:p>
            <a:pPr marL="0" indent="0" algn="ctr">
              <a:buNone/>
            </a:pPr>
            <a:r>
              <a:rPr lang="en-US" sz="1220" dirty="0">
                <a:solidFill>
                  <a:srgbClr val="B2BAC8"/>
                </a:solidFill>
              </a:rPr>
              <a:t>Priority one</a:t>
            </a:r>
            <a:endParaRPr lang="en-US" sz="1220" dirty="0"/>
          </a:p>
          <a:p>
            <a:pPr marL="0" indent="0" algn="ctr">
              <a:buNone/>
            </a:pPr>
            <a:r>
              <a:rPr lang="en-US" sz="1220" dirty="0">
                <a:solidFill>
                  <a:srgbClr val="B2BAC8"/>
                </a:solidFill>
              </a:rPr>
              <a:t>Fix parsing and retrieval first. Then run a thin production-readiness review before adding more agents.</a:t>
            </a:r>
            <a:endParaRPr lang="en-US" sz="1220" dirty="0"/>
          </a:p>
        </p:txBody>
      </p:sp>
      <p:sp>
        <p:nvSpPr>
          <p:cNvPr id="16" name="Text 14"/>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Known application issues come from project overview and source deck. Hardening items are CTO recommendations derived from the architecture.</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WHERE I WOULD SPEND TIME</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CTO decision radar</a:t>
            </a:r>
            <a:endParaRPr lang="en-US" sz="2950" dirty="0"/>
          </a:p>
        </p:txBody>
      </p:sp>
      <p:sp>
        <p:nvSpPr>
          <p:cNvPr id="4" name="Text 2"/>
          <p:cNvSpPr/>
          <p:nvPr/>
        </p:nvSpPr>
        <p:spPr>
          <a:xfrm>
            <a:off x="621792" y="1243584"/>
            <a:ext cx="8549640" cy="493776"/>
          </a:xfrm>
          <a:prstGeom prst="rect">
            <a:avLst/>
          </a:prstGeom>
          <a:noFill/>
          <a:ln/>
        </p:spPr>
        <p:txBody>
          <a:bodyPr wrap="square" lIns="254" tIns="254" rIns="254" bIns="254" rtlCol="0" anchor="t">
            <a:normAutofit lnSpcReduction="10000"/>
          </a:bodyPr>
          <a:lstStyle/>
          <a:p>
            <a:pPr marL="0" indent="0" algn="l">
              <a:buNone/>
            </a:pPr>
            <a:r>
              <a:rPr lang="en-US" sz="1700" dirty="0">
                <a:solidFill>
                  <a:srgbClr val="B2BAC8"/>
                </a:solidFill>
              </a:rPr>
              <a:t>The architecture is good enough to advance. The discussion should move from “can this work?” to “what operating posture do we want?”</a:t>
            </a:r>
            <a:endParaRPr lang="en-US" sz="1700" dirty="0"/>
          </a:p>
        </p:txBody>
      </p:sp>
      <p:sp>
        <p:nvSpPr>
          <p:cNvPr id="5" name="Text 3"/>
          <p:cNvSpPr/>
          <p:nvPr/>
        </p:nvSpPr>
        <p:spPr>
          <a:xfrm>
            <a:off x="5074920" y="3255264"/>
            <a:ext cx="2011680" cy="1005840"/>
          </a:xfrm>
          <a:prstGeom prst="roundRect">
            <a:avLst>
              <a:gd name="adj" fmla="val 7273"/>
            </a:avLst>
          </a:prstGeom>
          <a:solidFill>
            <a:srgbClr val="2F9BFF"/>
          </a:solidFill>
          <a:ln w="13970">
            <a:solidFill>
              <a:srgbClr val="2F9BFF"/>
            </a:solidFill>
          </a:ln>
        </p:spPr>
        <p:txBody>
          <a:bodyPr wrap="square" lIns="1016" tIns="1016" rIns="1016" bIns="1016" rtlCol="0" anchor="ctr">
            <a:normAutofit/>
          </a:bodyPr>
          <a:lstStyle/>
          <a:p>
            <a:pPr marL="0" indent="0" algn="ctr">
              <a:buNone/>
            </a:pPr>
            <a:r>
              <a:rPr lang="en-US" sz="1600" b="1" dirty="0">
                <a:solidFill>
                  <a:srgbClr val="03101D"/>
                </a:solidFill>
              </a:rPr>
              <a:t>CTO</a:t>
            </a:r>
            <a:endParaRPr lang="en-US" sz="1600" dirty="0"/>
          </a:p>
          <a:p>
            <a:pPr marL="0" indent="0" algn="ctr">
              <a:buNone/>
            </a:pPr>
            <a:r>
              <a:rPr lang="en-US" sz="1600" b="1" dirty="0">
                <a:solidFill>
                  <a:srgbClr val="03101D"/>
                </a:solidFill>
              </a:rPr>
              <a:t>Operating</a:t>
            </a:r>
            <a:endParaRPr lang="en-US" sz="1600" dirty="0"/>
          </a:p>
          <a:p>
            <a:pPr marL="0" indent="0" algn="ctr">
              <a:buNone/>
            </a:pPr>
            <a:r>
              <a:rPr lang="en-US" sz="1600" b="1" dirty="0">
                <a:solidFill>
                  <a:srgbClr val="03101D"/>
                </a:solidFill>
              </a:rPr>
              <a:t>Posture</a:t>
            </a:r>
            <a:endParaRPr lang="en-US" sz="1600" dirty="0"/>
          </a:p>
        </p:txBody>
      </p:sp>
      <p:sp>
        <p:nvSpPr>
          <p:cNvPr id="6" name="Text 4"/>
          <p:cNvSpPr/>
          <p:nvPr/>
        </p:nvSpPr>
        <p:spPr>
          <a:xfrm>
            <a:off x="4828032" y="1938528"/>
            <a:ext cx="2057400" cy="457200"/>
          </a:xfrm>
          <a:prstGeom prst="roundRect">
            <a:avLst>
              <a:gd name="adj" fmla="val 16000"/>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070" b="1" dirty="0">
                <a:solidFill>
                  <a:srgbClr val="F5F7FA"/>
                </a:solidFill>
              </a:rPr>
              <a:t>Ship MVP transcript-first</a:t>
            </a:r>
            <a:endParaRPr lang="en-US" sz="1070" dirty="0"/>
          </a:p>
        </p:txBody>
      </p:sp>
      <p:sp>
        <p:nvSpPr>
          <p:cNvPr id="7" name="Text 5"/>
          <p:cNvSpPr/>
          <p:nvPr/>
        </p:nvSpPr>
        <p:spPr>
          <a:xfrm>
            <a:off x="4919472" y="2459736"/>
            <a:ext cx="1874520" cy="420624"/>
          </a:xfrm>
          <a:prstGeom prst="rect">
            <a:avLst/>
          </a:prstGeom>
          <a:noFill/>
          <a:ln/>
        </p:spPr>
        <p:txBody>
          <a:bodyPr wrap="square" lIns="254" tIns="254" rIns="254" bIns="254" rtlCol="0" anchor="t">
            <a:normAutofit/>
          </a:bodyPr>
          <a:lstStyle/>
          <a:p>
            <a:pPr marL="0" indent="0" algn="ctr">
              <a:buNone/>
            </a:pPr>
            <a:r>
              <a:rPr lang="en-US" sz="840" dirty="0">
                <a:solidFill>
                  <a:srgbClr val="7E8796"/>
                </a:solidFill>
              </a:rPr>
              <a:t>Embeddings remain feature-flagged until retrieval is fixed and value is proven.</a:t>
            </a:r>
            <a:endParaRPr lang="en-US" sz="840" dirty="0"/>
          </a:p>
        </p:txBody>
      </p:sp>
      <p:sp>
        <p:nvSpPr>
          <p:cNvPr id="8" name="Text 6"/>
          <p:cNvSpPr/>
          <p:nvPr/>
        </p:nvSpPr>
        <p:spPr>
          <a:xfrm>
            <a:off x="7790688" y="2450592"/>
            <a:ext cx="2057400" cy="457200"/>
          </a:xfrm>
          <a:prstGeom prst="roundRect">
            <a:avLst>
              <a:gd name="adj" fmla="val 16000"/>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070" b="1" dirty="0">
                <a:solidFill>
                  <a:srgbClr val="F5F7FA"/>
                </a:solidFill>
              </a:rPr>
              <a:t>Keep S3 vectors for now</a:t>
            </a:r>
            <a:endParaRPr lang="en-US" sz="1070" dirty="0"/>
          </a:p>
        </p:txBody>
      </p:sp>
      <p:sp>
        <p:nvSpPr>
          <p:cNvPr id="9" name="Text 7"/>
          <p:cNvSpPr/>
          <p:nvPr/>
        </p:nvSpPr>
        <p:spPr>
          <a:xfrm>
            <a:off x="7882128" y="2971800"/>
            <a:ext cx="1874520" cy="420624"/>
          </a:xfrm>
          <a:prstGeom prst="rect">
            <a:avLst/>
          </a:prstGeom>
          <a:noFill/>
          <a:ln/>
        </p:spPr>
        <p:txBody>
          <a:bodyPr wrap="square" lIns="254" tIns="254" rIns="254" bIns="254" rtlCol="0" anchor="t">
            <a:normAutofit/>
          </a:bodyPr>
          <a:lstStyle/>
          <a:p>
            <a:pPr marL="0" indent="0" algn="ctr">
              <a:buNone/>
            </a:pPr>
            <a:r>
              <a:rPr lang="en-US" sz="840" dirty="0">
                <a:solidFill>
                  <a:srgbClr val="7E8796"/>
                </a:solidFill>
              </a:rPr>
              <a:t>Move to OpenSearch or pgvector when cross-submission similarity becomes real.</a:t>
            </a:r>
            <a:endParaRPr lang="en-US" sz="840" dirty="0"/>
          </a:p>
        </p:txBody>
      </p:sp>
      <p:sp>
        <p:nvSpPr>
          <p:cNvPr id="10" name="Text 8"/>
          <p:cNvSpPr/>
          <p:nvPr/>
        </p:nvSpPr>
        <p:spPr>
          <a:xfrm>
            <a:off x="7360920" y="4828032"/>
            <a:ext cx="2057400" cy="457200"/>
          </a:xfrm>
          <a:prstGeom prst="roundRect">
            <a:avLst>
              <a:gd name="adj" fmla="val 16000"/>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070" b="1" dirty="0">
                <a:solidFill>
                  <a:srgbClr val="F5F7FA"/>
                </a:solidFill>
              </a:rPr>
              <a:t>Fargate Spot is fine</a:t>
            </a:r>
            <a:endParaRPr lang="en-US" sz="1070" dirty="0"/>
          </a:p>
        </p:txBody>
      </p:sp>
      <p:sp>
        <p:nvSpPr>
          <p:cNvPr id="11" name="Text 9"/>
          <p:cNvSpPr/>
          <p:nvPr/>
        </p:nvSpPr>
        <p:spPr>
          <a:xfrm>
            <a:off x="7452360" y="5349240"/>
            <a:ext cx="1874520" cy="420624"/>
          </a:xfrm>
          <a:prstGeom prst="rect">
            <a:avLst/>
          </a:prstGeom>
          <a:noFill/>
          <a:ln/>
        </p:spPr>
        <p:txBody>
          <a:bodyPr wrap="square" lIns="254" tIns="254" rIns="254" bIns="254" rtlCol="0" anchor="t">
            <a:normAutofit/>
          </a:bodyPr>
          <a:lstStyle/>
          <a:p>
            <a:pPr marL="0" indent="0" algn="ctr">
              <a:buNone/>
            </a:pPr>
            <a:r>
              <a:rPr lang="en-US" sz="840" dirty="0">
                <a:solidFill>
                  <a:srgbClr val="7E8796"/>
                </a:solidFill>
              </a:rPr>
              <a:t>For low sustained volume, Spot tasks with DLQ and retries are a smart cost choice.</a:t>
            </a:r>
            <a:endParaRPr lang="en-US" sz="840" dirty="0"/>
          </a:p>
        </p:txBody>
      </p:sp>
      <p:sp>
        <p:nvSpPr>
          <p:cNvPr id="12" name="Text 10"/>
          <p:cNvSpPr/>
          <p:nvPr/>
        </p:nvSpPr>
        <p:spPr>
          <a:xfrm>
            <a:off x="3703320" y="4828032"/>
            <a:ext cx="2057400" cy="457200"/>
          </a:xfrm>
          <a:prstGeom prst="roundRect">
            <a:avLst>
              <a:gd name="adj" fmla="val 16000"/>
            </a:avLst>
          </a:prstGeom>
          <a:solidFill>
            <a:srgbClr val="0B1828"/>
          </a:solidFill>
          <a:ln w="13970">
            <a:solidFill>
              <a:srgbClr val="FF9B55"/>
            </a:solidFill>
          </a:ln>
        </p:spPr>
        <p:txBody>
          <a:bodyPr wrap="square" lIns="1016" tIns="1016" rIns="1016" bIns="1016" rtlCol="0" anchor="ctr">
            <a:normAutofit/>
          </a:bodyPr>
          <a:lstStyle/>
          <a:p>
            <a:pPr marL="0" indent="0" algn="ctr">
              <a:buNone/>
            </a:pPr>
            <a:r>
              <a:rPr lang="en-US" sz="1070" b="1" dirty="0">
                <a:solidFill>
                  <a:srgbClr val="F5F7FA"/>
                </a:solidFill>
              </a:rPr>
              <a:t>Define regional intent</a:t>
            </a:r>
            <a:endParaRPr lang="en-US" sz="1070" dirty="0"/>
          </a:p>
        </p:txBody>
      </p:sp>
      <p:sp>
        <p:nvSpPr>
          <p:cNvPr id="13" name="Text 11"/>
          <p:cNvSpPr/>
          <p:nvPr/>
        </p:nvSpPr>
        <p:spPr>
          <a:xfrm>
            <a:off x="3794760" y="5349240"/>
            <a:ext cx="1874520" cy="420624"/>
          </a:xfrm>
          <a:prstGeom prst="rect">
            <a:avLst/>
          </a:prstGeom>
          <a:noFill/>
          <a:ln/>
        </p:spPr>
        <p:txBody>
          <a:bodyPr wrap="square" lIns="254" tIns="254" rIns="254" bIns="254" rtlCol="0" anchor="t">
            <a:normAutofit/>
          </a:bodyPr>
          <a:lstStyle/>
          <a:p>
            <a:pPr marL="0" indent="0" algn="ctr">
              <a:buNone/>
            </a:pPr>
            <a:r>
              <a:rPr lang="en-US" sz="840" dirty="0">
                <a:solidFill>
                  <a:srgbClr val="7E8796"/>
                </a:solidFill>
              </a:rPr>
              <a:t>Single region is fine for pilot. Production needs a written RTO/RPO answer.</a:t>
            </a:r>
            <a:endParaRPr lang="en-US" sz="840" dirty="0"/>
          </a:p>
        </p:txBody>
      </p:sp>
      <p:sp>
        <p:nvSpPr>
          <p:cNvPr id="14" name="Text 12"/>
          <p:cNvSpPr/>
          <p:nvPr/>
        </p:nvSpPr>
        <p:spPr>
          <a:xfrm>
            <a:off x="2578608" y="2450592"/>
            <a:ext cx="2057400" cy="457200"/>
          </a:xfrm>
          <a:prstGeom prst="roundRect">
            <a:avLst>
              <a:gd name="adj" fmla="val 16000"/>
            </a:avLst>
          </a:prstGeom>
          <a:solidFill>
            <a:srgbClr val="0B1828"/>
          </a:solidFill>
          <a:ln w="13970">
            <a:solidFill>
              <a:srgbClr val="B68CFF"/>
            </a:solidFill>
          </a:ln>
        </p:spPr>
        <p:txBody>
          <a:bodyPr wrap="square" lIns="1016" tIns="1016" rIns="1016" bIns="1016" rtlCol="0" anchor="ctr">
            <a:normAutofit/>
          </a:bodyPr>
          <a:lstStyle/>
          <a:p>
            <a:pPr marL="0" indent="0" algn="ctr">
              <a:buNone/>
            </a:pPr>
            <a:r>
              <a:rPr lang="en-US" sz="1070" b="1" dirty="0">
                <a:solidFill>
                  <a:srgbClr val="F5F7FA"/>
                </a:solidFill>
              </a:rPr>
              <a:t>Instrument the AI path</a:t>
            </a:r>
            <a:endParaRPr lang="en-US" sz="1070" dirty="0"/>
          </a:p>
        </p:txBody>
      </p:sp>
      <p:sp>
        <p:nvSpPr>
          <p:cNvPr id="15" name="Text 13"/>
          <p:cNvSpPr/>
          <p:nvPr/>
        </p:nvSpPr>
        <p:spPr>
          <a:xfrm>
            <a:off x="2670048" y="2971800"/>
            <a:ext cx="1874520" cy="420624"/>
          </a:xfrm>
          <a:prstGeom prst="rect">
            <a:avLst/>
          </a:prstGeom>
          <a:noFill/>
          <a:ln/>
        </p:spPr>
        <p:txBody>
          <a:bodyPr wrap="square" lIns="254" tIns="254" rIns="254" bIns="254" rtlCol="0" anchor="t">
            <a:normAutofit/>
          </a:bodyPr>
          <a:lstStyle/>
          <a:p>
            <a:pPr marL="0" indent="0" algn="ctr">
              <a:buNone/>
            </a:pPr>
            <a:r>
              <a:rPr lang="en-US" sz="840" dirty="0">
                <a:solidFill>
                  <a:srgbClr val="7E8796"/>
                </a:solidFill>
              </a:rPr>
              <a:t>Token cost, model latency, prompt version, agent output, parser failure, and report traceability.</a:t>
            </a:r>
            <a:endParaRPr lang="en-US" sz="840" dirty="0"/>
          </a:p>
        </p:txBody>
      </p:sp>
      <p:sp>
        <p:nvSpPr>
          <p:cNvPr id="16" name="Text 14"/>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This slide distills CTO decisions from the supplied architecture, flow, cost, and current-state documents.</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NEXT MOVES</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A practical 30/60/90 day path</a:t>
            </a:r>
            <a:endParaRPr lang="en-US" sz="2950" dirty="0"/>
          </a:p>
        </p:txBody>
      </p:sp>
      <p:sp>
        <p:nvSpPr>
          <p:cNvPr id="4" name="Text 2"/>
          <p:cNvSpPr/>
          <p:nvPr/>
        </p:nvSpPr>
        <p:spPr>
          <a:xfrm>
            <a:off x="621792" y="1316736"/>
            <a:ext cx="9784080" cy="658368"/>
          </a:xfrm>
          <a:prstGeom prst="rect">
            <a:avLst/>
          </a:prstGeom>
          <a:noFill/>
          <a:ln/>
        </p:spPr>
        <p:txBody>
          <a:bodyPr wrap="square" lIns="254" tIns="254" rIns="254" bIns="254" rtlCol="0" anchor="t">
            <a:normAutofit/>
          </a:bodyPr>
          <a:lstStyle/>
          <a:p>
            <a:pPr marL="0" indent="0" algn="l">
              <a:buNone/>
            </a:pPr>
            <a:r>
              <a:rPr lang="en-US" sz="1650" dirty="0">
                <a:solidFill>
                  <a:srgbClr val="B2BAC8"/>
                </a:solidFill>
              </a:rPr>
              <a:t>Do not boil the architecture ocean. Fix the known seams, prove the evaluator quality, then harden only the parts that have a user or revenue reason to exist.</a:t>
            </a:r>
            <a:endParaRPr lang="en-US" sz="1650" dirty="0"/>
          </a:p>
        </p:txBody>
      </p:sp>
      <p:sp>
        <p:nvSpPr>
          <p:cNvPr id="5" name="Text 3"/>
          <p:cNvSpPr/>
          <p:nvPr/>
        </p:nvSpPr>
        <p:spPr>
          <a:xfrm>
            <a:off x="822960" y="2286000"/>
            <a:ext cx="2377440" cy="530352"/>
          </a:xfrm>
          <a:prstGeom prst="roundRect">
            <a:avLst>
              <a:gd name="adj" fmla="val 13793"/>
            </a:avLst>
          </a:prstGeom>
          <a:solidFill>
            <a:srgbClr val="2F9BFF"/>
          </a:solidFill>
          <a:ln w="13970">
            <a:solidFill>
              <a:srgbClr val="2F9BFF"/>
            </a:solidFill>
          </a:ln>
        </p:spPr>
        <p:txBody>
          <a:bodyPr wrap="square" lIns="1016" tIns="1016" rIns="1016" bIns="1016" rtlCol="0" anchor="ctr">
            <a:normAutofit/>
          </a:bodyPr>
          <a:lstStyle/>
          <a:p>
            <a:pPr marL="0" indent="0" algn="ctr">
              <a:buNone/>
            </a:pPr>
            <a:r>
              <a:rPr lang="en-US" sz="1400" b="1" dirty="0">
                <a:solidFill>
                  <a:srgbClr val="07111E"/>
                </a:solidFill>
              </a:rPr>
              <a:t>30 days</a:t>
            </a:r>
            <a:endParaRPr lang="en-US" sz="1400" dirty="0"/>
          </a:p>
        </p:txBody>
      </p:sp>
      <p:sp>
        <p:nvSpPr>
          <p:cNvPr id="6" name="Text 4"/>
          <p:cNvSpPr/>
          <p:nvPr/>
        </p:nvSpPr>
        <p:spPr>
          <a:xfrm>
            <a:off x="822960" y="2907792"/>
            <a:ext cx="2377440" cy="274320"/>
          </a:xfrm>
          <a:prstGeom prst="rect">
            <a:avLst/>
          </a:prstGeom>
          <a:noFill/>
          <a:ln/>
        </p:spPr>
        <p:txBody>
          <a:bodyPr wrap="square" lIns="254" tIns="254" rIns="254" bIns="254" rtlCol="0" anchor="t">
            <a:normAutofit/>
          </a:bodyPr>
          <a:lstStyle/>
          <a:p>
            <a:pPr marL="0" indent="0" algn="ctr">
              <a:buNone/>
            </a:pPr>
            <a:r>
              <a:rPr lang="en-US" sz="1250" b="1" dirty="0">
                <a:solidFill>
                  <a:srgbClr val="59C4FF"/>
                </a:solidFill>
              </a:rPr>
              <a:t>Stabilize MVP</a:t>
            </a:r>
            <a:endParaRPr lang="en-US" sz="1250" dirty="0"/>
          </a:p>
        </p:txBody>
      </p:sp>
      <p:sp>
        <p:nvSpPr>
          <p:cNvPr id="7" name="Text 5"/>
          <p:cNvSpPr/>
          <p:nvPr/>
        </p:nvSpPr>
        <p:spPr>
          <a:xfrm>
            <a:off x="868680" y="3310128"/>
            <a:ext cx="2926080" cy="1444752"/>
          </a:xfrm>
          <a:prstGeom prst="rect">
            <a:avLst/>
          </a:prstGeom>
          <a:noFill/>
          <a:ln/>
        </p:spPr>
        <p:txBody>
          <a:bodyPr wrap="square" lIns="635" tIns="635" rIns="635" bIns="635" rtlCol="0" anchor="ctr">
            <a:normAutofit/>
          </a:bodyPr>
          <a:lstStyle/>
          <a:p>
            <a:r>
              <a:rPr lang="en-US" sz="1060" dirty="0">
                <a:solidFill>
                  <a:srgbClr val="B2BAC8"/>
                </a:solidFill>
              </a:rPr>
              <a:t>Fix vector retrieval and parser handling
</a:t>
            </a:r>
            <a:endParaRPr lang="en-US" sz="1060" dirty="0"/>
          </a:p>
          <a:p>
            <a:r>
              <a:rPr lang="en-US" sz="1060" dirty="0">
                <a:solidFill>
                  <a:srgbClr val="B2BAC8"/>
                </a:solidFill>
              </a:rPr>
              <a:t>Remove My Submissions 500 error
</a:t>
            </a:r>
            <a:endParaRPr lang="en-US" sz="1060" dirty="0"/>
          </a:p>
          <a:p>
            <a:r>
              <a:rPr lang="en-US" sz="1060" dirty="0">
                <a:solidFill>
                  <a:srgbClr val="B2BAC8"/>
                </a:solidFill>
              </a:rPr>
              <a:t>Add end-to-end trace ID
</a:t>
            </a:r>
            <a:endParaRPr lang="en-US" sz="1060" dirty="0"/>
          </a:p>
          <a:p>
            <a:r>
              <a:rPr lang="en-US" sz="1060" dirty="0">
                <a:solidFill>
                  <a:srgbClr val="B2BAC8"/>
                </a:solidFill>
              </a:rPr>
              <a:t>Budget alarms on Bedrock usage</a:t>
            </a:r>
            <a:endParaRPr lang="en-US" sz="1060" dirty="0"/>
          </a:p>
        </p:txBody>
      </p:sp>
      <p:sp>
        <p:nvSpPr>
          <p:cNvPr id="8" name="Text 6"/>
          <p:cNvSpPr/>
          <p:nvPr/>
        </p:nvSpPr>
        <p:spPr>
          <a:xfrm>
            <a:off x="4617720" y="2286000"/>
            <a:ext cx="2377440" cy="530352"/>
          </a:xfrm>
          <a:prstGeom prst="roundRect">
            <a:avLst>
              <a:gd name="adj" fmla="val 13793"/>
            </a:avLst>
          </a:prstGeom>
          <a:solidFill>
            <a:srgbClr val="59D08F"/>
          </a:solidFill>
          <a:ln w="13970">
            <a:solidFill>
              <a:srgbClr val="59D08F"/>
            </a:solidFill>
          </a:ln>
        </p:spPr>
        <p:txBody>
          <a:bodyPr wrap="square" lIns="1016" tIns="1016" rIns="1016" bIns="1016" rtlCol="0" anchor="ctr">
            <a:normAutofit/>
          </a:bodyPr>
          <a:lstStyle/>
          <a:p>
            <a:pPr marL="0" indent="0" algn="ctr">
              <a:buNone/>
            </a:pPr>
            <a:r>
              <a:rPr lang="en-US" sz="1400" b="1" dirty="0">
                <a:solidFill>
                  <a:srgbClr val="07111E"/>
                </a:solidFill>
              </a:rPr>
              <a:t>60 days</a:t>
            </a:r>
            <a:endParaRPr lang="en-US" sz="1400" dirty="0"/>
          </a:p>
        </p:txBody>
      </p:sp>
      <p:sp>
        <p:nvSpPr>
          <p:cNvPr id="9" name="Text 7"/>
          <p:cNvSpPr/>
          <p:nvPr/>
        </p:nvSpPr>
        <p:spPr>
          <a:xfrm>
            <a:off x="4617720" y="2907792"/>
            <a:ext cx="2377440" cy="274320"/>
          </a:xfrm>
          <a:prstGeom prst="rect">
            <a:avLst/>
          </a:prstGeom>
          <a:noFill/>
          <a:ln/>
        </p:spPr>
        <p:txBody>
          <a:bodyPr wrap="square" lIns="254" tIns="254" rIns="254" bIns="254" rtlCol="0" anchor="t">
            <a:normAutofit/>
          </a:bodyPr>
          <a:lstStyle/>
          <a:p>
            <a:pPr marL="0" indent="0" algn="ctr">
              <a:buNone/>
            </a:pPr>
            <a:r>
              <a:rPr lang="en-US" sz="1250" b="1" dirty="0">
                <a:solidFill>
                  <a:srgbClr val="59D08F"/>
                </a:solidFill>
              </a:rPr>
              <a:t>Prove quality</a:t>
            </a:r>
            <a:endParaRPr lang="en-US" sz="1250" dirty="0"/>
          </a:p>
        </p:txBody>
      </p:sp>
      <p:sp>
        <p:nvSpPr>
          <p:cNvPr id="10" name="Text 8"/>
          <p:cNvSpPr/>
          <p:nvPr/>
        </p:nvSpPr>
        <p:spPr>
          <a:xfrm>
            <a:off x="4663440" y="3310128"/>
            <a:ext cx="2926080" cy="1444752"/>
          </a:xfrm>
          <a:prstGeom prst="rect">
            <a:avLst/>
          </a:prstGeom>
          <a:noFill/>
          <a:ln/>
        </p:spPr>
        <p:txBody>
          <a:bodyPr wrap="square" lIns="635" tIns="635" rIns="635" bIns="635" rtlCol="0" anchor="ctr">
            <a:normAutofit/>
          </a:bodyPr>
          <a:lstStyle/>
          <a:p>
            <a:r>
              <a:rPr lang="en-US" sz="1060" dirty="0">
                <a:solidFill>
                  <a:srgbClr val="B2BAC8"/>
                </a:solidFill>
              </a:rPr>
              <a:t>Golden set for coaching quality
</a:t>
            </a:r>
            <a:endParaRPr lang="en-US" sz="1060" dirty="0"/>
          </a:p>
          <a:p>
            <a:r>
              <a:rPr lang="en-US" sz="1060" dirty="0">
                <a:solidFill>
                  <a:srgbClr val="B2BAC8"/>
                </a:solidFill>
              </a:rPr>
              <a:t>Prompt and model versioning
</a:t>
            </a:r>
            <a:endParaRPr lang="en-US" sz="1060" dirty="0"/>
          </a:p>
          <a:p>
            <a:r>
              <a:rPr lang="en-US" sz="1060" dirty="0">
                <a:solidFill>
                  <a:srgbClr val="B2BAC8"/>
                </a:solidFill>
              </a:rPr>
              <a:t>Agent output schema enforcement
</a:t>
            </a:r>
            <a:endParaRPr lang="en-US" sz="1060" dirty="0"/>
          </a:p>
          <a:p>
            <a:r>
              <a:rPr lang="en-US" sz="1060" dirty="0">
                <a:solidFill>
                  <a:srgbClr val="B2BAC8"/>
                </a:solidFill>
              </a:rPr>
              <a:t>Report scoring calibration</a:t>
            </a:r>
            <a:endParaRPr lang="en-US" sz="1060" dirty="0"/>
          </a:p>
        </p:txBody>
      </p:sp>
      <p:sp>
        <p:nvSpPr>
          <p:cNvPr id="11" name="Text 9"/>
          <p:cNvSpPr/>
          <p:nvPr/>
        </p:nvSpPr>
        <p:spPr>
          <a:xfrm>
            <a:off x="8412480" y="2286000"/>
            <a:ext cx="2377440" cy="530352"/>
          </a:xfrm>
          <a:prstGeom prst="roundRect">
            <a:avLst>
              <a:gd name="adj" fmla="val 13793"/>
            </a:avLst>
          </a:prstGeom>
          <a:solidFill>
            <a:srgbClr val="FFD65A"/>
          </a:solidFill>
          <a:ln w="13970">
            <a:solidFill>
              <a:srgbClr val="FFD65A"/>
            </a:solidFill>
          </a:ln>
        </p:spPr>
        <p:txBody>
          <a:bodyPr wrap="square" lIns="1016" tIns="1016" rIns="1016" bIns="1016" rtlCol="0" anchor="ctr">
            <a:normAutofit/>
          </a:bodyPr>
          <a:lstStyle/>
          <a:p>
            <a:pPr marL="0" indent="0" algn="ctr">
              <a:buNone/>
            </a:pPr>
            <a:r>
              <a:rPr lang="en-US" sz="1400" b="1" dirty="0">
                <a:solidFill>
                  <a:srgbClr val="07111E"/>
                </a:solidFill>
              </a:rPr>
              <a:t>90 days</a:t>
            </a:r>
            <a:endParaRPr lang="en-US" sz="1400" dirty="0"/>
          </a:p>
        </p:txBody>
      </p:sp>
      <p:sp>
        <p:nvSpPr>
          <p:cNvPr id="12" name="Text 10"/>
          <p:cNvSpPr/>
          <p:nvPr/>
        </p:nvSpPr>
        <p:spPr>
          <a:xfrm>
            <a:off x="8412480" y="2907792"/>
            <a:ext cx="2377440" cy="274320"/>
          </a:xfrm>
          <a:prstGeom prst="rect">
            <a:avLst/>
          </a:prstGeom>
          <a:noFill/>
          <a:ln/>
        </p:spPr>
        <p:txBody>
          <a:bodyPr wrap="square" lIns="254" tIns="254" rIns="254" bIns="254" rtlCol="0" anchor="t">
            <a:normAutofit/>
          </a:bodyPr>
          <a:lstStyle/>
          <a:p>
            <a:pPr marL="0" indent="0" algn="ctr">
              <a:buNone/>
            </a:pPr>
            <a:r>
              <a:rPr lang="en-US" sz="1250" b="1" dirty="0">
                <a:solidFill>
                  <a:srgbClr val="FFD65A"/>
                </a:solidFill>
              </a:rPr>
              <a:t>Prepare production posture</a:t>
            </a:r>
            <a:endParaRPr lang="en-US" sz="1250" dirty="0"/>
          </a:p>
        </p:txBody>
      </p:sp>
      <p:sp>
        <p:nvSpPr>
          <p:cNvPr id="13" name="Text 11"/>
          <p:cNvSpPr/>
          <p:nvPr/>
        </p:nvSpPr>
        <p:spPr>
          <a:xfrm>
            <a:off x="8458200" y="3310128"/>
            <a:ext cx="2926080" cy="1444752"/>
          </a:xfrm>
          <a:prstGeom prst="rect">
            <a:avLst/>
          </a:prstGeom>
          <a:noFill/>
          <a:ln/>
        </p:spPr>
        <p:txBody>
          <a:bodyPr wrap="square" lIns="635" tIns="635" rIns="635" bIns="635" rtlCol="0" anchor="ctr">
            <a:normAutofit/>
          </a:bodyPr>
          <a:lstStyle/>
          <a:p>
            <a:r>
              <a:rPr lang="en-US" sz="1060" dirty="0">
                <a:solidFill>
                  <a:srgbClr val="B2BAC8"/>
                </a:solidFill>
              </a:rPr>
              <a:t>Retention and PII controls
</a:t>
            </a:r>
            <a:endParaRPr lang="en-US" sz="1060" dirty="0"/>
          </a:p>
          <a:p>
            <a:r>
              <a:rPr lang="en-US" sz="1060" dirty="0">
                <a:solidFill>
                  <a:srgbClr val="B2BAC8"/>
                </a:solidFill>
              </a:rPr>
              <a:t>RTO/RPO decision
</a:t>
            </a:r>
            <a:endParaRPr lang="en-US" sz="1060" dirty="0"/>
          </a:p>
          <a:p>
            <a:r>
              <a:rPr lang="en-US" sz="1060" dirty="0">
                <a:solidFill>
                  <a:srgbClr val="B2BAC8"/>
                </a:solidFill>
              </a:rPr>
              <a:t>Quotas and load test
</a:t>
            </a:r>
            <a:endParaRPr lang="en-US" sz="1060" dirty="0"/>
          </a:p>
          <a:p>
            <a:r>
              <a:rPr lang="en-US" sz="1060" dirty="0">
                <a:solidFill>
                  <a:srgbClr val="B2BAC8"/>
                </a:solidFill>
              </a:rPr>
              <a:t>Tenant or user-level cost attribution</a:t>
            </a:r>
            <a:endParaRPr lang="en-US" sz="1060" dirty="0"/>
          </a:p>
        </p:txBody>
      </p:sp>
      <p:sp>
        <p:nvSpPr>
          <p:cNvPr id="14" name="Text 12"/>
          <p:cNvSpPr/>
          <p:nvPr/>
        </p:nvSpPr>
        <p:spPr>
          <a:xfrm>
            <a:off x="2606040" y="5577840"/>
            <a:ext cx="7040880" cy="676656"/>
          </a:xfrm>
          <a:prstGeom prst="roundRect">
            <a:avLst>
              <a:gd name="adj" fmla="val 10811"/>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260" dirty="0">
                <a:solidFill>
                  <a:srgbClr val="B2BAC8"/>
                </a:solidFill>
              </a:rPr>
              <a:t>Exit criteria</a:t>
            </a:r>
            <a:endParaRPr lang="en-US" sz="1260" dirty="0"/>
          </a:p>
          <a:p>
            <a:pPr marL="0" indent="0" algn="ctr">
              <a:buNone/>
            </a:pPr>
            <a:r>
              <a:rPr lang="en-US" sz="1260" dirty="0">
                <a:solidFill>
                  <a:srgbClr val="B2BAC8"/>
                </a:solidFill>
              </a:rPr>
              <a:t>A CTO should be able to trace one submission from upload to report, explain one agent’s score, and predict the cost of the next 1,000 runs.</a:t>
            </a:r>
            <a:endParaRPr lang="en-US" sz="1260" dirty="0"/>
          </a:p>
        </p:txBody>
      </p:sp>
      <p:sp>
        <p:nvSpPr>
          <p:cNvPr id="15" name="Text 13"/>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Path is a recommendation built from the documented current state and CTO operating concerns.</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566928" y="384048"/>
            <a:ext cx="7589520" cy="219456"/>
          </a:xfrm>
          <a:prstGeom prst="rect">
            <a:avLst/>
          </a:prstGeom>
          <a:noFill/>
          <a:ln/>
        </p:spPr>
        <p:txBody>
          <a:bodyPr wrap="square" lIns="0" tIns="0" rIns="0" bIns="0" rtlCol="0" anchor="ctr"/>
          <a:lstStyle/>
          <a:p>
            <a:pPr marL="0" indent="0">
              <a:buNone/>
            </a:pPr>
            <a:r>
              <a:rPr lang="en-US" sz="850" b="1" dirty="0">
                <a:solidFill>
                  <a:srgbClr val="59C4FF"/>
                </a:solidFill>
              </a:rPr>
              <a:t>CLOSE</a:t>
            </a:r>
            <a:endParaRPr lang="en-US" sz="850" dirty="0"/>
          </a:p>
        </p:txBody>
      </p:sp>
      <p:sp>
        <p:nvSpPr>
          <p:cNvPr id="3" name="Text 1"/>
          <p:cNvSpPr/>
          <p:nvPr/>
        </p:nvSpPr>
        <p:spPr>
          <a:xfrm>
            <a:off x="530352" y="658368"/>
            <a:ext cx="10927080" cy="493776"/>
          </a:xfrm>
          <a:prstGeom prst="rect">
            <a:avLst/>
          </a:prstGeom>
          <a:noFill/>
          <a:ln/>
        </p:spPr>
        <p:txBody>
          <a:bodyPr wrap="square" lIns="0" tIns="0" rIns="0" bIns="0" rtlCol="0" anchor="ctr">
            <a:normAutofit/>
          </a:bodyPr>
          <a:lstStyle/>
          <a:p>
            <a:pPr marL="0" indent="0">
              <a:buNone/>
            </a:pPr>
            <a:r>
              <a:rPr lang="en-US" sz="2950" b="1" dirty="0">
                <a:solidFill>
                  <a:srgbClr val="F5F7FA"/>
                </a:solidFill>
              </a:rPr>
              <a:t>The CTO-to-CTO takeaway</a:t>
            </a:r>
            <a:endParaRPr lang="en-US" sz="2950" dirty="0"/>
          </a:p>
        </p:txBody>
      </p:sp>
      <p:sp>
        <p:nvSpPr>
          <p:cNvPr id="4" name="Text 2"/>
          <p:cNvSpPr/>
          <p:nvPr/>
        </p:nvSpPr>
        <p:spPr>
          <a:xfrm>
            <a:off x="749808" y="1481328"/>
            <a:ext cx="10241280" cy="822960"/>
          </a:xfrm>
          <a:prstGeom prst="rect">
            <a:avLst/>
          </a:prstGeom>
          <a:noFill/>
          <a:ln/>
        </p:spPr>
        <p:txBody>
          <a:bodyPr wrap="square" lIns="254" tIns="254" rIns="254" bIns="254" rtlCol="0" anchor="t">
            <a:normAutofit lnSpcReduction="10000"/>
          </a:bodyPr>
          <a:lstStyle/>
          <a:p>
            <a:pPr marL="0" indent="0" algn="l">
              <a:buNone/>
            </a:pPr>
            <a:r>
              <a:rPr lang="en-US" sz="1820" b="1" dirty="0">
                <a:solidFill>
                  <a:srgbClr val="F5F7FA"/>
                </a:solidFill>
              </a:rPr>
              <a:t>PresCoach is a strong pattern because it combines three things that usually get separated: a useful product experience, an AWS-native cost model, and an AI-DLC delivery method that keeps architecture boundaries visible.</a:t>
            </a:r>
            <a:endParaRPr lang="en-US" sz="1820" dirty="0"/>
          </a:p>
        </p:txBody>
      </p:sp>
      <p:sp>
        <p:nvSpPr>
          <p:cNvPr id="5" name="Text 3"/>
          <p:cNvSpPr/>
          <p:nvPr/>
        </p:nvSpPr>
        <p:spPr>
          <a:xfrm>
            <a:off x="914400" y="2788920"/>
            <a:ext cx="2907792" cy="1234440"/>
          </a:xfrm>
          <a:prstGeom prst="roundRect">
            <a:avLst>
              <a:gd name="adj" fmla="val 5926"/>
            </a:avLst>
          </a:prstGeom>
          <a:solidFill>
            <a:srgbClr val="0B1828"/>
          </a:solidFill>
          <a:ln w="13970">
            <a:solidFill>
              <a:srgbClr val="59D08F"/>
            </a:solidFill>
          </a:ln>
        </p:spPr>
        <p:txBody>
          <a:bodyPr wrap="square" lIns="1016" tIns="1016" rIns="1016" bIns="1016" rtlCol="0" anchor="ctr">
            <a:normAutofit/>
          </a:bodyPr>
          <a:lstStyle/>
          <a:p>
            <a:pPr marL="0" indent="0" algn="ctr">
              <a:buNone/>
            </a:pPr>
            <a:r>
              <a:rPr lang="en-US" sz="1220" dirty="0">
                <a:solidFill>
                  <a:srgbClr val="B2BAC8"/>
                </a:solidFill>
              </a:rPr>
              <a:t>What is working</a:t>
            </a:r>
            <a:endParaRPr lang="en-US" sz="1220" dirty="0"/>
          </a:p>
          <a:p>
            <a:pPr marL="0" indent="0" algn="ctr">
              <a:buNone/>
            </a:pPr>
            <a:r>
              <a:rPr lang="en-US" sz="1220" dirty="0">
                <a:solidFill>
                  <a:srgbClr val="B2BAC8"/>
                </a:solidFill>
              </a:rPr>
              <a:t>Clear work-unit boundaries, async flow, managed services, zero idle cost, composable agents.</a:t>
            </a:r>
            <a:endParaRPr lang="en-US" sz="1220" dirty="0"/>
          </a:p>
        </p:txBody>
      </p:sp>
      <p:sp>
        <p:nvSpPr>
          <p:cNvPr id="6" name="Text 4"/>
          <p:cNvSpPr/>
          <p:nvPr/>
        </p:nvSpPr>
        <p:spPr>
          <a:xfrm>
            <a:off x="4645152" y="2788920"/>
            <a:ext cx="2907792" cy="1234440"/>
          </a:xfrm>
          <a:prstGeom prst="roundRect">
            <a:avLst>
              <a:gd name="adj" fmla="val 5926"/>
            </a:avLst>
          </a:prstGeom>
          <a:solidFill>
            <a:srgbClr val="0B1828"/>
          </a:solidFill>
          <a:ln w="13970">
            <a:solidFill>
              <a:srgbClr val="FFD65A"/>
            </a:solidFill>
          </a:ln>
        </p:spPr>
        <p:txBody>
          <a:bodyPr wrap="square" lIns="1016" tIns="1016" rIns="1016" bIns="1016" rtlCol="0" anchor="ctr">
            <a:normAutofit/>
          </a:bodyPr>
          <a:lstStyle/>
          <a:p>
            <a:pPr marL="0" indent="0" algn="ctr">
              <a:buNone/>
            </a:pPr>
            <a:r>
              <a:rPr lang="en-US" sz="1220" dirty="0">
                <a:solidFill>
                  <a:srgbClr val="B2BAC8"/>
                </a:solidFill>
              </a:rPr>
              <a:t>What to fix</a:t>
            </a:r>
            <a:endParaRPr lang="en-US" sz="1220" dirty="0"/>
          </a:p>
          <a:p>
            <a:pPr marL="0" indent="0" algn="ctr">
              <a:buNone/>
            </a:pPr>
            <a:r>
              <a:rPr lang="en-US" sz="1220" dirty="0">
                <a:solidFill>
                  <a:srgbClr val="B2BAC8"/>
                </a:solidFill>
              </a:rPr>
              <a:t>Retrieval, parser handling, status page behavior, traceability, hardening of AI and data controls.</a:t>
            </a:r>
            <a:endParaRPr lang="en-US" sz="1220" dirty="0"/>
          </a:p>
        </p:txBody>
      </p:sp>
      <p:sp>
        <p:nvSpPr>
          <p:cNvPr id="7" name="Text 5"/>
          <p:cNvSpPr/>
          <p:nvPr/>
        </p:nvSpPr>
        <p:spPr>
          <a:xfrm>
            <a:off x="8375904" y="2788920"/>
            <a:ext cx="2907792" cy="1234440"/>
          </a:xfrm>
          <a:prstGeom prst="roundRect">
            <a:avLst>
              <a:gd name="adj" fmla="val 5926"/>
            </a:avLst>
          </a:prstGeom>
          <a:solidFill>
            <a:srgbClr val="0B1828"/>
          </a:solidFill>
          <a:ln w="13970">
            <a:solidFill>
              <a:srgbClr val="2F9BFF"/>
            </a:solidFill>
          </a:ln>
        </p:spPr>
        <p:txBody>
          <a:bodyPr wrap="square" lIns="1016" tIns="1016" rIns="1016" bIns="1016" rtlCol="0" anchor="ctr">
            <a:normAutofit/>
          </a:bodyPr>
          <a:lstStyle/>
          <a:p>
            <a:pPr marL="0" indent="0" algn="ctr">
              <a:buNone/>
            </a:pPr>
            <a:r>
              <a:rPr lang="en-US" sz="1220" dirty="0">
                <a:solidFill>
                  <a:srgbClr val="B2BAC8"/>
                </a:solidFill>
              </a:rPr>
              <a:t>What to decide</a:t>
            </a:r>
            <a:endParaRPr lang="en-US" sz="1220" dirty="0"/>
          </a:p>
          <a:p>
            <a:pPr marL="0" indent="0" algn="ctr">
              <a:buNone/>
            </a:pPr>
            <a:r>
              <a:rPr lang="en-US" sz="1220" dirty="0">
                <a:solidFill>
                  <a:srgbClr val="B2BAC8"/>
                </a:solidFill>
              </a:rPr>
              <a:t>Regional posture, vector store timing, quality gates, model spend controls, production-readiness threshold.</a:t>
            </a:r>
            <a:endParaRPr lang="en-US" sz="1220" dirty="0"/>
          </a:p>
        </p:txBody>
      </p:sp>
      <p:sp>
        <p:nvSpPr>
          <p:cNvPr id="8" name="Text 6"/>
          <p:cNvSpPr/>
          <p:nvPr/>
        </p:nvSpPr>
        <p:spPr>
          <a:xfrm>
            <a:off x="960120" y="5138928"/>
            <a:ext cx="9966960" cy="566928"/>
          </a:xfrm>
          <a:prstGeom prst="rect">
            <a:avLst/>
          </a:prstGeom>
          <a:noFill/>
          <a:ln/>
        </p:spPr>
        <p:txBody>
          <a:bodyPr wrap="square" lIns="254" tIns="254" rIns="254" bIns="254" rtlCol="0" anchor="t">
            <a:normAutofit/>
          </a:bodyPr>
          <a:lstStyle/>
          <a:p>
            <a:pPr marL="0" indent="0" algn="ctr">
              <a:buNone/>
            </a:pPr>
            <a:r>
              <a:rPr lang="en-US" sz="1730" b="1" dirty="0">
                <a:solidFill>
                  <a:srgbClr val="59C4FF"/>
                </a:solidFill>
              </a:rPr>
              <a:t>Bottom line: advance it, but make the next phase boring in the best possible enterprise way. Boring is where systems go to become dependable.</a:t>
            </a:r>
            <a:endParaRPr lang="en-US" sz="1730" dirty="0"/>
          </a:p>
        </p:txBody>
      </p:sp>
      <p:sp>
        <p:nvSpPr>
          <p:cNvPr id="9" name="Text 7"/>
          <p:cNvSpPr/>
          <p:nvPr/>
        </p:nvSpPr>
        <p:spPr>
          <a:xfrm>
            <a:off x="566928" y="6327648"/>
            <a:ext cx="10378440" cy="219456"/>
          </a:xfrm>
          <a:prstGeom prst="rect">
            <a:avLst/>
          </a:prstGeom>
          <a:noFill/>
          <a:ln/>
        </p:spPr>
        <p:txBody>
          <a:bodyPr wrap="square" lIns="0" tIns="0" rIns="0" bIns="0" rtlCol="0" anchor="ctr">
            <a:normAutofit/>
          </a:bodyPr>
          <a:lstStyle/>
          <a:p>
            <a:pPr marL="0" indent="0">
              <a:buNone/>
            </a:pPr>
            <a:r>
              <a:rPr lang="en-US" sz="850" dirty="0">
                <a:solidFill>
                  <a:srgbClr val="7E8796"/>
                </a:solidFill>
              </a:rPr>
              <a:t>Prepared from the source PowerPoint and three supporting PDFs.</a:t>
            </a:r>
            <a:endParaRPr lang="en-US" sz="850" dirty="0"/>
          </a:p>
        </p:txBody>
      </p:sp>
      <p:sp>
        <p:nvSpPr>
          <p:cNvPr id="25" name="Slide Number Placeholder 0"/>
          <p:cNvSpPr>
            <a:spLocks noGrp="1"/>
          </p:cNvSpPr>
          <p:nvPr>
            <p:ph type="sldNum" sz="quarter" idx="4294967295"/>
          </p:nvPr>
        </p:nvSpPr>
        <p:spPr>
          <a:xfrm>
            <a:off x="11631168" y="6547104"/>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515A67"/>
                </a:solidFill>
                <a:latin typeface="Segoe UI"/>
                <a:ea typeface="Segoe UI"/>
                <a:cs typeface="Segoe U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8156AC-8223-9AA1-ABAB-9A9687FE2C16}"/>
              </a:ext>
            </a:extLst>
          </p:cNvPr>
          <p:cNvSpPr txBox="1"/>
          <p:nvPr/>
        </p:nvSpPr>
        <p:spPr>
          <a:xfrm>
            <a:off x="3727210" y="2563905"/>
            <a:ext cx="4737579" cy="769441"/>
          </a:xfrm>
          <a:prstGeom prst="rect">
            <a:avLst/>
          </a:prstGeom>
          <a:noFill/>
        </p:spPr>
        <p:txBody>
          <a:bodyPr wrap="none" rtlCol="0">
            <a:spAutoFit/>
          </a:bodyPr>
          <a:lstStyle/>
          <a:p>
            <a:pPr algn="ctr"/>
            <a:r>
              <a:rPr lang="en-US" sz="4400" dirty="0">
                <a:solidFill>
                  <a:schemeClr val="bg1"/>
                </a:solidFill>
              </a:rPr>
              <a:t>Appendix Material</a:t>
            </a:r>
          </a:p>
        </p:txBody>
      </p:sp>
    </p:spTree>
    <p:extLst>
      <p:ext uri="{BB962C8B-B14F-4D97-AF65-F5344CB8AC3E}">
        <p14:creationId xmlns:p14="http://schemas.microsoft.com/office/powerpoint/2010/main" val="248784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0375B-F8CA-BB9C-09E1-92898B5E00F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6C85C79-D307-ECC0-0AC5-680CB3D16351}"/>
              </a:ext>
            </a:extLst>
          </p:cNvPr>
          <p:cNvSpPr txBox="1"/>
          <p:nvPr/>
        </p:nvSpPr>
        <p:spPr>
          <a:xfrm>
            <a:off x="4311250" y="2563905"/>
            <a:ext cx="3569503" cy="769441"/>
          </a:xfrm>
          <a:prstGeom prst="rect">
            <a:avLst/>
          </a:prstGeom>
          <a:noFill/>
        </p:spPr>
        <p:txBody>
          <a:bodyPr wrap="none" rtlCol="0">
            <a:spAutoFit/>
          </a:bodyPr>
          <a:lstStyle/>
          <a:p>
            <a:pPr algn="ctr"/>
            <a:r>
              <a:rPr lang="en-US" sz="4400" dirty="0">
                <a:solidFill>
                  <a:schemeClr val="bg1"/>
                </a:solidFill>
              </a:rPr>
              <a:t>The Web App</a:t>
            </a:r>
          </a:p>
        </p:txBody>
      </p:sp>
    </p:spTree>
    <p:extLst>
      <p:ext uri="{BB962C8B-B14F-4D97-AF65-F5344CB8AC3E}">
        <p14:creationId xmlns:p14="http://schemas.microsoft.com/office/powerpoint/2010/main" val="1470129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0656814-2B20-654C-7276-96C4775C1123}"/>
              </a:ext>
            </a:extLst>
          </p:cNvPr>
          <p:cNvPicPr>
            <a:picLocks noChangeAspect="1"/>
          </p:cNvPicPr>
          <p:nvPr/>
        </p:nvPicPr>
        <p:blipFill>
          <a:blip r:embed="rId2"/>
          <a:stretch>
            <a:fillRect/>
          </a:stretch>
        </p:blipFill>
        <p:spPr>
          <a:xfrm>
            <a:off x="792480" y="1490565"/>
            <a:ext cx="7701280" cy="4084156"/>
          </a:xfrm>
          <a:prstGeom prst="rect">
            <a:avLst/>
          </a:prstGeom>
          <a:ln>
            <a:solidFill>
              <a:schemeClr val="bg1"/>
            </a:solidFill>
          </a:ln>
        </p:spPr>
      </p:pic>
      <p:pic>
        <p:nvPicPr>
          <p:cNvPr id="13" name="Picture 12">
            <a:extLst>
              <a:ext uri="{FF2B5EF4-FFF2-40B4-BE49-F238E27FC236}">
                <a16:creationId xmlns:a16="http://schemas.microsoft.com/office/drawing/2014/main" id="{3EEC9558-FD16-0954-ED7D-CDEB8329E489}"/>
              </a:ext>
            </a:extLst>
          </p:cNvPr>
          <p:cNvPicPr>
            <a:picLocks noChangeAspect="1"/>
          </p:cNvPicPr>
          <p:nvPr/>
        </p:nvPicPr>
        <p:blipFill>
          <a:blip r:embed="rId3"/>
          <a:stretch>
            <a:fillRect/>
          </a:stretch>
        </p:blipFill>
        <p:spPr>
          <a:xfrm>
            <a:off x="8972269" y="1490566"/>
            <a:ext cx="2104431" cy="4084156"/>
          </a:xfrm>
          <a:prstGeom prst="rect">
            <a:avLst/>
          </a:prstGeom>
          <a:ln>
            <a:solidFill>
              <a:schemeClr val="bg1"/>
            </a:solidFill>
          </a:ln>
        </p:spPr>
      </p:pic>
      <p:sp>
        <p:nvSpPr>
          <p:cNvPr id="14" name="Rectangle: Rounded Corners 13">
            <a:extLst>
              <a:ext uri="{FF2B5EF4-FFF2-40B4-BE49-F238E27FC236}">
                <a16:creationId xmlns:a16="http://schemas.microsoft.com/office/drawing/2014/main" id="{3A6B889C-BD3B-8892-1110-CF8275978050}"/>
              </a:ext>
            </a:extLst>
          </p:cNvPr>
          <p:cNvSpPr/>
          <p:nvPr/>
        </p:nvSpPr>
        <p:spPr>
          <a:xfrm>
            <a:off x="9382864" y="1571275"/>
            <a:ext cx="921864" cy="123164"/>
          </a:xfrm>
          <a:prstGeom prst="roundRect">
            <a:avLst/>
          </a:prstGeom>
          <a:solidFill>
            <a:srgbClr val="CCCC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5B2F014-3DFA-5C34-5A17-2CE2CECB885C}"/>
              </a:ext>
            </a:extLst>
          </p:cNvPr>
          <p:cNvSpPr txBox="1"/>
          <p:nvPr/>
        </p:nvSpPr>
        <p:spPr>
          <a:xfrm>
            <a:off x="4219575" y="5676900"/>
            <a:ext cx="635751" cy="369332"/>
          </a:xfrm>
          <a:prstGeom prst="rect">
            <a:avLst/>
          </a:prstGeom>
          <a:noFill/>
        </p:spPr>
        <p:txBody>
          <a:bodyPr wrap="none" rtlCol="0">
            <a:spAutoFit/>
          </a:bodyPr>
          <a:lstStyle/>
          <a:p>
            <a:pPr algn="ctr"/>
            <a:r>
              <a:rPr lang="en-US" dirty="0">
                <a:solidFill>
                  <a:schemeClr val="bg1"/>
                </a:solidFill>
              </a:rPr>
              <a:t>Web</a:t>
            </a:r>
          </a:p>
        </p:txBody>
      </p:sp>
      <p:sp>
        <p:nvSpPr>
          <p:cNvPr id="17" name="TextBox 16">
            <a:extLst>
              <a:ext uri="{FF2B5EF4-FFF2-40B4-BE49-F238E27FC236}">
                <a16:creationId xmlns:a16="http://schemas.microsoft.com/office/drawing/2014/main" id="{8F4F245E-0E4D-505C-6BFA-A08B1DE26C1E}"/>
              </a:ext>
            </a:extLst>
          </p:cNvPr>
          <p:cNvSpPr txBox="1"/>
          <p:nvPr/>
        </p:nvSpPr>
        <p:spPr>
          <a:xfrm>
            <a:off x="9594718" y="5676900"/>
            <a:ext cx="859530" cy="369332"/>
          </a:xfrm>
          <a:prstGeom prst="rect">
            <a:avLst/>
          </a:prstGeom>
          <a:noFill/>
        </p:spPr>
        <p:txBody>
          <a:bodyPr wrap="none" rtlCol="0">
            <a:spAutoFit/>
          </a:bodyPr>
          <a:lstStyle/>
          <a:p>
            <a:pPr algn="ctr"/>
            <a:r>
              <a:rPr lang="en-US" dirty="0">
                <a:solidFill>
                  <a:schemeClr val="bg1"/>
                </a:solidFill>
              </a:rPr>
              <a:t>Mobile</a:t>
            </a:r>
          </a:p>
        </p:txBody>
      </p:sp>
      <p:sp>
        <p:nvSpPr>
          <p:cNvPr id="18" name="TextBox 17">
            <a:extLst>
              <a:ext uri="{FF2B5EF4-FFF2-40B4-BE49-F238E27FC236}">
                <a16:creationId xmlns:a16="http://schemas.microsoft.com/office/drawing/2014/main" id="{BD49F14C-531E-CC44-DA07-CBE71432CBBE}"/>
              </a:ext>
            </a:extLst>
          </p:cNvPr>
          <p:cNvSpPr txBox="1"/>
          <p:nvPr/>
        </p:nvSpPr>
        <p:spPr>
          <a:xfrm>
            <a:off x="4377229" y="819029"/>
            <a:ext cx="3437544" cy="523220"/>
          </a:xfrm>
          <a:prstGeom prst="rect">
            <a:avLst/>
          </a:prstGeom>
          <a:noFill/>
        </p:spPr>
        <p:txBody>
          <a:bodyPr wrap="none" rtlCol="0">
            <a:spAutoFit/>
          </a:bodyPr>
          <a:lstStyle/>
          <a:p>
            <a:pPr algn="ctr"/>
            <a:r>
              <a:rPr lang="en-US" sz="2800" dirty="0">
                <a:solidFill>
                  <a:schemeClr val="bg1"/>
                </a:solidFill>
              </a:rPr>
              <a:t>Responsive Web App</a:t>
            </a:r>
          </a:p>
        </p:txBody>
      </p:sp>
    </p:spTree>
    <p:extLst>
      <p:ext uri="{BB962C8B-B14F-4D97-AF65-F5344CB8AC3E}">
        <p14:creationId xmlns:p14="http://schemas.microsoft.com/office/powerpoint/2010/main" val="9259479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B64B9E-9592-F947-DBFF-80D7E7A7E0B4}"/>
              </a:ext>
            </a:extLst>
          </p:cNvPr>
          <p:cNvPicPr>
            <a:picLocks noChangeAspect="1"/>
          </p:cNvPicPr>
          <p:nvPr/>
        </p:nvPicPr>
        <p:blipFill>
          <a:blip r:embed="rId2"/>
          <a:stretch>
            <a:fillRect/>
          </a:stretch>
        </p:blipFill>
        <p:spPr>
          <a:xfrm>
            <a:off x="1259840" y="1740322"/>
            <a:ext cx="5730240" cy="2991125"/>
          </a:xfrm>
          <a:prstGeom prst="rect">
            <a:avLst/>
          </a:prstGeom>
          <a:ln>
            <a:solidFill>
              <a:schemeClr val="bg1"/>
            </a:solidFill>
          </a:ln>
        </p:spPr>
      </p:pic>
      <p:sp>
        <p:nvSpPr>
          <p:cNvPr id="5" name="TextBox 4">
            <a:extLst>
              <a:ext uri="{FF2B5EF4-FFF2-40B4-BE49-F238E27FC236}">
                <a16:creationId xmlns:a16="http://schemas.microsoft.com/office/drawing/2014/main" id="{6FC162CA-BC93-B142-A28F-0D2CF4BCBA68}"/>
              </a:ext>
            </a:extLst>
          </p:cNvPr>
          <p:cNvSpPr txBox="1"/>
          <p:nvPr/>
        </p:nvSpPr>
        <p:spPr>
          <a:xfrm>
            <a:off x="7497703" y="1740322"/>
            <a:ext cx="3386761" cy="3231654"/>
          </a:xfrm>
          <a:prstGeom prst="rect">
            <a:avLst/>
          </a:prstGeom>
          <a:noFill/>
        </p:spPr>
        <p:txBody>
          <a:bodyPr wrap="none" rtlCol="0">
            <a:spAutoFit/>
          </a:bodyPr>
          <a:lstStyle/>
          <a:p>
            <a:r>
              <a:rPr lang="en-US" sz="2400" b="1" dirty="0">
                <a:solidFill>
                  <a:schemeClr val="bg1"/>
                </a:solidFill>
              </a:rPr>
              <a:t>Groups:</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Users</a:t>
            </a:r>
          </a:p>
          <a:p>
            <a:pPr marL="285750" indent="-285750">
              <a:buFont typeface="Arial" panose="020B0604020202020204" pitchFamily="34" charset="0"/>
              <a:buChar char="•"/>
            </a:pPr>
            <a:r>
              <a:rPr lang="en-US" dirty="0">
                <a:solidFill>
                  <a:schemeClr val="bg1"/>
                </a:solidFill>
              </a:rPr>
              <a:t>Administrators</a:t>
            </a:r>
          </a:p>
          <a:p>
            <a:pPr marL="285750" indent="-285750">
              <a:buFont typeface="Arial" panose="020B0604020202020204" pitchFamily="34" charset="0"/>
              <a:buChar char="•"/>
            </a:pPr>
            <a:endParaRPr lang="en-US" dirty="0">
              <a:solidFill>
                <a:schemeClr val="bg1"/>
              </a:solidFill>
            </a:endParaRPr>
          </a:p>
          <a:p>
            <a:r>
              <a:rPr lang="en-US" dirty="0">
                <a:solidFill>
                  <a:schemeClr val="bg1"/>
                </a:solidFill>
              </a:rPr>
              <a:t>Other Cognito Functions</a:t>
            </a:r>
          </a:p>
          <a:p>
            <a:pPr marL="285750" indent="-285750">
              <a:buFont typeface="Arial" panose="020B0604020202020204" pitchFamily="34" charset="0"/>
              <a:buChar char="•"/>
            </a:pPr>
            <a:r>
              <a:rPr lang="en-US" dirty="0">
                <a:solidFill>
                  <a:schemeClr val="bg1"/>
                </a:solidFill>
              </a:rPr>
              <a:t>User Signup</a:t>
            </a:r>
          </a:p>
          <a:p>
            <a:pPr marL="285750" indent="-285750">
              <a:buFont typeface="Arial" panose="020B0604020202020204" pitchFamily="34" charset="0"/>
              <a:buChar char="•"/>
            </a:pPr>
            <a:r>
              <a:rPr lang="en-US" dirty="0">
                <a:solidFill>
                  <a:schemeClr val="bg1"/>
                </a:solidFill>
              </a:rPr>
              <a:t>Password reset</a:t>
            </a:r>
          </a:p>
          <a:p>
            <a:pPr marL="285750" indent="-285750">
              <a:buFont typeface="Arial" panose="020B0604020202020204" pitchFamily="34" charset="0"/>
              <a:buChar char="•"/>
            </a:pPr>
            <a:r>
              <a:rPr lang="en-US" dirty="0">
                <a:solidFill>
                  <a:schemeClr val="bg1"/>
                </a:solidFill>
              </a:rPr>
              <a:t>Password recovery</a:t>
            </a:r>
          </a:p>
          <a:p>
            <a:pPr marL="285750" indent="-285750">
              <a:buFont typeface="Arial" panose="020B0604020202020204" pitchFamily="34" charset="0"/>
              <a:buChar char="•"/>
            </a:pPr>
            <a:r>
              <a:rPr lang="en-US" dirty="0">
                <a:solidFill>
                  <a:schemeClr val="bg1"/>
                </a:solidFill>
              </a:rPr>
              <a:t>MFA not implemented in MVP</a:t>
            </a:r>
          </a:p>
          <a:p>
            <a:endParaRPr lang="en-US" dirty="0">
              <a:solidFill>
                <a:schemeClr val="bg1"/>
              </a:solidFill>
            </a:endParaRPr>
          </a:p>
        </p:txBody>
      </p:sp>
      <p:sp>
        <p:nvSpPr>
          <p:cNvPr id="7" name="TextBox 6">
            <a:extLst>
              <a:ext uri="{FF2B5EF4-FFF2-40B4-BE49-F238E27FC236}">
                <a16:creationId xmlns:a16="http://schemas.microsoft.com/office/drawing/2014/main" id="{C0D6B03F-587E-EF40-C9B5-2B52D93D2C19}"/>
              </a:ext>
            </a:extLst>
          </p:cNvPr>
          <p:cNvSpPr txBox="1"/>
          <p:nvPr/>
        </p:nvSpPr>
        <p:spPr>
          <a:xfrm>
            <a:off x="4139603" y="819029"/>
            <a:ext cx="3912802" cy="523220"/>
          </a:xfrm>
          <a:prstGeom prst="rect">
            <a:avLst/>
          </a:prstGeom>
          <a:noFill/>
        </p:spPr>
        <p:txBody>
          <a:bodyPr wrap="none" rtlCol="0">
            <a:spAutoFit/>
          </a:bodyPr>
          <a:lstStyle/>
          <a:p>
            <a:pPr algn="ctr"/>
            <a:r>
              <a:rPr lang="en-US" sz="2800" dirty="0">
                <a:solidFill>
                  <a:schemeClr val="bg1"/>
                </a:solidFill>
              </a:rPr>
              <a:t>Cognito Based User IAM</a:t>
            </a:r>
          </a:p>
        </p:txBody>
      </p:sp>
    </p:spTree>
    <p:extLst>
      <p:ext uri="{BB962C8B-B14F-4D97-AF65-F5344CB8AC3E}">
        <p14:creationId xmlns:p14="http://schemas.microsoft.com/office/powerpoint/2010/main" val="3658720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610343-E483-20F0-B3C2-DDECDD744340}"/>
              </a:ext>
            </a:extLst>
          </p:cNvPr>
          <p:cNvPicPr>
            <a:picLocks noChangeAspect="1"/>
          </p:cNvPicPr>
          <p:nvPr/>
        </p:nvPicPr>
        <p:blipFill>
          <a:blip r:embed="rId2"/>
          <a:stretch>
            <a:fillRect/>
          </a:stretch>
        </p:blipFill>
        <p:spPr>
          <a:xfrm>
            <a:off x="747252" y="1621806"/>
            <a:ext cx="7561006" cy="3897344"/>
          </a:xfrm>
          <a:prstGeom prst="rect">
            <a:avLst/>
          </a:prstGeom>
          <a:ln>
            <a:solidFill>
              <a:schemeClr val="bg1"/>
            </a:solidFill>
          </a:ln>
        </p:spPr>
      </p:pic>
      <p:sp>
        <p:nvSpPr>
          <p:cNvPr id="5" name="TextBox 4">
            <a:extLst>
              <a:ext uri="{FF2B5EF4-FFF2-40B4-BE49-F238E27FC236}">
                <a16:creationId xmlns:a16="http://schemas.microsoft.com/office/drawing/2014/main" id="{0CF7A8AA-2F41-9858-BB03-FE9602675323}"/>
              </a:ext>
            </a:extLst>
          </p:cNvPr>
          <p:cNvSpPr txBox="1"/>
          <p:nvPr/>
        </p:nvSpPr>
        <p:spPr>
          <a:xfrm>
            <a:off x="8612128" y="2209800"/>
            <a:ext cx="3435364" cy="2123658"/>
          </a:xfrm>
          <a:prstGeom prst="rect">
            <a:avLst/>
          </a:prstGeom>
          <a:noFill/>
        </p:spPr>
        <p:txBody>
          <a:bodyPr wrap="none" rtlCol="0">
            <a:spAutoFit/>
          </a:bodyPr>
          <a:lstStyle/>
          <a:p>
            <a:r>
              <a:rPr lang="en-US" sz="2400" b="1" dirty="0">
                <a:solidFill>
                  <a:schemeClr val="bg1"/>
                </a:solidFill>
              </a:rPr>
              <a:t>Features</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File picker</a:t>
            </a:r>
          </a:p>
          <a:p>
            <a:pPr marL="285750" indent="-285750">
              <a:buFont typeface="Arial" panose="020B0604020202020204" pitchFamily="34" charset="0"/>
              <a:buChar char="•"/>
            </a:pPr>
            <a:r>
              <a:rPr lang="en-US" dirty="0">
                <a:solidFill>
                  <a:schemeClr val="bg1"/>
                </a:solidFill>
              </a:rPr>
              <a:t>Title </a:t>
            </a:r>
          </a:p>
          <a:p>
            <a:pPr marL="285750" indent="-285750">
              <a:buFont typeface="Arial" panose="020B0604020202020204" pitchFamily="34" charset="0"/>
              <a:buChar char="•"/>
            </a:pPr>
            <a:r>
              <a:rPr lang="en-US" dirty="0">
                <a:solidFill>
                  <a:schemeClr val="bg1"/>
                </a:solidFill>
              </a:rPr>
              <a:t>Description</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Video File upload on roadmap</a:t>
            </a:r>
          </a:p>
        </p:txBody>
      </p:sp>
      <p:sp>
        <p:nvSpPr>
          <p:cNvPr id="7" name="TextBox 6">
            <a:extLst>
              <a:ext uri="{FF2B5EF4-FFF2-40B4-BE49-F238E27FC236}">
                <a16:creationId xmlns:a16="http://schemas.microsoft.com/office/drawing/2014/main" id="{40FBDFE9-E09B-27CB-5694-B98E63A0B60A}"/>
              </a:ext>
            </a:extLst>
          </p:cNvPr>
          <p:cNvSpPr txBox="1"/>
          <p:nvPr/>
        </p:nvSpPr>
        <p:spPr>
          <a:xfrm>
            <a:off x="4606657" y="819029"/>
            <a:ext cx="2978701" cy="523220"/>
          </a:xfrm>
          <a:prstGeom prst="rect">
            <a:avLst/>
          </a:prstGeom>
          <a:noFill/>
        </p:spPr>
        <p:txBody>
          <a:bodyPr wrap="none" rtlCol="0">
            <a:spAutoFit/>
          </a:bodyPr>
          <a:lstStyle/>
          <a:p>
            <a:pPr algn="ctr"/>
            <a:r>
              <a:rPr lang="en-US" sz="2800" dirty="0">
                <a:solidFill>
                  <a:schemeClr val="bg1"/>
                </a:solidFill>
              </a:rPr>
              <a:t>Audio File Upload</a:t>
            </a:r>
          </a:p>
        </p:txBody>
      </p:sp>
    </p:spTree>
    <p:extLst>
      <p:ext uri="{BB962C8B-B14F-4D97-AF65-F5344CB8AC3E}">
        <p14:creationId xmlns:p14="http://schemas.microsoft.com/office/powerpoint/2010/main" val="1258977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E3EA6E-81C0-7169-FD56-0BAEE7934711}"/>
              </a:ext>
            </a:extLst>
          </p:cNvPr>
          <p:cNvPicPr>
            <a:picLocks noChangeAspect="1"/>
          </p:cNvPicPr>
          <p:nvPr/>
        </p:nvPicPr>
        <p:blipFill>
          <a:blip r:embed="rId2"/>
          <a:stretch>
            <a:fillRect/>
          </a:stretch>
        </p:blipFill>
        <p:spPr>
          <a:xfrm>
            <a:off x="747252" y="1609725"/>
            <a:ext cx="7561005" cy="3633725"/>
          </a:xfrm>
          <a:prstGeom prst="rect">
            <a:avLst/>
          </a:prstGeom>
          <a:ln>
            <a:solidFill>
              <a:schemeClr val="bg1"/>
            </a:solidFill>
          </a:ln>
        </p:spPr>
      </p:pic>
      <p:pic>
        <p:nvPicPr>
          <p:cNvPr id="7" name="Picture 6">
            <a:extLst>
              <a:ext uri="{FF2B5EF4-FFF2-40B4-BE49-F238E27FC236}">
                <a16:creationId xmlns:a16="http://schemas.microsoft.com/office/drawing/2014/main" id="{4CEF3AD0-8F5E-CCD9-0D7E-C4CC1DC07900}"/>
              </a:ext>
            </a:extLst>
          </p:cNvPr>
          <p:cNvPicPr>
            <a:picLocks noChangeAspect="1"/>
          </p:cNvPicPr>
          <p:nvPr/>
        </p:nvPicPr>
        <p:blipFill>
          <a:blip r:embed="rId3"/>
          <a:stretch>
            <a:fillRect/>
          </a:stretch>
        </p:blipFill>
        <p:spPr>
          <a:xfrm>
            <a:off x="144508" y="3000361"/>
            <a:ext cx="7561004" cy="3750514"/>
          </a:xfrm>
          <a:prstGeom prst="rect">
            <a:avLst/>
          </a:prstGeom>
          <a:ln>
            <a:solidFill>
              <a:schemeClr val="bg1"/>
            </a:solidFill>
          </a:ln>
        </p:spPr>
      </p:pic>
      <p:sp>
        <p:nvSpPr>
          <p:cNvPr id="10" name="TextBox 9">
            <a:extLst>
              <a:ext uri="{FF2B5EF4-FFF2-40B4-BE49-F238E27FC236}">
                <a16:creationId xmlns:a16="http://schemas.microsoft.com/office/drawing/2014/main" id="{A636062F-DCEE-7AAF-E3BB-A42D6663F959}"/>
              </a:ext>
            </a:extLst>
          </p:cNvPr>
          <p:cNvSpPr txBox="1"/>
          <p:nvPr/>
        </p:nvSpPr>
        <p:spPr>
          <a:xfrm>
            <a:off x="8612128" y="2209800"/>
            <a:ext cx="1879745" cy="1569660"/>
          </a:xfrm>
          <a:prstGeom prst="rect">
            <a:avLst/>
          </a:prstGeom>
          <a:noFill/>
        </p:spPr>
        <p:txBody>
          <a:bodyPr wrap="none" rtlCol="0">
            <a:spAutoFit/>
          </a:bodyPr>
          <a:lstStyle/>
          <a:p>
            <a:r>
              <a:rPr lang="en-US" sz="2400" b="1" dirty="0">
                <a:solidFill>
                  <a:schemeClr val="bg1"/>
                </a:solidFill>
              </a:rPr>
              <a:t>Features</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Multiple steps</a:t>
            </a:r>
          </a:p>
          <a:p>
            <a:pPr marL="285750" indent="-285750">
              <a:buFont typeface="Arial" panose="020B0604020202020204" pitchFamily="34" charset="0"/>
              <a:buChar char="•"/>
            </a:pPr>
            <a:r>
              <a:rPr lang="en-US" dirty="0">
                <a:solidFill>
                  <a:schemeClr val="bg1"/>
                </a:solidFill>
              </a:rPr>
              <a:t>User updates</a:t>
            </a:r>
          </a:p>
          <a:p>
            <a:pPr marL="285750" indent="-285750">
              <a:buFont typeface="Arial" panose="020B0604020202020204" pitchFamily="34" charset="0"/>
              <a:buChar char="•"/>
            </a:pPr>
            <a:endParaRPr lang="en-US" dirty="0">
              <a:solidFill>
                <a:schemeClr val="bg1"/>
              </a:solidFill>
            </a:endParaRPr>
          </a:p>
        </p:txBody>
      </p:sp>
      <p:sp>
        <p:nvSpPr>
          <p:cNvPr id="15" name="TextBox 14">
            <a:extLst>
              <a:ext uri="{FF2B5EF4-FFF2-40B4-BE49-F238E27FC236}">
                <a16:creationId xmlns:a16="http://schemas.microsoft.com/office/drawing/2014/main" id="{2C779B14-B4B0-CC7C-20BD-3346B3472580}"/>
              </a:ext>
            </a:extLst>
          </p:cNvPr>
          <p:cNvSpPr txBox="1"/>
          <p:nvPr/>
        </p:nvSpPr>
        <p:spPr>
          <a:xfrm>
            <a:off x="5152706" y="819029"/>
            <a:ext cx="1886607" cy="523220"/>
          </a:xfrm>
          <a:prstGeom prst="rect">
            <a:avLst/>
          </a:prstGeom>
          <a:noFill/>
        </p:spPr>
        <p:txBody>
          <a:bodyPr wrap="none" rtlCol="0">
            <a:spAutoFit/>
          </a:bodyPr>
          <a:lstStyle/>
          <a:p>
            <a:pPr algn="ctr"/>
            <a:r>
              <a:rPr lang="en-US" sz="2800" dirty="0">
                <a:solidFill>
                  <a:schemeClr val="bg1"/>
                </a:solidFill>
              </a:rPr>
              <a:t>Processing</a:t>
            </a:r>
          </a:p>
        </p:txBody>
      </p:sp>
    </p:spTree>
    <p:extLst>
      <p:ext uri="{BB962C8B-B14F-4D97-AF65-F5344CB8AC3E}">
        <p14:creationId xmlns:p14="http://schemas.microsoft.com/office/powerpoint/2010/main" val="25127439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7A8BE8-A6CE-6FB8-8F66-DA52F3E4A9B4}"/>
              </a:ext>
            </a:extLst>
          </p:cNvPr>
          <p:cNvPicPr>
            <a:picLocks noChangeAspect="1"/>
          </p:cNvPicPr>
          <p:nvPr/>
        </p:nvPicPr>
        <p:blipFill>
          <a:blip r:embed="rId3"/>
          <a:stretch>
            <a:fillRect/>
          </a:stretch>
        </p:blipFill>
        <p:spPr>
          <a:xfrm>
            <a:off x="747253" y="1609726"/>
            <a:ext cx="7561006" cy="3736728"/>
          </a:xfrm>
          <a:prstGeom prst="rect">
            <a:avLst/>
          </a:prstGeom>
        </p:spPr>
      </p:pic>
      <p:sp>
        <p:nvSpPr>
          <p:cNvPr id="7" name="TextBox 6">
            <a:extLst>
              <a:ext uri="{FF2B5EF4-FFF2-40B4-BE49-F238E27FC236}">
                <a16:creationId xmlns:a16="http://schemas.microsoft.com/office/drawing/2014/main" id="{224925FD-87F5-6F40-7A5B-6EC9D8D857F8}"/>
              </a:ext>
            </a:extLst>
          </p:cNvPr>
          <p:cNvSpPr txBox="1"/>
          <p:nvPr/>
        </p:nvSpPr>
        <p:spPr>
          <a:xfrm>
            <a:off x="8612128" y="2209800"/>
            <a:ext cx="3568926" cy="2123658"/>
          </a:xfrm>
          <a:prstGeom prst="rect">
            <a:avLst/>
          </a:prstGeom>
          <a:noFill/>
        </p:spPr>
        <p:txBody>
          <a:bodyPr wrap="none" rtlCol="0">
            <a:spAutoFit/>
          </a:bodyPr>
          <a:lstStyle/>
          <a:p>
            <a:r>
              <a:rPr lang="en-US" sz="2400" b="1" dirty="0">
                <a:solidFill>
                  <a:schemeClr val="bg1"/>
                </a:solidFill>
              </a:rPr>
              <a:t>Features</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Current status of analysis</a:t>
            </a:r>
          </a:p>
          <a:p>
            <a:pPr marL="285750" indent="-285750">
              <a:buFont typeface="Arial" panose="020B0604020202020204" pitchFamily="34" charset="0"/>
              <a:buChar char="•"/>
            </a:pPr>
            <a:r>
              <a:rPr lang="en-US" dirty="0">
                <a:solidFill>
                  <a:schemeClr val="bg1"/>
                </a:solidFill>
              </a:rPr>
              <a:t>Data entered by User displayed</a:t>
            </a:r>
          </a:p>
          <a:p>
            <a:pPr marL="285750" indent="-285750">
              <a:buFont typeface="Arial" panose="020B0604020202020204" pitchFamily="34" charset="0"/>
              <a:buChar char="•"/>
            </a:pPr>
            <a:r>
              <a:rPr lang="en-US" dirty="0">
                <a:solidFill>
                  <a:schemeClr val="bg1"/>
                </a:solidFill>
              </a:rPr>
              <a:t>Download report link</a:t>
            </a:r>
          </a:p>
          <a:p>
            <a:pPr marL="285750" indent="-285750">
              <a:buFont typeface="Arial" panose="020B0604020202020204" pitchFamily="34" charset="0"/>
              <a:buChar char="•"/>
            </a:pPr>
            <a:r>
              <a:rPr lang="en-US" dirty="0">
                <a:solidFill>
                  <a:schemeClr val="bg1"/>
                </a:solidFill>
              </a:rPr>
              <a:t>Delete link</a:t>
            </a:r>
          </a:p>
          <a:p>
            <a:pPr marL="285750" indent="-285750">
              <a:buFont typeface="Arial" panose="020B0604020202020204" pitchFamily="34" charset="0"/>
              <a:buChar char="•"/>
            </a:pPr>
            <a:endParaRPr lang="en-US" dirty="0">
              <a:solidFill>
                <a:schemeClr val="bg1"/>
              </a:solidFill>
            </a:endParaRPr>
          </a:p>
        </p:txBody>
      </p:sp>
      <p:sp>
        <p:nvSpPr>
          <p:cNvPr id="10" name="TextBox 9">
            <a:extLst>
              <a:ext uri="{FF2B5EF4-FFF2-40B4-BE49-F238E27FC236}">
                <a16:creationId xmlns:a16="http://schemas.microsoft.com/office/drawing/2014/main" id="{C8516181-FFCF-9936-4553-711B90C29D0D}"/>
              </a:ext>
            </a:extLst>
          </p:cNvPr>
          <p:cNvSpPr txBox="1"/>
          <p:nvPr/>
        </p:nvSpPr>
        <p:spPr>
          <a:xfrm>
            <a:off x="4892860" y="819029"/>
            <a:ext cx="2406301" cy="523220"/>
          </a:xfrm>
          <a:prstGeom prst="rect">
            <a:avLst/>
          </a:prstGeom>
          <a:noFill/>
        </p:spPr>
        <p:txBody>
          <a:bodyPr wrap="none" rtlCol="0">
            <a:spAutoFit/>
          </a:bodyPr>
          <a:lstStyle/>
          <a:p>
            <a:pPr algn="ctr"/>
            <a:r>
              <a:rPr lang="en-US" sz="2800" dirty="0">
                <a:solidFill>
                  <a:schemeClr val="bg1"/>
                </a:solidFill>
              </a:rPr>
              <a:t>Ready to Read</a:t>
            </a:r>
          </a:p>
        </p:txBody>
      </p:sp>
    </p:spTree>
    <p:extLst>
      <p:ext uri="{BB962C8B-B14F-4D97-AF65-F5344CB8AC3E}">
        <p14:creationId xmlns:p14="http://schemas.microsoft.com/office/powerpoint/2010/main" val="40467524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BB7C4B-E2D9-0C5C-979D-0CA6761791D4}"/>
              </a:ext>
            </a:extLst>
          </p:cNvPr>
          <p:cNvPicPr>
            <a:picLocks noChangeAspect="1"/>
          </p:cNvPicPr>
          <p:nvPr/>
        </p:nvPicPr>
        <p:blipFill>
          <a:blip r:embed="rId2"/>
          <a:stretch>
            <a:fillRect/>
          </a:stretch>
        </p:blipFill>
        <p:spPr>
          <a:xfrm>
            <a:off x="1222953" y="1609725"/>
            <a:ext cx="5076032" cy="4945441"/>
          </a:xfrm>
          <a:prstGeom prst="rect">
            <a:avLst/>
          </a:prstGeom>
        </p:spPr>
      </p:pic>
      <p:sp>
        <p:nvSpPr>
          <p:cNvPr id="11" name="TextBox 10">
            <a:extLst>
              <a:ext uri="{FF2B5EF4-FFF2-40B4-BE49-F238E27FC236}">
                <a16:creationId xmlns:a16="http://schemas.microsoft.com/office/drawing/2014/main" id="{D926B269-99B1-B2E4-1A32-5F45E6646871}"/>
              </a:ext>
            </a:extLst>
          </p:cNvPr>
          <p:cNvSpPr txBox="1"/>
          <p:nvPr/>
        </p:nvSpPr>
        <p:spPr>
          <a:xfrm>
            <a:off x="6602855" y="2209800"/>
            <a:ext cx="4514324" cy="4062651"/>
          </a:xfrm>
          <a:prstGeom prst="rect">
            <a:avLst/>
          </a:prstGeom>
          <a:noFill/>
        </p:spPr>
        <p:txBody>
          <a:bodyPr wrap="square" rtlCol="0">
            <a:spAutoFit/>
          </a:bodyPr>
          <a:lstStyle/>
          <a:p>
            <a:r>
              <a:rPr lang="en-US" sz="2400" b="1" dirty="0">
                <a:solidFill>
                  <a:schemeClr val="bg1"/>
                </a:solidFill>
              </a:rPr>
              <a:t>Features</a:t>
            </a:r>
          </a:p>
          <a:p>
            <a:endParaRPr lang="en-US" dirty="0">
              <a:solidFill>
                <a:schemeClr val="bg1"/>
              </a:solidFill>
            </a:endParaRPr>
          </a:p>
          <a:p>
            <a:r>
              <a:rPr lang="en-US" dirty="0">
                <a:solidFill>
                  <a:schemeClr val="bg1"/>
                </a:solidFill>
              </a:rPr>
              <a:t>Detailed feedback (10 – 13 Pages) across 7 dimensions: </a:t>
            </a:r>
          </a:p>
          <a:p>
            <a:pPr marL="285750" indent="-285750">
              <a:buFont typeface="Arial" panose="020B0604020202020204" pitchFamily="34" charset="0"/>
              <a:buChar char="•"/>
            </a:pPr>
            <a:r>
              <a:rPr lang="en-US" dirty="0">
                <a:solidFill>
                  <a:schemeClr val="bg1"/>
                </a:solidFill>
              </a:rPr>
              <a:t>Delivery</a:t>
            </a:r>
          </a:p>
          <a:p>
            <a:pPr marL="285750" indent="-285750">
              <a:buFont typeface="Arial" panose="020B0604020202020204" pitchFamily="34" charset="0"/>
              <a:buChar char="•"/>
            </a:pPr>
            <a:r>
              <a:rPr lang="en-US" dirty="0">
                <a:solidFill>
                  <a:schemeClr val="bg1"/>
                </a:solidFill>
              </a:rPr>
              <a:t>Structure</a:t>
            </a:r>
          </a:p>
          <a:p>
            <a:pPr marL="285750" indent="-285750">
              <a:buFont typeface="Arial" panose="020B0604020202020204" pitchFamily="34" charset="0"/>
              <a:buChar char="•"/>
            </a:pPr>
            <a:r>
              <a:rPr lang="en-US" dirty="0">
                <a:solidFill>
                  <a:schemeClr val="bg1"/>
                </a:solidFill>
              </a:rPr>
              <a:t>Executive presence</a:t>
            </a:r>
          </a:p>
          <a:p>
            <a:pPr marL="285750" indent="-285750">
              <a:buFont typeface="Arial" panose="020B0604020202020204" pitchFamily="34" charset="0"/>
              <a:buChar char="•"/>
            </a:pPr>
            <a:r>
              <a:rPr lang="en-US" dirty="0">
                <a:solidFill>
                  <a:schemeClr val="bg1"/>
                </a:solidFill>
              </a:rPr>
              <a:t>Technical communication</a:t>
            </a:r>
          </a:p>
          <a:p>
            <a:pPr marL="285750" indent="-285750">
              <a:buFont typeface="Arial" panose="020B0604020202020204" pitchFamily="34" charset="0"/>
              <a:buChar char="•"/>
            </a:pPr>
            <a:r>
              <a:rPr lang="en-US" dirty="0">
                <a:solidFill>
                  <a:schemeClr val="bg1"/>
                </a:solidFill>
              </a:rPr>
              <a:t>Audience engagement</a:t>
            </a:r>
          </a:p>
          <a:p>
            <a:pPr marL="285750" indent="-285750">
              <a:buFont typeface="Arial" panose="020B0604020202020204" pitchFamily="34" charset="0"/>
              <a:buChar char="•"/>
            </a:pPr>
            <a:r>
              <a:rPr lang="en-US" dirty="0">
                <a:solidFill>
                  <a:schemeClr val="bg1"/>
                </a:solidFill>
              </a:rPr>
              <a:t>Pacing</a:t>
            </a:r>
          </a:p>
          <a:p>
            <a:pPr marL="285750" indent="-285750">
              <a:buFont typeface="Arial" panose="020B0604020202020204" pitchFamily="34" charset="0"/>
              <a:buChar char="•"/>
            </a:pPr>
            <a:r>
              <a:rPr lang="en-US" dirty="0">
                <a:solidFill>
                  <a:schemeClr val="bg1"/>
                </a:solidFill>
              </a:rPr>
              <a:t>Persuasion</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a:solidFill>
                <a:schemeClr val="bg1"/>
              </a:solidFill>
            </a:endParaRPr>
          </a:p>
        </p:txBody>
      </p:sp>
      <p:sp>
        <p:nvSpPr>
          <p:cNvPr id="13" name="TextBox 12">
            <a:extLst>
              <a:ext uri="{FF2B5EF4-FFF2-40B4-BE49-F238E27FC236}">
                <a16:creationId xmlns:a16="http://schemas.microsoft.com/office/drawing/2014/main" id="{F3284F5D-A79B-BA77-B905-CBF01C9FD200}"/>
              </a:ext>
            </a:extLst>
          </p:cNvPr>
          <p:cNvSpPr txBox="1"/>
          <p:nvPr/>
        </p:nvSpPr>
        <p:spPr>
          <a:xfrm>
            <a:off x="5166111" y="819029"/>
            <a:ext cx="1859803" cy="523220"/>
          </a:xfrm>
          <a:prstGeom prst="rect">
            <a:avLst/>
          </a:prstGeom>
          <a:noFill/>
        </p:spPr>
        <p:txBody>
          <a:bodyPr wrap="none" rtlCol="0">
            <a:spAutoFit/>
          </a:bodyPr>
          <a:lstStyle/>
          <a:p>
            <a:pPr algn="ctr"/>
            <a:r>
              <a:rPr lang="en-US" sz="2800" dirty="0">
                <a:solidFill>
                  <a:schemeClr val="bg1"/>
                </a:solidFill>
              </a:rPr>
              <a:t>The Report</a:t>
            </a:r>
          </a:p>
        </p:txBody>
      </p:sp>
    </p:spTree>
    <p:extLst>
      <p:ext uri="{BB962C8B-B14F-4D97-AF65-F5344CB8AC3E}">
        <p14:creationId xmlns:p14="http://schemas.microsoft.com/office/powerpoint/2010/main" val="1631378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B80552-7EAE-F319-FC08-D4AC7AF06323}"/>
              </a:ext>
            </a:extLst>
          </p:cNvPr>
          <p:cNvPicPr>
            <a:picLocks noChangeAspect="1"/>
          </p:cNvPicPr>
          <p:nvPr/>
        </p:nvPicPr>
        <p:blipFill>
          <a:blip r:embed="rId2"/>
          <a:stretch>
            <a:fillRect/>
          </a:stretch>
        </p:blipFill>
        <p:spPr>
          <a:xfrm>
            <a:off x="747252" y="1609726"/>
            <a:ext cx="7561007" cy="3770496"/>
          </a:xfrm>
          <a:prstGeom prst="rect">
            <a:avLst/>
          </a:prstGeom>
          <a:ln>
            <a:solidFill>
              <a:schemeClr val="bg1"/>
            </a:solidFill>
          </a:ln>
        </p:spPr>
      </p:pic>
      <p:sp>
        <p:nvSpPr>
          <p:cNvPr id="9" name="TextBox 8">
            <a:extLst>
              <a:ext uri="{FF2B5EF4-FFF2-40B4-BE49-F238E27FC236}">
                <a16:creationId xmlns:a16="http://schemas.microsoft.com/office/drawing/2014/main" id="{57500E97-BD4D-EDEB-966D-411DFB207F07}"/>
              </a:ext>
            </a:extLst>
          </p:cNvPr>
          <p:cNvSpPr txBox="1"/>
          <p:nvPr/>
        </p:nvSpPr>
        <p:spPr>
          <a:xfrm>
            <a:off x="8565005" y="2119074"/>
            <a:ext cx="3255518" cy="2400657"/>
          </a:xfrm>
          <a:prstGeom prst="rect">
            <a:avLst/>
          </a:prstGeom>
          <a:noFill/>
        </p:spPr>
        <p:txBody>
          <a:bodyPr wrap="square" rtlCol="0">
            <a:spAutoFit/>
          </a:bodyPr>
          <a:lstStyle/>
          <a:p>
            <a:r>
              <a:rPr lang="en-US" sz="2400" b="1" dirty="0">
                <a:solidFill>
                  <a:schemeClr val="bg1"/>
                </a:solidFill>
              </a:rPr>
              <a:t>Features</a:t>
            </a:r>
          </a:p>
          <a:p>
            <a:endParaRPr lang="en-US" dirty="0">
              <a:solidFill>
                <a:schemeClr val="bg1"/>
              </a:solidFill>
            </a:endParaRPr>
          </a:p>
          <a:p>
            <a:r>
              <a:rPr lang="en-US" dirty="0">
                <a:solidFill>
                  <a:schemeClr val="bg1"/>
                </a:solidFill>
              </a:rPr>
              <a:t>Total costs of the development </a:t>
            </a:r>
          </a:p>
          <a:p>
            <a:pPr marL="285750" indent="-285750">
              <a:buFont typeface="Arial" panose="020B0604020202020204" pitchFamily="34" charset="0"/>
              <a:buChar char="•"/>
            </a:pPr>
            <a:r>
              <a:rPr lang="en-US" dirty="0">
                <a:solidFill>
                  <a:schemeClr val="bg1"/>
                </a:solidFill>
              </a:rPr>
              <a:t>AWS Account: $6.59</a:t>
            </a:r>
          </a:p>
          <a:p>
            <a:pPr marL="285750" indent="-285750">
              <a:buFont typeface="Arial" panose="020B0604020202020204" pitchFamily="34" charset="0"/>
              <a:buChar char="•"/>
            </a:pPr>
            <a:r>
              <a:rPr lang="en-US" dirty="0">
                <a:solidFill>
                  <a:schemeClr val="bg1"/>
                </a:solidFill>
              </a:rPr>
              <a:t>Kiro AI-DLC: 1355 Credits ($27.10)</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a:solidFill>
                <a:schemeClr val="bg1"/>
              </a:solidFill>
            </a:endParaRPr>
          </a:p>
        </p:txBody>
      </p:sp>
      <p:sp>
        <p:nvSpPr>
          <p:cNvPr id="11" name="TextBox 10">
            <a:extLst>
              <a:ext uri="{FF2B5EF4-FFF2-40B4-BE49-F238E27FC236}">
                <a16:creationId xmlns:a16="http://schemas.microsoft.com/office/drawing/2014/main" id="{2C991F5C-0A1B-1274-87E3-29ED0BD79F2E}"/>
              </a:ext>
            </a:extLst>
          </p:cNvPr>
          <p:cNvSpPr txBox="1"/>
          <p:nvPr/>
        </p:nvSpPr>
        <p:spPr>
          <a:xfrm>
            <a:off x="4470090" y="819029"/>
            <a:ext cx="3251851" cy="523220"/>
          </a:xfrm>
          <a:prstGeom prst="rect">
            <a:avLst/>
          </a:prstGeom>
          <a:noFill/>
        </p:spPr>
        <p:txBody>
          <a:bodyPr wrap="none" rtlCol="0">
            <a:spAutoFit/>
          </a:bodyPr>
          <a:lstStyle/>
          <a:p>
            <a:pPr algn="ctr"/>
            <a:r>
              <a:rPr lang="en-US" sz="2800" dirty="0">
                <a:solidFill>
                  <a:schemeClr val="bg1"/>
                </a:solidFill>
              </a:rPr>
              <a:t>Development Costs</a:t>
            </a:r>
          </a:p>
        </p:txBody>
      </p:sp>
      <p:pic>
        <p:nvPicPr>
          <p:cNvPr id="13" name="Picture 12">
            <a:extLst>
              <a:ext uri="{FF2B5EF4-FFF2-40B4-BE49-F238E27FC236}">
                <a16:creationId xmlns:a16="http://schemas.microsoft.com/office/drawing/2014/main" id="{FCB81813-D671-9E9E-2E2C-739C07EACF68}"/>
              </a:ext>
            </a:extLst>
          </p:cNvPr>
          <p:cNvPicPr>
            <a:picLocks noChangeAspect="1"/>
          </p:cNvPicPr>
          <p:nvPr/>
        </p:nvPicPr>
        <p:blipFill>
          <a:blip r:embed="rId3"/>
          <a:srcRect l="31001"/>
          <a:stretch>
            <a:fillRect/>
          </a:stretch>
        </p:blipFill>
        <p:spPr>
          <a:xfrm>
            <a:off x="8565005" y="4243467"/>
            <a:ext cx="3266816" cy="552527"/>
          </a:xfrm>
          <a:prstGeom prst="rect">
            <a:avLst/>
          </a:prstGeom>
          <a:ln>
            <a:solidFill>
              <a:schemeClr val="bg1"/>
            </a:solidFill>
          </a:ln>
        </p:spPr>
      </p:pic>
    </p:spTree>
    <p:extLst>
      <p:ext uri="{BB962C8B-B14F-4D97-AF65-F5344CB8AC3E}">
        <p14:creationId xmlns:p14="http://schemas.microsoft.com/office/powerpoint/2010/main" val="1747668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BE16D-B0B2-9101-81A7-C3583C2531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EE36641-CB2A-8DD1-67D1-15C4DE86DAD6}"/>
              </a:ext>
            </a:extLst>
          </p:cNvPr>
          <p:cNvSpPr txBox="1"/>
          <p:nvPr/>
        </p:nvSpPr>
        <p:spPr>
          <a:xfrm>
            <a:off x="3970293" y="2563905"/>
            <a:ext cx="4251421" cy="769441"/>
          </a:xfrm>
          <a:prstGeom prst="rect">
            <a:avLst/>
          </a:prstGeom>
          <a:noFill/>
        </p:spPr>
        <p:txBody>
          <a:bodyPr wrap="none" rtlCol="0">
            <a:spAutoFit/>
          </a:bodyPr>
          <a:lstStyle/>
          <a:p>
            <a:pPr algn="ctr"/>
            <a:r>
              <a:rPr lang="en-US" sz="4400" dirty="0">
                <a:solidFill>
                  <a:schemeClr val="bg1"/>
                </a:solidFill>
              </a:rPr>
              <a:t>The Architecture</a:t>
            </a:r>
          </a:p>
        </p:txBody>
      </p:sp>
    </p:spTree>
    <p:extLst>
      <p:ext uri="{BB962C8B-B14F-4D97-AF65-F5344CB8AC3E}">
        <p14:creationId xmlns:p14="http://schemas.microsoft.com/office/powerpoint/2010/main" val="14255909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aGrouping" descr="Example of AWS Cloud group, represented as a rectangle with AWS logo at the top left, and AWS Cloud as a title.">
            <a:extLst>
              <a:ext uri="{FF2B5EF4-FFF2-40B4-BE49-F238E27FC236}">
                <a16:creationId xmlns:a16="http://schemas.microsoft.com/office/drawing/2014/main" id="{61567C16-7274-4D13-AD53-504B84DFF26B}"/>
              </a:ext>
            </a:extLst>
          </p:cNvPr>
          <p:cNvGrpSpPr/>
          <p:nvPr/>
        </p:nvGrpSpPr>
        <p:grpSpPr>
          <a:xfrm>
            <a:off x="1873575" y="831451"/>
            <a:ext cx="6567106" cy="4504059"/>
            <a:chOff x="1126114" y="1236252"/>
            <a:chExt cx="1845487" cy="718165"/>
          </a:xfrm>
        </p:grpSpPr>
        <p:sp>
          <p:nvSpPr>
            <p:cNvPr id="5" name="Rectangle 4">
              <a:extLst>
                <a:ext uri="{FF2B5EF4-FFF2-40B4-BE49-F238E27FC236}">
                  <a16:creationId xmlns:a16="http://schemas.microsoft.com/office/drawing/2014/main" id="{9567CA43-52DD-A7AF-C246-5EF7AD6E2BC1}"/>
                </a:ext>
              </a:extLst>
            </p:cNvPr>
            <p:cNvSpPr/>
            <p:nvPr/>
          </p:nvSpPr>
          <p:spPr>
            <a:xfrm>
              <a:off x="1126926" y="1236252"/>
              <a:ext cx="1844675" cy="718165"/>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6" name="Graphic 5">
              <a:extLst>
                <a:ext uri="{FF2B5EF4-FFF2-40B4-BE49-F238E27FC236}">
                  <a16:creationId xmlns:a16="http://schemas.microsoft.com/office/drawing/2014/main" id="{016D9BF9-F262-2C96-A133-0A7278005EF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126114" y="1237248"/>
              <a:ext cx="85898" cy="53777"/>
            </a:xfrm>
            <a:prstGeom prst="rect">
              <a:avLst/>
            </a:prstGeom>
          </p:spPr>
        </p:pic>
      </p:grpSp>
      <p:grpSp>
        <p:nvGrpSpPr>
          <p:cNvPr id="7" name="AZGroup" descr="Group for availability zone, inside the AWS Cloud grouping.">
            <a:extLst>
              <a:ext uri="{FF2B5EF4-FFF2-40B4-BE49-F238E27FC236}">
                <a16:creationId xmlns:a16="http://schemas.microsoft.com/office/drawing/2014/main" id="{DDDCD767-7EE5-2EF6-3C53-8177AD72E864}"/>
              </a:ext>
            </a:extLst>
          </p:cNvPr>
          <p:cNvGrpSpPr/>
          <p:nvPr/>
        </p:nvGrpSpPr>
        <p:grpSpPr>
          <a:xfrm>
            <a:off x="2749960" y="919952"/>
            <a:ext cx="5621460" cy="3635232"/>
            <a:chOff x="4188315" y="1576361"/>
            <a:chExt cx="5496603" cy="2349832"/>
          </a:xfrm>
        </p:grpSpPr>
        <p:sp>
          <p:nvSpPr>
            <p:cNvPr id="8" name="Rectangle 7" descr="AZ group border">
              <a:extLst>
                <a:ext uri="{FF2B5EF4-FFF2-40B4-BE49-F238E27FC236}">
                  <a16:creationId xmlns:a16="http://schemas.microsoft.com/office/drawing/2014/main" id="{587AE4C8-A897-101D-BD52-4FA421F8EE03}"/>
                </a:ext>
              </a:extLst>
            </p:cNvPr>
            <p:cNvSpPr/>
            <p:nvPr/>
          </p:nvSpPr>
          <p:spPr>
            <a:xfrm>
              <a:off x="4188315" y="1576361"/>
              <a:ext cx="5496603" cy="2349832"/>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A5A5A5"/>
                </a:solidFill>
                <a:effectLst/>
                <a:uLnTx/>
                <a:uFillTx/>
                <a:latin typeface="Calibri" panose="020F0502020204030204"/>
                <a:ea typeface="+mn-ea"/>
                <a:cs typeface="+mn-cs"/>
              </a:endParaRPr>
            </a:p>
          </p:txBody>
        </p:sp>
        <p:sp>
          <p:nvSpPr>
            <p:cNvPr id="9" name="Rectangle 37">
              <a:extLst>
                <a:ext uri="{FF2B5EF4-FFF2-40B4-BE49-F238E27FC236}">
                  <a16:creationId xmlns:a16="http://schemas.microsoft.com/office/drawing/2014/main" id="{BA6F1E90-6FAF-A0AC-9B75-FAECF6B70127}"/>
                </a:ext>
              </a:extLst>
            </p:cNvPr>
            <p:cNvSpPr>
              <a:spLocks noChangeArrowheads="1"/>
            </p:cNvSpPr>
            <p:nvPr/>
          </p:nvSpPr>
          <p:spPr bwMode="auto">
            <a:xfrm>
              <a:off x="4328036" y="1576639"/>
              <a:ext cx="591223" cy="156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1" i="0" u="none" strike="noStrike" kern="1200" cap="none" spc="0" normalizeH="0" baseline="0" noProof="0" dirty="0">
                  <a:ln>
                    <a:noFill/>
                  </a:ln>
                  <a:solidFill>
                    <a:srgbClr val="00A4A6"/>
                  </a:solidFill>
                  <a:effectLst/>
                  <a:uLnTx/>
                  <a:uFillTx/>
                  <a:latin typeface="Arial" panose="020B0604020202020204" pitchFamily="34" charset="0"/>
                  <a:ea typeface="+mn-ea"/>
                  <a:cs typeface="Arial" panose="020B0604020202020204" pitchFamily="34" charset="0"/>
                </a:rPr>
                <a:t>us-east-1 </a:t>
              </a:r>
            </a:p>
          </p:txBody>
        </p:sp>
      </p:grpSp>
      <p:pic>
        <p:nvPicPr>
          <p:cNvPr id="10" name="Graphic 9" descr="Region group icon.">
            <a:extLst>
              <a:ext uri="{FF2B5EF4-FFF2-40B4-BE49-F238E27FC236}">
                <a16:creationId xmlns:a16="http://schemas.microsoft.com/office/drawing/2014/main" id="{7AAD2918-F301-2660-3E7A-691B0AFAA237}"/>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759516" y="915579"/>
            <a:ext cx="181666" cy="181666"/>
          </a:xfrm>
          <a:prstGeom prst="rect">
            <a:avLst/>
          </a:prstGeom>
        </p:spPr>
      </p:pic>
      <p:sp>
        <p:nvSpPr>
          <p:cNvPr id="11" name="Rectangle 10">
            <a:extLst>
              <a:ext uri="{FF2B5EF4-FFF2-40B4-BE49-F238E27FC236}">
                <a16:creationId xmlns:a16="http://schemas.microsoft.com/office/drawing/2014/main" id="{A484AB68-6BB5-069A-D4B6-EF05D871951A}"/>
              </a:ext>
              <a:ext uri="{C183D7F6-B498-43B3-948B-1728B52AA6E4}">
                <adec:decorative xmlns:adec="http://schemas.microsoft.com/office/drawing/2017/decorative" val="1"/>
              </a:ext>
            </a:extLst>
          </p:cNvPr>
          <p:cNvSpPr/>
          <p:nvPr/>
        </p:nvSpPr>
        <p:spPr bwMode="auto">
          <a:xfrm>
            <a:off x="3445587" y="1020727"/>
            <a:ext cx="4751560" cy="3410142"/>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w="0"/>
              <a:solidFill>
                <a:prstClr val="black"/>
              </a:solidFill>
              <a:effectLst/>
              <a:uLnTx/>
              <a:uFillTx/>
              <a:latin typeface="Arial" panose="020B0604020202020204" pitchFamily="34" charset="0"/>
              <a:ea typeface="+mn-ea"/>
              <a:cs typeface="Arial" panose="020B0604020202020204" pitchFamily="34" charset="0"/>
            </a:endParaRPr>
          </a:p>
        </p:txBody>
      </p:sp>
      <p:pic>
        <p:nvPicPr>
          <p:cNvPr id="12" name="Graphic 11" descr="VPC group icon.">
            <a:extLst>
              <a:ext uri="{FF2B5EF4-FFF2-40B4-BE49-F238E27FC236}">
                <a16:creationId xmlns:a16="http://schemas.microsoft.com/office/drawing/2014/main" id="{34D4EEAC-ED93-68C5-B3D1-65ADEE3AFD1F}"/>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449672" y="1028241"/>
            <a:ext cx="159014" cy="159014"/>
          </a:xfrm>
          <a:prstGeom prst="rect">
            <a:avLst/>
          </a:prstGeom>
        </p:spPr>
      </p:pic>
      <p:sp>
        <p:nvSpPr>
          <p:cNvPr id="13" name="Rectangle 37">
            <a:extLst>
              <a:ext uri="{FF2B5EF4-FFF2-40B4-BE49-F238E27FC236}">
                <a16:creationId xmlns:a16="http://schemas.microsoft.com/office/drawing/2014/main" id="{98767A63-F76D-C4E4-5E95-F2599A2C4576}"/>
              </a:ext>
            </a:extLst>
          </p:cNvPr>
          <p:cNvSpPr>
            <a:spLocks noChangeArrowheads="1"/>
          </p:cNvSpPr>
          <p:nvPr/>
        </p:nvSpPr>
        <p:spPr bwMode="auto">
          <a:xfrm>
            <a:off x="3548707" y="1008918"/>
            <a:ext cx="367409"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700" b="1" i="0" u="none" strike="noStrike" kern="1200" cap="none" spc="0" normalizeH="0" baseline="0" noProof="0" dirty="0">
                <a:ln>
                  <a:noFill/>
                </a:ln>
                <a:solidFill>
                  <a:srgbClr val="8C4FFF"/>
                </a:solidFill>
                <a:effectLst/>
                <a:uLnTx/>
                <a:uFillTx/>
                <a:latin typeface="Arial" panose="020B0604020202020204" pitchFamily="34" charset="0"/>
                <a:ea typeface="+mn-ea"/>
                <a:cs typeface="Arial" panose="020B0604020202020204" pitchFamily="34" charset="0"/>
              </a:rPr>
              <a:t>VPC</a:t>
            </a:r>
          </a:p>
        </p:txBody>
      </p:sp>
      <p:cxnSp>
        <p:nvCxnSpPr>
          <p:cNvPr id="14" name="Straight Arrow Connector 13">
            <a:extLst>
              <a:ext uri="{FF2B5EF4-FFF2-40B4-BE49-F238E27FC236}">
                <a16:creationId xmlns:a16="http://schemas.microsoft.com/office/drawing/2014/main" id="{257D1D52-085C-F883-2719-AD61FD633074}"/>
              </a:ext>
            </a:extLst>
          </p:cNvPr>
          <p:cNvCxnSpPr>
            <a:cxnSpLocks/>
            <a:stCxn id="29" idx="3"/>
            <a:endCxn id="26" idx="1"/>
          </p:cNvCxnSpPr>
          <p:nvPr/>
        </p:nvCxnSpPr>
        <p:spPr>
          <a:xfrm flipV="1">
            <a:off x="3202073" y="3899331"/>
            <a:ext cx="295531" cy="3124"/>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DC4027A9-9A7F-8957-5FEE-89C8A15F36C9}"/>
              </a:ext>
            </a:extLst>
          </p:cNvPr>
          <p:cNvCxnSpPr>
            <a:cxnSpLocks/>
            <a:stCxn id="26" idx="3"/>
            <a:endCxn id="68" idx="1"/>
          </p:cNvCxnSpPr>
          <p:nvPr/>
        </p:nvCxnSpPr>
        <p:spPr>
          <a:xfrm flipV="1">
            <a:off x="3771924" y="3891145"/>
            <a:ext cx="864209" cy="8186"/>
          </a:xfrm>
          <a:prstGeom prst="straightConnector1">
            <a:avLst/>
          </a:prstGeom>
          <a:ln w="28575">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979590DE-189C-3407-85E1-C942BA756FC3}"/>
              </a:ext>
            </a:extLst>
          </p:cNvPr>
          <p:cNvSpPr txBox="1"/>
          <p:nvPr/>
        </p:nvSpPr>
        <p:spPr>
          <a:xfrm>
            <a:off x="558538" y="3932828"/>
            <a:ext cx="729687"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HTTP API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Traffic</a:t>
            </a:r>
          </a:p>
        </p:txBody>
      </p:sp>
      <p:cxnSp>
        <p:nvCxnSpPr>
          <p:cNvPr id="18" name="Straight Arrow Connector 17">
            <a:extLst>
              <a:ext uri="{FF2B5EF4-FFF2-40B4-BE49-F238E27FC236}">
                <a16:creationId xmlns:a16="http://schemas.microsoft.com/office/drawing/2014/main" id="{BB0A0E34-D8ED-9A50-781E-B0F9FEA86059}"/>
              </a:ext>
            </a:extLst>
          </p:cNvPr>
          <p:cNvCxnSpPr>
            <a:cxnSpLocks/>
            <a:stCxn id="23" idx="3"/>
            <a:endCxn id="21" idx="1"/>
          </p:cNvCxnSpPr>
          <p:nvPr/>
        </p:nvCxnSpPr>
        <p:spPr>
          <a:xfrm flipV="1">
            <a:off x="1289427" y="4854173"/>
            <a:ext cx="865888" cy="1372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grpSp>
        <p:nvGrpSpPr>
          <p:cNvPr id="19" name="Group 18">
            <a:extLst>
              <a:ext uri="{FF2B5EF4-FFF2-40B4-BE49-F238E27FC236}">
                <a16:creationId xmlns:a16="http://schemas.microsoft.com/office/drawing/2014/main" id="{ED39C901-2B9C-C1EF-5645-E1526255320F}"/>
              </a:ext>
            </a:extLst>
          </p:cNvPr>
          <p:cNvGrpSpPr/>
          <p:nvPr/>
        </p:nvGrpSpPr>
        <p:grpSpPr>
          <a:xfrm>
            <a:off x="2114065" y="4404685"/>
            <a:ext cx="330849" cy="637914"/>
            <a:chOff x="2021255" y="5606297"/>
            <a:chExt cx="330849" cy="637914"/>
          </a:xfrm>
        </p:grpSpPr>
        <p:pic>
          <p:nvPicPr>
            <p:cNvPr id="20" name="Graphic 8" descr="AWS WAF service icon.">
              <a:extLst>
                <a:ext uri="{FF2B5EF4-FFF2-40B4-BE49-F238E27FC236}">
                  <a16:creationId xmlns:a16="http://schemas.microsoft.com/office/drawing/2014/main" id="{6A3CA96B-B516-820A-4324-4D3ECB9F90E3}"/>
                </a:ext>
              </a:extLst>
            </p:cNvPr>
            <p:cNvPicPr>
              <a:picLocks noChangeAspect="1" noChangeArrowheads="1"/>
            </p:cNvPicPr>
            <p:nvPr/>
          </p:nvPicPr>
          <p:blipFill>
            <a:blip>
              <a:extLst>
                <a:ext uri="{96DAC541-7B7A-43D3-8B79-37D633B846F1}">
                  <asvg:svgBlip xmlns:asvg="http://schemas.microsoft.com/office/drawing/2016/SVG/main" r:embed="rId5"/>
                </a:ext>
              </a:extLst>
            </a:blip>
            <a:srcRect/>
            <a:stretch/>
          </p:blipFill>
          <p:spPr bwMode="auto">
            <a:xfrm>
              <a:off x="2061331" y="563357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Graphic 19" descr="Amazon CloudFront service icon.">
              <a:extLst>
                <a:ext uri="{FF2B5EF4-FFF2-40B4-BE49-F238E27FC236}">
                  <a16:creationId xmlns:a16="http://schemas.microsoft.com/office/drawing/2014/main" id="{F135F3F4-8FAD-FCC7-0E9D-ADAC7B9A7ED7}"/>
                </a:ext>
              </a:extLst>
            </p:cNvPr>
            <p:cNvPicPr>
              <a:picLocks noChangeAspect="1" noChangeArrowheads="1"/>
            </p:cNvPicPr>
            <p:nvPr/>
          </p:nvPicPr>
          <p:blipFill>
            <a:blip>
              <a:extLst>
                <a:ext uri="{96DAC541-7B7A-43D3-8B79-37D633B846F1}">
                  <asvg:svgBlip xmlns:asvg="http://schemas.microsoft.com/office/drawing/2016/SVG/main" r:embed="rId6"/>
                </a:ext>
              </a:extLst>
            </a:blip>
            <a:srcRect/>
            <a:stretch/>
          </p:blipFill>
          <p:spPr bwMode="auto">
            <a:xfrm>
              <a:off x="2062505" y="591862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21" descr="Availability Zone group.">
              <a:extLst>
                <a:ext uri="{FF2B5EF4-FFF2-40B4-BE49-F238E27FC236}">
                  <a16:creationId xmlns:a16="http://schemas.microsoft.com/office/drawing/2014/main" id="{C2B92891-DF67-A296-3F47-1BD5D08D61FC}"/>
                </a:ext>
              </a:extLst>
            </p:cNvPr>
            <p:cNvSpPr/>
            <p:nvPr/>
          </p:nvSpPr>
          <p:spPr>
            <a:xfrm>
              <a:off x="2021255" y="5606297"/>
              <a:ext cx="330849" cy="637914"/>
            </a:xfrm>
            <a:prstGeom prst="rect">
              <a:avLst/>
            </a:prstGeom>
            <a:noFill/>
            <a:ln w="15875" cap="flat" cmpd="sng" algn="ctr">
              <a:solidFill>
                <a:schemeClr val="tx1"/>
              </a:solidFill>
              <a:prstDash val="dash"/>
              <a:miter lim="800000"/>
            </a:ln>
            <a:effectLst/>
          </p:spPr>
          <p:txBody>
            <a:bodyPr tIns="9144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grpSp>
      <p:sp>
        <p:nvSpPr>
          <p:cNvPr id="23" name="TextBox 22">
            <a:extLst>
              <a:ext uri="{FF2B5EF4-FFF2-40B4-BE49-F238E27FC236}">
                <a16:creationId xmlns:a16="http://schemas.microsoft.com/office/drawing/2014/main" id="{A4E94B1A-468E-278E-192A-54E9A8086DFF}"/>
              </a:ext>
            </a:extLst>
          </p:cNvPr>
          <p:cNvSpPr txBox="1"/>
          <p:nvPr/>
        </p:nvSpPr>
        <p:spPr>
          <a:xfrm>
            <a:off x="553328" y="4667847"/>
            <a:ext cx="736099"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SPA Web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chemeClr val="bg1"/>
                </a:solidFill>
                <a:effectLst/>
                <a:uLnTx/>
                <a:uFillTx/>
                <a:latin typeface="Aptos" panose="02110004020202020204"/>
                <a:ea typeface="+mn-ea"/>
                <a:cs typeface="+mn-cs"/>
              </a:rPr>
              <a:t>Traffic</a:t>
            </a:r>
          </a:p>
        </p:txBody>
      </p:sp>
      <p:pic>
        <p:nvPicPr>
          <p:cNvPr id="24" name="Graphic 8" descr="Amazon Simple Storage Service (Amazon S3) service icon.">
            <a:extLst>
              <a:ext uri="{FF2B5EF4-FFF2-40B4-BE49-F238E27FC236}">
                <a16:creationId xmlns:a16="http://schemas.microsoft.com/office/drawing/2014/main" id="{F9155B1B-4C06-7A36-249B-C360BADAC322}"/>
              </a:ext>
            </a:extLst>
          </p:cNvPr>
          <p:cNvPicPr>
            <a:picLocks noChangeAspect="1" noChangeArrowheads="1"/>
          </p:cNvPicPr>
          <p:nvPr/>
        </p:nvPicPr>
        <p:blipFill>
          <a:blip>
            <a:extLst>
              <a:ext uri="{96DAC541-7B7A-43D3-8B79-37D633B846F1}">
                <asvg:svgBlip xmlns:asvg="http://schemas.microsoft.com/office/drawing/2016/SVG/main" r:embed="rId7"/>
              </a:ext>
            </a:extLst>
          </a:blip>
          <a:srcRect/>
          <a:stretch/>
        </p:blipFill>
        <p:spPr bwMode="auto">
          <a:xfrm>
            <a:off x="3043974" y="4718104"/>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5" name="Connector: Elbow 24">
            <a:extLst>
              <a:ext uri="{FF2B5EF4-FFF2-40B4-BE49-F238E27FC236}">
                <a16:creationId xmlns:a16="http://schemas.microsoft.com/office/drawing/2014/main" id="{27089E16-E5DB-5059-A819-D917934D8077}"/>
              </a:ext>
            </a:extLst>
          </p:cNvPr>
          <p:cNvCxnSpPr>
            <a:cxnSpLocks/>
            <a:stCxn id="21" idx="3"/>
            <a:endCxn id="24" idx="1"/>
          </p:cNvCxnSpPr>
          <p:nvPr/>
        </p:nvCxnSpPr>
        <p:spPr>
          <a:xfrm>
            <a:off x="2429635" y="4854173"/>
            <a:ext cx="614339" cy="1091"/>
          </a:xfrm>
          <a:prstGeom prst="bentConnector3">
            <a:avLst>
              <a:gd name="adj1" fmla="val 50000"/>
            </a:avLst>
          </a:prstGeom>
          <a:ln>
            <a:headEnd type="triangle" w="med" len="med"/>
            <a:tailEnd type="none" w="med" len="med"/>
          </a:ln>
        </p:spPr>
        <p:style>
          <a:lnRef idx="2">
            <a:schemeClr val="accent2"/>
          </a:lnRef>
          <a:fillRef idx="0">
            <a:schemeClr val="accent2"/>
          </a:fillRef>
          <a:effectRef idx="1">
            <a:schemeClr val="accent2"/>
          </a:effectRef>
          <a:fontRef idx="minor">
            <a:schemeClr val="tx1"/>
          </a:fontRef>
        </p:style>
      </p:cxnSp>
      <p:pic>
        <p:nvPicPr>
          <p:cNvPr id="26" name="Graphic 25" descr="Endpoints resource icon for the Amazon VPC service.&#10;">
            <a:extLst>
              <a:ext uri="{FF2B5EF4-FFF2-40B4-BE49-F238E27FC236}">
                <a16:creationId xmlns:a16="http://schemas.microsoft.com/office/drawing/2014/main" id="{7230F14D-4298-5253-1609-D619BB4D6E6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97604" y="3762171"/>
            <a:ext cx="274320" cy="274320"/>
          </a:xfrm>
          <a:prstGeom prst="rect">
            <a:avLst/>
          </a:prstGeom>
        </p:spPr>
      </p:pic>
      <p:pic>
        <p:nvPicPr>
          <p:cNvPr id="27" name="Graphic 21" descr="Amazon Route 53 service icon.">
            <a:extLst>
              <a:ext uri="{FF2B5EF4-FFF2-40B4-BE49-F238E27FC236}">
                <a16:creationId xmlns:a16="http://schemas.microsoft.com/office/drawing/2014/main" id="{C49B01D7-DBE7-19D3-8E48-3D6D48980A2B}"/>
              </a:ext>
            </a:extLst>
          </p:cNvPr>
          <p:cNvPicPr>
            <a:picLocks noChangeAspect="1" noChangeArrowheads="1"/>
          </p:cNvPicPr>
          <p:nvPr/>
        </p:nvPicPr>
        <p:blipFill>
          <a:blip>
            <a:extLst>
              <a:ext uri="{96DAC541-7B7A-43D3-8B79-37D633B846F1}">
                <asvg:svgBlip xmlns:asvg="http://schemas.microsoft.com/office/drawing/2016/SVG/main" r:embed="rId9"/>
              </a:ext>
            </a:extLst>
          </a:blip>
          <a:srcRect/>
          <a:stretch/>
        </p:blipFill>
        <p:spPr bwMode="auto">
          <a:xfrm>
            <a:off x="2009336" y="1268423"/>
            <a:ext cx="365760" cy="355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Graphic 7" descr="Amazon API Gateway service icon.">
            <a:extLst>
              <a:ext uri="{FF2B5EF4-FFF2-40B4-BE49-F238E27FC236}">
                <a16:creationId xmlns:a16="http://schemas.microsoft.com/office/drawing/2014/main" id="{4EC78354-9E12-4532-6178-709CDDB07FD9}"/>
              </a:ext>
            </a:extLst>
          </p:cNvPr>
          <p:cNvPicPr>
            <a:picLocks noChangeAspect="1" noChangeArrowheads="1"/>
          </p:cNvPicPr>
          <p:nvPr/>
        </p:nvPicPr>
        <p:blipFill>
          <a:blip>
            <a:extLst>
              <a:ext uri="{96DAC541-7B7A-43D3-8B79-37D633B846F1}">
                <asvg:svgBlip xmlns:asvg="http://schemas.microsoft.com/office/drawing/2016/SVG/main" r:embed="rId10"/>
              </a:ext>
            </a:extLst>
          </a:blip>
          <a:srcRect/>
          <a:stretch/>
        </p:blipFill>
        <p:spPr bwMode="auto">
          <a:xfrm>
            <a:off x="2927753" y="376529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0" name="Connector: Elbow 29">
            <a:extLst>
              <a:ext uri="{FF2B5EF4-FFF2-40B4-BE49-F238E27FC236}">
                <a16:creationId xmlns:a16="http://schemas.microsoft.com/office/drawing/2014/main" id="{C580CB80-1A39-DD19-B382-66E645D59E0D}"/>
              </a:ext>
            </a:extLst>
          </p:cNvPr>
          <p:cNvCxnSpPr>
            <a:cxnSpLocks/>
            <a:stCxn id="17" idx="3"/>
            <a:endCxn id="29" idx="1"/>
          </p:cNvCxnSpPr>
          <p:nvPr/>
        </p:nvCxnSpPr>
        <p:spPr>
          <a:xfrm flipV="1">
            <a:off x="1288225" y="3902455"/>
            <a:ext cx="1639528" cy="230428"/>
          </a:xfrm>
          <a:prstGeom prst="bentConnector3">
            <a:avLst>
              <a:gd name="adj1" fmla="val 50000"/>
            </a:avLst>
          </a:prstGeom>
          <a:ln>
            <a:solidFill>
              <a:schemeClr val="accent1"/>
            </a:solidFill>
            <a:tailEnd type="triangle"/>
          </a:ln>
        </p:spPr>
        <p:style>
          <a:lnRef idx="2">
            <a:schemeClr val="accent1"/>
          </a:lnRef>
          <a:fillRef idx="0">
            <a:schemeClr val="accent1"/>
          </a:fillRef>
          <a:effectRef idx="1">
            <a:schemeClr val="accent1"/>
          </a:effectRef>
          <a:fontRef idx="minor">
            <a:schemeClr val="tx1"/>
          </a:fontRef>
        </p:style>
      </p:cxnSp>
      <p:grpSp>
        <p:nvGrpSpPr>
          <p:cNvPr id="31" name="Group 30">
            <a:extLst>
              <a:ext uri="{FF2B5EF4-FFF2-40B4-BE49-F238E27FC236}">
                <a16:creationId xmlns:a16="http://schemas.microsoft.com/office/drawing/2014/main" id="{5CC65912-2510-78DF-9E7F-067E8EBFF46F}"/>
              </a:ext>
            </a:extLst>
          </p:cNvPr>
          <p:cNvGrpSpPr/>
          <p:nvPr/>
        </p:nvGrpSpPr>
        <p:grpSpPr>
          <a:xfrm>
            <a:off x="85060" y="5603361"/>
            <a:ext cx="3366258" cy="1193249"/>
            <a:chOff x="85060" y="5603361"/>
            <a:chExt cx="3366258" cy="1193249"/>
          </a:xfrm>
        </p:grpSpPr>
        <p:sp>
          <p:nvSpPr>
            <p:cNvPr id="32" name="Rectangle 31">
              <a:extLst>
                <a:ext uri="{FF2B5EF4-FFF2-40B4-BE49-F238E27FC236}">
                  <a16:creationId xmlns:a16="http://schemas.microsoft.com/office/drawing/2014/main" id="{68D9AA13-A0FE-4459-B429-7C0F266E3165}"/>
                </a:ext>
              </a:extLst>
            </p:cNvPr>
            <p:cNvSpPr/>
            <p:nvPr/>
          </p:nvSpPr>
          <p:spPr>
            <a:xfrm>
              <a:off x="85060" y="5603361"/>
              <a:ext cx="3153842" cy="119324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33" name="Group 32">
              <a:extLst>
                <a:ext uri="{FF2B5EF4-FFF2-40B4-BE49-F238E27FC236}">
                  <a16:creationId xmlns:a16="http://schemas.microsoft.com/office/drawing/2014/main" id="{89683DB9-882E-CB65-70AE-D8C2C35DCF6F}"/>
                </a:ext>
              </a:extLst>
            </p:cNvPr>
            <p:cNvGrpSpPr/>
            <p:nvPr/>
          </p:nvGrpSpPr>
          <p:grpSpPr>
            <a:xfrm>
              <a:off x="273020" y="5729290"/>
              <a:ext cx="633188" cy="274320"/>
              <a:chOff x="273020" y="281518"/>
              <a:chExt cx="633188" cy="274320"/>
            </a:xfrm>
          </p:grpSpPr>
          <p:pic>
            <p:nvPicPr>
              <p:cNvPr id="60" name="Graphic 8" descr="AWS WAF service icon.">
                <a:extLst>
                  <a:ext uri="{FF2B5EF4-FFF2-40B4-BE49-F238E27FC236}">
                    <a16:creationId xmlns:a16="http://schemas.microsoft.com/office/drawing/2014/main" id="{4B59EF97-3F82-131F-5E3A-420558729B16}"/>
                  </a:ext>
                </a:extLst>
              </p:cNvPr>
              <p:cNvPicPr>
                <a:picLocks noChangeAspect="1" noChangeArrowheads="1"/>
              </p:cNvPicPr>
              <p:nvPr/>
            </p:nvPicPr>
            <p:blipFill>
              <a:blip>
                <a:extLst>
                  <a:ext uri="{96DAC541-7B7A-43D3-8B79-37D633B846F1}">
                    <asvg:svgBlip xmlns:asvg="http://schemas.microsoft.com/office/drawing/2016/SVG/main" r:embed="rId5"/>
                  </a:ext>
                </a:extLst>
              </a:blip>
              <a:srcRect/>
              <a:stretch/>
            </p:blipFill>
            <p:spPr bwMode="auto">
              <a:xfrm>
                <a:off x="273020" y="281518"/>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TextBox 60">
                <a:extLst>
                  <a:ext uri="{FF2B5EF4-FFF2-40B4-BE49-F238E27FC236}">
                    <a16:creationId xmlns:a16="http://schemas.microsoft.com/office/drawing/2014/main" id="{BBB96308-1E88-1B0D-371E-D73A5F5770B0}"/>
                  </a:ext>
                </a:extLst>
              </p:cNvPr>
              <p:cNvSpPr txBox="1"/>
              <p:nvPr/>
            </p:nvSpPr>
            <p:spPr>
              <a:xfrm>
                <a:off x="548418" y="314599"/>
                <a:ext cx="357790"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WAF</a:t>
                </a:r>
              </a:p>
            </p:txBody>
          </p:sp>
        </p:grpSp>
        <p:grpSp>
          <p:nvGrpSpPr>
            <p:cNvPr id="34" name="Group 33">
              <a:extLst>
                <a:ext uri="{FF2B5EF4-FFF2-40B4-BE49-F238E27FC236}">
                  <a16:creationId xmlns:a16="http://schemas.microsoft.com/office/drawing/2014/main" id="{54BDF4EF-5628-F1AE-B5B1-F1982338DD0B}"/>
                </a:ext>
              </a:extLst>
            </p:cNvPr>
            <p:cNvGrpSpPr/>
            <p:nvPr/>
          </p:nvGrpSpPr>
          <p:grpSpPr>
            <a:xfrm>
              <a:off x="273020" y="6056039"/>
              <a:ext cx="869270" cy="274320"/>
              <a:chOff x="273020" y="608267"/>
              <a:chExt cx="869270" cy="274320"/>
            </a:xfrm>
          </p:grpSpPr>
          <p:pic>
            <p:nvPicPr>
              <p:cNvPr id="58" name="Graphic 19" descr="Amazon CloudFront service icon.">
                <a:extLst>
                  <a:ext uri="{FF2B5EF4-FFF2-40B4-BE49-F238E27FC236}">
                    <a16:creationId xmlns:a16="http://schemas.microsoft.com/office/drawing/2014/main" id="{919FD594-64AF-75D8-B88C-1D7C89D3CB67}"/>
                  </a:ext>
                </a:extLst>
              </p:cNvPr>
              <p:cNvPicPr>
                <a:picLocks noChangeAspect="1" noChangeArrowheads="1"/>
              </p:cNvPicPr>
              <p:nvPr/>
            </p:nvPicPr>
            <p:blipFill>
              <a:blip>
                <a:extLst>
                  <a:ext uri="{96DAC541-7B7A-43D3-8B79-37D633B846F1}">
                    <asvg:svgBlip xmlns:asvg="http://schemas.microsoft.com/office/drawing/2016/SVG/main" r:embed="rId6"/>
                  </a:ext>
                </a:extLst>
              </a:blip>
              <a:srcRect/>
              <a:stretch/>
            </p:blipFill>
            <p:spPr bwMode="auto">
              <a:xfrm>
                <a:off x="273020" y="608267"/>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TextBox 58">
                <a:extLst>
                  <a:ext uri="{FF2B5EF4-FFF2-40B4-BE49-F238E27FC236}">
                    <a16:creationId xmlns:a16="http://schemas.microsoft.com/office/drawing/2014/main" id="{74DBC8B7-0553-05AE-9741-9A630FADA1A5}"/>
                  </a:ext>
                </a:extLst>
              </p:cNvPr>
              <p:cNvSpPr txBox="1"/>
              <p:nvPr/>
            </p:nvSpPr>
            <p:spPr>
              <a:xfrm>
                <a:off x="548858" y="650947"/>
                <a:ext cx="593432"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CloudFront</a:t>
                </a:r>
              </a:p>
            </p:txBody>
          </p:sp>
        </p:grpSp>
        <p:grpSp>
          <p:nvGrpSpPr>
            <p:cNvPr id="35" name="Group 34">
              <a:extLst>
                <a:ext uri="{FF2B5EF4-FFF2-40B4-BE49-F238E27FC236}">
                  <a16:creationId xmlns:a16="http://schemas.microsoft.com/office/drawing/2014/main" id="{AAE48C6D-29C9-3E59-DD00-91A3FD8DADC7}"/>
                </a:ext>
              </a:extLst>
            </p:cNvPr>
            <p:cNvGrpSpPr/>
            <p:nvPr/>
          </p:nvGrpSpPr>
          <p:grpSpPr>
            <a:xfrm>
              <a:off x="273020" y="6382788"/>
              <a:ext cx="923774" cy="274320"/>
              <a:chOff x="273020" y="935016"/>
              <a:chExt cx="923774" cy="274320"/>
            </a:xfrm>
          </p:grpSpPr>
          <p:pic>
            <p:nvPicPr>
              <p:cNvPr id="56" name="Graphic 7" descr="Amazon API Gateway service icon.">
                <a:extLst>
                  <a:ext uri="{FF2B5EF4-FFF2-40B4-BE49-F238E27FC236}">
                    <a16:creationId xmlns:a16="http://schemas.microsoft.com/office/drawing/2014/main" id="{861C1E1D-374F-1155-3C3D-D91676D9FAEB}"/>
                  </a:ext>
                </a:extLst>
              </p:cNvPr>
              <p:cNvPicPr>
                <a:picLocks noChangeAspect="1" noChangeArrowheads="1"/>
              </p:cNvPicPr>
              <p:nvPr/>
            </p:nvPicPr>
            <p:blipFill>
              <a:blip>
                <a:extLst>
                  <a:ext uri="{96DAC541-7B7A-43D3-8B79-37D633B846F1}">
                    <asvg:svgBlip xmlns:asvg="http://schemas.microsoft.com/office/drawing/2016/SVG/main" r:embed="rId10"/>
                  </a:ext>
                </a:extLst>
              </a:blip>
              <a:srcRect/>
              <a:stretch/>
            </p:blipFill>
            <p:spPr bwMode="auto">
              <a:xfrm>
                <a:off x="273020" y="93501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TextBox 56">
                <a:extLst>
                  <a:ext uri="{FF2B5EF4-FFF2-40B4-BE49-F238E27FC236}">
                    <a16:creationId xmlns:a16="http://schemas.microsoft.com/office/drawing/2014/main" id="{88B37DBE-9C50-A1F1-82A7-D4EC6F99D48E}"/>
                  </a:ext>
                </a:extLst>
              </p:cNvPr>
              <p:cNvSpPr txBox="1"/>
              <p:nvPr/>
            </p:nvSpPr>
            <p:spPr>
              <a:xfrm>
                <a:off x="548860" y="976184"/>
                <a:ext cx="647934"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API Gateway</a:t>
                </a:r>
              </a:p>
            </p:txBody>
          </p:sp>
        </p:grpSp>
        <p:grpSp>
          <p:nvGrpSpPr>
            <p:cNvPr id="36" name="Group 35">
              <a:extLst>
                <a:ext uri="{FF2B5EF4-FFF2-40B4-BE49-F238E27FC236}">
                  <a16:creationId xmlns:a16="http://schemas.microsoft.com/office/drawing/2014/main" id="{37952F6A-1C56-398E-2FCA-7181F143E9DD}"/>
                </a:ext>
              </a:extLst>
            </p:cNvPr>
            <p:cNvGrpSpPr/>
            <p:nvPr/>
          </p:nvGrpSpPr>
          <p:grpSpPr>
            <a:xfrm>
              <a:off x="1246336" y="5729290"/>
              <a:ext cx="610098" cy="290296"/>
              <a:chOff x="1246336" y="281518"/>
              <a:chExt cx="610098" cy="290296"/>
            </a:xfrm>
          </p:grpSpPr>
          <p:pic>
            <p:nvPicPr>
              <p:cNvPr id="54" name="Graphic 53" descr="Application Load Balancer resource icon for the Elastic Load Balancing service.">
                <a:extLst>
                  <a:ext uri="{FF2B5EF4-FFF2-40B4-BE49-F238E27FC236}">
                    <a16:creationId xmlns:a16="http://schemas.microsoft.com/office/drawing/2014/main" id="{4F2812D3-A092-91AC-8831-EFF8DF86ED7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246336" y="281518"/>
                <a:ext cx="290296" cy="290296"/>
              </a:xfrm>
              <a:prstGeom prst="rect">
                <a:avLst/>
              </a:prstGeom>
            </p:spPr>
          </p:pic>
          <p:sp>
            <p:nvSpPr>
              <p:cNvPr id="55" name="TextBox 54">
                <a:extLst>
                  <a:ext uri="{FF2B5EF4-FFF2-40B4-BE49-F238E27FC236}">
                    <a16:creationId xmlns:a16="http://schemas.microsoft.com/office/drawing/2014/main" id="{26326771-BBE7-C995-2BDF-320555B0B9F3}"/>
                  </a:ext>
                </a:extLst>
              </p:cNvPr>
              <p:cNvSpPr txBox="1"/>
              <p:nvPr/>
            </p:nvSpPr>
            <p:spPr>
              <a:xfrm>
                <a:off x="1527497" y="335663"/>
                <a:ext cx="328937"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NLB</a:t>
                </a:r>
              </a:p>
            </p:txBody>
          </p:sp>
        </p:grpSp>
        <p:grpSp>
          <p:nvGrpSpPr>
            <p:cNvPr id="37" name="Group 36">
              <a:extLst>
                <a:ext uri="{FF2B5EF4-FFF2-40B4-BE49-F238E27FC236}">
                  <a16:creationId xmlns:a16="http://schemas.microsoft.com/office/drawing/2014/main" id="{FCE41E63-D059-4A51-90E3-024594F18B64}"/>
                </a:ext>
              </a:extLst>
            </p:cNvPr>
            <p:cNvGrpSpPr/>
            <p:nvPr/>
          </p:nvGrpSpPr>
          <p:grpSpPr>
            <a:xfrm>
              <a:off x="1254324" y="6072015"/>
              <a:ext cx="599343" cy="274320"/>
              <a:chOff x="1254324" y="624243"/>
              <a:chExt cx="599343" cy="274320"/>
            </a:xfrm>
          </p:grpSpPr>
          <p:pic>
            <p:nvPicPr>
              <p:cNvPr id="52" name="Graphic 51" descr="Network Load Balancer resource icon for the Elastic Load Balancing service.">
                <a:extLst>
                  <a:ext uri="{FF2B5EF4-FFF2-40B4-BE49-F238E27FC236}">
                    <a16:creationId xmlns:a16="http://schemas.microsoft.com/office/drawing/2014/main" id="{4D8A02D8-7325-BF66-08FF-3A1B8980827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254324" y="624243"/>
                <a:ext cx="274320" cy="274320"/>
              </a:xfrm>
              <a:prstGeom prst="rect">
                <a:avLst/>
              </a:prstGeom>
            </p:spPr>
          </p:pic>
          <p:sp>
            <p:nvSpPr>
              <p:cNvPr id="53" name="TextBox 52">
                <a:extLst>
                  <a:ext uri="{FF2B5EF4-FFF2-40B4-BE49-F238E27FC236}">
                    <a16:creationId xmlns:a16="http://schemas.microsoft.com/office/drawing/2014/main" id="{719BA24A-2F35-A3A5-4521-11A70BFE5E18}"/>
                  </a:ext>
                </a:extLst>
              </p:cNvPr>
              <p:cNvSpPr txBox="1"/>
              <p:nvPr/>
            </p:nvSpPr>
            <p:spPr>
              <a:xfrm>
                <a:off x="1531143" y="672011"/>
                <a:ext cx="322524"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ALB</a:t>
                </a:r>
              </a:p>
            </p:txBody>
          </p:sp>
        </p:grpSp>
        <p:grpSp>
          <p:nvGrpSpPr>
            <p:cNvPr id="38" name="Group 37">
              <a:extLst>
                <a:ext uri="{FF2B5EF4-FFF2-40B4-BE49-F238E27FC236}">
                  <a16:creationId xmlns:a16="http://schemas.microsoft.com/office/drawing/2014/main" id="{2CD68CCB-2B7C-45B4-DAC1-76DBD7F860B0}"/>
                </a:ext>
              </a:extLst>
            </p:cNvPr>
            <p:cNvGrpSpPr/>
            <p:nvPr/>
          </p:nvGrpSpPr>
          <p:grpSpPr>
            <a:xfrm>
              <a:off x="2216552" y="6082101"/>
              <a:ext cx="608222" cy="274320"/>
              <a:chOff x="1254324" y="950992"/>
              <a:chExt cx="608222" cy="274320"/>
            </a:xfrm>
          </p:grpSpPr>
          <p:grpSp>
            <p:nvGrpSpPr>
              <p:cNvPr id="48" name="Group 47">
                <a:extLst>
                  <a:ext uri="{FF2B5EF4-FFF2-40B4-BE49-F238E27FC236}">
                    <a16:creationId xmlns:a16="http://schemas.microsoft.com/office/drawing/2014/main" id="{BDACDB94-2104-DAA2-3A3D-B4628A60948B}"/>
                  </a:ext>
                </a:extLst>
              </p:cNvPr>
              <p:cNvGrpSpPr/>
              <p:nvPr/>
            </p:nvGrpSpPr>
            <p:grpSpPr>
              <a:xfrm>
                <a:off x="1254324" y="950992"/>
                <a:ext cx="274320" cy="274320"/>
                <a:chOff x="2462281" y="2481979"/>
                <a:chExt cx="274320" cy="274320"/>
              </a:xfrm>
            </p:grpSpPr>
            <p:sp>
              <p:nvSpPr>
                <p:cNvPr id="50" name="Oval 49">
                  <a:extLst>
                    <a:ext uri="{FF2B5EF4-FFF2-40B4-BE49-F238E27FC236}">
                      <a16:creationId xmlns:a16="http://schemas.microsoft.com/office/drawing/2014/main" id="{E6379417-F506-75D0-DC69-AB53880CA0A2}"/>
                    </a:ext>
                  </a:extLst>
                </p:cNvPr>
                <p:cNvSpPr/>
                <p:nvPr/>
              </p:nvSpPr>
              <p:spPr>
                <a:xfrm>
                  <a:off x="2484453" y="2503228"/>
                  <a:ext cx="229527" cy="22952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51" name="Graphic 50" descr="Internet gateway resource icon for the Amazon VPC service.&#10;">
                  <a:extLst>
                    <a:ext uri="{FF2B5EF4-FFF2-40B4-BE49-F238E27FC236}">
                      <a16:creationId xmlns:a16="http://schemas.microsoft.com/office/drawing/2014/main" id="{C17B3D03-2042-B476-B072-2E18E4BA67A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462281" y="2481979"/>
                  <a:ext cx="274320" cy="274320"/>
                </a:xfrm>
                <a:prstGeom prst="rect">
                  <a:avLst/>
                </a:prstGeom>
              </p:spPr>
            </p:pic>
          </p:grpSp>
          <p:sp>
            <p:nvSpPr>
              <p:cNvPr id="49" name="TextBox 48">
                <a:extLst>
                  <a:ext uri="{FF2B5EF4-FFF2-40B4-BE49-F238E27FC236}">
                    <a16:creationId xmlns:a16="http://schemas.microsoft.com/office/drawing/2014/main" id="{2967CE3D-E579-ACF4-1922-BDB36A05490B}"/>
                  </a:ext>
                </a:extLst>
              </p:cNvPr>
              <p:cNvSpPr txBox="1"/>
              <p:nvPr/>
            </p:nvSpPr>
            <p:spPr>
              <a:xfrm>
                <a:off x="1519182" y="999899"/>
                <a:ext cx="343364"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IGW</a:t>
                </a:r>
              </a:p>
            </p:txBody>
          </p:sp>
        </p:grpSp>
        <p:grpSp>
          <p:nvGrpSpPr>
            <p:cNvPr id="39" name="Group 38">
              <a:extLst>
                <a:ext uri="{FF2B5EF4-FFF2-40B4-BE49-F238E27FC236}">
                  <a16:creationId xmlns:a16="http://schemas.microsoft.com/office/drawing/2014/main" id="{D60AABF8-8500-8CC0-A632-25757C7BF29F}"/>
                </a:ext>
              </a:extLst>
            </p:cNvPr>
            <p:cNvGrpSpPr/>
            <p:nvPr/>
          </p:nvGrpSpPr>
          <p:grpSpPr>
            <a:xfrm>
              <a:off x="2216552" y="6414402"/>
              <a:ext cx="1022350" cy="307777"/>
              <a:chOff x="1254324" y="1269055"/>
              <a:chExt cx="1022350" cy="307777"/>
            </a:xfrm>
          </p:grpSpPr>
          <p:pic>
            <p:nvPicPr>
              <p:cNvPr id="46" name="Graphic 45" descr="Endpoints resource icon for the Amazon VPC service.&#10;">
                <a:extLst>
                  <a:ext uri="{FF2B5EF4-FFF2-40B4-BE49-F238E27FC236}">
                    <a16:creationId xmlns:a16="http://schemas.microsoft.com/office/drawing/2014/main" id="{44CE4FAB-1908-6A62-0A72-5C1A1F5672B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54324" y="1277744"/>
                <a:ext cx="274320" cy="274320"/>
              </a:xfrm>
              <a:prstGeom prst="rect">
                <a:avLst/>
              </a:prstGeom>
            </p:spPr>
          </p:pic>
          <p:sp>
            <p:nvSpPr>
              <p:cNvPr id="47" name="TextBox 46">
                <a:extLst>
                  <a:ext uri="{FF2B5EF4-FFF2-40B4-BE49-F238E27FC236}">
                    <a16:creationId xmlns:a16="http://schemas.microsoft.com/office/drawing/2014/main" id="{183E0499-33B5-51CE-F9E0-B78CB4E3EEFB}"/>
                  </a:ext>
                </a:extLst>
              </p:cNvPr>
              <p:cNvSpPr txBox="1"/>
              <p:nvPr/>
            </p:nvSpPr>
            <p:spPr>
              <a:xfrm>
                <a:off x="1514927" y="1269055"/>
                <a:ext cx="7617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VPC Endpoint &amp;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VPC Links</a:t>
                </a:r>
              </a:p>
            </p:txBody>
          </p:sp>
        </p:grpSp>
        <p:grpSp>
          <p:nvGrpSpPr>
            <p:cNvPr id="40" name="Group 39">
              <a:extLst>
                <a:ext uri="{FF2B5EF4-FFF2-40B4-BE49-F238E27FC236}">
                  <a16:creationId xmlns:a16="http://schemas.microsoft.com/office/drawing/2014/main" id="{C5F2BAA9-70B0-6C27-7DB4-26080E0B05F1}"/>
                </a:ext>
              </a:extLst>
            </p:cNvPr>
            <p:cNvGrpSpPr/>
            <p:nvPr/>
          </p:nvGrpSpPr>
          <p:grpSpPr>
            <a:xfrm>
              <a:off x="1254324" y="6385050"/>
              <a:ext cx="903788" cy="307777"/>
              <a:chOff x="278860" y="1219433"/>
              <a:chExt cx="903788" cy="307777"/>
            </a:xfrm>
          </p:grpSpPr>
          <p:pic>
            <p:nvPicPr>
              <p:cNvPr id="44" name="Graphic 43" descr="Session Manager resource icon for the AWS Systems Manager service.">
                <a:extLst>
                  <a:ext uri="{FF2B5EF4-FFF2-40B4-BE49-F238E27FC236}">
                    <a16:creationId xmlns:a16="http://schemas.microsoft.com/office/drawing/2014/main" id="{319E9E5E-042D-D372-98CA-E4005533F9A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78860" y="1248785"/>
                <a:ext cx="274320" cy="274320"/>
              </a:xfrm>
              <a:prstGeom prst="rect">
                <a:avLst/>
              </a:prstGeom>
            </p:spPr>
          </p:pic>
          <p:sp>
            <p:nvSpPr>
              <p:cNvPr id="45" name="TextBox 44">
                <a:extLst>
                  <a:ext uri="{FF2B5EF4-FFF2-40B4-BE49-F238E27FC236}">
                    <a16:creationId xmlns:a16="http://schemas.microsoft.com/office/drawing/2014/main" id="{5EDBF9F9-F7E3-DFC6-B38C-AD120825540F}"/>
                  </a:ext>
                </a:extLst>
              </p:cNvPr>
              <p:cNvSpPr txBox="1"/>
              <p:nvPr/>
            </p:nvSpPr>
            <p:spPr>
              <a:xfrm>
                <a:off x="523493" y="1219433"/>
                <a:ext cx="65915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SSM Session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rPr>
                  <a:t>Manager</a:t>
                </a:r>
              </a:p>
            </p:txBody>
          </p:sp>
        </p:grpSp>
        <p:grpSp>
          <p:nvGrpSpPr>
            <p:cNvPr id="41" name="Group 40">
              <a:extLst>
                <a:ext uri="{FF2B5EF4-FFF2-40B4-BE49-F238E27FC236}">
                  <a16:creationId xmlns:a16="http://schemas.microsoft.com/office/drawing/2014/main" id="{1A18F4FE-F9CC-0C56-8412-E033B06B41B2}"/>
                </a:ext>
              </a:extLst>
            </p:cNvPr>
            <p:cNvGrpSpPr/>
            <p:nvPr/>
          </p:nvGrpSpPr>
          <p:grpSpPr>
            <a:xfrm>
              <a:off x="2216552" y="5756362"/>
              <a:ext cx="1234766" cy="274320"/>
              <a:chOff x="2216552" y="308590"/>
              <a:chExt cx="1234766" cy="274320"/>
            </a:xfrm>
          </p:grpSpPr>
          <p:sp>
            <p:nvSpPr>
              <p:cNvPr id="42" name="TextBox 17">
                <a:extLst>
                  <a:ext uri="{FF2B5EF4-FFF2-40B4-BE49-F238E27FC236}">
                    <a16:creationId xmlns:a16="http://schemas.microsoft.com/office/drawing/2014/main" id="{EEC41D50-B9F2-43BA-F1E7-2AB4A2F5027F}"/>
                  </a:ext>
                  <a:ext uri="{C183D7F6-B498-43B3-948B-1728B52AA6E4}">
                    <adec:decorative xmlns:adec="http://schemas.microsoft.com/office/drawing/2017/decorative" val="1"/>
                  </a:ext>
                </a:extLst>
              </p:cNvPr>
              <p:cNvSpPr txBox="1">
                <a:spLocks noChangeArrowheads="1"/>
              </p:cNvSpPr>
              <p:nvPr/>
            </p:nvSpPr>
            <p:spPr bwMode="auto">
              <a:xfrm>
                <a:off x="2216552" y="345722"/>
                <a:ext cx="123476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700" b="0" i="0" u="none" strike="noStrike" kern="1200" cap="none" spc="0" normalizeH="0" baseline="0" noProof="0" dirty="0">
                    <a:ln>
                      <a:noFill/>
                    </a:ln>
                    <a:solidFill>
                      <a:prstClr val="black"/>
                    </a:solidFill>
                    <a:effectLst/>
                    <a:uLnTx/>
                    <a:uFillTx/>
                    <a:latin typeface="Arial" panose="020B0604020202020204" pitchFamily="34" charset="0"/>
                    <a:ea typeface="Amazon Ember" panose="020B0603020204020204" pitchFamily="34" charset="0"/>
                    <a:cs typeface="Arial" panose="020B0604020202020204" pitchFamily="34" charset="0"/>
                  </a:rPr>
                  <a:t>NAT Gateway</a:t>
                </a:r>
              </a:p>
            </p:txBody>
          </p:sp>
          <p:pic>
            <p:nvPicPr>
              <p:cNvPr id="43" name="Graphic 35">
                <a:extLst>
                  <a:ext uri="{FF2B5EF4-FFF2-40B4-BE49-F238E27FC236}">
                    <a16:creationId xmlns:a16="http://schemas.microsoft.com/office/drawing/2014/main" id="{F9D46BAD-403B-8A04-D9EB-D62196307F2B}"/>
                  </a:ext>
                  <a:ext uri="{C183D7F6-B498-43B3-948B-1728B52AA6E4}">
                    <adec:decorative xmlns:adec="http://schemas.microsoft.com/office/drawing/2017/decorative" val="1"/>
                  </a:ext>
                </a:extLst>
              </p:cNvPr>
              <p:cNvPicPr>
                <a:picLocks noChangeAspect="1" noChangeArrowheads="1"/>
              </p:cNvPicPr>
              <p:nvPr/>
            </p:nvPicPr>
            <p:blipFill>
              <a:blip>
                <a:extLst>
                  <a:ext uri="{96DAC541-7B7A-43D3-8B79-37D633B846F1}">
                    <asvg:svgBlip xmlns:asvg="http://schemas.microsoft.com/office/drawing/2016/SVG/main" r:embed="rId15"/>
                  </a:ext>
                </a:extLst>
              </a:blip>
              <a:srcRect/>
              <a:stretch/>
            </p:blipFill>
            <p:spPr bwMode="auto">
              <a:xfrm>
                <a:off x="2216552" y="308590"/>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pic>
        <p:nvPicPr>
          <p:cNvPr id="64" name="Graphic 17" descr="Amazon Cognito service icon.">
            <a:extLst>
              <a:ext uri="{FF2B5EF4-FFF2-40B4-BE49-F238E27FC236}">
                <a16:creationId xmlns:a16="http://schemas.microsoft.com/office/drawing/2014/main" id="{58CD06B2-0B12-132F-AEAC-A551F50B5F97}"/>
              </a:ext>
            </a:extLst>
          </p:cNvPr>
          <p:cNvPicPr>
            <a:picLocks noChangeAspect="1" noChangeArrowheads="1"/>
          </p:cNvPicPr>
          <p:nvPr/>
        </p:nvPicPr>
        <p:blipFill>
          <a:blip>
            <a:extLst>
              <a:ext uri="{96DAC541-7B7A-43D3-8B79-37D633B846F1}">
                <asvg:svgBlip xmlns:asvg="http://schemas.microsoft.com/office/drawing/2016/SVG/main" r:embed="rId16"/>
              </a:ext>
            </a:extLst>
          </a:blip>
          <a:srcRect/>
          <a:stretch/>
        </p:blipFill>
        <p:spPr bwMode="auto">
          <a:xfrm>
            <a:off x="2043651" y="1900157"/>
            <a:ext cx="365760" cy="365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TextBox 11">
            <a:extLst>
              <a:ext uri="{FF2B5EF4-FFF2-40B4-BE49-F238E27FC236}">
                <a16:creationId xmlns:a16="http://schemas.microsoft.com/office/drawing/2014/main" id="{BA0F96AD-5134-1424-DD2F-4C85F772DDB5}"/>
              </a:ext>
            </a:extLst>
          </p:cNvPr>
          <p:cNvSpPr txBox="1">
            <a:spLocks noChangeArrowheads="1"/>
          </p:cNvSpPr>
          <p:nvPr/>
        </p:nvSpPr>
        <p:spPr bwMode="auto">
          <a:xfrm>
            <a:off x="1809336" y="2273926"/>
            <a:ext cx="8343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fontAlgn="base">
              <a:spcBef>
                <a:spcPct val="0"/>
              </a:spcBef>
              <a:spcAft>
                <a:spcPct val="0"/>
              </a:spcAft>
            </a:pPr>
            <a:r>
              <a:rPr lang="en-US" altLang="en-US" sz="1000" dirty="0">
                <a:solidFill>
                  <a:srgbClr val="FFFFFF"/>
                </a:solidFill>
                <a:latin typeface="Arial" panose="020B0604020202020204" pitchFamily="34" charset="0"/>
                <a:ea typeface="Amazon Ember" panose="020B0603020204020204" pitchFamily="34" charset="0"/>
                <a:cs typeface="Arial" panose="020B0604020202020204" pitchFamily="34" charset="0"/>
              </a:rPr>
              <a:t>Amazon Cognito</a:t>
            </a:r>
          </a:p>
        </p:txBody>
      </p:sp>
      <p:pic>
        <p:nvPicPr>
          <p:cNvPr id="66" name="Graphic 8" descr="Amazon Simple Storage Service (Amazon S3) service icon.">
            <a:extLst>
              <a:ext uri="{FF2B5EF4-FFF2-40B4-BE49-F238E27FC236}">
                <a16:creationId xmlns:a16="http://schemas.microsoft.com/office/drawing/2014/main" id="{4CF1F16A-0BE4-1512-7307-6E9876F6ECAD}"/>
              </a:ext>
            </a:extLst>
          </p:cNvPr>
          <p:cNvPicPr>
            <a:picLocks noChangeAspect="1" noChangeArrowheads="1"/>
          </p:cNvPicPr>
          <p:nvPr/>
        </p:nvPicPr>
        <p:blipFill>
          <a:blip>
            <a:extLst>
              <a:ext uri="{96DAC541-7B7A-43D3-8B79-37D633B846F1}">
                <asvg:svgBlip xmlns:asvg="http://schemas.microsoft.com/office/drawing/2016/SVG/main" r:embed="rId7"/>
              </a:ext>
            </a:extLst>
          </a:blip>
          <a:srcRect/>
          <a:stretch/>
        </p:blipFill>
        <p:spPr bwMode="auto">
          <a:xfrm>
            <a:off x="5134272" y="4758126"/>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Graphic 23" descr="Amazon DynamoDB service icon.">
            <a:extLst>
              <a:ext uri="{FF2B5EF4-FFF2-40B4-BE49-F238E27FC236}">
                <a16:creationId xmlns:a16="http://schemas.microsoft.com/office/drawing/2014/main" id="{10722A4A-241B-0E6F-5E8D-C6D9FFD85DA2}"/>
              </a:ext>
            </a:extLst>
          </p:cNvPr>
          <p:cNvPicPr>
            <a:picLocks noChangeAspect="1" noChangeArrowheads="1"/>
          </p:cNvPicPr>
          <p:nvPr/>
        </p:nvPicPr>
        <p:blipFill>
          <a:blip>
            <a:extLst>
              <a:ext uri="{96DAC541-7B7A-43D3-8B79-37D633B846F1}">
                <asvg:svgBlip xmlns:asvg="http://schemas.microsoft.com/office/drawing/2016/SVG/main" r:embed="rId17"/>
              </a:ext>
            </a:extLst>
          </a:blip>
          <a:srcRect/>
          <a:stretch/>
        </p:blipFill>
        <p:spPr bwMode="auto">
          <a:xfrm>
            <a:off x="4322005" y="4782414"/>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lambda" descr="Lambda service icon.">
            <a:extLst>
              <a:ext uri="{FF2B5EF4-FFF2-40B4-BE49-F238E27FC236}">
                <a16:creationId xmlns:a16="http://schemas.microsoft.com/office/drawing/2014/main" id="{2721E76C-373A-F8DC-FB82-E4C5CD6F3386}"/>
              </a:ext>
            </a:extLst>
          </p:cNvPr>
          <p:cNvPicPr>
            <a:picLocks noChangeAspect="1" noChangeArrowheads="1"/>
          </p:cNvPicPr>
          <p:nvPr/>
        </p:nvPicPr>
        <p:blipFill>
          <a:blip>
            <a:extLst>
              <a:ext uri="{96DAC541-7B7A-43D3-8B79-37D633B846F1}">
                <asvg:svgBlip xmlns:asvg="http://schemas.microsoft.com/office/drawing/2016/SVG/main" r:embed="rId18"/>
              </a:ext>
            </a:extLst>
          </a:blip>
          <a:srcRect/>
          <a:stretch/>
        </p:blipFill>
        <p:spPr bwMode="auto">
          <a:xfrm>
            <a:off x="4636133" y="375398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Graphic 68" descr="Endpoints resource icon for the Amazon VPC service.&#10;">
            <a:extLst>
              <a:ext uri="{FF2B5EF4-FFF2-40B4-BE49-F238E27FC236}">
                <a16:creationId xmlns:a16="http://schemas.microsoft.com/office/drawing/2014/main" id="{212AC547-760E-A7D5-DDA7-1C75CD04604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91487" y="3753985"/>
            <a:ext cx="274320" cy="274320"/>
          </a:xfrm>
          <a:prstGeom prst="rect">
            <a:avLst/>
          </a:prstGeom>
        </p:spPr>
      </p:pic>
      <p:cxnSp>
        <p:nvCxnSpPr>
          <p:cNvPr id="70" name="Connector: Elbow 69">
            <a:extLst>
              <a:ext uri="{FF2B5EF4-FFF2-40B4-BE49-F238E27FC236}">
                <a16:creationId xmlns:a16="http://schemas.microsoft.com/office/drawing/2014/main" id="{ABC23582-23AB-E5A0-4286-88A40793360C}"/>
              </a:ext>
            </a:extLst>
          </p:cNvPr>
          <p:cNvCxnSpPr>
            <a:cxnSpLocks/>
            <a:stCxn id="69" idx="2"/>
            <a:endCxn id="67" idx="0"/>
          </p:cNvCxnSpPr>
          <p:nvPr/>
        </p:nvCxnSpPr>
        <p:spPr>
          <a:xfrm rot="5400000">
            <a:off x="4466852" y="4020618"/>
            <a:ext cx="754109" cy="769482"/>
          </a:xfrm>
          <a:prstGeom prst="bentConnector3">
            <a:avLst>
              <a:gd name="adj1" fmla="val 20949"/>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7A14A33A-596C-BCE9-336D-ACE76742A452}"/>
              </a:ext>
            </a:extLst>
          </p:cNvPr>
          <p:cNvCxnSpPr>
            <a:cxnSpLocks/>
            <a:stCxn id="69" idx="2"/>
            <a:endCxn id="66" idx="0"/>
          </p:cNvCxnSpPr>
          <p:nvPr/>
        </p:nvCxnSpPr>
        <p:spPr>
          <a:xfrm rot="16200000" flipH="1">
            <a:off x="4885129" y="4371822"/>
            <a:ext cx="729821" cy="42785"/>
          </a:xfrm>
          <a:prstGeom prst="bentConnector3">
            <a:avLst>
              <a:gd name="adj1" fmla="val 21288"/>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5FC13100-3E9F-753F-46A9-8EC01A8E9A11}"/>
              </a:ext>
            </a:extLst>
          </p:cNvPr>
          <p:cNvSpPr txBox="1"/>
          <p:nvPr/>
        </p:nvSpPr>
        <p:spPr>
          <a:xfrm>
            <a:off x="5292471" y="3706479"/>
            <a:ext cx="896399" cy="369332"/>
          </a:xfrm>
          <a:prstGeom prst="rect">
            <a:avLst/>
          </a:prstGeom>
          <a:noFill/>
        </p:spPr>
        <p:txBody>
          <a:bodyPr wrap="none" rtlCol="0">
            <a:spAutoFit/>
          </a:bodyPr>
          <a:lstStyle/>
          <a:p>
            <a:pPr algn="ctr"/>
            <a:r>
              <a:rPr lang="en-US" sz="900" dirty="0">
                <a:solidFill>
                  <a:schemeClr val="bg1"/>
                </a:solidFill>
              </a:rPr>
              <a:t>Interface VPC </a:t>
            </a:r>
          </a:p>
          <a:p>
            <a:pPr algn="ctr"/>
            <a:r>
              <a:rPr lang="en-US" sz="900" dirty="0">
                <a:solidFill>
                  <a:schemeClr val="bg1"/>
                </a:solidFill>
              </a:rPr>
              <a:t>Endpoint</a:t>
            </a:r>
          </a:p>
        </p:txBody>
      </p:sp>
      <p:cxnSp>
        <p:nvCxnSpPr>
          <p:cNvPr id="73" name="Straight Arrow Connector 72">
            <a:extLst>
              <a:ext uri="{FF2B5EF4-FFF2-40B4-BE49-F238E27FC236}">
                <a16:creationId xmlns:a16="http://schemas.microsoft.com/office/drawing/2014/main" id="{42D21BED-7590-58BA-56C2-4D00F6D2FC02}"/>
              </a:ext>
            </a:extLst>
          </p:cNvPr>
          <p:cNvCxnSpPr>
            <a:cxnSpLocks/>
            <a:stCxn id="68" idx="3"/>
          </p:cNvCxnSpPr>
          <p:nvPr/>
        </p:nvCxnSpPr>
        <p:spPr>
          <a:xfrm>
            <a:off x="4910453" y="3891145"/>
            <a:ext cx="22381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80" name="Rectangle 79">
            <a:extLst>
              <a:ext uri="{FF2B5EF4-FFF2-40B4-BE49-F238E27FC236}">
                <a16:creationId xmlns:a16="http://schemas.microsoft.com/office/drawing/2014/main" id="{235006C4-BA31-8940-6C4A-0126E1A42721}"/>
              </a:ext>
            </a:extLst>
          </p:cNvPr>
          <p:cNvSpPr/>
          <p:nvPr/>
        </p:nvSpPr>
        <p:spPr>
          <a:xfrm>
            <a:off x="8580381" y="0"/>
            <a:ext cx="3611619"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TextBox 80">
            <a:extLst>
              <a:ext uri="{FF2B5EF4-FFF2-40B4-BE49-F238E27FC236}">
                <a16:creationId xmlns:a16="http://schemas.microsoft.com/office/drawing/2014/main" id="{38890B99-FE6E-9F3D-F994-155FA151C595}"/>
              </a:ext>
            </a:extLst>
          </p:cNvPr>
          <p:cNvSpPr txBox="1"/>
          <p:nvPr/>
        </p:nvSpPr>
        <p:spPr>
          <a:xfrm>
            <a:off x="8838986" y="709241"/>
            <a:ext cx="2724363" cy="2846933"/>
          </a:xfrm>
          <a:prstGeom prst="rect">
            <a:avLst/>
          </a:prstGeom>
          <a:noFill/>
        </p:spPr>
        <p:txBody>
          <a:bodyPr wrap="square" rtlCol="0">
            <a:spAutoFit/>
          </a:bodyPr>
          <a:lstStyle/>
          <a:p>
            <a:r>
              <a:rPr lang="en-US" dirty="0"/>
              <a:t>Ask</a:t>
            </a:r>
          </a:p>
          <a:p>
            <a:endParaRPr lang="en-US" dirty="0"/>
          </a:p>
          <a:p>
            <a:pPr marL="285750" indent="-285750">
              <a:buFont typeface="Arial" panose="020B0604020202020204" pitchFamily="34" charset="0"/>
              <a:buChar char="•"/>
            </a:pPr>
            <a:r>
              <a:rPr lang="en-US" sz="1100" dirty="0"/>
              <a:t>Are VPC Endpoints  used between AOI Gateway and Lambdas</a:t>
            </a:r>
          </a:p>
          <a:p>
            <a:pPr marL="285750" indent="-285750">
              <a:buFont typeface="Arial" panose="020B0604020202020204" pitchFamily="34" charset="0"/>
              <a:buChar char="•"/>
            </a:pPr>
            <a:r>
              <a:rPr lang="en-US" sz="1100" dirty="0"/>
              <a:t>Are Interface VPC Endpoints used between Lambdas and DynamoDB and S3?</a:t>
            </a:r>
          </a:p>
          <a:p>
            <a:pPr marL="285750" indent="-285750">
              <a:buFont typeface="Arial" panose="020B0604020202020204" pitchFamily="34" charset="0"/>
              <a:buChar char="•"/>
            </a:pPr>
            <a:r>
              <a:rPr lang="en-US" sz="1100" dirty="0"/>
              <a:t>Are Lambdas full insolated from AZ failures?</a:t>
            </a:r>
          </a:p>
          <a:p>
            <a:pPr marL="285750" indent="-285750">
              <a:buFont typeface="Arial" panose="020B0604020202020204" pitchFamily="34" charset="0"/>
              <a:buChar char="•"/>
            </a:pPr>
            <a:r>
              <a:rPr lang="en-US" sz="1100" dirty="0"/>
              <a:t>Where is SQS?</a:t>
            </a:r>
          </a:p>
          <a:p>
            <a:pPr marL="285750" indent="-285750">
              <a:buFont typeface="Arial" panose="020B0604020202020204" pitchFamily="34" charset="0"/>
              <a:buChar char="•"/>
            </a:pPr>
            <a:r>
              <a:rPr lang="en-US" sz="1100" dirty="0"/>
              <a:t>Where is SNS?</a:t>
            </a:r>
          </a:p>
          <a:p>
            <a:pPr marL="285750" indent="-285750">
              <a:buFont typeface="Arial" panose="020B0604020202020204" pitchFamily="34" charset="0"/>
              <a:buChar char="•"/>
            </a:pPr>
            <a:endParaRPr lang="en-US" sz="1100" dirty="0"/>
          </a:p>
          <a:p>
            <a:pPr marL="285750" indent="-285750">
              <a:buFont typeface="Arial" panose="020B0604020202020204" pitchFamily="34" charset="0"/>
              <a:buChar char="•"/>
            </a:pPr>
            <a:endParaRPr lang="en-US" sz="1100" dirty="0"/>
          </a:p>
          <a:p>
            <a:pPr marL="285750" indent="-285750">
              <a:buFont typeface="Arial" panose="020B0604020202020204" pitchFamily="34" charset="0"/>
              <a:buChar char="•"/>
            </a:pPr>
            <a:endParaRPr lang="en-US" sz="1100" dirty="0"/>
          </a:p>
          <a:p>
            <a:pPr marL="285750" indent="-285750">
              <a:buFont typeface="Arial" panose="020B0604020202020204" pitchFamily="34" charset="0"/>
              <a:buChar char="•"/>
            </a:pPr>
            <a:endParaRPr lang="en-US" sz="1100" dirty="0"/>
          </a:p>
        </p:txBody>
      </p:sp>
      <p:pic>
        <p:nvPicPr>
          <p:cNvPr id="83" name="Graphic 26" descr="Amazon Simple Queue Service (Amazon SQS) service icon.">
            <a:extLst>
              <a:ext uri="{FF2B5EF4-FFF2-40B4-BE49-F238E27FC236}">
                <a16:creationId xmlns:a16="http://schemas.microsoft.com/office/drawing/2014/main" id="{2AECED97-2D90-3AE8-2870-E04E5CB8BB31}"/>
              </a:ext>
            </a:extLst>
          </p:cNvPr>
          <p:cNvPicPr>
            <a:picLocks noChangeAspect="1" noChangeArrowheads="1"/>
          </p:cNvPicPr>
          <p:nvPr/>
        </p:nvPicPr>
        <p:blipFill>
          <a:blip>
            <a:extLst>
              <a:ext uri="{96DAC541-7B7A-43D3-8B79-37D633B846F1}">
                <asvg:svgBlip xmlns:asvg="http://schemas.microsoft.com/office/drawing/2016/SVG/main" r:embed="rId19"/>
              </a:ext>
            </a:extLst>
          </a:blip>
          <a:srcRect/>
          <a:stretch/>
        </p:blipFill>
        <p:spPr bwMode="auto">
          <a:xfrm>
            <a:off x="4415450" y="289704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5" name="TextBox 11">
            <a:extLst>
              <a:ext uri="{FF2B5EF4-FFF2-40B4-BE49-F238E27FC236}">
                <a16:creationId xmlns:a16="http://schemas.microsoft.com/office/drawing/2014/main" id="{100AE9A6-3DD9-65C1-38BB-D75BA01D6617}"/>
              </a:ext>
            </a:extLst>
          </p:cNvPr>
          <p:cNvSpPr txBox="1">
            <a:spLocks noChangeArrowheads="1"/>
          </p:cNvSpPr>
          <p:nvPr/>
        </p:nvSpPr>
        <p:spPr bwMode="auto">
          <a:xfrm>
            <a:off x="4180459" y="2712093"/>
            <a:ext cx="74612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SQS</a:t>
            </a:r>
          </a:p>
        </p:txBody>
      </p:sp>
      <p:pic>
        <p:nvPicPr>
          <p:cNvPr id="91" name="Graphic 24" descr="Amazon Simple Notification Service (Amazon SNS) service icon.">
            <a:extLst>
              <a:ext uri="{FF2B5EF4-FFF2-40B4-BE49-F238E27FC236}">
                <a16:creationId xmlns:a16="http://schemas.microsoft.com/office/drawing/2014/main" id="{CC7A1776-C2D8-82ED-7083-AAABB5D9F0F9}"/>
              </a:ext>
            </a:extLst>
          </p:cNvPr>
          <p:cNvPicPr>
            <a:picLocks noChangeAspect="1" noChangeArrowheads="1"/>
          </p:cNvPicPr>
          <p:nvPr/>
        </p:nvPicPr>
        <p:blipFill>
          <a:blip>
            <a:extLst>
              <a:ext uri="{96DAC541-7B7A-43D3-8B79-37D633B846F1}">
                <asvg:svgBlip xmlns:asvg="http://schemas.microsoft.com/office/drawing/2016/SVG/main" r:embed="rId20"/>
              </a:ext>
            </a:extLst>
          </a:blip>
          <a:srcRect/>
          <a:stretch/>
        </p:blipFill>
        <p:spPr bwMode="auto">
          <a:xfrm>
            <a:off x="4973194" y="2902885"/>
            <a:ext cx="27432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 name="TextBox 9">
            <a:extLst>
              <a:ext uri="{FF2B5EF4-FFF2-40B4-BE49-F238E27FC236}">
                <a16:creationId xmlns:a16="http://schemas.microsoft.com/office/drawing/2014/main" id="{1614AAAA-86B5-ACAF-A73A-469C0354AEDB}"/>
              </a:ext>
            </a:extLst>
          </p:cNvPr>
          <p:cNvSpPr txBox="1">
            <a:spLocks noChangeArrowheads="1"/>
          </p:cNvSpPr>
          <p:nvPr/>
        </p:nvSpPr>
        <p:spPr bwMode="auto">
          <a:xfrm>
            <a:off x="4752055" y="2712093"/>
            <a:ext cx="73183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SNS</a:t>
            </a:r>
          </a:p>
        </p:txBody>
      </p:sp>
      <p:cxnSp>
        <p:nvCxnSpPr>
          <p:cNvPr id="95" name="Connector: Elbow 94">
            <a:extLst>
              <a:ext uri="{FF2B5EF4-FFF2-40B4-BE49-F238E27FC236}">
                <a16:creationId xmlns:a16="http://schemas.microsoft.com/office/drawing/2014/main" id="{907BC3B3-20B5-8CB0-E48F-F3EDE5FEA521}"/>
              </a:ext>
            </a:extLst>
          </p:cNvPr>
          <p:cNvCxnSpPr>
            <a:cxnSpLocks/>
            <a:stCxn id="68" idx="0"/>
            <a:endCxn id="83" idx="2"/>
          </p:cNvCxnSpPr>
          <p:nvPr/>
        </p:nvCxnSpPr>
        <p:spPr>
          <a:xfrm rot="16200000" flipV="1">
            <a:off x="4371642" y="3352333"/>
            <a:ext cx="582620" cy="220683"/>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0" name="Connector: Elbow 99">
            <a:extLst>
              <a:ext uri="{FF2B5EF4-FFF2-40B4-BE49-F238E27FC236}">
                <a16:creationId xmlns:a16="http://schemas.microsoft.com/office/drawing/2014/main" id="{4A5104B3-E95D-8AE9-FEE0-53F69D24B447}"/>
              </a:ext>
            </a:extLst>
          </p:cNvPr>
          <p:cNvCxnSpPr>
            <a:cxnSpLocks/>
            <a:stCxn id="68" idx="0"/>
            <a:endCxn id="91" idx="2"/>
          </p:cNvCxnSpPr>
          <p:nvPr/>
        </p:nvCxnSpPr>
        <p:spPr>
          <a:xfrm rot="5400000" flipH="1" flipV="1">
            <a:off x="4653433" y="3297065"/>
            <a:ext cx="576780" cy="33706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104" name="TextBox 103">
            <a:extLst>
              <a:ext uri="{FF2B5EF4-FFF2-40B4-BE49-F238E27FC236}">
                <a16:creationId xmlns:a16="http://schemas.microsoft.com/office/drawing/2014/main" id="{528EB2B3-3F18-DE75-38AE-B868F789CA46}"/>
              </a:ext>
            </a:extLst>
          </p:cNvPr>
          <p:cNvSpPr txBox="1"/>
          <p:nvPr/>
        </p:nvSpPr>
        <p:spPr>
          <a:xfrm>
            <a:off x="3168850" y="208364"/>
            <a:ext cx="2854949" cy="369332"/>
          </a:xfrm>
          <a:prstGeom prst="rect">
            <a:avLst/>
          </a:prstGeom>
          <a:noFill/>
        </p:spPr>
        <p:txBody>
          <a:bodyPr wrap="none" rtlCol="0">
            <a:spAutoFit/>
          </a:bodyPr>
          <a:lstStyle/>
          <a:p>
            <a:r>
              <a:rPr lang="en-US" dirty="0">
                <a:solidFill>
                  <a:schemeClr val="bg1"/>
                </a:solidFill>
              </a:rPr>
              <a:t>Web App SPA and Backend</a:t>
            </a:r>
          </a:p>
        </p:txBody>
      </p:sp>
      <p:sp>
        <p:nvSpPr>
          <p:cNvPr id="3" name="TextBox 11">
            <a:extLst>
              <a:ext uri="{FF2B5EF4-FFF2-40B4-BE49-F238E27FC236}">
                <a16:creationId xmlns:a16="http://schemas.microsoft.com/office/drawing/2014/main" id="{044211F4-73AE-58BA-7D11-2F90F21A20B0}"/>
              </a:ext>
            </a:extLst>
          </p:cNvPr>
          <p:cNvSpPr txBox="1">
            <a:spLocks noChangeArrowheads="1"/>
          </p:cNvSpPr>
          <p:nvPr/>
        </p:nvSpPr>
        <p:spPr bwMode="auto">
          <a:xfrm>
            <a:off x="3991747" y="5027538"/>
            <a:ext cx="93483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DynamoDB</a:t>
            </a:r>
          </a:p>
        </p:txBody>
      </p:sp>
      <p:sp>
        <p:nvSpPr>
          <p:cNvPr id="28" name="TextBox 9">
            <a:extLst>
              <a:ext uri="{FF2B5EF4-FFF2-40B4-BE49-F238E27FC236}">
                <a16:creationId xmlns:a16="http://schemas.microsoft.com/office/drawing/2014/main" id="{3E9980C8-CB30-BE6D-E80F-66DFBB37D9DC}"/>
              </a:ext>
            </a:extLst>
          </p:cNvPr>
          <p:cNvSpPr txBox="1">
            <a:spLocks noChangeArrowheads="1"/>
          </p:cNvSpPr>
          <p:nvPr/>
        </p:nvSpPr>
        <p:spPr bwMode="auto">
          <a:xfrm>
            <a:off x="4910453" y="5027537"/>
            <a:ext cx="73183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S3</a:t>
            </a:r>
          </a:p>
        </p:txBody>
      </p:sp>
      <p:sp>
        <p:nvSpPr>
          <p:cNvPr id="63" name="TextBox 9">
            <a:extLst>
              <a:ext uri="{FF2B5EF4-FFF2-40B4-BE49-F238E27FC236}">
                <a16:creationId xmlns:a16="http://schemas.microsoft.com/office/drawing/2014/main" id="{BC25DD1D-1449-9056-0BB5-A8879FF7647E}"/>
              </a:ext>
            </a:extLst>
          </p:cNvPr>
          <p:cNvSpPr txBox="1">
            <a:spLocks noChangeArrowheads="1"/>
          </p:cNvSpPr>
          <p:nvPr/>
        </p:nvSpPr>
        <p:spPr bwMode="auto">
          <a:xfrm>
            <a:off x="1824680" y="4978595"/>
            <a:ext cx="931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CloudFront</a:t>
            </a:r>
          </a:p>
        </p:txBody>
      </p:sp>
      <p:sp>
        <p:nvSpPr>
          <p:cNvPr id="75" name="TextBox 9">
            <a:extLst>
              <a:ext uri="{FF2B5EF4-FFF2-40B4-BE49-F238E27FC236}">
                <a16:creationId xmlns:a16="http://schemas.microsoft.com/office/drawing/2014/main" id="{C9DAAD46-DCB1-C652-7B1B-285040BD3E9D}"/>
              </a:ext>
            </a:extLst>
          </p:cNvPr>
          <p:cNvSpPr txBox="1">
            <a:spLocks noChangeArrowheads="1"/>
          </p:cNvSpPr>
          <p:nvPr/>
        </p:nvSpPr>
        <p:spPr bwMode="auto">
          <a:xfrm>
            <a:off x="1832189" y="4218053"/>
            <a:ext cx="9318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WAF</a:t>
            </a:r>
          </a:p>
        </p:txBody>
      </p:sp>
      <p:sp>
        <p:nvSpPr>
          <p:cNvPr id="77" name="TextBox 9">
            <a:extLst>
              <a:ext uri="{FF2B5EF4-FFF2-40B4-BE49-F238E27FC236}">
                <a16:creationId xmlns:a16="http://schemas.microsoft.com/office/drawing/2014/main" id="{36890E9E-79A3-3FD8-6D20-1BBD4CDB9BF9}"/>
              </a:ext>
            </a:extLst>
          </p:cNvPr>
          <p:cNvSpPr txBox="1">
            <a:spLocks noChangeArrowheads="1"/>
          </p:cNvSpPr>
          <p:nvPr/>
        </p:nvSpPr>
        <p:spPr bwMode="auto">
          <a:xfrm>
            <a:off x="2591210" y="3362260"/>
            <a:ext cx="93183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API </a:t>
            </a:r>
          </a:p>
          <a:p>
            <a:pPr algn="ctr" eaLnBrk="1" hangingPunct="1"/>
            <a:r>
              <a:rPr lang="en-US" altLang="en-US" sz="1000" dirty="0">
                <a:solidFill>
                  <a:schemeClr val="bg1"/>
                </a:solidFill>
                <a:latin typeface="Arial" panose="020B0604020202020204" pitchFamily="34" charset="0"/>
                <a:ea typeface="Amazon Ember" panose="020B0603020204020204" pitchFamily="34" charset="0"/>
                <a:cs typeface="Arial" panose="020B0604020202020204" pitchFamily="34" charset="0"/>
              </a:rPr>
              <a:t>Gateway</a:t>
            </a:r>
          </a:p>
        </p:txBody>
      </p:sp>
    </p:spTree>
    <p:extLst>
      <p:ext uri="{BB962C8B-B14F-4D97-AF65-F5344CB8AC3E}">
        <p14:creationId xmlns:p14="http://schemas.microsoft.com/office/powerpoint/2010/main" val="10022574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A32F4CC8-D3D6-738E-7824-DE62B6BB84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9600" y="137873"/>
            <a:ext cx="10972800" cy="6858000"/>
          </a:xfrm>
          <a:prstGeom prst="rect">
            <a:avLst/>
          </a:prstGeom>
        </p:spPr>
      </p:pic>
    </p:spTree>
    <p:extLst>
      <p:ext uri="{BB962C8B-B14F-4D97-AF65-F5344CB8AC3E}">
        <p14:creationId xmlns:p14="http://schemas.microsoft.com/office/powerpoint/2010/main" val="23149573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C1CA9C8-F26D-AC50-DFE1-764F86FC03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1789" y="0"/>
            <a:ext cx="10828421" cy="6858000"/>
          </a:xfrm>
          <a:prstGeom prst="rect">
            <a:avLst/>
          </a:prstGeom>
        </p:spPr>
      </p:pic>
    </p:spTree>
    <p:extLst>
      <p:ext uri="{BB962C8B-B14F-4D97-AF65-F5344CB8AC3E}">
        <p14:creationId xmlns:p14="http://schemas.microsoft.com/office/powerpoint/2010/main" val="30692055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957F5EC3-C126-09B7-8657-447C304DE68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1500" y="0"/>
            <a:ext cx="11049000" cy="6858000"/>
          </a:xfrm>
          <a:prstGeom prst="rect">
            <a:avLst/>
          </a:prstGeom>
        </p:spPr>
      </p:pic>
    </p:spTree>
    <p:extLst>
      <p:ext uri="{BB962C8B-B14F-4D97-AF65-F5344CB8AC3E}">
        <p14:creationId xmlns:p14="http://schemas.microsoft.com/office/powerpoint/2010/main" val="8361859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E25BF99C-49C9-29BD-EF7A-35B19BA097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91460" y="365598"/>
            <a:ext cx="8572500" cy="1905000"/>
          </a:xfrm>
          <a:prstGeom prst="rect">
            <a:avLst/>
          </a:prstGeom>
        </p:spPr>
      </p:pic>
    </p:spTree>
    <p:extLst>
      <p:ext uri="{BB962C8B-B14F-4D97-AF65-F5344CB8AC3E}">
        <p14:creationId xmlns:p14="http://schemas.microsoft.com/office/powerpoint/2010/main" val="5917078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B443F74-4D50-BC18-55E6-FD095FF7258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6529" y="0"/>
            <a:ext cx="11698941" cy="6858000"/>
          </a:xfrm>
          <a:prstGeom prst="rect">
            <a:avLst/>
          </a:prstGeom>
        </p:spPr>
      </p:pic>
    </p:spTree>
    <p:extLst>
      <p:ext uri="{BB962C8B-B14F-4D97-AF65-F5344CB8AC3E}">
        <p14:creationId xmlns:p14="http://schemas.microsoft.com/office/powerpoint/2010/main" val="25882421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2036</Words>
  <Application>Microsoft Office PowerPoint</Application>
  <PresentationFormat>Widescreen</PresentationFormat>
  <Paragraphs>387</Paragraphs>
  <Slides>30</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PresCoach CTO-to-CTO Deck</dc:title>
  <dc:subject>PresCoach CTO-to-CTO architecture review</dc:subject>
  <dc:creator>OpenAI</dc:creator>
  <cp:lastModifiedBy>Michael Geiser</cp:lastModifiedBy>
  <cp:revision>3</cp:revision>
  <dcterms:created xsi:type="dcterms:W3CDTF">2026-06-20T22:34:29Z</dcterms:created>
  <dcterms:modified xsi:type="dcterms:W3CDTF">2026-06-20T23:09:51Z</dcterms:modified>
</cp:coreProperties>
</file>